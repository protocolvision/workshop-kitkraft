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 id="310" r:id="rId59"/>
    <p:sldId id="311" r:id="rId60"/>
  </p:sldIdLst>
  <p:sldSz cy="6858000" cx="12192000"/>
  <p:notesSz cx="6858000" cy="9144000"/>
  <p:embeddedFontLst>
    <p:embeddedFont>
      <p:font typeface="Lora Medium"/>
      <p:regular r:id="rId61"/>
      <p:bold r:id="rId62"/>
      <p:italic r:id="rId63"/>
      <p:boldItalic r:id="rId64"/>
    </p:embeddedFont>
    <p:embeddedFont>
      <p:font typeface="Instrument Serif"/>
      <p:regular r:id="rId65"/>
      <p:italic r:id="rId66"/>
    </p:embeddedFont>
    <p:embeddedFont>
      <p:font typeface="Lora SemiBold"/>
      <p:regular r:id="rId67"/>
      <p:bold r:id="rId68"/>
      <p:italic r:id="rId69"/>
      <p:boldItalic r:id="rId70"/>
    </p:embeddedFont>
    <p:embeddedFont>
      <p:font typeface="Lora"/>
      <p:regular r:id="rId71"/>
      <p:bold r:id="rId72"/>
      <p:italic r:id="rId73"/>
      <p:boldItalic r:id="rId74"/>
    </p:embeddedFont>
    <p:embeddedFont>
      <p:font typeface="Outfit"/>
      <p:regular r:id="rId75"/>
      <p:bold r:id="rId76"/>
    </p:embeddedFont>
    <p:embeddedFont>
      <p:font typeface="Outfit SemiBold"/>
      <p:regular r:id="rId77"/>
      <p:bold r:id="rId78"/>
    </p:embeddedFont>
    <p:embeddedFont>
      <p:font typeface="Outfit Medium"/>
      <p:regular r:id="rId79"/>
      <p:bold r:id="rId8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81" roundtripDataSignature="AMtx7mhkeYNikID96U+Y05sDZq7WbJzMF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80" Type="http://schemas.openxmlformats.org/officeDocument/2006/relationships/font" Target="fonts/OutfitMedium-bold.fntdata"/><Relationship Id="rId81" Type="http://customschemas.google.com/relationships/presentationmetadata" Target="meta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73" Type="http://schemas.openxmlformats.org/officeDocument/2006/relationships/font" Target="fonts/Lora-italic.fntdata"/><Relationship Id="rId72" Type="http://schemas.openxmlformats.org/officeDocument/2006/relationships/font" Target="fonts/Lora-bold.fntdata"/><Relationship Id="rId31" Type="http://schemas.openxmlformats.org/officeDocument/2006/relationships/slide" Target="slides/slide27.xml"/><Relationship Id="rId75" Type="http://schemas.openxmlformats.org/officeDocument/2006/relationships/font" Target="fonts/Outfit-regular.fntdata"/><Relationship Id="rId30" Type="http://schemas.openxmlformats.org/officeDocument/2006/relationships/slide" Target="slides/slide26.xml"/><Relationship Id="rId74" Type="http://schemas.openxmlformats.org/officeDocument/2006/relationships/font" Target="fonts/Lora-boldItalic.fntdata"/><Relationship Id="rId33" Type="http://schemas.openxmlformats.org/officeDocument/2006/relationships/slide" Target="slides/slide29.xml"/><Relationship Id="rId77" Type="http://schemas.openxmlformats.org/officeDocument/2006/relationships/font" Target="fonts/OutfitSemiBold-regular.fntdata"/><Relationship Id="rId32" Type="http://schemas.openxmlformats.org/officeDocument/2006/relationships/slide" Target="slides/slide28.xml"/><Relationship Id="rId76" Type="http://schemas.openxmlformats.org/officeDocument/2006/relationships/font" Target="fonts/Outfit-bold.fntdata"/><Relationship Id="rId35" Type="http://schemas.openxmlformats.org/officeDocument/2006/relationships/slide" Target="slides/slide31.xml"/><Relationship Id="rId79" Type="http://schemas.openxmlformats.org/officeDocument/2006/relationships/font" Target="fonts/OutfitMedium-regular.fntdata"/><Relationship Id="rId34" Type="http://schemas.openxmlformats.org/officeDocument/2006/relationships/slide" Target="slides/slide30.xml"/><Relationship Id="rId78" Type="http://schemas.openxmlformats.org/officeDocument/2006/relationships/font" Target="fonts/OutfitSemiBold-bold.fntdata"/><Relationship Id="rId71" Type="http://schemas.openxmlformats.org/officeDocument/2006/relationships/font" Target="fonts/Lora-regular.fntdata"/><Relationship Id="rId70" Type="http://schemas.openxmlformats.org/officeDocument/2006/relationships/font" Target="fonts/LoraSemiBold-boldItalic.fntdata"/><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62" Type="http://schemas.openxmlformats.org/officeDocument/2006/relationships/font" Target="fonts/LoraMedium-bold.fntdata"/><Relationship Id="rId61" Type="http://schemas.openxmlformats.org/officeDocument/2006/relationships/font" Target="fonts/LoraMedium-regular.fntdata"/><Relationship Id="rId20" Type="http://schemas.openxmlformats.org/officeDocument/2006/relationships/slide" Target="slides/slide16.xml"/><Relationship Id="rId64" Type="http://schemas.openxmlformats.org/officeDocument/2006/relationships/font" Target="fonts/LoraMedium-boldItalic.fntdata"/><Relationship Id="rId63" Type="http://schemas.openxmlformats.org/officeDocument/2006/relationships/font" Target="fonts/LoraMedium-italic.fntdata"/><Relationship Id="rId22" Type="http://schemas.openxmlformats.org/officeDocument/2006/relationships/slide" Target="slides/slide18.xml"/><Relationship Id="rId66" Type="http://schemas.openxmlformats.org/officeDocument/2006/relationships/font" Target="fonts/InstrumentSerif-italic.fntdata"/><Relationship Id="rId21" Type="http://schemas.openxmlformats.org/officeDocument/2006/relationships/slide" Target="slides/slide17.xml"/><Relationship Id="rId65" Type="http://schemas.openxmlformats.org/officeDocument/2006/relationships/font" Target="fonts/InstrumentSerif-regular.fntdata"/><Relationship Id="rId24" Type="http://schemas.openxmlformats.org/officeDocument/2006/relationships/slide" Target="slides/slide20.xml"/><Relationship Id="rId68" Type="http://schemas.openxmlformats.org/officeDocument/2006/relationships/font" Target="fonts/LoraSemiBold-bold.fntdata"/><Relationship Id="rId23" Type="http://schemas.openxmlformats.org/officeDocument/2006/relationships/slide" Target="slides/slide19.xml"/><Relationship Id="rId67" Type="http://schemas.openxmlformats.org/officeDocument/2006/relationships/font" Target="fonts/LoraSemiBold-regular.fntdata"/><Relationship Id="rId60" Type="http://schemas.openxmlformats.org/officeDocument/2006/relationships/slide" Target="slides/slide56.xml"/><Relationship Id="rId26" Type="http://schemas.openxmlformats.org/officeDocument/2006/relationships/slide" Target="slides/slide22.xml"/><Relationship Id="rId25" Type="http://schemas.openxmlformats.org/officeDocument/2006/relationships/slide" Target="slides/slide21.xml"/><Relationship Id="rId69" Type="http://schemas.openxmlformats.org/officeDocument/2006/relationships/font" Target="fonts/LoraSemiBold-italic.fntdata"/><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slide" Target="slides/slide47.xml"/><Relationship Id="rId50" Type="http://schemas.openxmlformats.org/officeDocument/2006/relationships/slide" Target="slides/slide46.xml"/><Relationship Id="rId53" Type="http://schemas.openxmlformats.org/officeDocument/2006/relationships/slide" Target="slides/slide49.xml"/><Relationship Id="rId52" Type="http://schemas.openxmlformats.org/officeDocument/2006/relationships/slide" Target="slides/slide48.xml"/><Relationship Id="rId11" Type="http://schemas.openxmlformats.org/officeDocument/2006/relationships/slide" Target="slides/slide7.xml"/><Relationship Id="rId55" Type="http://schemas.openxmlformats.org/officeDocument/2006/relationships/slide" Target="slides/slide51.xml"/><Relationship Id="rId10" Type="http://schemas.openxmlformats.org/officeDocument/2006/relationships/slide" Target="slides/slide6.xml"/><Relationship Id="rId54" Type="http://schemas.openxmlformats.org/officeDocument/2006/relationships/slide" Target="slides/slide50.xml"/><Relationship Id="rId13" Type="http://schemas.openxmlformats.org/officeDocument/2006/relationships/slide" Target="slides/slide9.xml"/><Relationship Id="rId57" Type="http://schemas.openxmlformats.org/officeDocument/2006/relationships/slide" Target="slides/slide53.xml"/><Relationship Id="rId12" Type="http://schemas.openxmlformats.org/officeDocument/2006/relationships/slide" Target="slides/slide8.xml"/><Relationship Id="rId56" Type="http://schemas.openxmlformats.org/officeDocument/2006/relationships/slide" Target="slides/slide52.xml"/><Relationship Id="rId15" Type="http://schemas.openxmlformats.org/officeDocument/2006/relationships/slide" Target="slides/slide11.xml"/><Relationship Id="rId59" Type="http://schemas.openxmlformats.org/officeDocument/2006/relationships/slide" Target="slides/slide55.xml"/><Relationship Id="rId14" Type="http://schemas.openxmlformats.org/officeDocument/2006/relationships/slide" Target="slides/slide10.xml"/><Relationship Id="rId58" Type="http://schemas.openxmlformats.org/officeDocument/2006/relationships/slide" Target="slides/slide54.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8F5"/>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 name="Shape 33"/>
        <p:cNvGrpSpPr/>
        <p:nvPr/>
      </p:nvGrpSpPr>
      <p:grpSpPr>
        <a:xfrm>
          <a:off x="0" y="0"/>
          <a:ext cx="0" cy="0"/>
          <a:chOff x="0" y="0"/>
          <a:chExt cx="0" cy="0"/>
        </a:xfrm>
      </p:grpSpPr>
      <p:sp>
        <p:nvSpPr>
          <p:cNvPr id="34" name="Google Shape;34;p1:notes"/>
          <p:cNvSpPr txBox="1"/>
          <p:nvPr>
            <p:ph idx="1" type="body"/>
          </p:nvPr>
        </p:nvSpPr>
        <p:spPr>
          <a:xfrm>
            <a:off x="640080" y="914400"/>
            <a:ext cx="5486400" cy="6400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Objective: Open the workshop and set the frame: two days, four sessions, one public repo.</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Welcome. This is AI Kitcraft, one of five workshops running in parallel at the Symposium. For the next two days we are not adopting a tool — we are writing down how you already work with AI, until someone else, or someone else's assistant, can pick it up and run it without asking you. Three words carry the whole workshop: kit, factory, bridge. Everything we make goes in one public repository, and the link is on the screen.</a:t>
            </a:r>
            <a:endParaRPr/>
          </a:p>
        </p:txBody>
      </p:sp>
      <p:sp>
        <p:nvSpPr>
          <p:cNvPr id="35" name="Google Shape;35;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 name="Shape 41"/>
        <p:cNvGrpSpPr/>
        <p:nvPr/>
      </p:nvGrpSpPr>
      <p:grpSpPr>
        <a:xfrm>
          <a:off x="0" y="0"/>
          <a:ext cx="0" cy="0"/>
          <a:chOff x="0" y="0"/>
          <a:chExt cx="0" cy="0"/>
        </a:xfrm>
      </p:grpSpPr>
      <p:sp>
        <p:nvSpPr>
          <p:cNvPr id="42" name="Google Shape;42;p2:notes"/>
          <p:cNvSpPr txBox="1"/>
          <p:nvPr>
            <p:ph idx="1" type="body"/>
          </p:nvPr>
        </p:nvSpPr>
        <p:spPr>
          <a:xfrm>
            <a:off x="640080" y="914400"/>
            <a:ext cx="5486400" cy="6400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Objective: Introduce the facilitators and where the Institute’s work sits.</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Two of us are running this. I am Sachin — I write Summer Lightning, and the precommodification argument you will hear in the next half hour is mine. Rafa built the Institute brand kit and the water-rate factory that anyone can bridge to on Tuesday, and the four-quadrant lens we use at the end of every hour is his. Between us we cover the Protocol Institute's research side and Protocols for Business, the SIG where this continues fortnightly after the Symposium. Everything lives in the repo on screen: the glossary is one file, and if a term I use is not in it, tell me and it goes in.</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Source: Repo github.com/protocolvision/workshop-kitkraft · voice #kafka · text #workshop-kitkraft · glossary at slides/glossary.md</a:t>
            </a:r>
            <a:endParaRPr/>
          </a:p>
        </p:txBody>
      </p:sp>
      <p:sp>
        <p:nvSpPr>
          <p:cNvPr id="43" name="Google Shape;43;p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p4:notes"/>
          <p:cNvSpPr txBox="1"/>
          <p:nvPr>
            <p:ph idx="1" type="body"/>
          </p:nvPr>
        </p:nvSpPr>
        <p:spPr>
          <a:xfrm>
            <a:off x="640080" y="914400"/>
            <a:ext cx="5486400" cy="6400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Objective: Explain the two days: share how you work with AI, then connect with others.</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Four sessions of an hour, with work in between, and one public repository that holds everything we make. That is the one rule I will keep repeating: whatever you make lands in the repo.</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Source: Sessions run 60 minutes · async work between</a:t>
            </a:r>
            <a:endParaRPr/>
          </a:p>
        </p:txBody>
      </p:sp>
      <p:sp>
        <p:nvSpPr>
          <p:cNvPr id="59" name="Google Shape;59;p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fbabb9058b_0_3384:notes"/>
          <p:cNvSpPr txBox="1"/>
          <p:nvPr>
            <p:ph idx="1" type="body"/>
          </p:nvPr>
        </p:nvSpPr>
        <p:spPr>
          <a:xfrm>
            <a:off x="640080" y="914400"/>
            <a:ext cx="5486400" cy="6400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Objective: Explain the two days: share how you work with AI, then connect with others.</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Four sessions of an hour, with work in between, and one public repository that holds everything we make. That is the one rule I will keep repeating: whatever you make lands in the repo.</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Source: Sessions run 60 minutes · async work between</a:t>
            </a:r>
            <a:endParaRPr/>
          </a:p>
        </p:txBody>
      </p:sp>
      <p:sp>
        <p:nvSpPr>
          <p:cNvPr id="81" name="Google Shape;81;g3fbabb9058b_0_338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5:notes"/>
          <p:cNvSpPr txBox="1"/>
          <p:nvPr>
            <p:ph idx="1" type="body"/>
          </p:nvPr>
        </p:nvSpPr>
        <p:spPr>
          <a:xfrm>
            <a:off x="640080" y="914400"/>
            <a:ext cx="5486400" cy="6400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Objective: Explain the workshop's recording policy.</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Before anything else, the consent notice, and I will read it as it is pinned. The short version: the voice channel and the text channel are recorded and transcribed with your names on them, and the transcripts go into the public repo. You can ask either of us to take any line out at any point, and you do not have to give a reason. If you would rather be off the transcript, say so now.</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Source: Consent notice pinned in #workshop-kitkraft</a:t>
            </a:r>
            <a:endParaRPr/>
          </a:p>
        </p:txBody>
      </p:sp>
      <p:sp>
        <p:nvSpPr>
          <p:cNvPr id="89" name="Google Shape;89;p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6:notes"/>
          <p:cNvSpPr txBox="1"/>
          <p:nvPr>
            <p:ph idx="1" type="body"/>
          </p:nvPr>
        </p:nvSpPr>
        <p:spPr>
          <a:xfrm>
            <a:off x="640080" y="914400"/>
            <a:ext cx="5486400" cy="6400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Objective: Get every person to introduce themselves: name, AI usage example, and one recent surprise.</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Let's go round. Name, where you work and one line about what you do; then the posture you came out as in the survey — Partnership, Hypervigilance, Overreliance or Compliance; then either a recent surprise you had with AI, or one rule you personally follow with it. I will start, and I will keep the clock so everyone gets their turn.</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Source: Reminder: Set the clock to &lt;2 mins per person!</a:t>
            </a:r>
            <a:endParaRPr/>
          </a:p>
        </p:txBody>
      </p:sp>
      <p:sp>
        <p:nvSpPr>
          <p:cNvPr id="102" name="Google Shape;102;p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3:notes"/>
          <p:cNvSpPr txBox="1"/>
          <p:nvPr>
            <p:ph idx="1" type="body"/>
          </p:nvPr>
        </p:nvSpPr>
        <p:spPr>
          <a:xfrm>
            <a:off x="640080" y="914400"/>
            <a:ext cx="5486400" cy="6400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Objective: Welcome everyone and explain that this session is about how each person uses AI.</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Welcome. For the next two days we are not adopting a tool — we are writing down how you already work with AI, until someone else, or someone else's AI assistant, can pick it up and run it without asking you. Four sessions of an hour, with work in between, and one public repository that holds everything we make. That is the one rule I will keep repeating: whatever you make lands in the repo.</a:t>
            </a:r>
            <a:endParaRPr/>
          </a:p>
        </p:txBody>
      </p:sp>
      <p:sp>
        <p:nvSpPr>
          <p:cNvPr id="118" name="Google Shape;118;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fbabb9058b_0_143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fbabb9058b_0_14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7:notes"/>
          <p:cNvSpPr txBox="1"/>
          <p:nvPr>
            <p:ph idx="1" type="body"/>
          </p:nvPr>
        </p:nvSpPr>
        <p:spPr>
          <a:xfrm>
            <a:off x="640080" y="914400"/>
            <a:ext cx="5486400" cy="6400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Objective: Show that AI is still early, like farmers adapting cars before tractors existed.</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A quick word on what this is not. It is not workflow optimisation, it is not build-a-website, and it is not prompt tricks. Rural Model T owners ran corn shellers off the back axle for years before Ford watched them and built a tractor — real work, done with parts that were never meant for it, which is roughly where all of us are with AI right now. We are in the kit phase, the tractor is not here yet, and the tools that hide the assembly from you are not it.</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Reference: Sachin, “AI, tractors, and the productivity paradox” — read.technically.dev/p/the-ai-productivity-paradox (kit definition, Boulton &amp; Watt, Kline &amp; Pinch, closure, the invisible kit stage).</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Source: Kline &amp; Pinch 1996 · Bijker 1995 · read.technically.dev/p/the-ai-productivity-paradox</a:t>
            </a:r>
            <a:endParaRPr/>
          </a:p>
        </p:txBody>
      </p:sp>
      <p:sp>
        <p:nvSpPr>
          <p:cNvPr id="132" name="Google Shape;132;p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fbb3796125_0_103:notes"/>
          <p:cNvSpPr txBox="1"/>
          <p:nvPr>
            <p:ph idx="1" type="body"/>
          </p:nvPr>
        </p:nvSpPr>
        <p:spPr>
          <a:xfrm>
            <a:off x="640080" y="914400"/>
            <a:ext cx="5486400" cy="6400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GB"/>
              <a:t>Objective: Reframe kitcraft as protocol-making inside an already heavily protocolized environment.</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GB"/>
              <a:t>Here is the correction. The parallel I care about is environmental, not car-to-AI. Early automobile tinkering took place in a world with much more unstructured space around the technology. AI experimentation happens inside institutions and technical environments already dense with protocols: software stacks, APIs, compliance, metrics, org charts, identities, standards, procurement and existing workflows.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GB"/>
              <a:t>That changes what tinkering means. Ballard is useful here because Crash and Concrete Island are interested in the psychology produced by mature infrastructure. Crash is fascinated by speed, collision and the limit condition of a saturated technical system. Concrete Island imagines isolation produced inside infrastructure built for circulation. I am not saying AGI is a car crash, or that AI is a motorway. The parallel is that mature technical environments begin to organize imagination and behavior around their own constraints and extremes.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GB"/>
              <a:t>So kitcraft is not simply invention before standardization. It is the search for local degrees of freedom, new protocols and cognitive adaptations inside inherited systems.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GB"/>
              <a:t>Source: J. G. Ballard, Crash (1973) · Concrete Island (1974) · working synthesis</a:t>
            </a:r>
            <a:endParaRPr/>
          </a:p>
        </p:txBody>
      </p:sp>
      <p:sp>
        <p:nvSpPr>
          <p:cNvPr id="151" name="Google Shape;151;g3fbb3796125_0_10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8:notes"/>
          <p:cNvSpPr txBox="1"/>
          <p:nvPr>
            <p:ph idx="1" type="body"/>
          </p:nvPr>
        </p:nvSpPr>
        <p:spPr>
          <a:xfrm>
            <a:off x="640080" y="914400"/>
            <a:ext cx="5486400" cy="6400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Objective: Locate the room on the AI Capability Maturity Model, and show that the kit is level two on the cultivated track.</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This is the ladder the three words come from, and it is worth thirty seconds on why it has two columns. The guide’s argument is that adoption runs on two tracks at once: the governed one, which is the policy and procurement an organization approves in advance, and the cultivated one, which is the practice its people invent on their own. Most organizations only do the left column, and that is why their adoption stalls. Find yourself on the right-hand column: most of you are at Play, some at Kit. A kit is literally level two cultivated — encoding your personal workflow into something reusable and shareable — which is exactly what you are doing in the next hour. The report is linked at the bottom if you want the case studies; we are not going to teach the ladder, just use it to locate ourselves.</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Source: Durable AI Adoption v0.5 · ai.protocolized.dev · full report (PDF)</a:t>
            </a:r>
            <a:endParaRPr/>
          </a:p>
        </p:txBody>
      </p:sp>
      <p:sp>
        <p:nvSpPr>
          <p:cNvPr id="166" name="Google Shape;166;p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fbb3796125_0_137:notes"/>
          <p:cNvSpPr txBox="1"/>
          <p:nvPr>
            <p:ph idx="1" type="body"/>
          </p:nvPr>
        </p:nvSpPr>
        <p:spPr>
          <a:xfrm>
            <a:off x="640080" y="914400"/>
            <a:ext cx="5486400" cy="6400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GB"/>
              <a:t>Objective: Define a kit as a local protocol for cognitive adaptation inside an inherited system.</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GB"/>
              <a:t>The correction on the last slide changes the definition. A kit is not interesting only because the technology has not settled yet. It is interesting because the technology remains plastic while the environment around it is already structured. The kit is the local protocol you have built to make those two things meet.</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GB"/>
              <a:t>In practice that is still concrete: prompts, files, model calls, agents and steps bent around a recurring job. But now we pay attention to the constraints around them too — the workflow, permissions, standards, software, organizational expectations and other protocols the practice has to live inside.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GB"/>
              <a:t>The folder is how we externalize enough of that adaptation for another person or assistant to inspect it. README for people, SKILL.md for the assistant, one example, and a LOG of what changed and broke. A factory, tonight's topic, is what happens when enough of that protocol has been made explicit that the practice can run without its author.</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GB"/>
              <a:t>Source: Agent Skills spec · working synthesis on kitcraft and protocolized environments</a:t>
            </a:r>
            <a:endParaRPr/>
          </a:p>
        </p:txBody>
      </p:sp>
      <p:sp>
        <p:nvSpPr>
          <p:cNvPr id="189" name="Google Shape;189;g3fbb3796125_0_13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10:notes"/>
          <p:cNvSpPr txBox="1"/>
          <p:nvPr>
            <p:ph idx="1" type="body"/>
          </p:nvPr>
        </p:nvSpPr>
        <p:spPr>
          <a:xfrm>
            <a:off x="640080" y="914400"/>
            <a:ext cx="5486400" cy="6400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Objective: Show where most teams are today and what the next step looks like.</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One slide with two vocabularies, and then we drop one. The adoption guide has five levels and four gates. Working out what you already do and writing it down is what it calls level two — that is our kit. Proving it, by giving it a way in that someone else can test, is a factory, and the guide's own timeline puts factories at 2026 to 2028. So this room is at kit and the frontier is factory. From here on I will only say kit, factory, bridge.</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Source: Durable AI Adoption · ai.protocolized.dev</a:t>
            </a:r>
            <a:endParaRPr/>
          </a:p>
        </p:txBody>
      </p:sp>
      <p:sp>
        <p:nvSpPr>
          <p:cNvPr id="204" name="Google Shape;204;p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fbb2403e20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3fbb2403e2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15:notes"/>
          <p:cNvSpPr txBox="1"/>
          <p:nvPr>
            <p:ph idx="1" type="body"/>
          </p:nvPr>
        </p:nvSpPr>
        <p:spPr>
          <a:xfrm>
            <a:off x="640080" y="914400"/>
            <a:ext cx="5486400" cy="6400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Objective: Explain why the record of where work came from is scarcer than the idea itself.</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Now the other half of the problem, and this one is Sachin’s. Anything worth thinking about is being thought about, right now, by everyone capable of thinking about it, all with AI in the loop — and they are arriving at the same framings, the same metaphors, often the same coinages. There is no gradient left for an idea to travel along. It reaches your questions too: the model is an index fund of present curiosities as much as of past knowledge, so even your unformed hunches converge with other people’s. If being first is no longer the game, what is scarce? Provenance. Where it came from, what you did to it, what you checked it against. That is precisely what a kit records and a chat does not, and it is the reason everything goes in a public repo.</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Source: Benny, LLMs Pre-Commodify Ideas, June 2026</a:t>
            </a:r>
            <a:endParaRPr/>
          </a:p>
        </p:txBody>
      </p:sp>
      <p:sp>
        <p:nvSpPr>
          <p:cNvPr id="227" name="Google Shape;227;p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14:notes"/>
          <p:cNvSpPr txBox="1"/>
          <p:nvPr>
            <p:ph idx="1" type="body"/>
          </p:nvPr>
        </p:nvSpPr>
        <p:spPr>
          <a:xfrm>
            <a:off x="640080" y="914400"/>
            <a:ext cx="5486400" cy="6400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Objective: Explain why a practice shaped entirely around one person stops making sense to anyone else.</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Rao’s essay is the one to read on this, and the argument is not that AI makes us antisocial — it is that AI is a domestic technology. Three affordances: automation, so you can run a whole intellectual operation with almost nobody in it; bespokification, so everything you build is an n=1 product fitted to you, like a farmer improvising equipment; and pensievification, sharing the raw outputs with a few trusted people, which is trading produce with your neighbours. Lean into all three and the tendency is divergence, not convergence: your setup gets better and better adapted to you, and less and less legible to anyone else. That is the trolley problem in the second paragraph — fine in the shop, useless in someone else’s kitchen. Rao’s own first answer, humans talking through what their agents produce, is exactly the move you make tomorrow.</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Source: Rao, Cognitive Farmsteading, July 2026</a:t>
            </a:r>
            <a:endParaRPr/>
          </a:p>
        </p:txBody>
      </p:sp>
      <p:sp>
        <p:nvSpPr>
          <p:cNvPr id="243" name="Google Shape;243;p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11:notes"/>
          <p:cNvSpPr txBox="1"/>
          <p:nvPr>
            <p:ph idx="1" type="body"/>
          </p:nvPr>
        </p:nvSpPr>
        <p:spPr>
          <a:xfrm>
            <a:off x="640080" y="914400"/>
            <a:ext cx="5486400" cy="6400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Objective: Show real examples of a kits.</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One worked example, then we move on. C3PO is one body of text — the Institute's archive — with one pipeline behind it and three doors onto it: a web page for people, a Discord bot for people in a hurry, and a machine door that any assistant can call directly. Same kit, three doors, and the doors are the part that makes it a factory. We are not going to run it now; the shape is the point.</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Source: search_corpus is open · ask_c3po needs a key · a bridge target tomorrow</a:t>
            </a:r>
            <a:endParaRPr/>
          </a:p>
        </p:txBody>
      </p:sp>
      <p:sp>
        <p:nvSpPr>
          <p:cNvPr id="263" name="Google Shape;263;p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13:notes"/>
          <p:cNvSpPr txBox="1"/>
          <p:nvPr>
            <p:ph idx="1" type="body"/>
          </p:nvPr>
        </p:nvSpPr>
        <p:spPr>
          <a:xfrm>
            <a:off x="640080" y="914400"/>
            <a:ext cx="5486400" cy="6400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Objective: Show the move from private notes to notes written for someone else.</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The same move, in a different grid. Working alone and keeping it to yourself is a journal, and that is where most AI practice sits today. Working alone but writing it so somebody else can build on it is a field notebook — Humboldt out in the field, recording observations nobody had asked for, in a form other people could use long before anyone coordinated anything. The Institute runs a Humboldt agent that does exactly that, and it is one of the things you could bridge to tomorrow. Today's move is journal to field notebook, and your inventory is the notebook.</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Source: Learn about The Invention of Nature: Alexander von Humboldt's New World</a:t>
            </a:r>
            <a:endParaRPr/>
          </a:p>
        </p:txBody>
      </p:sp>
      <p:sp>
        <p:nvSpPr>
          <p:cNvPr id="282" name="Google Shape;282;p1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12:notes"/>
          <p:cNvSpPr txBox="1"/>
          <p:nvPr>
            <p:ph idx="1" type="body"/>
          </p:nvPr>
        </p:nvSpPr>
        <p:spPr>
          <a:xfrm>
            <a:off x="640080" y="914400"/>
            <a:ext cx="5486400" cy="6400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Objective: Explain how things left in a shared space help uncover new products and organizational forms.</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There is a word for how this repo is going to work, and it is stigmergy. You leave a trace in a shared medium, and the trace itself prompts somebody else's next action — no plan, no message, nobody online at the same time. Two kinds of trace: the work itself, which is your kit, and signs about the work, which is the line your assistant writes into your LOG.md. The repo is the medium, and we get about two days out of it.</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Source: Heylighen 2016 · Stigmergy as a Universal Coordination Mechanism</a:t>
            </a:r>
            <a:endParaRPr/>
          </a:p>
        </p:txBody>
      </p:sp>
      <p:sp>
        <p:nvSpPr>
          <p:cNvPr id="298" name="Google Shape;298;p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16:notes"/>
          <p:cNvSpPr txBox="1"/>
          <p:nvPr>
            <p:ph idx="1" type="body"/>
          </p:nvPr>
        </p:nvSpPr>
        <p:spPr>
          <a:xfrm>
            <a:off x="640080" y="914400"/>
            <a:ext cx="5486400" cy="6400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Objective: Introduce the workshop's lens: what's around you (external) or inside you (internal), already there (archive) or happening now (live).</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Before we name a single tool, let's name what is worth noticing. Two questions: is it outside you or inside you, and is it already fixed or is it happening right now. Outside and fixed: the idea you just had is already in the model, which means novelty is cheap and the record of where something came from is not. Outside and live: the traces other people's assistants leave in shared files. Inside and fixed: what you actually know to be true in your own context. Inside and live: you can play in this space, not just consume from it. At the end of every hour I will ask which of the four that hour expanded.</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Source: Internal/external axis borrowed from Ashcroft, Expanding Awareness · the quadrant names are ours</a:t>
            </a:r>
            <a:endParaRPr/>
          </a:p>
        </p:txBody>
      </p:sp>
      <p:sp>
        <p:nvSpPr>
          <p:cNvPr id="317" name="Google Shape;317;p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17:notes"/>
          <p:cNvSpPr txBox="1"/>
          <p:nvPr>
            <p:ph idx="1" type="body"/>
          </p:nvPr>
        </p:nvSpPr>
        <p:spPr>
          <a:xfrm>
            <a:off x="640080" y="914400"/>
            <a:ext cx="5486400" cy="6400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Objective: Have each person list AI kits they already use, personally or at work. (wallflower exercise)</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Over to you. Open your harness — the coding assistant you installed — at the top of the clone, paste Block 1, which I am pinning right now, and say “do this”. It will ask you to list the AI kits you already use, one at a time; it will not invent them for you. What counts as a kit? Any AI setup you have tinkered with to do a real job: a saved or reused prompt, a custom GPT or Claude project, a prompt document you copy from, a spreadsheet or document with an AI step, an automation with an AI step, a skill. Small is fine. One to three is plenty. Two things before you start: everything in this repo is public, so keep anything sensitive in a private folder on your own machine, and if a push fails three times, paste the exact error into the channel instead of fighting it.</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Source: Time calls at 6 and 10 minutes · if a push fails three times, paste the exact error into #workshop-kitkraft · keep anything sensitive off the repo</a:t>
            </a:r>
            <a:endParaRPr/>
          </a:p>
        </p:txBody>
      </p:sp>
      <p:sp>
        <p:nvSpPr>
          <p:cNvPr id="336" name="Google Shape;336;p1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18:notes"/>
          <p:cNvSpPr txBox="1"/>
          <p:nvPr>
            <p:ph idx="1" type="body"/>
          </p:nvPr>
        </p:nvSpPr>
        <p:spPr>
          <a:xfrm>
            <a:off x="640080" y="914400"/>
            <a:ext cx="5486400" cy="6400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Objective: Have each AI assistant find kits related to each other.</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Same file, Block 2 this time. Paste it and say “do this”. It pulls everyone's folders, reads the inventories through your assistant rather than through your browser, and tells you the two people whose kits sit nearest to yours. Note those two names down — that is the seed for the groups you will be working in tomorrow.</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Source: Your first trace read by someone else's agent</a:t>
            </a:r>
            <a:endParaRPr/>
          </a:p>
        </p:txBody>
      </p:sp>
      <p:sp>
        <p:nvSpPr>
          <p:cNvPr id="353" name="Google Shape;353;p1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p19:notes"/>
          <p:cNvSpPr txBox="1"/>
          <p:nvPr>
            <p:ph idx="1" type="body"/>
          </p:nvPr>
        </p:nvSpPr>
        <p:spPr>
          <a:xfrm>
            <a:off x="640080" y="914400"/>
            <a:ext cx="5486400" cy="6400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Objective: Hear one thing each person noticed, so we can see what the room is learning.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Last thing before I let you go. Which of the four did this hour expand for you — precommodification, traces, anchored in reality, or playability? One word each, in the order I am posting now. There is no right answer, and I am not going to correct anybody.</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Source: Post in #workshop-kitkraft if you would rather not speak</a:t>
            </a:r>
            <a:endParaRPr/>
          </a:p>
        </p:txBody>
      </p:sp>
      <p:sp>
        <p:nvSpPr>
          <p:cNvPr id="370" name="Google Shape;370;p1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p20:notes"/>
          <p:cNvSpPr txBox="1"/>
          <p:nvPr>
            <p:ph idx="1" type="body"/>
          </p:nvPr>
        </p:nvSpPr>
        <p:spPr>
          <a:xfrm>
            <a:off x="640080" y="914400"/>
            <a:ext cx="5486400" cy="6400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Objective: Point people to Tech Support now and to choosing a kit before tonight.</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Async 1 is three hours, not a whole evening, so it is deliberately small: paste the async block, choose the kit you are going to turn into a factory tonight — your own, or one of ours — and let your assistant draft the first two lines of the README. Push, and stop there. If you are coming to 1A, do it afterwards; 1A starts here in #kafka in a minute, for anything that will not log in, clone or push. We are back at 20:00 UTC, and that is when you build the kit.</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Source: Reading order after S1: Durable AI Adoption ch.1–3 · Have Your Factory Call My Factory</a:t>
            </a:r>
            <a:endParaRPr/>
          </a:p>
        </p:txBody>
      </p:sp>
      <p:sp>
        <p:nvSpPr>
          <p:cNvPr id="392" name="Google Shape;392;p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p21:notes"/>
          <p:cNvSpPr txBox="1"/>
          <p:nvPr>
            <p:ph idx="1" type="body"/>
          </p:nvPr>
        </p:nvSpPr>
        <p:spPr>
          <a:xfrm>
            <a:off x="640080" y="914400"/>
            <a:ext cx="5486400" cy="6400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Objective: Welcome people back and frame tonight: making a kit work without its author. (externalized memory / context)</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Recording is on and the consent is the one we read this afternoon; breakout rooms may be recorded too. Here is the S1 tally exactly as it was counted, and here is what you chose in Async 1. Three hours ago you picked a kit. It works, and it works because you are there to bend it every time you use it. Tonight we take you out of it, so it runs without you, fits whoever picks it up, and hands them something they can build on.</a:t>
            </a:r>
            <a:endParaRPr/>
          </a:p>
        </p:txBody>
      </p:sp>
      <p:sp>
        <p:nvSpPr>
          <p:cNvPr id="415" name="Google Shape;415;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g3fbabb9058b_0_143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23" name="Google Shape;423;g3fbabb9058b_0_14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p22:notes"/>
          <p:cNvSpPr txBox="1"/>
          <p:nvPr>
            <p:ph idx="1" type="body"/>
          </p:nvPr>
        </p:nvSpPr>
        <p:spPr>
          <a:xfrm>
            <a:off x="640080" y="914400"/>
            <a:ext cx="5486400" cy="6400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Objective: Show that kits running without their author's oversight need hard protocols to stay reliable.</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Three hours ago you picked a kit. It works, and it works because you are there to bend it every time you use it. Tonight we take you out of it, so it runs without you, fits whoever picks it up, and hands them something they can build on.</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Source: Springett · Hard Worlds For Little Guys (CC BY-SA 4.0)</a:t>
            </a:r>
            <a:endParaRPr/>
          </a:p>
        </p:txBody>
      </p:sp>
      <p:sp>
        <p:nvSpPr>
          <p:cNvPr id="429" name="Google Shape;429;p2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23:notes"/>
          <p:cNvSpPr txBox="1"/>
          <p:nvPr>
            <p:ph idx="1" type="body"/>
          </p:nvPr>
        </p:nvSpPr>
        <p:spPr>
          <a:xfrm>
            <a:off x="640080" y="914400"/>
            <a:ext cx="5486400" cy="6400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Objective: Get each person to write in the chat one thing their kit needs them for.</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Before any theory tonight, one line in the chat, all at once: my kit still needs me to — and finish it. No names, no explanation. If you are stuck, look at the examples on the right: picking which file to start from, knowing which client it is for, noticing when the output is wrong. Don't read anyone else's until you have posted yours. I will read three out, unattributed, and then we start — because whatever you just typed is the thing your SKILL.md does not yet say out loud, and it is what you will fix in twenty minutes.</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Source: Facilitator reads three aloud, unattributed</a:t>
            </a:r>
            <a:endParaRPr/>
          </a:p>
        </p:txBody>
      </p:sp>
      <p:sp>
        <p:nvSpPr>
          <p:cNvPr id="446" name="Google Shape;446;p2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p24:notes"/>
          <p:cNvSpPr txBox="1"/>
          <p:nvPr>
            <p:ph idx="1" type="body"/>
          </p:nvPr>
        </p:nvSpPr>
        <p:spPr>
          <a:xfrm>
            <a:off x="640080" y="914400"/>
            <a:ext cx="5486400" cy="6400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Objective: Explain that electricity paid off only when factories rearranged around it, and AI too.</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When factories first got electricity, they took out the steam engine, put in one big electric motor, and kept every belt and shaft exactly where it was. Almost nothing happened for years. The gains came when they put a small motor on each machine, because then you could lay the floor out around the work instead of around the shafts. Most of us have done the first thing with AI: we put it inside the workflow we already had. Turning your kit into a factory is the second thing, at the size of one person's practice. You are re-laying one small floor tonight.</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Source: Devine 1983, From Shafts to Wires · David 1990, The Dynamo and the Computer</a:t>
            </a:r>
            <a:endParaRPr/>
          </a:p>
        </p:txBody>
      </p:sp>
      <p:sp>
        <p:nvSpPr>
          <p:cNvPr id="462" name="Google Shape;462;p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p25:notes"/>
          <p:cNvSpPr txBox="1"/>
          <p:nvPr>
            <p:ph idx="1" type="body"/>
          </p:nvPr>
        </p:nvSpPr>
        <p:spPr>
          <a:xfrm>
            <a:off x="640080" y="914400"/>
            <a:ext cx="5486400" cy="6400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Objective: Define a factory: it runs without you, fits its user, and hands off useful work.</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Here is the definition: a factory is a kit that runs without its author, bends to its user, and hands off something others can build on. That describes what it does, not what it is made of; nothing in it says folder, app or website. Notice that each part comes from someone different. The steps come from you, written down so they give the same result each time. The context comes from the person running it — their data, their constraints. Not needing you comes from the factory itself asking for what it needs, instead of you explaining. And being buildable-on comes from the output. Take one away and look at the table: you have a kit, a widget, a service or a tool. Use it on your own kit tonight.</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Source: Postponement: Feitzinger &amp; Lee 1997 · a factory is a flexible job shop, not an assembly line</a:t>
            </a:r>
            <a:endParaRPr/>
          </a:p>
        </p:txBody>
      </p:sp>
      <p:sp>
        <p:nvSpPr>
          <p:cNvPr id="479" name="Google Shape;479;p2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p26:notes"/>
          <p:cNvSpPr txBox="1"/>
          <p:nvPr>
            <p:ph idx="1" type="body"/>
          </p:nvPr>
        </p:nvSpPr>
        <p:spPr>
          <a:xfrm>
            <a:off x="640080" y="914400"/>
            <a:ext cx="5486400" cy="6400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Objective: Show two real examples of work that runs without its author and helps others build.</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Two factories that already exist, and I want you to read them through four questions. Rao's manuscript factory never made a book. It made drafts with metadata attached and left them in a shared folder, and Jenna Dixon's production factory picked them up from there without Rao having to explain anything. That runs without its author and hands off something to build on, and it connects two factories by agreeing on an output, not by making them alike. Now the brand kit — an assistant reads that one file and has the brand, with nobody in the middle. And Monstrous Times took the kit, copied it, and bent it to its own world, which is the property the book case does not show. One more thing: Rao and Dixon are not coders. What held them up was never machinery; it was agreeing how one practice meets another.</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Source: Have Your Factory Call My Factory · the brand kit</a:t>
            </a:r>
            <a:endParaRPr/>
          </a:p>
        </p:txBody>
      </p:sp>
      <p:sp>
        <p:nvSpPr>
          <p:cNvPr id="499" name="Google Shape;499;p2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p28:notes"/>
          <p:cNvSpPr txBox="1"/>
          <p:nvPr>
            <p:ph idx="1" type="body"/>
          </p:nvPr>
        </p:nvSpPr>
        <p:spPr>
          <a:xfrm>
            <a:off x="640080" y="914400"/>
            <a:ext cx="5486400" cy="6400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Objective: Show that a factory can be a guide, a script, an app, or a website.</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The ladder is the forms a factory can take, from a skill to a website running on a machine somewhere. Climbing it buys reach and costs effort; it does not make something more of a factory, because the definition is the same on every rung. Tonight everyone is on rung one, and that is the right rung: standards that close early lock in whatever happened to be there, which is how we all ended up typing on QWERTY. Declare the smallest way in and keep the inside free.</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Source: Bijker 1995 on closure · David 1985 on QWERTY · agentskills.io/specification</a:t>
            </a:r>
            <a:endParaRPr/>
          </a:p>
        </p:txBody>
      </p:sp>
      <p:sp>
        <p:nvSpPr>
          <p:cNvPr id="512" name="Google Shape;512;p2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p29:notes"/>
          <p:cNvSpPr txBox="1"/>
          <p:nvPr>
            <p:ph idx="1" type="body"/>
          </p:nvPr>
        </p:nvSpPr>
        <p:spPr>
          <a:xfrm>
            <a:off x="640080" y="914400"/>
            <a:ext cx="5486400" cy="6400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Objective: Have each person try to turn one kit into something another assistant can run unaided. (i.e. protocolization)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Your turn. Open your harness at the top of the clone, paste the block I am pinning now and say “do this”. It walks the six moves in order, it will ask which kit you chose in Async 1, and it will not invent answers for you. When I call push, four things have to exist: a README with three lines — what this exports, how to call it, and what it adapts to — a SKILL.md whose numbered steps are the workstations and ask for the user's context instead of assuming yours, one example your assistant produced cold from that SKILL.md alone, and all of it inside participants/&lt;you&gt;/s2-factory/. Time calls at five and ten minutes; everything in this repo is public, so keep anything sensitive on your own machine.</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Source: Template: PARTICIPANT_TEMPLATE/ · sensitive material stays on your machine</a:t>
            </a:r>
            <a:endParaRPr/>
          </a:p>
        </p:txBody>
      </p:sp>
      <p:sp>
        <p:nvSpPr>
          <p:cNvPr id="534" name="Google Shape;534;p2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p30:notes"/>
          <p:cNvSpPr txBox="1"/>
          <p:nvPr>
            <p:ph idx="1" type="body"/>
          </p:nvPr>
        </p:nvSpPr>
        <p:spPr>
          <a:xfrm>
            <a:off x="640080" y="914400"/>
            <a:ext cx="5486400" cy="6400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Objective: Have partners test each other's factories and note where the assistant got stuck.</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Rooms now. Inside your group you read in a ring, and the pin says who reads whom. Your assistant gets two files, the README and the SKILL.md, and nothing else, and it runs two tests. First: can it run the example without asking the owner a single thing? Second: give it one line about your own situation, through the README's Adapts to: line, and see whether what comes out suits you or still suits the owner. Three lines on each. Read them aloud to the owner, and the owner types nothing back except blocker lines. Reconvene here at 48.</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Source: Every failure is a line in the kit, not a bug in it</a:t>
            </a:r>
            <a:endParaRPr/>
          </a:p>
        </p:txBody>
      </p:sp>
      <p:sp>
        <p:nvSpPr>
          <p:cNvPr id="547" name="Google Shape;547;p3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p31:notes"/>
          <p:cNvSpPr txBox="1"/>
          <p:nvPr>
            <p:ph idx="1" type="body"/>
          </p:nvPr>
        </p:nvSpPr>
        <p:spPr>
          <a:xfrm>
            <a:off x="640080" y="914400"/>
            <a:ext cx="5486400" cy="6400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Objective: Hear one thing each partner's assistant could not do without the author.</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Recorder is back on. One sentence each, in the order I have pinned, about forty seconds: what did the other agent get wrong about your kit? I will predict most of the answers. Either it stalled at the place where you know something you never wrote down, or it ran fine and produced something that suited you and not the person using it. Both are the next line of your kit, not a bug in it.</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Source: Polanyi 1966: "we can know more than we can tell"</a:t>
            </a:r>
            <a:endParaRPr/>
          </a:p>
        </p:txBody>
      </p:sp>
      <p:sp>
        <p:nvSpPr>
          <p:cNvPr id="560" name="Google Shape;560;p3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p33:notes"/>
          <p:cNvSpPr txBox="1"/>
          <p:nvPr>
            <p:ph idx="1" type="body"/>
          </p:nvPr>
        </p:nvSpPr>
        <p:spPr>
          <a:xfrm>
            <a:off x="640080" y="914400"/>
            <a:ext cx="5486400" cy="6400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Objective: Set the overnight task: fix what your partner found and save a new version.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Overnight is small and specific: paste the async block and fix what your group's agent found — one fix per blocker line, whether it could not run without you or did not fit the reader — re-run the example cold, and push a v2 with a progress line saying what changed. If you are doing tonight async, push your factory anyway and your assigned reader's agent will test it and post the report in the channel for you. We are back at 15:30 UTC tomorrow for bridges, where you use someone's output unchanged instead of copying it; bring the kit you did not critique in mind.</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Source: Optional read: Have Your Factory Call My Factory</a:t>
            </a:r>
            <a:endParaRPr/>
          </a:p>
        </p:txBody>
      </p:sp>
      <p:sp>
        <p:nvSpPr>
          <p:cNvPr id="573" name="Google Shape;573;p3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6" name="Shape 586"/>
        <p:cNvGrpSpPr/>
        <p:nvPr/>
      </p:nvGrpSpPr>
      <p:grpSpPr>
        <a:xfrm>
          <a:off x="0" y="0"/>
          <a:ext cx="0" cy="0"/>
          <a:chOff x="0" y="0"/>
          <a:chExt cx="0" cy="0"/>
        </a:xfrm>
      </p:grpSpPr>
      <p:sp>
        <p:nvSpPr>
          <p:cNvPr id="587" name="Google Shape;587;p34:notes"/>
          <p:cNvSpPr txBox="1"/>
          <p:nvPr>
            <p:ph idx="1" type="body"/>
          </p:nvPr>
        </p:nvSpPr>
        <p:spPr>
          <a:xfrm>
            <a:off x="640080" y="914400"/>
            <a:ext cx="5486400" cy="6400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Objective: Introduce bridges: getting one AI assistant to use several kits together, reliably.</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Recording has started, same consent as Monday, and breakouts may be recorded too. Monday's hard problem left one question open, and it is the one on the slide: how do two private practices reach each other without a shared app? Today we try it rather than answer it — your agent uses someone else's kit or factory, and by half past you each have a file that ends in a paragraph on what a bridge turned out to be.</a:t>
            </a:r>
            <a:endParaRPr/>
          </a:p>
        </p:txBody>
      </p:sp>
      <p:sp>
        <p:nvSpPr>
          <p:cNvPr id="588" name="Google Shape;588;p3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g3fbabb9058b_0_15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96" name="Google Shape;596;g3fbabb9058b_0_15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 name="Shape 600"/>
        <p:cNvGrpSpPr/>
        <p:nvPr/>
      </p:nvGrpSpPr>
      <p:grpSpPr>
        <a:xfrm>
          <a:off x="0" y="0"/>
          <a:ext cx="0" cy="0"/>
          <a:chOff x="0" y="0"/>
          <a:chExt cx="0" cy="0"/>
        </a:xfrm>
      </p:grpSpPr>
      <p:sp>
        <p:nvSpPr>
          <p:cNvPr id="601" name="Google Shape;601;p35:notes"/>
          <p:cNvSpPr txBox="1"/>
          <p:nvPr>
            <p:ph idx="1" type="body"/>
          </p:nvPr>
        </p:nvSpPr>
        <p:spPr>
          <a:xfrm>
            <a:off x="640080" y="914400"/>
            <a:ext cx="5486400" cy="6400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Objective: Show that yesterday's factories each work on their own but will eventually be combined in a network.</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Here is what you built yesterday: one kit per folder, and in every LOG.md the failure the critique found. Look at these two lines — I am not saying whose — because almost all of them are description problems, not code problems. That makes them useful today: a failure is a trace, and it tells the next agent exactly where the knowledge was still in somebody's head.</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Source: Two LOG.md lines on screen, unattributed</a:t>
            </a:r>
            <a:endParaRPr/>
          </a:p>
        </p:txBody>
      </p:sp>
      <p:sp>
        <p:nvSpPr>
          <p:cNvPr id="602" name="Google Shape;602;p3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6" name="Shape 616"/>
        <p:cNvGrpSpPr/>
        <p:nvPr/>
      </p:nvGrpSpPr>
      <p:grpSpPr>
        <a:xfrm>
          <a:off x="0" y="0"/>
          <a:ext cx="0" cy="0"/>
          <a:chOff x="0" y="0"/>
          <a:chExt cx="0" cy="0"/>
        </a:xfrm>
      </p:grpSpPr>
      <p:sp>
        <p:nvSpPr>
          <p:cNvPr id="617" name="Google Shape;617;p36:notes"/>
          <p:cNvSpPr txBox="1"/>
          <p:nvPr>
            <p:ph idx="1" type="body"/>
          </p:nvPr>
        </p:nvSpPr>
        <p:spPr>
          <a:xfrm>
            <a:off x="640080" y="914400"/>
            <a:ext cx="5486400" cy="6400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Objective: Get each person to name, in the chat, two kits they could combine and why.</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One line in the chat before the theory: two folder names and one reason — this plus this, so that. Open participants/ if you need a reminder of what exists. One thing to notice while you choose: the useful pairs are uneven. One kit that produces something plus one that needs that thing, not two kits doing the same job. Nothing is assigned on the basis of this — your target is in the pinned post — but if a pairing named here is better than the one you were given, say so and we will swap it.</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Source: Facilitator reads a few aloud before the theory</a:t>
            </a:r>
            <a:endParaRPr/>
          </a:p>
        </p:txBody>
      </p:sp>
      <p:sp>
        <p:nvSpPr>
          <p:cNvPr id="618" name="Google Shape;618;p3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p37:notes"/>
          <p:cNvSpPr txBox="1"/>
          <p:nvPr>
            <p:ph idx="1" type="body"/>
          </p:nvPr>
        </p:nvSpPr>
        <p:spPr>
          <a:xfrm>
            <a:off x="640080" y="914400"/>
            <a:ext cx="5486400" cy="6400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Objective: Define a bridge as a kit between kits that runs them as one process.</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A target is any kit or factory in the repo, and the difference is one line: a factory declared an Interface: in S2, a kit did not. That gives three configurations you might find yourself in, and I want to be clear that this is a list of things to try, not a taxonomy — your harness works out which one you are in and writes it down.</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Source: A bridge is a small graph over several kits; each node is still one loop</a:t>
            </a:r>
            <a:endParaRPr/>
          </a:p>
        </p:txBody>
      </p:sp>
      <p:sp>
        <p:nvSpPr>
          <p:cNvPr id="631" name="Google Shape;631;p3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0" name="Shape 650"/>
        <p:cNvGrpSpPr/>
        <p:nvPr/>
      </p:nvGrpSpPr>
      <p:grpSpPr>
        <a:xfrm>
          <a:off x="0" y="0"/>
          <a:ext cx="0" cy="0"/>
          <a:chOff x="0" y="0"/>
          <a:chExt cx="0" cy="0"/>
        </a:xfrm>
      </p:grpSpPr>
      <p:sp>
        <p:nvSpPr>
          <p:cNvPr id="651" name="Google Shape;651;p38:notes"/>
          <p:cNvSpPr txBox="1"/>
          <p:nvPr>
            <p:ph idx="1" type="body"/>
          </p:nvPr>
        </p:nvSpPr>
        <p:spPr>
          <a:xfrm>
            <a:off x="640080" y="914400"/>
            <a:ext cx="5486400" cy="6400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Objective: Explain why passing half-finished work between kits often beats passing finished results. (intermedia, stigmergy)</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Go back to where Monday ended. Bespoke use makes your tooling solipsistic, precommodification means we all arrive at roughly the same ideas, and farmsteading makes each practice private — so sharing has to run on public records and interfaces, not on everybody adopting the same app. That is the problem; bridges are the question it leaves.</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Source: McIlroy, Pinson &amp; Tague 1978 · Rao 2026 · fork copies and bends; compose consumes unchanged</a:t>
            </a:r>
            <a:endParaRPr/>
          </a:p>
        </p:txBody>
      </p:sp>
      <p:sp>
        <p:nvSpPr>
          <p:cNvPr id="652" name="Google Shape;652;p3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2" name="Shape 672"/>
        <p:cNvGrpSpPr/>
        <p:nvPr/>
      </p:nvGrpSpPr>
      <p:grpSpPr>
        <a:xfrm>
          <a:off x="0" y="0"/>
          <a:ext cx="0" cy="0"/>
          <a:chOff x="0" y="0"/>
          <a:chExt cx="0" cy="0"/>
        </a:xfrm>
      </p:grpSpPr>
      <p:sp>
        <p:nvSpPr>
          <p:cNvPr id="673" name="Google Shape;673;p39:notes"/>
          <p:cNvSpPr txBox="1"/>
          <p:nvPr>
            <p:ph idx="1" type="body"/>
          </p:nvPr>
        </p:nvSpPr>
        <p:spPr>
          <a:xfrm>
            <a:off x="640080" y="914400"/>
            <a:ext cx="5486400" cy="6400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Objective: Show how Rao and Dixon linked their setups by passing drafts, not finished books.</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The first piece of evidence is Rao's manuscript factory handing work to Jenna Dixon's production factory: what moved was intermediates, drafts and metadata, not the finished book, and neither of them was a coder.</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Source: Have Your Factory Call My Factory, Rao &amp; Protocolized, Mar 2026</a:t>
            </a:r>
            <a:endParaRPr/>
          </a:p>
        </p:txBody>
      </p:sp>
      <p:sp>
        <p:nvSpPr>
          <p:cNvPr id="674" name="Google Shape;674;p3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8" name="Shape 688"/>
        <p:cNvGrpSpPr/>
        <p:nvPr/>
      </p:nvGrpSpPr>
      <p:grpSpPr>
        <a:xfrm>
          <a:off x="0" y="0"/>
          <a:ext cx="0" cy="0"/>
          <a:chOff x="0" y="0"/>
          <a:chExt cx="0" cy="0"/>
        </a:xfrm>
      </p:grpSpPr>
      <p:sp>
        <p:nvSpPr>
          <p:cNvPr id="689" name="Google Shape;689;p40:notes"/>
          <p:cNvSpPr txBox="1"/>
          <p:nvPr>
            <p:ph idx="1" type="body"/>
          </p:nvPr>
        </p:nvSpPr>
        <p:spPr>
          <a:xfrm>
            <a:off x="640080" y="914400"/>
            <a:ext cx="5486400" cy="6400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Objective: Show one assistant chaining two kits, using the first kit's draft as the second's input.</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Here is a target that is open to all of you. Rafa's kit takes a utility's rate schedule PDF and produces one CSV row per tier, appended to a registry — and the interface is nothing more exotic than the shape of that row: fixed column order, units copied and never converted, a page reference required. Downstream the registry feeds a public site that never reads a PDF at all. If you want a target today, your agent can ask this one to produce a row from a PDF excerpt in your own domain.</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Source: Water Data Strategy · npc.here.now/waterdatastrategy · nobody critiqued the facilitator kits</a:t>
            </a:r>
            <a:endParaRPr/>
          </a:p>
        </p:txBody>
      </p:sp>
      <p:sp>
        <p:nvSpPr>
          <p:cNvPr id="690" name="Google Shape;690;p4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p41:notes"/>
          <p:cNvSpPr txBox="1"/>
          <p:nvPr>
            <p:ph idx="1" type="body"/>
          </p:nvPr>
        </p:nvSpPr>
        <p:spPr>
          <a:xfrm>
            <a:off x="640080" y="914400"/>
            <a:ext cx="5486400" cy="6400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Objective: Explain what makes a combined process reliable enough to run again next week.</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We are not handing you a definition, and that is not modesty — the paragraph you write at the end of the breakout is the data, and tomorrow we read all of them before anyone says anything. While you work, watch for these four things: what your agent needed from the target, what it found on its own, what a person had to supply, and what stayed fixed between the two sides. Everything on the last few slides is evidence to check your own log against, not an answer to match.</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Source: Springett, Ontological Hardness — how tightly a system binds symbol, action and consequence</a:t>
            </a:r>
            <a:endParaRPr/>
          </a:p>
        </p:txBody>
      </p:sp>
      <p:sp>
        <p:nvSpPr>
          <p:cNvPr id="706" name="Google Shape;706;p4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p42:notes"/>
          <p:cNvSpPr txBox="1"/>
          <p:nvPr>
            <p:ph idx="1" type="body"/>
          </p:nvPr>
        </p:nvSpPr>
        <p:spPr>
          <a:xfrm>
            <a:off x="640080" y="914400"/>
            <a:ext cx="5486400" cy="6400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Objective: Remind everyone that using others' instructions means trusting them, so check them first.</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Two minutes on something you should know before your agent reads a stranger's folder. When it loads someone's SKILL.md, that file arrives as instructions, not as documentation, and the agent has no reliable way to tell a third party's instructions from yours. One survey this year found a vulnerability in 26.1% of 31,132 public skills. This room runs on trust, so I am not imposing a read-before-load rule — but that is a property of this room, not of the world, which is why identity and trust standards are being built at all.</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Source: safedep.io/agent-skills-threat-model · OWASP AST10 · ERC-8004</a:t>
            </a:r>
            <a:endParaRPr/>
          </a:p>
        </p:txBody>
      </p:sp>
      <p:sp>
        <p:nvSpPr>
          <p:cNvPr id="726" name="Google Shape;726;p4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0" name="Shape 740"/>
        <p:cNvGrpSpPr/>
        <p:nvPr/>
      </p:nvGrpSpPr>
      <p:grpSpPr>
        <a:xfrm>
          <a:off x="0" y="0"/>
          <a:ext cx="0" cy="0"/>
          <a:chOff x="0" y="0"/>
          <a:chExt cx="0" cy="0"/>
        </a:xfrm>
      </p:grpSpPr>
      <p:sp>
        <p:nvSpPr>
          <p:cNvPr id="741" name="Google Shape;741;p43:notes"/>
          <p:cNvSpPr txBox="1"/>
          <p:nvPr>
            <p:ph idx="1" type="body"/>
          </p:nvPr>
        </p:nvSpPr>
        <p:spPr>
          <a:xfrm>
            <a:off x="640080" y="914400"/>
            <a:ext cx="5486400" cy="6400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Objective: Have each assistant combine two or more kits into one process that can be repeated.</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Your group and your target are in the pinned post; the default is the kit you did not critique, and anyone can swap to a facilitator kit, because nobody critiqued those. Open instructions/S3-bridge.md, fill in TARGET and the one thing your kit cannot do alone, paste it and say “do this” — it will refuse to invent the task, so that part is yours. The rule is agent → repo → agent: talk to a human only to unblock, and every unblock becomes one line in your log. At minute 30 stop building and write the two paragraphs; push by 38.</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Source: Groups and targets in the pinned post · hard mode: no human chat at all</a:t>
            </a:r>
            <a:endParaRPr/>
          </a:p>
        </p:txBody>
      </p:sp>
      <p:sp>
        <p:nvSpPr>
          <p:cNvPr id="742" name="Google Shape;742;p4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2" name="Shape 762"/>
        <p:cNvGrpSpPr/>
        <p:nvPr/>
      </p:nvGrpSpPr>
      <p:grpSpPr>
        <a:xfrm>
          <a:off x="0" y="0"/>
          <a:ext cx="0" cy="0"/>
          <a:chOff x="0" y="0"/>
          <a:chExt cx="0" cy="0"/>
        </a:xfrm>
      </p:grpSpPr>
      <p:sp>
        <p:nvSpPr>
          <p:cNvPr id="763" name="Google Shape;763;p44:notes"/>
          <p:cNvSpPr txBox="1"/>
          <p:nvPr>
            <p:ph idx="1" type="body"/>
          </p:nvPr>
        </p:nvSpPr>
        <p:spPr>
          <a:xfrm>
            <a:off x="640080" y="914400"/>
            <a:ext cx="5486400" cy="6400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Objective: Hear what broke when kits were combined and what made the process repeatable.</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Welcome back. One line each, and I am going to hold you to twenty-five seconds, because the long version is already in your log. Fill in the sentence on the screen: my agent needed this from the target, and found this on its own. Order is posted in the channel.</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Source: Every answer goes into tomorrow's synthesis</a:t>
            </a:r>
            <a:endParaRPr/>
          </a:p>
        </p:txBody>
      </p:sp>
      <p:sp>
        <p:nvSpPr>
          <p:cNvPr id="764" name="Google Shape;764;p4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6" name="Shape 776"/>
        <p:cNvGrpSpPr/>
        <p:nvPr/>
      </p:nvGrpSpPr>
      <p:grpSpPr>
        <a:xfrm>
          <a:off x="0" y="0"/>
          <a:ext cx="0" cy="0"/>
          <a:chOff x="0" y="0"/>
          <a:chExt cx="0" cy="0"/>
        </a:xfrm>
      </p:grpSpPr>
      <p:sp>
        <p:nvSpPr>
          <p:cNvPr id="777" name="Google Shape;777;p46:notes"/>
          <p:cNvSpPr txBox="1"/>
          <p:nvPr>
            <p:ph idx="1" type="body"/>
          </p:nvPr>
        </p:nvSpPr>
        <p:spPr>
          <a:xfrm>
            <a:off x="640080" y="914400"/>
            <a:ext cx="5486400" cy="6400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Objective: Set tomorrow's open question: what actually makes a combined process reliable?</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Sachin has one sentence, said once — and note that it is a hypothesis we are going to test against your logs tomorrow, not a definition of the thing you just built. Tomorrow we read your paragraphs first and this second, in that order, and if they disagree your paragraphs win.</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Source: Candidate answer to test: build the constraints into the handoff, not into the instructions</a:t>
            </a:r>
            <a:endParaRPr/>
          </a:p>
        </p:txBody>
      </p:sp>
      <p:sp>
        <p:nvSpPr>
          <p:cNvPr id="778" name="Google Shape;778;p4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1" name="Shape 791"/>
        <p:cNvGrpSpPr/>
        <p:nvPr/>
      </p:nvGrpSpPr>
      <p:grpSpPr>
        <a:xfrm>
          <a:off x="0" y="0"/>
          <a:ext cx="0" cy="0"/>
          <a:chOff x="0" y="0"/>
          <a:chExt cx="0" cy="0"/>
        </a:xfrm>
      </p:grpSpPr>
      <p:sp>
        <p:nvSpPr>
          <p:cNvPr id="792" name="Google Shape;792;p47:notes"/>
          <p:cNvSpPr txBox="1"/>
          <p:nvPr>
            <p:ph idx="1" type="body"/>
          </p:nvPr>
        </p:nvSpPr>
        <p:spPr>
          <a:xfrm>
            <a:off x="640080" y="914400"/>
            <a:ext cx="5486400" cy="6400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Objective: Make sure everyone saves their bridge notes and prepares a short show-and-tell.</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Before 20:00, finish the bridge log, then paste instructions/S4-show-and-tell.md so your harness prepares your ninety seconds for S4; the hard-mode rerun is optional and goes in the same file.</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Source: S4 at 20:00 UTC · nothing tonight is off the record</a:t>
            </a:r>
            <a:endParaRPr/>
          </a:p>
        </p:txBody>
      </p:sp>
      <p:sp>
        <p:nvSpPr>
          <p:cNvPr id="793" name="Google Shape;793;p4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7" name="Shape 807"/>
        <p:cNvGrpSpPr/>
        <p:nvPr/>
      </p:nvGrpSpPr>
      <p:grpSpPr>
        <a:xfrm>
          <a:off x="0" y="0"/>
          <a:ext cx="0" cy="0"/>
          <a:chOff x="0" y="0"/>
          <a:chExt cx="0" cy="0"/>
        </a:xfrm>
      </p:grpSpPr>
      <p:sp>
        <p:nvSpPr>
          <p:cNvPr id="808" name="Google Shape;808;p48:notes"/>
          <p:cNvSpPr txBox="1"/>
          <p:nvPr>
            <p:ph idx="1" type="body"/>
          </p:nvPr>
        </p:nvSpPr>
        <p:spPr>
          <a:xfrm>
            <a:off x="640080" y="914400"/>
            <a:ext cx="5486400" cy="6400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Objective: Welcome people to the final session, where the slides are the work they made.</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Recording is on and consent is as pinned — nothing tonight is off the record. Before we start, look at the tree: that is inventories, kits, bridge logs and three transcripts, all of it public. Two days ago every one of these was a task inside somebody's head, and tonight there are no slides of mine to show you, because your files are the slides.</a:t>
            </a:r>
            <a:endParaRPr/>
          </a:p>
        </p:txBody>
      </p:sp>
      <p:sp>
        <p:nvSpPr>
          <p:cNvPr id="809" name="Google Shape;809;p4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5" name="Shape 815"/>
        <p:cNvGrpSpPr/>
        <p:nvPr/>
      </p:nvGrpSpPr>
      <p:grpSpPr>
        <a:xfrm>
          <a:off x="0" y="0"/>
          <a:ext cx="0" cy="0"/>
          <a:chOff x="0" y="0"/>
          <a:chExt cx="0" cy="0"/>
        </a:xfrm>
      </p:grpSpPr>
      <p:sp>
        <p:nvSpPr>
          <p:cNvPr id="816" name="Google Shape;816;p49:notes"/>
          <p:cNvSpPr txBox="1"/>
          <p:nvPr>
            <p:ph idx="1" type="body"/>
          </p:nvPr>
        </p:nvSpPr>
        <p:spPr>
          <a:xfrm>
            <a:off x="640080" y="914400"/>
            <a:ext cx="5486400" cy="6400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Objective: Show how far the room came, from ideas on Monday to shared, working files.</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Before we start, look at the tree: that is inventories, kits, bridge logs and three transcripts, all of it public. Two days ago every one of these was a task inside somebody's head, and tonight there are no slides of mine to show you, because your files are the slides.</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Source: Counts read from the repo at 19:45 · live on screen: github.com/protocolvision/workshop-kitkraft</a:t>
            </a:r>
            <a:endParaRPr/>
          </a:p>
        </p:txBody>
      </p:sp>
      <p:sp>
        <p:nvSpPr>
          <p:cNvPr id="817" name="Google Shape;817;p4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8" name="Shape 828"/>
        <p:cNvGrpSpPr/>
        <p:nvPr/>
      </p:nvGrpSpPr>
      <p:grpSpPr>
        <a:xfrm>
          <a:off x="0" y="0"/>
          <a:ext cx="0" cy="0"/>
          <a:chOff x="0" y="0"/>
          <a:chExt cx="0" cy="0"/>
        </a:xfrm>
      </p:grpSpPr>
      <p:sp>
        <p:nvSpPr>
          <p:cNvPr id="829" name="Google Shape;829;p50:notes"/>
          <p:cNvSpPr txBox="1"/>
          <p:nvPr>
            <p:ph idx="1" type="body"/>
          </p:nvPr>
        </p:nvSpPr>
        <p:spPr>
          <a:xfrm>
            <a:off x="640080" y="914400"/>
            <a:ext cx="5486400" cy="6400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Objective: Get each person to describe how their bridge building went.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One word each in the chat, and one word only — the nine hundred words are already in your log. Blunt is welcome: broke, surprising, tedious, nearly. I am asking for one word rather than a sentence because we will read these back at the end, next to the definition the room agrees, and the two together say more than either on its own. The bridge that failed is the most useful file in the repo tonight, so if your word is “broke”, that is a result.</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Source: Read back at the end, next to the definition the room agrees</a:t>
            </a:r>
            <a:endParaRPr/>
          </a:p>
        </p:txBody>
      </p:sp>
      <p:sp>
        <p:nvSpPr>
          <p:cNvPr id="830" name="Google Shape;830;p5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1" name="Shape 841"/>
        <p:cNvGrpSpPr/>
        <p:nvPr/>
      </p:nvGrpSpPr>
      <p:grpSpPr>
        <a:xfrm>
          <a:off x="0" y="0"/>
          <a:ext cx="0" cy="0"/>
          <a:chOff x="0" y="0"/>
          <a:chExt cx="0" cy="0"/>
        </a:xfrm>
      </p:grpSpPr>
      <p:sp>
        <p:nvSpPr>
          <p:cNvPr id="842" name="Google Shape;842;p52:notes"/>
          <p:cNvSpPr txBox="1"/>
          <p:nvPr>
            <p:ph idx="1" type="body"/>
          </p:nvPr>
        </p:nvSpPr>
        <p:spPr>
          <a:xfrm>
            <a:off x="640080" y="914400"/>
            <a:ext cx="5486400" cy="6400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Objective: Give each person ninety seconds to present their show-and-tell.</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We go group by group in the pinned order, and I will put your file on screen as your name comes up. Ninety seconds each: your target, the one thing you made your agent do, what a person had to supply, and whether it worked. If someone is not here, their group-mate reads their show-and-tell file in sixty. I will be strict with the timer, because Sachin's agent is capturing every one of these into the synthesis as you speak.</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Source: Order pinned in #workshop-kitkraft</a:t>
            </a:r>
            <a:endParaRPr/>
          </a:p>
        </p:txBody>
      </p:sp>
      <p:sp>
        <p:nvSpPr>
          <p:cNvPr id="843" name="Google Shape;843;p5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4" name="Shape 854"/>
        <p:cNvGrpSpPr/>
        <p:nvPr/>
      </p:nvGrpSpPr>
      <p:grpSpPr>
        <a:xfrm>
          <a:off x="0" y="0"/>
          <a:ext cx="0" cy="0"/>
          <a:chOff x="0" y="0"/>
          <a:chExt cx="0" cy="0"/>
        </a:xfrm>
      </p:grpSpPr>
      <p:sp>
        <p:nvSpPr>
          <p:cNvPr id="855" name="Google Shape;855;p57:notes"/>
          <p:cNvSpPr txBox="1"/>
          <p:nvPr>
            <p:ph idx="1" type="body"/>
          </p:nvPr>
        </p:nvSpPr>
        <p:spPr>
          <a:xfrm>
            <a:off x="640080" y="914400"/>
            <a:ext cx="5486400" cy="6400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Objective: Explain what happens next: the work stays public and continued work at Protocol Vision / Protocols for Business.</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Four things to take with you. The repo stays public and yours; version two of the synthesis, with tonight's transcript in it, goes into the channel within 48 hours, and the recordings may feed Symposium write-ups and later research — tell either of us if you would rather they did not. Hard mode is still open if you want to rerun your bridge with no human chat at all. And the place this continues is the SIGBIZ fortnightly show-and-tell: bring the kit, not the slides.</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Source: github.com/protocolvision/workshop-kitkraft · protocol-institute.org · Discord #workshop-kitkraft</a:t>
            </a:r>
            <a:endParaRPr/>
          </a:p>
        </p:txBody>
      </p:sp>
      <p:sp>
        <p:nvSpPr>
          <p:cNvPr id="856" name="Google Shape;856;p5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0" name="Shape 870"/>
        <p:cNvGrpSpPr/>
        <p:nvPr/>
      </p:nvGrpSpPr>
      <p:grpSpPr>
        <a:xfrm>
          <a:off x="0" y="0"/>
          <a:ext cx="0" cy="0"/>
          <a:chOff x="0" y="0"/>
          <a:chExt cx="0" cy="0"/>
        </a:xfrm>
      </p:grpSpPr>
      <p:sp>
        <p:nvSpPr>
          <p:cNvPr id="871" name="Google Shape;871;g3fbb3796125_0_89:notes"/>
          <p:cNvSpPr txBox="1"/>
          <p:nvPr>
            <p:ph idx="1" type="body"/>
          </p:nvPr>
        </p:nvSpPr>
        <p:spPr>
          <a:xfrm>
            <a:off x="640080" y="914400"/>
            <a:ext cx="5486400" cy="6400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Objective: Open the workshop and set the frame: two days, four sessions, one public repo.</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Welcome. This is AI Kitcraft, one of five workshops running in parallel at the Symposium. For the next two days we are not adopting a tool — we are writing down how you already work with AI, until someone else, or someone else's assistant, can pick it up and run it without asking you. Three words carry the whole workshop: kit, factory, bridge. Everything we make goes in one public repository, and the link is on the screen.</a:t>
            </a:r>
            <a:endParaRPr/>
          </a:p>
        </p:txBody>
      </p:sp>
      <p:sp>
        <p:nvSpPr>
          <p:cNvPr id="872" name="Google Shape;872;g3fbb3796125_0_8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F9F8F5"/>
        </a:solidFill>
      </p:bgPr>
    </p:bg>
    <p:spTree>
      <p:nvGrpSpPr>
        <p:cNvPr id="10" name="Shape 10"/>
        <p:cNvGrpSpPr/>
        <p:nvPr/>
      </p:nvGrpSpPr>
      <p:grpSpPr>
        <a:xfrm>
          <a:off x="0" y="0"/>
          <a:ext cx="0" cy="0"/>
          <a:chOff x="0" y="0"/>
          <a:chExt cx="0" cy="0"/>
        </a:xfrm>
      </p:grpSpPr>
      <p:sp>
        <p:nvSpPr>
          <p:cNvPr id="11" name="Google Shape;11;p59"/>
          <p:cNvSpPr txBox="1"/>
          <p:nvPr>
            <p:ph type="title"/>
          </p:nvPr>
        </p:nvSpPr>
        <p:spPr>
          <a:xfrm>
            <a:off x="822960" y="1737360"/>
            <a:ext cx="10332720" cy="2377440"/>
          </a:xfrm>
          <a:prstGeom prst="rect">
            <a:avLst/>
          </a:prstGeom>
          <a:noFill/>
          <a:ln>
            <a:noFill/>
          </a:ln>
        </p:spPr>
        <p:txBody>
          <a:bodyPr anchorCtr="0" anchor="b" bIns="0" lIns="0" spcFirstLastPara="1" rIns="0" wrap="square" tIns="0">
            <a:noAutofit/>
          </a:bodyPr>
          <a:lstStyle>
            <a:lvl1pPr lvl="0" algn="l">
              <a:lnSpc>
                <a:spcPct val="94000"/>
              </a:lnSpc>
              <a:spcBef>
                <a:spcPts val="0"/>
              </a:spcBef>
              <a:spcAft>
                <a:spcPts val="0"/>
              </a:spcAft>
              <a:buClr>
                <a:srgbClr val="2C2C2A"/>
              </a:buClr>
              <a:buSzPts val="4600"/>
              <a:buFont typeface="Instrument Serif"/>
              <a:buNone/>
              <a:defRPr b="0" sz="4600">
                <a:solidFill>
                  <a:srgbClr val="2C2C2A"/>
                </a:solidFill>
                <a:latin typeface="Instrument Serif"/>
                <a:ea typeface="Instrument Serif"/>
                <a:cs typeface="Instrument Serif"/>
                <a:sym typeface="Instrument Serif"/>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 name="Google Shape;12;p59"/>
          <p:cNvSpPr txBox="1"/>
          <p:nvPr>
            <p:ph idx="1" type="subTitle"/>
          </p:nvPr>
        </p:nvSpPr>
        <p:spPr>
          <a:xfrm>
            <a:off x="822960" y="4389120"/>
            <a:ext cx="8686800" cy="1280160"/>
          </a:xfrm>
          <a:prstGeom prst="rect">
            <a:avLst/>
          </a:prstGeom>
          <a:noFill/>
          <a:ln>
            <a:noFill/>
          </a:ln>
        </p:spPr>
        <p:txBody>
          <a:bodyPr anchorCtr="0" anchor="t" bIns="0" lIns="0" spcFirstLastPara="1" rIns="0" wrap="square" tIns="0">
            <a:noAutofit/>
          </a:bodyPr>
          <a:lstStyle>
            <a:lvl1pPr lvl="0" algn="l">
              <a:lnSpc>
                <a:spcPct val="118000"/>
              </a:lnSpc>
              <a:spcBef>
                <a:spcPts val="0"/>
              </a:spcBef>
              <a:spcAft>
                <a:spcPts val="0"/>
              </a:spcAft>
              <a:buClr>
                <a:srgbClr val="5F5E5A"/>
              </a:buClr>
              <a:buSzPts val="1800"/>
              <a:buFont typeface="Lora"/>
              <a:buNone/>
              <a:defRPr sz="1800">
                <a:solidFill>
                  <a:srgbClr val="5F5E5A"/>
                </a:solidFill>
                <a:latin typeface="Lora"/>
                <a:ea typeface="Lora"/>
                <a:cs typeface="Lora"/>
                <a:sym typeface="Lor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59"/>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BJECT" type="obj">
  <p:cSld name="OBJECT">
    <p:bg>
      <p:bgPr>
        <a:solidFill>
          <a:srgbClr val="F9F8F5"/>
        </a:solidFill>
      </p:bgPr>
    </p:bg>
    <p:spTree>
      <p:nvGrpSpPr>
        <p:cNvPr id="14" name="Shape 14"/>
        <p:cNvGrpSpPr/>
        <p:nvPr/>
      </p:nvGrpSpPr>
      <p:grpSpPr>
        <a:xfrm>
          <a:off x="0" y="0"/>
          <a:ext cx="0" cy="0"/>
          <a:chOff x="0" y="0"/>
          <a:chExt cx="0" cy="0"/>
        </a:xfrm>
      </p:grpSpPr>
      <p:sp>
        <p:nvSpPr>
          <p:cNvPr id="15" name="Google Shape;15;p60"/>
          <p:cNvSpPr txBox="1"/>
          <p:nvPr>
            <p:ph idx="1" type="body"/>
          </p:nvPr>
        </p:nvSpPr>
        <p:spPr>
          <a:xfrm>
            <a:off x="822960" y="457200"/>
            <a:ext cx="9144000" cy="320040"/>
          </a:xfrm>
          <a:prstGeom prst="rect">
            <a:avLst/>
          </a:prstGeom>
          <a:noFill/>
          <a:ln>
            <a:noFill/>
          </a:ln>
        </p:spPr>
        <p:txBody>
          <a:bodyPr anchorCtr="0" anchor="t" bIns="0" lIns="0" spcFirstLastPara="1" rIns="0" wrap="square" tIns="0">
            <a:noAutofit/>
          </a:bodyPr>
          <a:lstStyle>
            <a:lvl1pPr indent="-228600" lvl="0" marL="457200" algn="l">
              <a:lnSpc>
                <a:spcPct val="118000"/>
              </a:lnSpc>
              <a:spcBef>
                <a:spcPts val="700"/>
              </a:spcBef>
              <a:spcAft>
                <a:spcPts val="0"/>
              </a:spcAft>
              <a:buClr>
                <a:srgbClr val="0064FF"/>
              </a:buClr>
              <a:buSzPts val="1200"/>
              <a:buFont typeface="Outfit"/>
              <a:buNone/>
              <a:defRPr sz="1200" cap="none">
                <a:solidFill>
                  <a:srgbClr val="0064FF"/>
                </a:solidFill>
                <a:latin typeface="Outfit"/>
                <a:ea typeface="Outfit"/>
                <a:cs typeface="Outfit"/>
                <a:sym typeface="Outfit"/>
              </a:defRPr>
            </a:lvl1pPr>
            <a:lvl2pPr indent="-228600" lvl="1" marL="914400">
              <a:spcBef>
                <a:spcPts val="0"/>
              </a:spcBef>
              <a:spcAft>
                <a:spcPts val="0"/>
              </a:spcAft>
              <a:buSzPts val="1400"/>
              <a:buNone/>
              <a:defRPr/>
            </a:lvl2pPr>
            <a:lvl3pPr indent="-228600" lvl="2" marL="1371600">
              <a:spcBef>
                <a:spcPts val="0"/>
              </a:spcBef>
              <a:spcAft>
                <a:spcPts val="0"/>
              </a:spcAft>
              <a:buSzPts val="1400"/>
              <a:buNone/>
              <a:defRPr/>
            </a:lvl3pPr>
            <a:lvl4pPr indent="-228600" lvl="3" marL="1828800">
              <a:spcBef>
                <a:spcPts val="0"/>
              </a:spcBef>
              <a:spcAft>
                <a:spcPts val="0"/>
              </a:spcAft>
              <a:buSzPts val="1400"/>
              <a:buNone/>
              <a:defRPr/>
            </a:lvl4pPr>
            <a:lvl5pPr indent="-228600" lvl="4" marL="2286000">
              <a:spcBef>
                <a:spcPts val="0"/>
              </a:spcBef>
              <a:spcAft>
                <a:spcPts val="0"/>
              </a:spcAft>
              <a:buSzPts val="1400"/>
              <a:buNone/>
              <a:defRPr/>
            </a:lvl5pPr>
            <a:lvl6pPr indent="-228600" lvl="5" marL="2743200">
              <a:spcBef>
                <a:spcPts val="0"/>
              </a:spcBef>
              <a:spcAft>
                <a:spcPts val="0"/>
              </a:spcAft>
              <a:buSzPts val="1400"/>
              <a:buNone/>
              <a:defRPr/>
            </a:lvl6pPr>
            <a:lvl7pPr indent="-228600" lvl="6" marL="3200400">
              <a:spcBef>
                <a:spcPts val="0"/>
              </a:spcBef>
              <a:spcAft>
                <a:spcPts val="0"/>
              </a:spcAft>
              <a:buSzPts val="1400"/>
              <a:buNone/>
              <a:defRPr/>
            </a:lvl7pPr>
            <a:lvl8pPr indent="-228600" lvl="7" marL="3657600">
              <a:spcBef>
                <a:spcPts val="0"/>
              </a:spcBef>
              <a:spcAft>
                <a:spcPts val="0"/>
              </a:spcAft>
              <a:buSzPts val="1400"/>
              <a:buNone/>
              <a:defRPr/>
            </a:lvl8pPr>
            <a:lvl9pPr indent="-228600" lvl="8" marL="4114800">
              <a:spcBef>
                <a:spcPts val="0"/>
              </a:spcBef>
              <a:spcAft>
                <a:spcPts val="0"/>
              </a:spcAft>
              <a:buSzPts val="1400"/>
              <a:buNone/>
              <a:defRPr/>
            </a:lvl9pPr>
          </a:lstStyle>
          <a:p/>
        </p:txBody>
      </p:sp>
      <p:sp>
        <p:nvSpPr>
          <p:cNvPr id="16" name="Google Shape;16;p60"/>
          <p:cNvSpPr txBox="1"/>
          <p:nvPr>
            <p:ph type="title"/>
          </p:nvPr>
        </p:nvSpPr>
        <p:spPr>
          <a:xfrm>
            <a:off x="822960" y="914400"/>
            <a:ext cx="9692640" cy="1371600"/>
          </a:xfrm>
          <a:prstGeom prst="rect">
            <a:avLst/>
          </a:prstGeom>
          <a:noFill/>
          <a:ln>
            <a:noFill/>
          </a:ln>
        </p:spPr>
        <p:txBody>
          <a:bodyPr anchorCtr="0" anchor="t" bIns="0" lIns="0" spcFirstLastPara="1" rIns="0" wrap="square" tIns="0">
            <a:noAutofit/>
          </a:bodyPr>
          <a:lstStyle>
            <a:lvl1pPr lvl="0" algn="l">
              <a:lnSpc>
                <a:spcPct val="96000"/>
              </a:lnSpc>
              <a:spcBef>
                <a:spcPts val="0"/>
              </a:spcBef>
              <a:spcAft>
                <a:spcPts val="0"/>
              </a:spcAft>
              <a:buClr>
                <a:srgbClr val="2C2C2A"/>
              </a:buClr>
              <a:buSzPts val="2800"/>
              <a:buFont typeface="Instrument Serif"/>
              <a:buNone/>
              <a:defRPr b="0" sz="2800">
                <a:solidFill>
                  <a:srgbClr val="2C2C2A"/>
                </a:solidFill>
                <a:latin typeface="Instrument Serif"/>
                <a:ea typeface="Instrument Serif"/>
                <a:cs typeface="Instrument Serif"/>
                <a:sym typeface="Instrument Serif"/>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60"/>
          <p:cNvSpPr txBox="1"/>
          <p:nvPr>
            <p:ph idx="2" type="body"/>
          </p:nvPr>
        </p:nvSpPr>
        <p:spPr>
          <a:xfrm>
            <a:off x="822960" y="2468880"/>
            <a:ext cx="9692640" cy="3017520"/>
          </a:xfrm>
          <a:prstGeom prst="rect">
            <a:avLst/>
          </a:prstGeom>
          <a:noFill/>
          <a:ln>
            <a:noFill/>
          </a:ln>
        </p:spPr>
        <p:txBody>
          <a:bodyPr anchorCtr="0" anchor="t" bIns="0" lIns="0" spcFirstLastPara="1" rIns="0" wrap="square" tIns="0">
            <a:noAutofit/>
          </a:bodyPr>
          <a:lstStyle>
            <a:lvl1pPr indent="-228600" lvl="0" marL="457200" algn="l">
              <a:lnSpc>
                <a:spcPct val="118000"/>
              </a:lnSpc>
              <a:spcBef>
                <a:spcPts val="700"/>
              </a:spcBef>
              <a:spcAft>
                <a:spcPts val="0"/>
              </a:spcAft>
              <a:buClr>
                <a:srgbClr val="2C2C2A"/>
              </a:buClr>
              <a:buSzPts val="1400"/>
              <a:buFont typeface="Lora"/>
              <a:buNone/>
              <a:defRPr sz="1400">
                <a:solidFill>
                  <a:srgbClr val="2C2C2A"/>
                </a:solidFill>
                <a:latin typeface="Lora"/>
                <a:ea typeface="Lora"/>
                <a:cs typeface="Lora"/>
                <a:sym typeface="Lora"/>
              </a:defRPr>
            </a:lvl1pPr>
            <a:lvl2pPr indent="-228600" lvl="1" marL="914400">
              <a:spcBef>
                <a:spcPts val="0"/>
              </a:spcBef>
              <a:spcAft>
                <a:spcPts val="0"/>
              </a:spcAft>
              <a:buSzPts val="1400"/>
              <a:buNone/>
              <a:defRPr/>
            </a:lvl2pPr>
            <a:lvl3pPr indent="-228600" lvl="2" marL="1371600">
              <a:spcBef>
                <a:spcPts val="0"/>
              </a:spcBef>
              <a:spcAft>
                <a:spcPts val="0"/>
              </a:spcAft>
              <a:buSzPts val="1400"/>
              <a:buNone/>
              <a:defRPr/>
            </a:lvl3pPr>
            <a:lvl4pPr indent="-228600" lvl="3" marL="1828800">
              <a:spcBef>
                <a:spcPts val="0"/>
              </a:spcBef>
              <a:spcAft>
                <a:spcPts val="0"/>
              </a:spcAft>
              <a:buSzPts val="1400"/>
              <a:buNone/>
              <a:defRPr/>
            </a:lvl4pPr>
            <a:lvl5pPr indent="-228600" lvl="4" marL="2286000">
              <a:spcBef>
                <a:spcPts val="0"/>
              </a:spcBef>
              <a:spcAft>
                <a:spcPts val="0"/>
              </a:spcAft>
              <a:buSzPts val="1400"/>
              <a:buNone/>
              <a:defRPr/>
            </a:lvl5pPr>
            <a:lvl6pPr indent="-228600" lvl="5" marL="2743200">
              <a:spcBef>
                <a:spcPts val="0"/>
              </a:spcBef>
              <a:spcAft>
                <a:spcPts val="0"/>
              </a:spcAft>
              <a:buSzPts val="1400"/>
              <a:buNone/>
              <a:defRPr/>
            </a:lvl6pPr>
            <a:lvl7pPr indent="-228600" lvl="6" marL="3200400">
              <a:spcBef>
                <a:spcPts val="0"/>
              </a:spcBef>
              <a:spcAft>
                <a:spcPts val="0"/>
              </a:spcAft>
              <a:buSzPts val="1400"/>
              <a:buNone/>
              <a:defRPr/>
            </a:lvl7pPr>
            <a:lvl8pPr indent="-228600" lvl="7" marL="3657600">
              <a:spcBef>
                <a:spcPts val="0"/>
              </a:spcBef>
              <a:spcAft>
                <a:spcPts val="0"/>
              </a:spcAft>
              <a:buSzPts val="1400"/>
              <a:buNone/>
              <a:defRPr/>
            </a:lvl8pPr>
            <a:lvl9pPr indent="-228600" lvl="8" marL="4114800">
              <a:spcBef>
                <a:spcPts val="0"/>
              </a:spcBef>
              <a:spcAft>
                <a:spcPts val="0"/>
              </a:spcAft>
              <a:buSzPts val="1400"/>
              <a:buNone/>
              <a:defRPr/>
            </a:lvl9pPr>
          </a:lstStyle>
          <a:p/>
        </p:txBody>
      </p:sp>
      <p:pic>
        <p:nvPicPr>
          <p:cNvPr id="18" name="Google Shape;18;p60"/>
          <p:cNvPicPr preferRelativeResize="0"/>
          <p:nvPr/>
        </p:nvPicPr>
        <p:blipFill>
          <a:blip r:embed="rId2">
            <a:alphaModFix amt="46000"/>
          </a:blip>
          <a:stretch>
            <a:fillRect/>
          </a:stretch>
        </p:blipFill>
        <p:spPr>
          <a:xfrm>
            <a:off x="11718701" y="108825"/>
            <a:ext cx="388975" cy="433675"/>
          </a:xfrm>
          <a:prstGeom prst="rect">
            <a:avLst/>
          </a:prstGeom>
          <a:noFill/>
          <a:ln>
            <a:noFill/>
          </a:ln>
        </p:spPr>
      </p:pic>
      <p:sp>
        <p:nvSpPr>
          <p:cNvPr id="19" name="Google Shape;19;p60"/>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lvl1pPr lvl="0">
              <a:buNone/>
              <a:defRPr>
                <a:solidFill>
                  <a:srgbClr val="0064FF"/>
                </a:solidFill>
                <a:latin typeface="Outfit"/>
                <a:ea typeface="Outfit"/>
                <a:cs typeface="Outfit"/>
                <a:sym typeface="Outfit"/>
              </a:defRPr>
            </a:lvl1pPr>
            <a:lvl2pPr lvl="1">
              <a:buNone/>
              <a:defRPr>
                <a:solidFill>
                  <a:srgbClr val="0064FF"/>
                </a:solidFill>
                <a:latin typeface="Outfit"/>
                <a:ea typeface="Outfit"/>
                <a:cs typeface="Outfit"/>
                <a:sym typeface="Outfit"/>
              </a:defRPr>
            </a:lvl2pPr>
            <a:lvl3pPr lvl="2">
              <a:buNone/>
              <a:defRPr>
                <a:solidFill>
                  <a:srgbClr val="0064FF"/>
                </a:solidFill>
                <a:latin typeface="Outfit"/>
                <a:ea typeface="Outfit"/>
                <a:cs typeface="Outfit"/>
                <a:sym typeface="Outfit"/>
              </a:defRPr>
            </a:lvl3pPr>
            <a:lvl4pPr lvl="3">
              <a:buNone/>
              <a:defRPr>
                <a:solidFill>
                  <a:srgbClr val="0064FF"/>
                </a:solidFill>
                <a:latin typeface="Outfit"/>
                <a:ea typeface="Outfit"/>
                <a:cs typeface="Outfit"/>
                <a:sym typeface="Outfit"/>
              </a:defRPr>
            </a:lvl4pPr>
            <a:lvl5pPr lvl="4">
              <a:buNone/>
              <a:defRPr>
                <a:solidFill>
                  <a:srgbClr val="0064FF"/>
                </a:solidFill>
                <a:latin typeface="Outfit"/>
                <a:ea typeface="Outfit"/>
                <a:cs typeface="Outfit"/>
                <a:sym typeface="Outfit"/>
              </a:defRPr>
            </a:lvl5pPr>
            <a:lvl6pPr lvl="5">
              <a:buNone/>
              <a:defRPr>
                <a:solidFill>
                  <a:srgbClr val="0064FF"/>
                </a:solidFill>
                <a:latin typeface="Outfit"/>
                <a:ea typeface="Outfit"/>
                <a:cs typeface="Outfit"/>
                <a:sym typeface="Outfit"/>
              </a:defRPr>
            </a:lvl6pPr>
            <a:lvl7pPr lvl="6">
              <a:buNone/>
              <a:defRPr>
                <a:solidFill>
                  <a:srgbClr val="0064FF"/>
                </a:solidFill>
                <a:latin typeface="Outfit"/>
                <a:ea typeface="Outfit"/>
                <a:cs typeface="Outfit"/>
                <a:sym typeface="Outfit"/>
              </a:defRPr>
            </a:lvl7pPr>
            <a:lvl8pPr lvl="7">
              <a:buNone/>
              <a:defRPr>
                <a:solidFill>
                  <a:srgbClr val="0064FF"/>
                </a:solidFill>
                <a:latin typeface="Outfit"/>
                <a:ea typeface="Outfit"/>
                <a:cs typeface="Outfit"/>
                <a:sym typeface="Outfit"/>
              </a:defRPr>
            </a:lvl8pPr>
            <a:lvl9pPr lvl="8">
              <a:buNone/>
              <a:defRPr>
                <a:solidFill>
                  <a:srgbClr val="0064FF"/>
                </a:solidFill>
                <a:latin typeface="Outfit"/>
                <a:ea typeface="Outfit"/>
                <a:cs typeface="Outfit"/>
                <a:sym typeface="Outfit"/>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rgbClr val="085041"/>
        </a:solidFill>
      </p:bgPr>
    </p:bg>
    <p:spTree>
      <p:nvGrpSpPr>
        <p:cNvPr id="20" name="Shape 20"/>
        <p:cNvGrpSpPr/>
        <p:nvPr/>
      </p:nvGrpSpPr>
      <p:grpSpPr>
        <a:xfrm>
          <a:off x="0" y="0"/>
          <a:ext cx="0" cy="0"/>
          <a:chOff x="0" y="0"/>
          <a:chExt cx="0" cy="0"/>
        </a:xfrm>
      </p:grpSpPr>
      <p:sp>
        <p:nvSpPr>
          <p:cNvPr id="21" name="Google Shape;21;p61"/>
          <p:cNvSpPr txBox="1"/>
          <p:nvPr>
            <p:ph idx="1" type="body"/>
          </p:nvPr>
        </p:nvSpPr>
        <p:spPr>
          <a:xfrm>
            <a:off x="822960" y="2103120"/>
            <a:ext cx="7315200" cy="457200"/>
          </a:xfrm>
          <a:prstGeom prst="rect">
            <a:avLst/>
          </a:prstGeom>
          <a:noFill/>
          <a:ln>
            <a:noFill/>
          </a:ln>
        </p:spPr>
        <p:txBody>
          <a:bodyPr anchorCtr="0" anchor="b" bIns="0" lIns="0" spcFirstLastPara="1" rIns="0" wrap="square" tIns="0">
            <a:noAutofit/>
          </a:bodyPr>
          <a:lstStyle>
            <a:lvl1pPr indent="-228600" lvl="0" marL="457200" algn="l">
              <a:lnSpc>
                <a:spcPct val="118000"/>
              </a:lnSpc>
              <a:spcBef>
                <a:spcPts val="700"/>
              </a:spcBef>
              <a:spcAft>
                <a:spcPts val="0"/>
              </a:spcAft>
              <a:buClr>
                <a:srgbClr val="FFFFFF"/>
              </a:buClr>
              <a:buSzPts val="1200"/>
              <a:buFont typeface="Outfit"/>
              <a:buNone/>
              <a:defRPr sz="1200" cap="none">
                <a:solidFill>
                  <a:srgbClr val="FFFFFF"/>
                </a:solidFill>
                <a:latin typeface="Outfit"/>
                <a:ea typeface="Outfit"/>
                <a:cs typeface="Outfit"/>
                <a:sym typeface="Outfit"/>
              </a:defRPr>
            </a:lvl1pPr>
            <a:lvl2pPr indent="-228600" lvl="1" marL="914400">
              <a:spcBef>
                <a:spcPts val="0"/>
              </a:spcBef>
              <a:spcAft>
                <a:spcPts val="0"/>
              </a:spcAft>
              <a:buSzPts val="1400"/>
              <a:buNone/>
              <a:defRPr/>
            </a:lvl2pPr>
            <a:lvl3pPr indent="-228600" lvl="2" marL="1371600">
              <a:spcBef>
                <a:spcPts val="0"/>
              </a:spcBef>
              <a:spcAft>
                <a:spcPts val="0"/>
              </a:spcAft>
              <a:buSzPts val="1400"/>
              <a:buNone/>
              <a:defRPr/>
            </a:lvl3pPr>
            <a:lvl4pPr indent="-228600" lvl="3" marL="1828800">
              <a:spcBef>
                <a:spcPts val="0"/>
              </a:spcBef>
              <a:spcAft>
                <a:spcPts val="0"/>
              </a:spcAft>
              <a:buSzPts val="1400"/>
              <a:buNone/>
              <a:defRPr/>
            </a:lvl4pPr>
            <a:lvl5pPr indent="-228600" lvl="4" marL="2286000">
              <a:spcBef>
                <a:spcPts val="0"/>
              </a:spcBef>
              <a:spcAft>
                <a:spcPts val="0"/>
              </a:spcAft>
              <a:buSzPts val="1400"/>
              <a:buNone/>
              <a:defRPr/>
            </a:lvl5pPr>
            <a:lvl6pPr indent="-228600" lvl="5" marL="2743200">
              <a:spcBef>
                <a:spcPts val="0"/>
              </a:spcBef>
              <a:spcAft>
                <a:spcPts val="0"/>
              </a:spcAft>
              <a:buSzPts val="1400"/>
              <a:buNone/>
              <a:defRPr/>
            </a:lvl6pPr>
            <a:lvl7pPr indent="-228600" lvl="6" marL="3200400">
              <a:spcBef>
                <a:spcPts val="0"/>
              </a:spcBef>
              <a:spcAft>
                <a:spcPts val="0"/>
              </a:spcAft>
              <a:buSzPts val="1400"/>
              <a:buNone/>
              <a:defRPr/>
            </a:lvl7pPr>
            <a:lvl8pPr indent="-228600" lvl="7" marL="3657600">
              <a:spcBef>
                <a:spcPts val="0"/>
              </a:spcBef>
              <a:spcAft>
                <a:spcPts val="0"/>
              </a:spcAft>
              <a:buSzPts val="1400"/>
              <a:buNone/>
              <a:defRPr/>
            </a:lvl8pPr>
            <a:lvl9pPr indent="-228600" lvl="8" marL="4114800">
              <a:spcBef>
                <a:spcPts val="0"/>
              </a:spcBef>
              <a:spcAft>
                <a:spcPts val="0"/>
              </a:spcAft>
              <a:buSzPts val="1400"/>
              <a:buNone/>
              <a:defRPr/>
            </a:lvl9pPr>
          </a:lstStyle>
          <a:p/>
        </p:txBody>
      </p:sp>
      <p:sp>
        <p:nvSpPr>
          <p:cNvPr id="22" name="Google Shape;22;p61"/>
          <p:cNvSpPr txBox="1"/>
          <p:nvPr>
            <p:ph type="title"/>
          </p:nvPr>
        </p:nvSpPr>
        <p:spPr>
          <a:xfrm>
            <a:off x="822960" y="2697480"/>
            <a:ext cx="10332720" cy="1920240"/>
          </a:xfrm>
          <a:prstGeom prst="rect">
            <a:avLst/>
          </a:prstGeom>
          <a:noFill/>
          <a:ln>
            <a:noFill/>
          </a:ln>
        </p:spPr>
        <p:txBody>
          <a:bodyPr anchorCtr="0" anchor="t" bIns="0" lIns="0" spcFirstLastPara="1" rIns="0" wrap="square" tIns="0">
            <a:noAutofit/>
          </a:bodyPr>
          <a:lstStyle>
            <a:lvl1pPr lvl="0" algn="l">
              <a:lnSpc>
                <a:spcPct val="94000"/>
              </a:lnSpc>
              <a:spcBef>
                <a:spcPts val="0"/>
              </a:spcBef>
              <a:spcAft>
                <a:spcPts val="0"/>
              </a:spcAft>
              <a:buClr>
                <a:srgbClr val="FFFFFF"/>
              </a:buClr>
              <a:buSzPts val="5400"/>
              <a:buFont typeface="Instrument Serif"/>
              <a:buNone/>
              <a:defRPr b="0" sz="5400">
                <a:solidFill>
                  <a:srgbClr val="FFFFFF"/>
                </a:solidFill>
                <a:latin typeface="Instrument Serif"/>
                <a:ea typeface="Instrument Serif"/>
                <a:cs typeface="Instrument Serif"/>
                <a:sym typeface="Instrument Serif"/>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61"/>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lvl1pPr lvl="0">
              <a:buNone/>
              <a:defRPr>
                <a:solidFill>
                  <a:srgbClr val="FFFFFF"/>
                </a:solidFill>
                <a:latin typeface="Outfit"/>
                <a:ea typeface="Outfit"/>
                <a:cs typeface="Outfit"/>
                <a:sym typeface="Outfit"/>
              </a:defRPr>
            </a:lvl1pPr>
            <a:lvl2pPr lvl="1">
              <a:buNone/>
              <a:defRPr>
                <a:solidFill>
                  <a:srgbClr val="FFFFFF"/>
                </a:solidFill>
                <a:latin typeface="Outfit"/>
                <a:ea typeface="Outfit"/>
                <a:cs typeface="Outfit"/>
                <a:sym typeface="Outfit"/>
              </a:defRPr>
            </a:lvl2pPr>
            <a:lvl3pPr lvl="2">
              <a:buNone/>
              <a:defRPr>
                <a:solidFill>
                  <a:srgbClr val="FFFFFF"/>
                </a:solidFill>
                <a:latin typeface="Outfit"/>
                <a:ea typeface="Outfit"/>
                <a:cs typeface="Outfit"/>
                <a:sym typeface="Outfit"/>
              </a:defRPr>
            </a:lvl3pPr>
            <a:lvl4pPr lvl="3">
              <a:buNone/>
              <a:defRPr>
                <a:solidFill>
                  <a:srgbClr val="FFFFFF"/>
                </a:solidFill>
                <a:latin typeface="Outfit"/>
                <a:ea typeface="Outfit"/>
                <a:cs typeface="Outfit"/>
                <a:sym typeface="Outfit"/>
              </a:defRPr>
            </a:lvl4pPr>
            <a:lvl5pPr lvl="4">
              <a:buNone/>
              <a:defRPr>
                <a:solidFill>
                  <a:srgbClr val="FFFFFF"/>
                </a:solidFill>
                <a:latin typeface="Outfit"/>
                <a:ea typeface="Outfit"/>
                <a:cs typeface="Outfit"/>
                <a:sym typeface="Outfit"/>
              </a:defRPr>
            </a:lvl5pPr>
            <a:lvl6pPr lvl="5">
              <a:buNone/>
              <a:defRPr>
                <a:solidFill>
                  <a:srgbClr val="FFFFFF"/>
                </a:solidFill>
                <a:latin typeface="Outfit"/>
                <a:ea typeface="Outfit"/>
                <a:cs typeface="Outfit"/>
                <a:sym typeface="Outfit"/>
              </a:defRPr>
            </a:lvl6pPr>
            <a:lvl7pPr lvl="6">
              <a:buNone/>
              <a:defRPr>
                <a:solidFill>
                  <a:srgbClr val="FFFFFF"/>
                </a:solidFill>
                <a:latin typeface="Outfit"/>
                <a:ea typeface="Outfit"/>
                <a:cs typeface="Outfit"/>
                <a:sym typeface="Outfit"/>
              </a:defRPr>
            </a:lvl7pPr>
            <a:lvl8pPr lvl="7">
              <a:buNone/>
              <a:defRPr>
                <a:solidFill>
                  <a:srgbClr val="FFFFFF"/>
                </a:solidFill>
                <a:latin typeface="Outfit"/>
                <a:ea typeface="Outfit"/>
                <a:cs typeface="Outfit"/>
                <a:sym typeface="Outfit"/>
              </a:defRPr>
            </a:lvl8pPr>
            <a:lvl9pPr lvl="8">
              <a:buNone/>
              <a:defRPr>
                <a:solidFill>
                  <a:srgbClr val="FFFFFF"/>
                </a:solidFill>
                <a:latin typeface="Outfit"/>
                <a:ea typeface="Outfit"/>
                <a:cs typeface="Outfit"/>
                <a:sym typeface="Outfit"/>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p:cSld name="Custom">
    <p:bg>
      <p:bgPr>
        <a:solidFill>
          <a:srgbClr val="F9F8F5"/>
        </a:solidFill>
      </p:bgPr>
    </p:bg>
    <p:spTree>
      <p:nvGrpSpPr>
        <p:cNvPr id="24" name="Shape 24"/>
        <p:cNvGrpSpPr/>
        <p:nvPr/>
      </p:nvGrpSpPr>
      <p:grpSpPr>
        <a:xfrm>
          <a:off x="0" y="0"/>
          <a:ext cx="0" cy="0"/>
          <a:chOff x="0" y="0"/>
          <a:chExt cx="0" cy="0"/>
        </a:xfrm>
      </p:grpSpPr>
      <p:sp>
        <p:nvSpPr>
          <p:cNvPr id="25" name="Google Shape;25;p62"/>
          <p:cNvSpPr txBox="1"/>
          <p:nvPr>
            <p:ph idx="1" type="body"/>
          </p:nvPr>
        </p:nvSpPr>
        <p:spPr>
          <a:xfrm>
            <a:off x="822960" y="457200"/>
            <a:ext cx="7315200" cy="320040"/>
          </a:xfrm>
          <a:prstGeom prst="rect">
            <a:avLst/>
          </a:prstGeom>
          <a:noFill/>
          <a:ln>
            <a:noFill/>
          </a:ln>
        </p:spPr>
        <p:txBody>
          <a:bodyPr anchorCtr="0" anchor="t" bIns="0" lIns="0" spcFirstLastPara="1" rIns="0" wrap="square" tIns="0">
            <a:noAutofit/>
          </a:bodyPr>
          <a:lstStyle>
            <a:lvl1pPr indent="-228600" lvl="0" marL="457200" algn="l">
              <a:lnSpc>
                <a:spcPct val="118000"/>
              </a:lnSpc>
              <a:spcBef>
                <a:spcPts val="700"/>
              </a:spcBef>
              <a:spcAft>
                <a:spcPts val="0"/>
              </a:spcAft>
              <a:buClr>
                <a:srgbClr val="0064FF"/>
              </a:buClr>
              <a:buSzPts val="1200"/>
              <a:buFont typeface="Outfit"/>
              <a:buNone/>
              <a:defRPr sz="1200" cap="none">
                <a:solidFill>
                  <a:srgbClr val="0064FF"/>
                </a:solidFill>
                <a:latin typeface="Outfit"/>
                <a:ea typeface="Outfit"/>
                <a:cs typeface="Outfit"/>
                <a:sym typeface="Outfit"/>
              </a:defRPr>
            </a:lvl1pPr>
            <a:lvl2pPr indent="-228600" lvl="1" marL="914400">
              <a:spcBef>
                <a:spcPts val="0"/>
              </a:spcBef>
              <a:spcAft>
                <a:spcPts val="0"/>
              </a:spcAft>
              <a:buSzPts val="1400"/>
              <a:buNone/>
              <a:defRPr/>
            </a:lvl2pPr>
            <a:lvl3pPr indent="-228600" lvl="2" marL="1371600">
              <a:spcBef>
                <a:spcPts val="0"/>
              </a:spcBef>
              <a:spcAft>
                <a:spcPts val="0"/>
              </a:spcAft>
              <a:buSzPts val="1400"/>
              <a:buNone/>
              <a:defRPr/>
            </a:lvl3pPr>
            <a:lvl4pPr indent="-228600" lvl="3" marL="1828800">
              <a:spcBef>
                <a:spcPts val="0"/>
              </a:spcBef>
              <a:spcAft>
                <a:spcPts val="0"/>
              </a:spcAft>
              <a:buSzPts val="1400"/>
              <a:buNone/>
              <a:defRPr/>
            </a:lvl4pPr>
            <a:lvl5pPr indent="-228600" lvl="4" marL="2286000">
              <a:spcBef>
                <a:spcPts val="0"/>
              </a:spcBef>
              <a:spcAft>
                <a:spcPts val="0"/>
              </a:spcAft>
              <a:buSzPts val="1400"/>
              <a:buNone/>
              <a:defRPr/>
            </a:lvl5pPr>
            <a:lvl6pPr indent="-228600" lvl="5" marL="2743200">
              <a:spcBef>
                <a:spcPts val="0"/>
              </a:spcBef>
              <a:spcAft>
                <a:spcPts val="0"/>
              </a:spcAft>
              <a:buSzPts val="1400"/>
              <a:buNone/>
              <a:defRPr/>
            </a:lvl6pPr>
            <a:lvl7pPr indent="-228600" lvl="6" marL="3200400">
              <a:spcBef>
                <a:spcPts val="0"/>
              </a:spcBef>
              <a:spcAft>
                <a:spcPts val="0"/>
              </a:spcAft>
              <a:buSzPts val="1400"/>
              <a:buNone/>
              <a:defRPr/>
            </a:lvl7pPr>
            <a:lvl8pPr indent="-228600" lvl="7" marL="3657600">
              <a:spcBef>
                <a:spcPts val="0"/>
              </a:spcBef>
              <a:spcAft>
                <a:spcPts val="0"/>
              </a:spcAft>
              <a:buSzPts val="1400"/>
              <a:buNone/>
              <a:defRPr/>
            </a:lvl8pPr>
            <a:lvl9pPr indent="-228600" lvl="8" marL="4114800">
              <a:spcBef>
                <a:spcPts val="0"/>
              </a:spcBef>
              <a:spcAft>
                <a:spcPts val="0"/>
              </a:spcAft>
              <a:buSzPts val="1400"/>
              <a:buNone/>
              <a:defRPr/>
            </a:lvl9pPr>
          </a:lstStyle>
          <a:p/>
        </p:txBody>
      </p:sp>
      <p:sp>
        <p:nvSpPr>
          <p:cNvPr id="26" name="Google Shape;26;p62"/>
          <p:cNvSpPr txBox="1"/>
          <p:nvPr>
            <p:ph type="title"/>
          </p:nvPr>
        </p:nvSpPr>
        <p:spPr>
          <a:xfrm>
            <a:off x="822960" y="914400"/>
            <a:ext cx="9692640" cy="1371600"/>
          </a:xfrm>
          <a:prstGeom prst="rect">
            <a:avLst/>
          </a:prstGeom>
          <a:noFill/>
          <a:ln>
            <a:noFill/>
          </a:ln>
        </p:spPr>
        <p:txBody>
          <a:bodyPr anchorCtr="0" anchor="t" bIns="0" lIns="0" spcFirstLastPara="1" rIns="0" wrap="square" tIns="0">
            <a:noAutofit/>
          </a:bodyPr>
          <a:lstStyle>
            <a:lvl1pPr lvl="0" algn="l">
              <a:lnSpc>
                <a:spcPct val="96000"/>
              </a:lnSpc>
              <a:spcBef>
                <a:spcPts val="0"/>
              </a:spcBef>
              <a:spcAft>
                <a:spcPts val="0"/>
              </a:spcAft>
              <a:buClr>
                <a:srgbClr val="2C2C2A"/>
              </a:buClr>
              <a:buSzPts val="2800"/>
              <a:buFont typeface="Instrument Serif"/>
              <a:buNone/>
              <a:defRPr b="0" sz="2800">
                <a:solidFill>
                  <a:srgbClr val="2C2C2A"/>
                </a:solidFill>
                <a:latin typeface="Instrument Serif"/>
                <a:ea typeface="Instrument Serif"/>
                <a:cs typeface="Instrument Serif"/>
                <a:sym typeface="Instrument Serif"/>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62"/>
          <p:cNvSpPr txBox="1"/>
          <p:nvPr>
            <p:ph idx="2" type="body"/>
          </p:nvPr>
        </p:nvSpPr>
        <p:spPr>
          <a:xfrm>
            <a:off x="822960" y="2514600"/>
            <a:ext cx="9692640" cy="3108960"/>
          </a:xfrm>
          <a:prstGeom prst="rect">
            <a:avLst/>
          </a:prstGeom>
          <a:solidFill>
            <a:srgbClr val="E1F5EE"/>
          </a:solidFill>
          <a:ln>
            <a:noFill/>
          </a:ln>
        </p:spPr>
        <p:txBody>
          <a:bodyPr anchorCtr="0" anchor="t" bIns="228600" lIns="274300" spcFirstLastPara="1" rIns="274300" wrap="square" tIns="228600">
            <a:noAutofit/>
          </a:bodyPr>
          <a:lstStyle>
            <a:lvl1pPr indent="-228600" lvl="0" marL="457200" algn="l">
              <a:lnSpc>
                <a:spcPct val="118000"/>
              </a:lnSpc>
              <a:spcBef>
                <a:spcPts val="700"/>
              </a:spcBef>
              <a:spcAft>
                <a:spcPts val="0"/>
              </a:spcAft>
              <a:buClr>
                <a:srgbClr val="085041"/>
              </a:buClr>
              <a:buSzPts val="1400"/>
              <a:buFont typeface="Lora"/>
              <a:buNone/>
              <a:defRPr sz="1400">
                <a:solidFill>
                  <a:srgbClr val="085041"/>
                </a:solidFill>
                <a:latin typeface="Lora"/>
                <a:ea typeface="Lora"/>
                <a:cs typeface="Lora"/>
                <a:sym typeface="Lora"/>
              </a:defRPr>
            </a:lvl1pPr>
            <a:lvl2pPr indent="-228600" lvl="1" marL="914400">
              <a:spcBef>
                <a:spcPts val="0"/>
              </a:spcBef>
              <a:spcAft>
                <a:spcPts val="0"/>
              </a:spcAft>
              <a:buSzPts val="1400"/>
              <a:buNone/>
              <a:defRPr/>
            </a:lvl2pPr>
            <a:lvl3pPr indent="-228600" lvl="2" marL="1371600">
              <a:spcBef>
                <a:spcPts val="0"/>
              </a:spcBef>
              <a:spcAft>
                <a:spcPts val="0"/>
              </a:spcAft>
              <a:buSzPts val="1400"/>
              <a:buNone/>
              <a:defRPr/>
            </a:lvl3pPr>
            <a:lvl4pPr indent="-228600" lvl="3" marL="1828800">
              <a:spcBef>
                <a:spcPts val="0"/>
              </a:spcBef>
              <a:spcAft>
                <a:spcPts val="0"/>
              </a:spcAft>
              <a:buSzPts val="1400"/>
              <a:buNone/>
              <a:defRPr/>
            </a:lvl4pPr>
            <a:lvl5pPr indent="-228600" lvl="4" marL="2286000">
              <a:spcBef>
                <a:spcPts val="0"/>
              </a:spcBef>
              <a:spcAft>
                <a:spcPts val="0"/>
              </a:spcAft>
              <a:buSzPts val="1400"/>
              <a:buNone/>
              <a:defRPr/>
            </a:lvl5pPr>
            <a:lvl6pPr indent="-228600" lvl="5" marL="2743200">
              <a:spcBef>
                <a:spcPts val="0"/>
              </a:spcBef>
              <a:spcAft>
                <a:spcPts val="0"/>
              </a:spcAft>
              <a:buSzPts val="1400"/>
              <a:buNone/>
              <a:defRPr/>
            </a:lvl6pPr>
            <a:lvl7pPr indent="-228600" lvl="6" marL="3200400">
              <a:spcBef>
                <a:spcPts val="0"/>
              </a:spcBef>
              <a:spcAft>
                <a:spcPts val="0"/>
              </a:spcAft>
              <a:buSzPts val="1400"/>
              <a:buNone/>
              <a:defRPr/>
            </a:lvl7pPr>
            <a:lvl8pPr indent="-228600" lvl="7" marL="3657600">
              <a:spcBef>
                <a:spcPts val="0"/>
              </a:spcBef>
              <a:spcAft>
                <a:spcPts val="0"/>
              </a:spcAft>
              <a:buSzPts val="1400"/>
              <a:buNone/>
              <a:defRPr/>
            </a:lvl8pPr>
            <a:lvl9pPr indent="-228600" lvl="8" marL="4114800">
              <a:spcBef>
                <a:spcPts val="0"/>
              </a:spcBef>
              <a:spcAft>
                <a:spcPts val="0"/>
              </a:spcAft>
              <a:buSzPts val="1400"/>
              <a:buNone/>
              <a:defRPr/>
            </a:lvl9pPr>
          </a:lstStyle>
          <a:p/>
        </p:txBody>
      </p:sp>
      <p:sp>
        <p:nvSpPr>
          <p:cNvPr id="28" name="Google Shape;28;p62"/>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lvl1pPr lvl="0">
              <a:buNone/>
              <a:defRPr>
                <a:solidFill>
                  <a:srgbClr val="0064FF"/>
                </a:solidFill>
                <a:latin typeface="Outfit"/>
                <a:ea typeface="Outfit"/>
                <a:cs typeface="Outfit"/>
                <a:sym typeface="Outfit"/>
              </a:defRPr>
            </a:lvl1pPr>
            <a:lvl2pPr lvl="1">
              <a:buNone/>
              <a:defRPr>
                <a:solidFill>
                  <a:srgbClr val="0064FF"/>
                </a:solidFill>
                <a:latin typeface="Outfit"/>
                <a:ea typeface="Outfit"/>
                <a:cs typeface="Outfit"/>
                <a:sym typeface="Outfit"/>
              </a:defRPr>
            </a:lvl2pPr>
            <a:lvl3pPr lvl="2">
              <a:buNone/>
              <a:defRPr>
                <a:solidFill>
                  <a:srgbClr val="0064FF"/>
                </a:solidFill>
                <a:latin typeface="Outfit"/>
                <a:ea typeface="Outfit"/>
                <a:cs typeface="Outfit"/>
                <a:sym typeface="Outfit"/>
              </a:defRPr>
            </a:lvl3pPr>
            <a:lvl4pPr lvl="3">
              <a:buNone/>
              <a:defRPr>
                <a:solidFill>
                  <a:srgbClr val="0064FF"/>
                </a:solidFill>
                <a:latin typeface="Outfit"/>
                <a:ea typeface="Outfit"/>
                <a:cs typeface="Outfit"/>
                <a:sym typeface="Outfit"/>
              </a:defRPr>
            </a:lvl4pPr>
            <a:lvl5pPr lvl="4">
              <a:buNone/>
              <a:defRPr>
                <a:solidFill>
                  <a:srgbClr val="0064FF"/>
                </a:solidFill>
                <a:latin typeface="Outfit"/>
                <a:ea typeface="Outfit"/>
                <a:cs typeface="Outfit"/>
                <a:sym typeface="Outfit"/>
              </a:defRPr>
            </a:lvl5pPr>
            <a:lvl6pPr lvl="5">
              <a:buNone/>
              <a:defRPr>
                <a:solidFill>
                  <a:srgbClr val="0064FF"/>
                </a:solidFill>
                <a:latin typeface="Outfit"/>
                <a:ea typeface="Outfit"/>
                <a:cs typeface="Outfit"/>
                <a:sym typeface="Outfit"/>
              </a:defRPr>
            </a:lvl6pPr>
            <a:lvl7pPr lvl="6">
              <a:buNone/>
              <a:defRPr>
                <a:solidFill>
                  <a:srgbClr val="0064FF"/>
                </a:solidFill>
                <a:latin typeface="Outfit"/>
                <a:ea typeface="Outfit"/>
                <a:cs typeface="Outfit"/>
                <a:sym typeface="Outfit"/>
              </a:defRPr>
            </a:lvl7pPr>
            <a:lvl8pPr lvl="7">
              <a:buNone/>
              <a:defRPr>
                <a:solidFill>
                  <a:srgbClr val="0064FF"/>
                </a:solidFill>
                <a:latin typeface="Outfit"/>
                <a:ea typeface="Outfit"/>
                <a:cs typeface="Outfit"/>
                <a:sym typeface="Outfit"/>
              </a:defRPr>
            </a:lvl8pPr>
            <a:lvl9pPr lvl="8">
              <a:buNone/>
              <a:defRPr>
                <a:solidFill>
                  <a:srgbClr val="0064FF"/>
                </a:solidFill>
                <a:latin typeface="Outfit"/>
                <a:ea typeface="Outfit"/>
                <a:cs typeface="Outfit"/>
                <a:sym typeface="Outfit"/>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2">
  <p:cSld name="Custom 2">
    <p:bg>
      <p:bgPr>
        <a:solidFill>
          <a:srgbClr val="F9F8F5"/>
        </a:solidFill>
      </p:bgPr>
    </p:bg>
    <p:spTree>
      <p:nvGrpSpPr>
        <p:cNvPr id="29" name="Shape 29"/>
        <p:cNvGrpSpPr/>
        <p:nvPr/>
      </p:nvGrpSpPr>
      <p:grpSpPr>
        <a:xfrm>
          <a:off x="0" y="0"/>
          <a:ext cx="0" cy="0"/>
          <a:chOff x="0" y="0"/>
          <a:chExt cx="0" cy="0"/>
        </a:xfrm>
      </p:grpSpPr>
      <p:sp>
        <p:nvSpPr>
          <p:cNvPr id="30" name="Google Shape;30;p63"/>
          <p:cNvSpPr txBox="1"/>
          <p:nvPr>
            <p:ph type="title"/>
          </p:nvPr>
        </p:nvSpPr>
        <p:spPr>
          <a:xfrm>
            <a:off x="822960" y="1920240"/>
            <a:ext cx="10058400" cy="1828800"/>
          </a:xfrm>
          <a:prstGeom prst="rect">
            <a:avLst/>
          </a:prstGeom>
          <a:noFill/>
          <a:ln>
            <a:noFill/>
          </a:ln>
        </p:spPr>
        <p:txBody>
          <a:bodyPr anchorCtr="0" anchor="b" bIns="0" lIns="0" spcFirstLastPara="1" rIns="0" wrap="square" tIns="0">
            <a:noAutofit/>
          </a:bodyPr>
          <a:lstStyle>
            <a:lvl1pPr lvl="0" algn="l">
              <a:lnSpc>
                <a:spcPct val="96000"/>
              </a:lnSpc>
              <a:spcBef>
                <a:spcPts val="0"/>
              </a:spcBef>
              <a:spcAft>
                <a:spcPts val="0"/>
              </a:spcAft>
              <a:buClr>
                <a:srgbClr val="2C2C2A"/>
              </a:buClr>
              <a:buSzPts val="3600"/>
              <a:buFont typeface="Instrument Serif"/>
              <a:buNone/>
              <a:defRPr b="0" sz="3600">
                <a:solidFill>
                  <a:srgbClr val="2C2C2A"/>
                </a:solidFill>
                <a:latin typeface="Instrument Serif"/>
                <a:ea typeface="Instrument Serif"/>
                <a:cs typeface="Instrument Serif"/>
                <a:sym typeface="Instrument Serif"/>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63"/>
          <p:cNvSpPr txBox="1"/>
          <p:nvPr>
            <p:ph idx="1" type="body"/>
          </p:nvPr>
        </p:nvSpPr>
        <p:spPr>
          <a:xfrm>
            <a:off x="822960" y="4023360"/>
            <a:ext cx="9509760" cy="1463040"/>
          </a:xfrm>
          <a:prstGeom prst="rect">
            <a:avLst/>
          </a:prstGeom>
          <a:noFill/>
          <a:ln>
            <a:noFill/>
          </a:ln>
        </p:spPr>
        <p:txBody>
          <a:bodyPr anchorCtr="0" anchor="t" bIns="0" lIns="0" spcFirstLastPara="1" rIns="0" wrap="square" tIns="0">
            <a:noAutofit/>
          </a:bodyPr>
          <a:lstStyle>
            <a:lvl1pPr indent="-228600" lvl="0" marL="457200" algn="l">
              <a:lnSpc>
                <a:spcPct val="118000"/>
              </a:lnSpc>
              <a:spcBef>
                <a:spcPts val="0"/>
              </a:spcBef>
              <a:spcAft>
                <a:spcPts val="0"/>
              </a:spcAft>
              <a:buClr>
                <a:srgbClr val="5F5E5A"/>
              </a:buClr>
              <a:buSzPts val="1600"/>
              <a:buFont typeface="Lora"/>
              <a:buNone/>
              <a:defRPr sz="1600">
                <a:solidFill>
                  <a:srgbClr val="5F5E5A"/>
                </a:solidFill>
                <a:latin typeface="Lora"/>
                <a:ea typeface="Lora"/>
                <a:cs typeface="Lora"/>
                <a:sym typeface="Lora"/>
              </a:defRPr>
            </a:lvl1pPr>
            <a:lvl2pPr indent="-228600" lvl="1" marL="914400">
              <a:spcBef>
                <a:spcPts val="0"/>
              </a:spcBef>
              <a:spcAft>
                <a:spcPts val="0"/>
              </a:spcAft>
              <a:buSzPts val="1400"/>
              <a:buNone/>
              <a:defRPr/>
            </a:lvl2pPr>
            <a:lvl3pPr indent="-228600" lvl="2" marL="1371600">
              <a:spcBef>
                <a:spcPts val="0"/>
              </a:spcBef>
              <a:spcAft>
                <a:spcPts val="0"/>
              </a:spcAft>
              <a:buSzPts val="1400"/>
              <a:buNone/>
              <a:defRPr/>
            </a:lvl3pPr>
            <a:lvl4pPr indent="-228600" lvl="3" marL="1828800">
              <a:spcBef>
                <a:spcPts val="0"/>
              </a:spcBef>
              <a:spcAft>
                <a:spcPts val="0"/>
              </a:spcAft>
              <a:buSzPts val="1400"/>
              <a:buNone/>
              <a:defRPr/>
            </a:lvl4pPr>
            <a:lvl5pPr indent="-228600" lvl="4" marL="2286000">
              <a:spcBef>
                <a:spcPts val="0"/>
              </a:spcBef>
              <a:spcAft>
                <a:spcPts val="0"/>
              </a:spcAft>
              <a:buSzPts val="1400"/>
              <a:buNone/>
              <a:defRPr/>
            </a:lvl5pPr>
            <a:lvl6pPr indent="-228600" lvl="5" marL="2743200">
              <a:spcBef>
                <a:spcPts val="0"/>
              </a:spcBef>
              <a:spcAft>
                <a:spcPts val="0"/>
              </a:spcAft>
              <a:buSzPts val="1400"/>
              <a:buNone/>
              <a:defRPr/>
            </a:lvl6pPr>
            <a:lvl7pPr indent="-228600" lvl="6" marL="3200400">
              <a:spcBef>
                <a:spcPts val="0"/>
              </a:spcBef>
              <a:spcAft>
                <a:spcPts val="0"/>
              </a:spcAft>
              <a:buSzPts val="1400"/>
              <a:buNone/>
              <a:defRPr/>
            </a:lvl7pPr>
            <a:lvl8pPr indent="-228600" lvl="7" marL="3657600">
              <a:spcBef>
                <a:spcPts val="0"/>
              </a:spcBef>
              <a:spcAft>
                <a:spcPts val="0"/>
              </a:spcAft>
              <a:buSzPts val="1400"/>
              <a:buNone/>
              <a:defRPr/>
            </a:lvl8pPr>
            <a:lvl9pPr indent="-228600" lvl="8" marL="4114800">
              <a:spcBef>
                <a:spcPts val="0"/>
              </a:spcBef>
              <a:spcAft>
                <a:spcPts val="0"/>
              </a:spcAft>
              <a:buSzPts val="1400"/>
              <a:buNone/>
              <a:defRPr/>
            </a:lvl9pPr>
          </a:lstStyle>
          <a:p/>
        </p:txBody>
      </p:sp>
      <p:sp>
        <p:nvSpPr>
          <p:cNvPr id="32" name="Google Shape;32;p63"/>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lvl1pPr lvl="0">
              <a:buNone/>
              <a:defRPr>
                <a:solidFill>
                  <a:srgbClr val="5F5E5A"/>
                </a:solidFill>
              </a:defRPr>
            </a:lvl1pPr>
            <a:lvl2pPr lvl="1">
              <a:buNone/>
              <a:defRPr>
                <a:solidFill>
                  <a:srgbClr val="5F5E5A"/>
                </a:solidFill>
              </a:defRPr>
            </a:lvl2pPr>
            <a:lvl3pPr lvl="2">
              <a:buNone/>
              <a:defRPr>
                <a:solidFill>
                  <a:srgbClr val="5F5E5A"/>
                </a:solidFill>
              </a:defRPr>
            </a:lvl3pPr>
            <a:lvl4pPr lvl="3">
              <a:buNone/>
              <a:defRPr>
                <a:solidFill>
                  <a:srgbClr val="5F5E5A"/>
                </a:solidFill>
              </a:defRPr>
            </a:lvl4pPr>
            <a:lvl5pPr lvl="4">
              <a:buNone/>
              <a:defRPr>
                <a:solidFill>
                  <a:srgbClr val="5F5E5A"/>
                </a:solidFill>
              </a:defRPr>
            </a:lvl5pPr>
            <a:lvl6pPr lvl="5">
              <a:buNone/>
              <a:defRPr>
                <a:solidFill>
                  <a:srgbClr val="5F5E5A"/>
                </a:solidFill>
              </a:defRPr>
            </a:lvl6pPr>
            <a:lvl7pPr lvl="6">
              <a:buNone/>
              <a:defRPr>
                <a:solidFill>
                  <a:srgbClr val="5F5E5A"/>
                </a:solidFill>
              </a:defRPr>
            </a:lvl7pPr>
            <a:lvl8pPr lvl="7">
              <a:buNone/>
              <a:defRPr>
                <a:solidFill>
                  <a:srgbClr val="5F5E5A"/>
                </a:solidFill>
              </a:defRPr>
            </a:lvl8pPr>
            <a:lvl9pPr lvl="8">
              <a:buNone/>
              <a:defRPr>
                <a:solidFill>
                  <a:srgbClr val="5F5E5A"/>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8F5"/>
        </a:solidFill>
      </p:bgPr>
    </p:bg>
    <p:spTree>
      <p:nvGrpSpPr>
        <p:cNvPr id="5" name="Shape 5"/>
        <p:cNvGrpSpPr/>
        <p:nvPr/>
      </p:nvGrpSpPr>
      <p:grpSpPr>
        <a:xfrm>
          <a:off x="0" y="0"/>
          <a:ext cx="0" cy="0"/>
          <a:chOff x="0" y="0"/>
          <a:chExt cx="0" cy="0"/>
        </a:xfrm>
      </p:grpSpPr>
      <p:pic>
        <p:nvPicPr>
          <p:cNvPr id="6" name="Google Shape;6;p58"/>
          <p:cNvPicPr preferRelativeResize="0"/>
          <p:nvPr/>
        </p:nvPicPr>
        <p:blipFill rotWithShape="1">
          <a:blip r:embed="rId1">
            <a:alphaModFix amt="4000"/>
          </a:blip>
          <a:srcRect b="9292" l="0" r="0" t="34458"/>
          <a:stretch/>
        </p:blipFill>
        <p:spPr>
          <a:xfrm>
            <a:off x="0" y="0"/>
            <a:ext cx="12192000" cy="6858000"/>
          </a:xfrm>
          <a:prstGeom prst="rect">
            <a:avLst/>
          </a:prstGeom>
          <a:noFill/>
          <a:ln>
            <a:noFill/>
          </a:ln>
        </p:spPr>
      </p:pic>
      <p:sp>
        <p:nvSpPr>
          <p:cNvPr id="7" name="Google Shape;7;p58"/>
          <p:cNvSpPr txBox="1"/>
          <p:nvPr>
            <p:ph type="title"/>
          </p:nvPr>
        </p:nvSpPr>
        <p:spPr>
          <a:xfrm>
            <a:off x="822960" y="685800"/>
            <a:ext cx="9144000" cy="1463040"/>
          </a:xfrm>
          <a:prstGeom prst="rect">
            <a:avLst/>
          </a:prstGeom>
          <a:noFill/>
          <a:ln>
            <a:noFill/>
          </a:ln>
        </p:spPr>
        <p:txBody>
          <a:bodyPr anchorCtr="0" anchor="t" bIns="0" lIns="0" spcFirstLastPara="1" rIns="0" wrap="square" tIns="0">
            <a:noAutofit/>
          </a:bodyPr>
          <a:lstStyle>
            <a:lvl1pPr lvl="0" marR="0" rtl="0" algn="l">
              <a:lnSpc>
                <a:spcPct val="96000"/>
              </a:lnSpc>
              <a:spcBef>
                <a:spcPts val="0"/>
              </a:spcBef>
              <a:spcAft>
                <a:spcPts val="0"/>
              </a:spcAft>
              <a:buClr>
                <a:srgbClr val="2C2C2A"/>
              </a:buClr>
              <a:buSzPts val="3000"/>
              <a:buFont typeface="Instrument Serif"/>
              <a:buNone/>
              <a:defRPr b="0" i="0" sz="3000" u="none" cap="none" strike="noStrike">
                <a:solidFill>
                  <a:srgbClr val="2C2C2A"/>
                </a:solidFill>
                <a:latin typeface="Instrument Serif"/>
                <a:ea typeface="Instrument Serif"/>
                <a:cs typeface="Instrument Serif"/>
                <a:sym typeface="Instrument Serif"/>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 name="Google Shape;8;p58"/>
          <p:cNvSpPr txBox="1"/>
          <p:nvPr>
            <p:ph idx="1" type="body"/>
          </p:nvPr>
        </p:nvSpPr>
        <p:spPr>
          <a:xfrm>
            <a:off x="822960" y="2377440"/>
            <a:ext cx="9144000" cy="3108960"/>
          </a:xfrm>
          <a:prstGeom prst="rect">
            <a:avLst/>
          </a:prstGeom>
          <a:noFill/>
          <a:ln>
            <a:noFill/>
          </a:ln>
        </p:spPr>
        <p:txBody>
          <a:bodyPr anchorCtr="0" anchor="t" bIns="0" lIns="0" spcFirstLastPara="1" rIns="0" wrap="square" tIns="0">
            <a:noAutofit/>
          </a:bodyPr>
          <a:lstStyle>
            <a:lvl1pPr indent="-228600" lvl="0" marL="457200" marR="0" rtl="0" algn="l">
              <a:lnSpc>
                <a:spcPct val="118000"/>
              </a:lnSpc>
              <a:spcBef>
                <a:spcPts val="700"/>
              </a:spcBef>
              <a:spcAft>
                <a:spcPts val="0"/>
              </a:spcAft>
              <a:buClr>
                <a:srgbClr val="2C2C2A"/>
              </a:buClr>
              <a:buSzPts val="1500"/>
              <a:buFont typeface="Lora"/>
              <a:buNone/>
              <a:defRPr b="0" i="0" sz="1500" u="none" cap="none" strike="noStrike">
                <a:solidFill>
                  <a:srgbClr val="2C2C2A"/>
                </a:solidFill>
                <a:latin typeface="Lora"/>
                <a:ea typeface="Lora"/>
                <a:cs typeface="Lora"/>
                <a:sym typeface="Lora"/>
              </a:defRPr>
            </a:lvl1pPr>
            <a:lvl2pPr indent="-228600" lvl="1" marL="914400">
              <a:spcBef>
                <a:spcPts val="0"/>
              </a:spcBef>
              <a:spcAft>
                <a:spcPts val="0"/>
              </a:spcAft>
              <a:buSzPts val="1400"/>
              <a:buNone/>
              <a:defRPr sz="1800"/>
            </a:lvl2pPr>
            <a:lvl3pPr indent="-228600" lvl="2" marL="1371600">
              <a:spcBef>
                <a:spcPts val="0"/>
              </a:spcBef>
              <a:spcAft>
                <a:spcPts val="0"/>
              </a:spcAft>
              <a:buSzPts val="1400"/>
              <a:buNone/>
              <a:defRPr sz="1800"/>
            </a:lvl3pPr>
            <a:lvl4pPr indent="-228600" lvl="3" marL="1828800">
              <a:spcBef>
                <a:spcPts val="0"/>
              </a:spcBef>
              <a:spcAft>
                <a:spcPts val="0"/>
              </a:spcAft>
              <a:buSzPts val="1400"/>
              <a:buNone/>
              <a:defRPr sz="1800"/>
            </a:lvl4pPr>
            <a:lvl5pPr indent="-228600" lvl="4" marL="2286000">
              <a:spcBef>
                <a:spcPts val="0"/>
              </a:spcBef>
              <a:spcAft>
                <a:spcPts val="0"/>
              </a:spcAft>
              <a:buSzPts val="1400"/>
              <a:buNone/>
              <a:defRPr sz="1800"/>
            </a:lvl5pPr>
            <a:lvl6pPr indent="-228600" lvl="5" marL="2743200">
              <a:spcBef>
                <a:spcPts val="0"/>
              </a:spcBef>
              <a:spcAft>
                <a:spcPts val="0"/>
              </a:spcAft>
              <a:buSzPts val="1400"/>
              <a:buNone/>
              <a:defRPr sz="1800"/>
            </a:lvl6pPr>
            <a:lvl7pPr indent="-228600" lvl="6" marL="3200400">
              <a:spcBef>
                <a:spcPts val="0"/>
              </a:spcBef>
              <a:spcAft>
                <a:spcPts val="0"/>
              </a:spcAft>
              <a:buSzPts val="1400"/>
              <a:buNone/>
              <a:defRPr sz="1800"/>
            </a:lvl7pPr>
            <a:lvl8pPr indent="-228600" lvl="7" marL="3657600">
              <a:spcBef>
                <a:spcPts val="0"/>
              </a:spcBef>
              <a:spcAft>
                <a:spcPts val="0"/>
              </a:spcAft>
              <a:buSzPts val="1400"/>
              <a:buNone/>
              <a:defRPr sz="1800"/>
            </a:lvl8pPr>
            <a:lvl9pPr indent="-228600" lvl="8" marL="4114800">
              <a:spcBef>
                <a:spcPts val="0"/>
              </a:spcBef>
              <a:spcAft>
                <a:spcPts val="0"/>
              </a:spcAft>
              <a:buSzPts val="1400"/>
              <a:buNone/>
              <a:defRPr sz="1800"/>
            </a:lvl9pPr>
          </a:lstStyle>
          <a:p/>
        </p:txBody>
      </p:sp>
      <p:sp>
        <p:nvSpPr>
          <p:cNvPr id="9" name="Google Shape;9;p58"/>
          <p:cNvSpPr txBox="1"/>
          <p:nvPr>
            <p:ph idx="12" type="sldNum"/>
          </p:nvPr>
        </p:nvSpPr>
        <p:spPr>
          <a:xfrm>
            <a:off x="11409045" y="6333134"/>
            <a:ext cx="731700" cy="525000"/>
          </a:xfrm>
          <a:prstGeom prst="rect">
            <a:avLst/>
          </a:prstGeom>
          <a:noFill/>
          <a:ln>
            <a:noFill/>
          </a:ln>
        </p:spPr>
        <p:txBody>
          <a:bodyPr anchorCtr="0" anchor="t" bIns="91425" lIns="91425" spcFirstLastPara="1" rIns="91425" wrap="square" tIns="91425">
            <a:noAutofit/>
          </a:bodyPr>
          <a:lstStyle>
            <a:lvl1pPr lvl="0" algn="r">
              <a:buNone/>
              <a:defRPr sz="1300">
                <a:solidFill>
                  <a:srgbClr val="2C2C2A"/>
                </a:solidFill>
                <a:latin typeface="Lora"/>
                <a:ea typeface="Lora"/>
                <a:cs typeface="Lora"/>
                <a:sym typeface="Lora"/>
              </a:defRPr>
            </a:lvl1pPr>
            <a:lvl2pPr lvl="1" algn="r">
              <a:buNone/>
              <a:defRPr sz="1300">
                <a:solidFill>
                  <a:srgbClr val="2C2C2A"/>
                </a:solidFill>
                <a:latin typeface="Lora"/>
                <a:ea typeface="Lora"/>
                <a:cs typeface="Lora"/>
                <a:sym typeface="Lora"/>
              </a:defRPr>
            </a:lvl2pPr>
            <a:lvl3pPr lvl="2" algn="r">
              <a:buNone/>
              <a:defRPr sz="1300">
                <a:solidFill>
                  <a:srgbClr val="2C2C2A"/>
                </a:solidFill>
                <a:latin typeface="Lora"/>
                <a:ea typeface="Lora"/>
                <a:cs typeface="Lora"/>
                <a:sym typeface="Lora"/>
              </a:defRPr>
            </a:lvl3pPr>
            <a:lvl4pPr lvl="3" algn="r">
              <a:buNone/>
              <a:defRPr sz="1300">
                <a:solidFill>
                  <a:srgbClr val="2C2C2A"/>
                </a:solidFill>
                <a:latin typeface="Lora"/>
                <a:ea typeface="Lora"/>
                <a:cs typeface="Lora"/>
                <a:sym typeface="Lora"/>
              </a:defRPr>
            </a:lvl4pPr>
            <a:lvl5pPr lvl="4" algn="r">
              <a:buNone/>
              <a:defRPr sz="1300">
                <a:solidFill>
                  <a:srgbClr val="2C2C2A"/>
                </a:solidFill>
                <a:latin typeface="Lora"/>
                <a:ea typeface="Lora"/>
                <a:cs typeface="Lora"/>
                <a:sym typeface="Lora"/>
              </a:defRPr>
            </a:lvl5pPr>
            <a:lvl6pPr lvl="5" algn="r">
              <a:buNone/>
              <a:defRPr sz="1300">
                <a:solidFill>
                  <a:srgbClr val="2C2C2A"/>
                </a:solidFill>
                <a:latin typeface="Lora"/>
                <a:ea typeface="Lora"/>
                <a:cs typeface="Lora"/>
                <a:sym typeface="Lora"/>
              </a:defRPr>
            </a:lvl6pPr>
            <a:lvl7pPr lvl="6" algn="r">
              <a:buNone/>
              <a:defRPr sz="1300">
                <a:solidFill>
                  <a:srgbClr val="2C2C2A"/>
                </a:solidFill>
                <a:latin typeface="Lora"/>
                <a:ea typeface="Lora"/>
                <a:cs typeface="Lora"/>
                <a:sym typeface="Lora"/>
              </a:defRPr>
            </a:lvl7pPr>
            <a:lvl8pPr lvl="7" algn="r">
              <a:buNone/>
              <a:defRPr sz="1300">
                <a:solidFill>
                  <a:srgbClr val="2C2C2A"/>
                </a:solidFill>
                <a:latin typeface="Lora"/>
                <a:ea typeface="Lora"/>
                <a:cs typeface="Lora"/>
                <a:sym typeface="Lora"/>
              </a:defRPr>
            </a:lvl8pPr>
            <a:lvl9pPr lvl="8" algn="r">
              <a:buNone/>
              <a:defRPr sz="1300">
                <a:solidFill>
                  <a:srgbClr val="2C2C2A"/>
                </a:solidFill>
                <a:latin typeface="Lora"/>
                <a:ea typeface="Lora"/>
                <a:cs typeface="Lora"/>
                <a:sym typeface="Lora"/>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1.png"/><Relationship Id="rId4" Type="http://schemas.openxmlformats.org/officeDocument/2006/relationships/hyperlink" Target="http://github.com/protocolvision/workshop-kitkraft/"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7.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1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image" Target="../media/image12.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 Id="rId3"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 name="Shape 36"/>
        <p:cNvGrpSpPr/>
        <p:nvPr/>
      </p:nvGrpSpPr>
      <p:grpSpPr>
        <a:xfrm>
          <a:off x="0" y="0"/>
          <a:ext cx="0" cy="0"/>
          <a:chOff x="0" y="0"/>
          <a:chExt cx="0" cy="0"/>
        </a:xfrm>
      </p:grpSpPr>
      <p:pic>
        <p:nvPicPr>
          <p:cNvPr id="37" name="Google Shape;37;p1"/>
          <p:cNvPicPr preferRelativeResize="0"/>
          <p:nvPr/>
        </p:nvPicPr>
        <p:blipFill rotWithShape="1">
          <a:blip r:embed="rId3">
            <a:alphaModFix/>
          </a:blip>
          <a:srcRect b="0" l="17799" r="26194" t="0"/>
          <a:stretch/>
        </p:blipFill>
        <p:spPr>
          <a:xfrm rot="-5400000">
            <a:off x="2686162" y="-2688912"/>
            <a:ext cx="6863500" cy="12254874"/>
          </a:xfrm>
          <a:prstGeom prst="rect">
            <a:avLst/>
          </a:prstGeom>
          <a:noFill/>
          <a:ln>
            <a:noFill/>
          </a:ln>
        </p:spPr>
      </p:pic>
      <p:sp>
        <p:nvSpPr>
          <p:cNvPr id="38" name="Google Shape;38;p1"/>
          <p:cNvSpPr txBox="1"/>
          <p:nvPr>
            <p:ph type="title"/>
          </p:nvPr>
        </p:nvSpPr>
        <p:spPr>
          <a:xfrm>
            <a:off x="822960" y="1908810"/>
            <a:ext cx="10332600" cy="2377500"/>
          </a:xfrm>
          <a:prstGeom prst="rect">
            <a:avLst/>
          </a:prstGeom>
          <a:noFill/>
          <a:ln>
            <a:noFill/>
          </a:ln>
        </p:spPr>
        <p:txBody>
          <a:bodyPr anchorCtr="0" anchor="b" bIns="0" lIns="0" spcFirstLastPara="1" rIns="0" wrap="square" tIns="0">
            <a:noAutofit/>
          </a:bodyPr>
          <a:lstStyle/>
          <a:p>
            <a:pPr indent="0" lvl="0" marL="0" rtl="0" algn="l">
              <a:lnSpc>
                <a:spcPct val="94000"/>
              </a:lnSpc>
              <a:spcBef>
                <a:spcPts val="0"/>
              </a:spcBef>
              <a:spcAft>
                <a:spcPts val="0"/>
              </a:spcAft>
              <a:buClr>
                <a:srgbClr val="2C2C2A"/>
              </a:buClr>
              <a:buSzPts val="4600"/>
              <a:buFont typeface="Instrument Serif"/>
              <a:buNone/>
            </a:pPr>
            <a:r>
              <a:t/>
            </a:r>
            <a:endParaRPr b="1" sz="5400">
              <a:solidFill>
                <a:schemeClr val="lt1"/>
              </a:solidFill>
            </a:endParaRPr>
          </a:p>
          <a:p>
            <a:pPr indent="0" lvl="0" marL="0" rtl="0" algn="l">
              <a:lnSpc>
                <a:spcPct val="94000"/>
              </a:lnSpc>
              <a:spcBef>
                <a:spcPts val="0"/>
              </a:spcBef>
              <a:spcAft>
                <a:spcPts val="0"/>
              </a:spcAft>
              <a:buClr>
                <a:srgbClr val="2C2C2A"/>
              </a:buClr>
              <a:buSzPts val="4600"/>
              <a:buFont typeface="Instrument Serif"/>
              <a:buNone/>
            </a:pPr>
            <a:r>
              <a:t/>
            </a:r>
            <a:endParaRPr b="1" sz="5400">
              <a:solidFill>
                <a:schemeClr val="lt1"/>
              </a:solidFill>
            </a:endParaRPr>
          </a:p>
          <a:p>
            <a:pPr indent="0" lvl="0" marL="0" rtl="0" algn="l">
              <a:lnSpc>
                <a:spcPct val="94000"/>
              </a:lnSpc>
              <a:spcBef>
                <a:spcPts val="0"/>
              </a:spcBef>
              <a:spcAft>
                <a:spcPts val="0"/>
              </a:spcAft>
              <a:buClr>
                <a:srgbClr val="2C2C2A"/>
              </a:buClr>
              <a:buSzPts val="4600"/>
              <a:buFont typeface="Instrument Serif"/>
              <a:buNone/>
            </a:pPr>
            <a:r>
              <a:rPr b="1" lang="en-GB" sz="5400">
                <a:solidFill>
                  <a:schemeClr val="lt1"/>
                </a:solidFill>
              </a:rPr>
              <a:t>AI Kitcraft</a:t>
            </a:r>
            <a:endParaRPr b="1" sz="5400">
              <a:solidFill>
                <a:schemeClr val="lt1"/>
              </a:solidFill>
            </a:endParaRPr>
          </a:p>
          <a:p>
            <a:pPr indent="0" lvl="0" marL="0" rtl="0" algn="l">
              <a:lnSpc>
                <a:spcPct val="118000"/>
              </a:lnSpc>
              <a:spcBef>
                <a:spcPts val="0"/>
              </a:spcBef>
              <a:spcAft>
                <a:spcPts val="0"/>
              </a:spcAft>
              <a:buClr>
                <a:schemeClr val="accent3"/>
              </a:buClr>
              <a:buSzPts val="1800"/>
              <a:buFont typeface="Lora"/>
              <a:buNone/>
            </a:pPr>
            <a:r>
              <a:rPr lang="en-GB" sz="2600">
                <a:solidFill>
                  <a:schemeClr val="lt1"/>
                </a:solidFill>
                <a:latin typeface="Lora"/>
                <a:ea typeface="Lora"/>
                <a:cs typeface="Lora"/>
                <a:sym typeface="Lora"/>
              </a:rPr>
              <a:t>Kit → Factory → Bridge</a:t>
            </a:r>
            <a:endParaRPr sz="2600">
              <a:solidFill>
                <a:schemeClr val="lt1"/>
              </a:solidFill>
              <a:latin typeface="Lora"/>
              <a:ea typeface="Lora"/>
              <a:cs typeface="Lora"/>
              <a:sym typeface="Lora"/>
            </a:endParaRPr>
          </a:p>
          <a:p>
            <a:pPr indent="0" lvl="0" marL="0" rtl="0" algn="l">
              <a:lnSpc>
                <a:spcPct val="94000"/>
              </a:lnSpc>
              <a:spcBef>
                <a:spcPts val="0"/>
              </a:spcBef>
              <a:spcAft>
                <a:spcPts val="0"/>
              </a:spcAft>
              <a:buClr>
                <a:srgbClr val="2C2C2A"/>
              </a:buClr>
              <a:buSzPts val="4600"/>
              <a:buFont typeface="Instrument Serif"/>
              <a:buNone/>
            </a:pPr>
            <a:r>
              <a:t/>
            </a:r>
            <a:endParaRPr b="1" sz="5400">
              <a:solidFill>
                <a:schemeClr val="lt1"/>
              </a:solidFill>
            </a:endParaRPr>
          </a:p>
        </p:txBody>
      </p:sp>
      <p:sp>
        <p:nvSpPr>
          <p:cNvPr id="39" name="Google Shape;39;p1"/>
          <p:cNvSpPr txBox="1"/>
          <p:nvPr>
            <p:ph idx="1" type="subTitle"/>
          </p:nvPr>
        </p:nvSpPr>
        <p:spPr>
          <a:xfrm>
            <a:off x="822960" y="5227320"/>
            <a:ext cx="8686800" cy="1280100"/>
          </a:xfrm>
          <a:prstGeom prst="rect">
            <a:avLst/>
          </a:prstGeom>
          <a:noFill/>
          <a:ln>
            <a:noFill/>
          </a:ln>
        </p:spPr>
        <p:txBody>
          <a:bodyPr anchorCtr="0" anchor="t" bIns="0" lIns="0" spcFirstLastPara="1" rIns="0" wrap="square" tIns="0">
            <a:noAutofit/>
          </a:bodyPr>
          <a:lstStyle/>
          <a:p>
            <a:pPr indent="0" lvl="0" marL="0" rtl="0" algn="l">
              <a:lnSpc>
                <a:spcPct val="118000"/>
              </a:lnSpc>
              <a:spcBef>
                <a:spcPts val="0"/>
              </a:spcBef>
              <a:spcAft>
                <a:spcPts val="0"/>
              </a:spcAft>
              <a:buClr>
                <a:srgbClr val="5F5E5A"/>
              </a:buClr>
              <a:buSzPts val="1800"/>
              <a:buFont typeface="Lora"/>
              <a:buNone/>
            </a:pPr>
            <a:r>
              <a:rPr lang="en-GB" sz="2000" u="sng">
                <a:solidFill>
                  <a:schemeClr val="lt1"/>
                </a:solidFill>
                <a:hlinkClick r:id="rId4">
                  <a:extLst>
                    <a:ext uri="{A12FA001-AC4F-418D-AE19-62706E023703}">
                      <ahyp:hlinkClr val="tx"/>
                    </a:ext>
                  </a:extLst>
                </a:hlinkClick>
              </a:rPr>
              <a:t>http://github.com/protocolvision/workshop-kitkraft/</a:t>
            </a:r>
            <a:endParaRPr sz="2000">
              <a:solidFill>
                <a:schemeClr val="lt1"/>
              </a:solidFill>
            </a:endParaRPr>
          </a:p>
          <a:p>
            <a:pPr indent="0" lvl="0" marL="0" rtl="0" algn="l">
              <a:lnSpc>
                <a:spcPct val="118000"/>
              </a:lnSpc>
              <a:spcBef>
                <a:spcPts val="0"/>
              </a:spcBef>
              <a:spcAft>
                <a:spcPts val="0"/>
              </a:spcAft>
              <a:buClr>
                <a:srgbClr val="5F5E5A"/>
              </a:buClr>
              <a:buSzPts val="1800"/>
              <a:buFont typeface="Lora"/>
              <a:buNone/>
            </a:pPr>
            <a:r>
              <a:rPr lang="en-GB" sz="2000">
                <a:solidFill>
                  <a:schemeClr val="lt1"/>
                </a:solidFill>
              </a:rPr>
              <a:t>Discord #workshop-kitkraft</a:t>
            </a:r>
            <a:endParaRPr sz="2000">
              <a:solidFill>
                <a:schemeClr val="lt1"/>
              </a:solidFill>
            </a:endParaRPr>
          </a:p>
        </p:txBody>
      </p:sp>
      <p:sp>
        <p:nvSpPr>
          <p:cNvPr id="40" name="Google Shape;40;p1"/>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 name="Shape 44"/>
        <p:cNvGrpSpPr/>
        <p:nvPr/>
      </p:nvGrpSpPr>
      <p:grpSpPr>
        <a:xfrm>
          <a:off x="0" y="0"/>
          <a:ext cx="0" cy="0"/>
          <a:chOff x="0" y="0"/>
          <a:chExt cx="0" cy="0"/>
        </a:xfrm>
      </p:grpSpPr>
      <p:sp>
        <p:nvSpPr>
          <p:cNvPr id="45" name="Google Shape;45;p2"/>
          <p:cNvSpPr txBox="1"/>
          <p:nvPr>
            <p:ph idx="1" type="body"/>
          </p:nvPr>
        </p:nvSpPr>
        <p:spPr>
          <a:xfrm>
            <a:off x="822960" y="457200"/>
            <a:ext cx="9144000" cy="320100"/>
          </a:xfrm>
          <a:prstGeom prst="rect">
            <a:avLst/>
          </a:prstGeom>
          <a:noFill/>
          <a:ln>
            <a:noFill/>
          </a:ln>
        </p:spPr>
        <p:txBody>
          <a:bodyPr anchorCtr="0" anchor="t" bIns="0" lIns="0" spcFirstLastPara="1" rIns="0" wrap="square" tIns="0">
            <a:noAutofit/>
          </a:bodyPr>
          <a:lstStyle/>
          <a:p>
            <a:pPr indent="0" lvl="0" marL="0" rtl="0" algn="l">
              <a:lnSpc>
                <a:spcPct val="118000"/>
              </a:lnSpc>
              <a:spcBef>
                <a:spcPts val="0"/>
              </a:spcBef>
              <a:spcAft>
                <a:spcPts val="0"/>
              </a:spcAft>
              <a:buClr>
                <a:srgbClr val="0064FF"/>
              </a:buClr>
              <a:buSzPts val="1200"/>
              <a:buFont typeface="Outfit"/>
              <a:buNone/>
            </a:pPr>
            <a:r>
              <a:rPr lang="en-GB"/>
              <a:t>WELCOME · INTRODUCTION</a:t>
            </a:r>
            <a:endParaRPr/>
          </a:p>
        </p:txBody>
      </p:sp>
      <p:sp>
        <p:nvSpPr>
          <p:cNvPr id="46" name="Google Shape;46;p2"/>
          <p:cNvSpPr txBox="1"/>
          <p:nvPr>
            <p:ph type="title"/>
          </p:nvPr>
        </p:nvSpPr>
        <p:spPr>
          <a:xfrm>
            <a:off x="822950" y="914400"/>
            <a:ext cx="9692700" cy="504000"/>
          </a:xfrm>
          <a:prstGeom prst="rect">
            <a:avLst/>
          </a:prstGeom>
          <a:noFill/>
          <a:ln>
            <a:noFill/>
          </a:ln>
        </p:spPr>
        <p:txBody>
          <a:bodyPr anchorCtr="0" anchor="t" bIns="0" lIns="0" spcFirstLastPara="1" rIns="0" wrap="square" tIns="0">
            <a:noAutofit/>
          </a:bodyPr>
          <a:lstStyle/>
          <a:p>
            <a:pPr indent="0" lvl="0" marL="0" rtl="0" algn="l">
              <a:lnSpc>
                <a:spcPct val="96000"/>
              </a:lnSpc>
              <a:spcBef>
                <a:spcPts val="0"/>
              </a:spcBef>
              <a:spcAft>
                <a:spcPts val="0"/>
              </a:spcAft>
              <a:buClr>
                <a:srgbClr val="2C2C2A"/>
              </a:buClr>
              <a:buSzPts val="2800"/>
              <a:buFont typeface="Instrument Serif"/>
              <a:buNone/>
            </a:pPr>
            <a:r>
              <a:rPr lang="en-GB"/>
              <a:t>About the Protocol Institute</a:t>
            </a:r>
            <a:endParaRPr/>
          </a:p>
        </p:txBody>
      </p:sp>
      <p:grpSp>
        <p:nvGrpSpPr>
          <p:cNvPr id="47" name="Google Shape;47;p2"/>
          <p:cNvGrpSpPr/>
          <p:nvPr/>
        </p:nvGrpSpPr>
        <p:grpSpPr>
          <a:xfrm>
            <a:off x="857260" y="1943950"/>
            <a:ext cx="3238500" cy="4000500"/>
            <a:chOff x="0" y="0"/>
            <a:chExt cx="3238500" cy="4000500"/>
          </a:xfrm>
        </p:grpSpPr>
        <p:sp>
          <p:nvSpPr>
            <p:cNvPr id="48" name="Google Shape;48;p2"/>
            <p:cNvSpPr/>
            <p:nvPr/>
          </p:nvSpPr>
          <p:spPr>
            <a:xfrm>
              <a:off x="0" y="0"/>
              <a:ext cx="3238500" cy="4000500"/>
            </a:xfrm>
            <a:prstGeom prst="roundRect">
              <a:avLst>
                <a:gd fmla="val 2352" name="adj"/>
              </a:avLst>
            </a:prstGeom>
            <a:solidFill>
              <a:srgbClr val="E1F5E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9" name="Google Shape;49;p2"/>
            <p:cNvSpPr txBox="1"/>
            <p:nvPr/>
          </p:nvSpPr>
          <p:spPr>
            <a:xfrm>
              <a:off x="228600" y="228600"/>
              <a:ext cx="2781300" cy="3543300"/>
            </a:xfrm>
            <a:prstGeom prst="rect">
              <a:avLst/>
            </a:prstGeom>
            <a:solidFill>
              <a:srgbClr val="E1F5EE"/>
            </a:solidFill>
            <a:ln>
              <a:noFill/>
            </a:ln>
          </p:spPr>
          <p:txBody>
            <a:bodyPr anchorCtr="0" anchor="t" bIns="0" lIns="0" spcFirstLastPara="1" rIns="0" wrap="square" tIns="0">
              <a:noAutofit/>
            </a:bodyPr>
            <a:lstStyle/>
            <a:p>
              <a:pPr indent="0" lvl="0" marL="0" rtl="0" algn="l">
                <a:spcBef>
                  <a:spcPts val="0"/>
                </a:spcBef>
                <a:spcAft>
                  <a:spcPts val="0"/>
                </a:spcAft>
                <a:buNone/>
              </a:pPr>
              <a:r>
                <a:rPr b="1" lang="en-GB" sz="2200">
                  <a:solidFill>
                    <a:srgbClr val="2C2C2A"/>
                  </a:solidFill>
                  <a:latin typeface="Instrument Serif"/>
                  <a:ea typeface="Instrument Serif"/>
                  <a:cs typeface="Instrument Serif"/>
                  <a:sym typeface="Instrument Serif"/>
                </a:rPr>
                <a:t>The Protocol Institute</a:t>
              </a:r>
              <a:endParaRPr b="1" sz="2200">
                <a:solidFill>
                  <a:srgbClr val="2C2C2A"/>
                </a:solidFill>
                <a:latin typeface="Instrument Serif"/>
                <a:ea typeface="Instrument Serif"/>
                <a:cs typeface="Instrument Serif"/>
                <a:sym typeface="Instrument Serif"/>
              </a:endParaRPr>
            </a:p>
            <a:p>
              <a:pPr indent="0" lvl="0" marL="0" rtl="0" algn="l">
                <a:spcBef>
                  <a:spcPts val="450"/>
                </a:spcBef>
                <a:spcAft>
                  <a:spcPts val="0"/>
                </a:spcAft>
                <a:buNone/>
              </a:pPr>
              <a:r>
                <a:rPr i="1" lang="en-GB" sz="1200">
                  <a:solidFill>
                    <a:srgbClr val="0064FF"/>
                  </a:solidFill>
                  <a:latin typeface="Lora"/>
                  <a:ea typeface="Lora"/>
                  <a:cs typeface="Lora"/>
                  <a:sym typeface="Lora"/>
                </a:rPr>
                <a:t>Accelerating Order.</a:t>
              </a:r>
              <a:endParaRPr i="1" sz="1200">
                <a:solidFill>
                  <a:srgbClr val="0064FF"/>
                </a:solidFill>
                <a:latin typeface="Lora"/>
                <a:ea typeface="Lora"/>
                <a:cs typeface="Lora"/>
                <a:sym typeface="Lora"/>
              </a:endParaRPr>
            </a:p>
            <a:p>
              <a:pPr indent="0" lvl="0" marL="0" rtl="0" algn="l">
                <a:spcBef>
                  <a:spcPts val="1200"/>
                </a:spcBef>
                <a:spcAft>
                  <a:spcPts val="0"/>
                </a:spcAft>
                <a:buNone/>
              </a:pPr>
              <a:r>
                <a:rPr lang="en-GB" sz="1100">
                  <a:solidFill>
                    <a:srgbClr val="2C2C2A"/>
                  </a:solidFill>
                  <a:latin typeface="Lora"/>
                  <a:ea typeface="Lora"/>
                  <a:cs typeface="Lora"/>
                  <a:sym typeface="Lora"/>
                </a:rPr>
                <a:t>A research, education, media and scene-making organization for protocols — how coordination mechanisms get designed, adopted and maintained.</a:t>
              </a:r>
              <a:endParaRPr sz="1100">
                <a:solidFill>
                  <a:srgbClr val="2C2C2A"/>
                </a:solidFill>
                <a:latin typeface="Lora"/>
                <a:ea typeface="Lora"/>
                <a:cs typeface="Lora"/>
                <a:sym typeface="Lora"/>
              </a:endParaRPr>
            </a:p>
            <a:p>
              <a:pPr indent="0" lvl="0" marL="0" rtl="0" algn="l">
                <a:spcBef>
                  <a:spcPts val="1050"/>
                </a:spcBef>
                <a:spcAft>
                  <a:spcPts val="0"/>
                </a:spcAft>
                <a:buNone/>
              </a:pPr>
              <a:r>
                <a:rPr lang="en-GB" sz="1050">
                  <a:solidFill>
                    <a:srgbClr val="5F5E5A"/>
                  </a:solidFill>
                  <a:latin typeface="Lora"/>
                  <a:ea typeface="Lora"/>
                  <a:cs typeface="Lora"/>
                  <a:sym typeface="Lora"/>
                </a:rPr>
                <a:t>Publishes Protocolized, the magazine of New Nature · runs the SIGs, including Protocols for Business · hosts the Protocol Symposium, where this workshop is one of five running in parallel.</a:t>
              </a:r>
              <a:endParaRPr sz="1050">
                <a:solidFill>
                  <a:srgbClr val="5F5E5A"/>
                </a:solidFill>
                <a:latin typeface="Lora"/>
                <a:ea typeface="Lora"/>
                <a:cs typeface="Lora"/>
                <a:sym typeface="Lora"/>
              </a:endParaRPr>
            </a:p>
          </p:txBody>
        </p:sp>
      </p:grpSp>
      <p:grpSp>
        <p:nvGrpSpPr>
          <p:cNvPr id="50" name="Google Shape;50;p2"/>
          <p:cNvGrpSpPr/>
          <p:nvPr/>
        </p:nvGrpSpPr>
        <p:grpSpPr>
          <a:xfrm>
            <a:off x="4476760" y="1943950"/>
            <a:ext cx="3238500" cy="4000500"/>
            <a:chOff x="0" y="0"/>
            <a:chExt cx="3238500" cy="4000500"/>
          </a:xfrm>
        </p:grpSpPr>
        <p:sp>
          <p:nvSpPr>
            <p:cNvPr id="51" name="Google Shape;51;p2"/>
            <p:cNvSpPr/>
            <p:nvPr/>
          </p:nvSpPr>
          <p:spPr>
            <a:xfrm>
              <a:off x="0" y="0"/>
              <a:ext cx="3238500" cy="4000500"/>
            </a:xfrm>
            <a:prstGeom prst="roundRect">
              <a:avLst>
                <a:gd fmla="val 2352" name="adj"/>
              </a:avLst>
            </a:prstGeom>
            <a:solidFill>
              <a:srgbClr val="F0EDE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2" name="Google Shape;52;p2"/>
            <p:cNvSpPr txBox="1"/>
            <p:nvPr/>
          </p:nvSpPr>
          <p:spPr>
            <a:xfrm>
              <a:off x="228600" y="228600"/>
              <a:ext cx="2781300" cy="3543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200">
                  <a:solidFill>
                    <a:srgbClr val="2C2C2A"/>
                  </a:solidFill>
                  <a:latin typeface="Instrument Serif"/>
                  <a:ea typeface="Instrument Serif"/>
                  <a:cs typeface="Instrument Serif"/>
                  <a:sym typeface="Instrument Serif"/>
                </a:rPr>
                <a:t>Sachin Benny</a:t>
              </a:r>
              <a:endParaRPr sz="2200">
                <a:solidFill>
                  <a:srgbClr val="2C2C2A"/>
                </a:solidFill>
                <a:latin typeface="Instrument Serif"/>
                <a:ea typeface="Instrument Serif"/>
                <a:cs typeface="Instrument Serif"/>
                <a:sym typeface="Instrument Serif"/>
              </a:endParaRPr>
            </a:p>
            <a:p>
              <a:pPr indent="0" lvl="0" marL="0" rtl="0" algn="l">
                <a:spcBef>
                  <a:spcPts val="450"/>
                </a:spcBef>
                <a:spcAft>
                  <a:spcPts val="0"/>
                </a:spcAft>
                <a:buNone/>
              </a:pPr>
              <a:r>
                <a:rPr i="1" lang="en-GB" sz="1200">
                  <a:solidFill>
                    <a:srgbClr val="0064FF"/>
                  </a:solidFill>
                  <a:latin typeface="Lora"/>
                  <a:ea typeface="Lora"/>
                  <a:cs typeface="Lora"/>
                  <a:sym typeface="Lora"/>
                </a:rPr>
                <a:t>Protocol Institute · writes Summer Lightning</a:t>
              </a:r>
              <a:endParaRPr i="1" sz="1200">
                <a:solidFill>
                  <a:srgbClr val="0064FF"/>
                </a:solidFill>
                <a:latin typeface="Lora"/>
                <a:ea typeface="Lora"/>
                <a:cs typeface="Lora"/>
                <a:sym typeface="Lora"/>
              </a:endParaRPr>
            </a:p>
            <a:p>
              <a:pPr indent="0" lvl="0" marL="0" rtl="0" algn="l">
                <a:spcBef>
                  <a:spcPts val="1200"/>
                </a:spcBef>
                <a:spcAft>
                  <a:spcPts val="0"/>
                </a:spcAft>
                <a:buNone/>
              </a:pPr>
              <a:r>
                <a:rPr lang="en-GB" sz="1100">
                  <a:solidFill>
                    <a:srgbClr val="2C2C2A"/>
                  </a:solidFill>
                  <a:latin typeface="Lora"/>
                  <a:ea typeface="Lora"/>
                  <a:cs typeface="Lora"/>
                  <a:sym typeface="Lora"/>
                </a:rPr>
                <a:t>Wrote "LLMs Pre-Commodify Ideas" (June 2026), where precommodification comes from, and the AI-and-tractors piece behind the kit-phase argument in Session 1. His agent captures the Session 4 synthesis.</a:t>
              </a:r>
              <a:endParaRPr sz="1100">
                <a:solidFill>
                  <a:srgbClr val="2C2C2A"/>
                </a:solidFill>
                <a:latin typeface="Lora"/>
                <a:ea typeface="Lora"/>
                <a:cs typeface="Lora"/>
                <a:sym typeface="Lora"/>
              </a:endParaRPr>
            </a:p>
          </p:txBody>
        </p:sp>
      </p:grpSp>
      <p:grpSp>
        <p:nvGrpSpPr>
          <p:cNvPr id="53" name="Google Shape;53;p2"/>
          <p:cNvGrpSpPr/>
          <p:nvPr/>
        </p:nvGrpSpPr>
        <p:grpSpPr>
          <a:xfrm>
            <a:off x="8096260" y="1943950"/>
            <a:ext cx="3238500" cy="4000500"/>
            <a:chOff x="0" y="0"/>
            <a:chExt cx="3238500" cy="4000500"/>
          </a:xfrm>
        </p:grpSpPr>
        <p:sp>
          <p:nvSpPr>
            <p:cNvPr id="54" name="Google Shape;54;p2"/>
            <p:cNvSpPr/>
            <p:nvPr/>
          </p:nvSpPr>
          <p:spPr>
            <a:xfrm>
              <a:off x="0" y="0"/>
              <a:ext cx="3238500" cy="4000500"/>
            </a:xfrm>
            <a:prstGeom prst="roundRect">
              <a:avLst>
                <a:gd fmla="val 2352" name="adj"/>
              </a:avLst>
            </a:prstGeom>
            <a:solidFill>
              <a:srgbClr val="F0EDE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5" name="Google Shape;55;p2"/>
            <p:cNvSpPr txBox="1"/>
            <p:nvPr/>
          </p:nvSpPr>
          <p:spPr>
            <a:xfrm>
              <a:off x="228600" y="228600"/>
              <a:ext cx="2781300" cy="3543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200">
                  <a:solidFill>
                    <a:srgbClr val="2C2C2A"/>
                  </a:solidFill>
                  <a:latin typeface="Instrument Serif"/>
                  <a:ea typeface="Instrument Serif"/>
                  <a:cs typeface="Instrument Serif"/>
                  <a:sym typeface="Instrument Serif"/>
                </a:rPr>
                <a:t>Rafa Fern</a:t>
              </a:r>
              <a:r>
                <a:rPr lang="en-GB" sz="2200">
                  <a:solidFill>
                    <a:srgbClr val="2C2C2A"/>
                  </a:solidFill>
                  <a:latin typeface="Instrument Serif"/>
                  <a:ea typeface="Instrument Serif"/>
                  <a:cs typeface="Instrument Serif"/>
                  <a:sym typeface="Instrument Serif"/>
                </a:rPr>
                <a:t>ández</a:t>
              </a:r>
              <a:endParaRPr sz="2200">
                <a:solidFill>
                  <a:srgbClr val="2C2C2A"/>
                </a:solidFill>
                <a:latin typeface="Instrument Serif"/>
                <a:ea typeface="Instrument Serif"/>
                <a:cs typeface="Instrument Serif"/>
                <a:sym typeface="Instrument Serif"/>
              </a:endParaRPr>
            </a:p>
            <a:p>
              <a:pPr indent="0" lvl="0" marL="0" rtl="0" algn="l">
                <a:spcBef>
                  <a:spcPts val="450"/>
                </a:spcBef>
                <a:spcAft>
                  <a:spcPts val="0"/>
                </a:spcAft>
                <a:buNone/>
              </a:pPr>
              <a:r>
                <a:rPr i="1" lang="en-GB" sz="1200">
                  <a:solidFill>
                    <a:srgbClr val="0064FF"/>
                  </a:solidFill>
                  <a:latin typeface="Lora"/>
                  <a:ea typeface="Lora"/>
                  <a:cs typeface="Lora"/>
                  <a:sym typeface="Lora"/>
                </a:rPr>
                <a:t>Protocols for Business SIG</a:t>
              </a:r>
              <a:endParaRPr i="1" sz="1200">
                <a:solidFill>
                  <a:srgbClr val="0064FF"/>
                </a:solidFill>
                <a:latin typeface="Lora"/>
                <a:ea typeface="Lora"/>
                <a:cs typeface="Lora"/>
                <a:sym typeface="Lora"/>
              </a:endParaRPr>
            </a:p>
            <a:p>
              <a:pPr indent="0" lvl="0" marL="0" rtl="0" algn="l">
                <a:spcBef>
                  <a:spcPts val="1200"/>
                </a:spcBef>
                <a:spcAft>
                  <a:spcPts val="0"/>
                </a:spcAft>
                <a:buNone/>
              </a:pPr>
              <a:r>
                <a:rPr lang="en-GB" sz="1100">
                  <a:solidFill>
                    <a:srgbClr val="2C2C2A"/>
                  </a:solidFill>
                  <a:latin typeface="Lora"/>
                  <a:ea typeface="Lora"/>
                  <a:cs typeface="Lora"/>
                  <a:sym typeface="Lora"/>
                </a:rPr>
                <a:t>Wrote "Hard Worlds for Big Organizations" (April 2026) and named the four quadrants we use as our lens. Runs the rate-schedule factory in facilitator/rafa/ that is a bridge target in Session 3.</a:t>
              </a:r>
              <a:endParaRPr sz="1100">
                <a:solidFill>
                  <a:srgbClr val="2C2C2A"/>
                </a:solidFill>
                <a:latin typeface="Lora"/>
                <a:ea typeface="Lora"/>
                <a:cs typeface="Lora"/>
                <a:sym typeface="Lora"/>
              </a:endParaRPr>
            </a:p>
          </p:txBody>
        </p:sp>
      </p:grpSp>
      <p:sp>
        <p:nvSpPr>
          <p:cNvPr id="56" name="Google Shape;56;p2"/>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4"/>
          <p:cNvSpPr txBox="1"/>
          <p:nvPr>
            <p:ph type="title"/>
          </p:nvPr>
        </p:nvSpPr>
        <p:spPr>
          <a:xfrm>
            <a:off x="822960" y="914400"/>
            <a:ext cx="9692700" cy="1371600"/>
          </a:xfrm>
          <a:prstGeom prst="rect">
            <a:avLst/>
          </a:prstGeom>
          <a:noFill/>
          <a:ln>
            <a:noFill/>
          </a:ln>
        </p:spPr>
        <p:txBody>
          <a:bodyPr anchorCtr="0" anchor="t" bIns="0" lIns="0" spcFirstLastPara="1" rIns="0" wrap="square" tIns="0">
            <a:noAutofit/>
          </a:bodyPr>
          <a:lstStyle/>
          <a:p>
            <a:pPr indent="0" lvl="0" marL="0" rtl="0" algn="l">
              <a:lnSpc>
                <a:spcPct val="96000"/>
              </a:lnSpc>
              <a:spcBef>
                <a:spcPts val="0"/>
              </a:spcBef>
              <a:spcAft>
                <a:spcPts val="0"/>
              </a:spcAft>
              <a:buClr>
                <a:srgbClr val="2C2C2A"/>
              </a:buClr>
              <a:buSzPts val="2800"/>
              <a:buFont typeface="Instrument Serif"/>
              <a:buNone/>
            </a:pPr>
            <a:r>
              <a:rPr lang="en-GB"/>
              <a:t>Over two days, we will share how we work with AI and build bridges</a:t>
            </a:r>
            <a:endParaRPr/>
          </a:p>
        </p:txBody>
      </p:sp>
      <p:grpSp>
        <p:nvGrpSpPr>
          <p:cNvPr id="62" name="Google Shape;62;p4"/>
          <p:cNvGrpSpPr/>
          <p:nvPr/>
        </p:nvGrpSpPr>
        <p:grpSpPr>
          <a:xfrm>
            <a:off x="822960" y="1809750"/>
            <a:ext cx="2499300" cy="2476500"/>
            <a:chOff x="0" y="0"/>
            <a:chExt cx="2499300" cy="2476500"/>
          </a:xfrm>
        </p:grpSpPr>
        <p:sp>
          <p:nvSpPr>
            <p:cNvPr id="63" name="Google Shape;63;p4"/>
            <p:cNvSpPr/>
            <p:nvPr/>
          </p:nvSpPr>
          <p:spPr>
            <a:xfrm>
              <a:off x="0" y="0"/>
              <a:ext cx="2499300" cy="2476500"/>
            </a:xfrm>
            <a:prstGeom prst="roundRect">
              <a:avLst>
                <a:gd fmla="val 3076" name="adj"/>
              </a:avLst>
            </a:prstGeom>
            <a:solidFill>
              <a:srgbClr val="F0EDE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4" name="Google Shape;64;p4"/>
            <p:cNvSpPr txBox="1"/>
            <p:nvPr/>
          </p:nvSpPr>
          <p:spPr>
            <a:xfrm>
              <a:off x="190500" y="190500"/>
              <a:ext cx="2118300" cy="2095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1100">
                  <a:solidFill>
                    <a:srgbClr val="0064FF"/>
                  </a:solidFill>
                  <a:latin typeface="Outfit SemiBold"/>
                  <a:ea typeface="Outfit SemiBold"/>
                  <a:cs typeface="Outfit SemiBold"/>
                  <a:sym typeface="Outfit SemiBold"/>
                </a:rPr>
                <a:t>Now · S</a:t>
              </a:r>
              <a:r>
                <a:rPr lang="en-GB" sz="1100">
                  <a:solidFill>
                    <a:srgbClr val="0064FF"/>
                  </a:solidFill>
                  <a:latin typeface="Outfit SemiBold"/>
                  <a:ea typeface="Outfit SemiBold"/>
                  <a:cs typeface="Outfit SemiBold"/>
                  <a:sym typeface="Outfit SemiBold"/>
                </a:rPr>
                <a:t>ession 1</a:t>
              </a:r>
              <a:endParaRPr b="0" sz="1100">
                <a:solidFill>
                  <a:srgbClr val="0064FF"/>
                </a:solidFill>
                <a:latin typeface="Outfit SemiBold"/>
                <a:ea typeface="Outfit SemiBold"/>
                <a:cs typeface="Outfit SemiBold"/>
                <a:sym typeface="Outfit SemiBold"/>
              </a:endParaRPr>
            </a:p>
            <a:p>
              <a:pPr indent="0" lvl="0" marL="0" rtl="0" algn="l">
                <a:spcBef>
                  <a:spcPts val="600"/>
                </a:spcBef>
                <a:spcAft>
                  <a:spcPts val="0"/>
                </a:spcAft>
                <a:buNone/>
              </a:pPr>
              <a:r>
                <a:rPr lang="en-GB" sz="2600">
                  <a:solidFill>
                    <a:srgbClr val="2C2C2A"/>
                  </a:solidFill>
                  <a:latin typeface="Instrument Serif"/>
                  <a:ea typeface="Instrument Serif"/>
                  <a:cs typeface="Instrument Serif"/>
                  <a:sym typeface="Instrument Serif"/>
                </a:rPr>
                <a:t>Kits</a:t>
              </a:r>
              <a:endParaRPr sz="2600">
                <a:solidFill>
                  <a:srgbClr val="2C2C2A"/>
                </a:solidFill>
                <a:latin typeface="Instrument Serif"/>
                <a:ea typeface="Instrument Serif"/>
                <a:cs typeface="Instrument Serif"/>
                <a:sym typeface="Instrument Serif"/>
              </a:endParaRPr>
            </a:p>
            <a:p>
              <a:pPr indent="0" lvl="0" marL="0" rtl="0" algn="l">
                <a:spcBef>
                  <a:spcPts val="900"/>
                </a:spcBef>
                <a:spcAft>
                  <a:spcPts val="0"/>
                </a:spcAft>
                <a:buNone/>
              </a:pPr>
              <a:r>
                <a:rPr lang="en-GB" sz="1100">
                  <a:solidFill>
                    <a:srgbClr val="5F5E5A"/>
                  </a:solidFill>
                  <a:latin typeface="Lora"/>
                  <a:ea typeface="Lora"/>
                  <a:cs typeface="Lora"/>
                  <a:sym typeface="Lora"/>
                </a:rPr>
                <a:t>Creating a shared </a:t>
              </a:r>
              <a:r>
                <a:rPr lang="en-GB" sz="1100">
                  <a:solidFill>
                    <a:srgbClr val="5F5E5A"/>
                  </a:solidFill>
                  <a:latin typeface="Lora"/>
                  <a:ea typeface="Lora"/>
                  <a:cs typeface="Lora"/>
                  <a:sym typeface="Lora"/>
                </a:rPr>
                <a:t>inventory of how we use AI technology today</a:t>
              </a:r>
              <a:endParaRPr sz="1100">
                <a:solidFill>
                  <a:srgbClr val="5F5E5A"/>
                </a:solidFill>
                <a:latin typeface="Lora"/>
                <a:ea typeface="Lora"/>
                <a:cs typeface="Lora"/>
                <a:sym typeface="Lora"/>
              </a:endParaRPr>
            </a:p>
          </p:txBody>
        </p:sp>
      </p:grpSp>
      <p:grpSp>
        <p:nvGrpSpPr>
          <p:cNvPr id="65" name="Google Shape;65;p4"/>
          <p:cNvGrpSpPr/>
          <p:nvPr/>
        </p:nvGrpSpPr>
        <p:grpSpPr>
          <a:xfrm>
            <a:off x="3505200" y="1809750"/>
            <a:ext cx="2499300" cy="2476500"/>
            <a:chOff x="0" y="0"/>
            <a:chExt cx="2499300" cy="2476500"/>
          </a:xfrm>
        </p:grpSpPr>
        <p:sp>
          <p:nvSpPr>
            <p:cNvPr id="66" name="Google Shape;66;p4"/>
            <p:cNvSpPr/>
            <p:nvPr/>
          </p:nvSpPr>
          <p:spPr>
            <a:xfrm>
              <a:off x="0" y="0"/>
              <a:ext cx="2499300" cy="2476500"/>
            </a:xfrm>
            <a:prstGeom prst="roundRect">
              <a:avLst>
                <a:gd fmla="val 3076" name="adj"/>
              </a:avLst>
            </a:prstGeom>
            <a:solidFill>
              <a:srgbClr val="F0EDE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7" name="Google Shape;67;p4"/>
            <p:cNvSpPr txBox="1"/>
            <p:nvPr/>
          </p:nvSpPr>
          <p:spPr>
            <a:xfrm>
              <a:off x="190500" y="190500"/>
              <a:ext cx="2118300" cy="2095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100">
                  <a:solidFill>
                    <a:srgbClr val="0064FF"/>
                  </a:solidFill>
                  <a:latin typeface="Outfit SemiBold"/>
                  <a:ea typeface="Outfit SemiBold"/>
                  <a:cs typeface="Outfit SemiBold"/>
                  <a:sym typeface="Outfit SemiBold"/>
                </a:rPr>
                <a:t>Later </a:t>
              </a:r>
              <a:r>
                <a:rPr b="0" lang="en-GB" sz="1100">
                  <a:solidFill>
                    <a:srgbClr val="0064FF"/>
                  </a:solidFill>
                  <a:latin typeface="Outfit SemiBold"/>
                  <a:ea typeface="Outfit SemiBold"/>
                  <a:cs typeface="Outfit SemiBold"/>
                  <a:sym typeface="Outfit SemiBold"/>
                </a:rPr>
                <a:t> 20:00 U</a:t>
              </a:r>
              <a:r>
                <a:rPr lang="en-GB" sz="1100">
                  <a:solidFill>
                    <a:srgbClr val="0064FF"/>
                  </a:solidFill>
                  <a:latin typeface="Outfit SemiBold"/>
                  <a:ea typeface="Outfit SemiBold"/>
                  <a:cs typeface="Outfit SemiBold"/>
                  <a:sym typeface="Outfit SemiBold"/>
                </a:rPr>
                <a:t>TC</a:t>
              </a:r>
              <a:endParaRPr b="0" sz="1100">
                <a:solidFill>
                  <a:srgbClr val="0064FF"/>
                </a:solidFill>
                <a:latin typeface="Outfit SemiBold"/>
                <a:ea typeface="Outfit SemiBold"/>
                <a:cs typeface="Outfit SemiBold"/>
                <a:sym typeface="Outfit SemiBold"/>
              </a:endParaRPr>
            </a:p>
            <a:p>
              <a:pPr indent="0" lvl="0" marL="0" rtl="0" algn="l">
                <a:spcBef>
                  <a:spcPts val="600"/>
                </a:spcBef>
                <a:spcAft>
                  <a:spcPts val="0"/>
                </a:spcAft>
                <a:buNone/>
              </a:pPr>
              <a:r>
                <a:rPr lang="en-GB" sz="2600">
                  <a:solidFill>
                    <a:srgbClr val="2C2C2A"/>
                  </a:solidFill>
                  <a:latin typeface="Instrument Serif"/>
                  <a:ea typeface="Instrument Serif"/>
                  <a:cs typeface="Instrument Serif"/>
                  <a:sym typeface="Instrument Serif"/>
                </a:rPr>
                <a:t>Factories</a:t>
              </a:r>
              <a:endParaRPr sz="2600">
                <a:solidFill>
                  <a:srgbClr val="2C2C2A"/>
                </a:solidFill>
                <a:latin typeface="Instrument Serif"/>
                <a:ea typeface="Instrument Serif"/>
                <a:cs typeface="Instrument Serif"/>
                <a:sym typeface="Instrument Serif"/>
              </a:endParaRPr>
            </a:p>
            <a:p>
              <a:pPr indent="0" lvl="0" marL="0" rtl="0" algn="l">
                <a:spcBef>
                  <a:spcPts val="900"/>
                </a:spcBef>
                <a:spcAft>
                  <a:spcPts val="0"/>
                </a:spcAft>
                <a:buNone/>
              </a:pPr>
              <a:r>
                <a:rPr lang="en-GB" sz="1100">
                  <a:solidFill>
                    <a:srgbClr val="5F5E5A"/>
                  </a:solidFill>
                  <a:latin typeface="Lora"/>
                  <a:ea typeface="Lora"/>
                  <a:cs typeface="Lora"/>
                  <a:sym typeface="Lora"/>
                </a:rPr>
                <a:t>Understanding how kits may evolve, where an author becomes substitutable</a:t>
              </a:r>
              <a:endParaRPr sz="1100">
                <a:solidFill>
                  <a:srgbClr val="5F5E5A"/>
                </a:solidFill>
                <a:latin typeface="Lora"/>
                <a:ea typeface="Lora"/>
                <a:cs typeface="Lora"/>
                <a:sym typeface="Lora"/>
              </a:endParaRPr>
            </a:p>
          </p:txBody>
        </p:sp>
      </p:grpSp>
      <p:grpSp>
        <p:nvGrpSpPr>
          <p:cNvPr id="68" name="Google Shape;68;p4"/>
          <p:cNvGrpSpPr/>
          <p:nvPr/>
        </p:nvGrpSpPr>
        <p:grpSpPr>
          <a:xfrm>
            <a:off x="6187440" y="1809750"/>
            <a:ext cx="2499300" cy="2476500"/>
            <a:chOff x="0" y="0"/>
            <a:chExt cx="2499300" cy="2476500"/>
          </a:xfrm>
        </p:grpSpPr>
        <p:sp>
          <p:nvSpPr>
            <p:cNvPr id="69" name="Google Shape;69;p4"/>
            <p:cNvSpPr/>
            <p:nvPr/>
          </p:nvSpPr>
          <p:spPr>
            <a:xfrm>
              <a:off x="0" y="0"/>
              <a:ext cx="2499300" cy="2476500"/>
            </a:xfrm>
            <a:prstGeom prst="roundRect">
              <a:avLst>
                <a:gd fmla="val 3076" name="adj"/>
              </a:avLst>
            </a:prstGeom>
            <a:solidFill>
              <a:srgbClr val="F0EDE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0" name="Google Shape;70;p4"/>
            <p:cNvSpPr txBox="1"/>
            <p:nvPr/>
          </p:nvSpPr>
          <p:spPr>
            <a:xfrm>
              <a:off x="190500" y="190500"/>
              <a:ext cx="2118300" cy="2095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1100">
                  <a:solidFill>
                    <a:srgbClr val="0064FF"/>
                  </a:solidFill>
                  <a:latin typeface="Outfit SemiBold"/>
                  <a:ea typeface="Outfit SemiBold"/>
                  <a:cs typeface="Outfit SemiBold"/>
                  <a:sym typeface="Outfit SemiBold"/>
                </a:rPr>
                <a:t>Tue 15:30 UTC</a:t>
              </a:r>
              <a:endParaRPr b="0" sz="1100">
                <a:solidFill>
                  <a:srgbClr val="0064FF"/>
                </a:solidFill>
                <a:latin typeface="Outfit SemiBold"/>
                <a:ea typeface="Outfit SemiBold"/>
                <a:cs typeface="Outfit SemiBold"/>
                <a:sym typeface="Outfit SemiBold"/>
              </a:endParaRPr>
            </a:p>
            <a:p>
              <a:pPr indent="0" lvl="0" marL="0" rtl="0" algn="l">
                <a:spcBef>
                  <a:spcPts val="600"/>
                </a:spcBef>
                <a:spcAft>
                  <a:spcPts val="0"/>
                </a:spcAft>
                <a:buNone/>
              </a:pPr>
              <a:r>
                <a:rPr lang="en-GB" sz="2600">
                  <a:solidFill>
                    <a:srgbClr val="2C2C2A"/>
                  </a:solidFill>
                  <a:latin typeface="Instrument Serif"/>
                  <a:ea typeface="Instrument Serif"/>
                  <a:cs typeface="Instrument Serif"/>
                  <a:sym typeface="Instrument Serif"/>
                </a:rPr>
                <a:t>Bridges</a:t>
              </a:r>
              <a:endParaRPr sz="2600">
                <a:solidFill>
                  <a:srgbClr val="2C2C2A"/>
                </a:solidFill>
                <a:latin typeface="Instrument Serif"/>
                <a:ea typeface="Instrument Serif"/>
                <a:cs typeface="Instrument Serif"/>
                <a:sym typeface="Instrument Serif"/>
              </a:endParaRPr>
            </a:p>
            <a:p>
              <a:pPr indent="0" lvl="0" marL="0" rtl="0" algn="l">
                <a:spcBef>
                  <a:spcPts val="900"/>
                </a:spcBef>
                <a:spcAft>
                  <a:spcPts val="0"/>
                </a:spcAft>
                <a:buNone/>
              </a:pPr>
              <a:r>
                <a:rPr lang="en-GB" sz="1100">
                  <a:solidFill>
                    <a:srgbClr val="5F5E5A"/>
                  </a:solidFill>
                  <a:latin typeface="Lora"/>
                  <a:ea typeface="Lora"/>
                  <a:cs typeface="Lora"/>
                  <a:sym typeface="Lora"/>
                </a:rPr>
                <a:t>Connecting multiple kits and factories into a multi-layered process</a:t>
              </a:r>
              <a:endParaRPr sz="1100">
                <a:solidFill>
                  <a:srgbClr val="5F5E5A"/>
                </a:solidFill>
                <a:latin typeface="Lora"/>
                <a:ea typeface="Lora"/>
                <a:cs typeface="Lora"/>
                <a:sym typeface="Lora"/>
              </a:endParaRPr>
            </a:p>
          </p:txBody>
        </p:sp>
      </p:grpSp>
      <p:grpSp>
        <p:nvGrpSpPr>
          <p:cNvPr id="71" name="Google Shape;71;p4"/>
          <p:cNvGrpSpPr/>
          <p:nvPr/>
        </p:nvGrpSpPr>
        <p:grpSpPr>
          <a:xfrm>
            <a:off x="8869680" y="1809750"/>
            <a:ext cx="2499300" cy="2476500"/>
            <a:chOff x="0" y="0"/>
            <a:chExt cx="2499300" cy="2476500"/>
          </a:xfrm>
        </p:grpSpPr>
        <p:sp>
          <p:nvSpPr>
            <p:cNvPr id="72" name="Google Shape;72;p4"/>
            <p:cNvSpPr/>
            <p:nvPr/>
          </p:nvSpPr>
          <p:spPr>
            <a:xfrm>
              <a:off x="0" y="0"/>
              <a:ext cx="2499300" cy="2476500"/>
            </a:xfrm>
            <a:prstGeom prst="roundRect">
              <a:avLst>
                <a:gd fmla="val 3076" name="adj"/>
              </a:avLst>
            </a:prstGeom>
            <a:solidFill>
              <a:srgbClr val="F0EDE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3" name="Google Shape;73;p4"/>
            <p:cNvSpPr txBox="1"/>
            <p:nvPr/>
          </p:nvSpPr>
          <p:spPr>
            <a:xfrm>
              <a:off x="190500" y="190500"/>
              <a:ext cx="2118300" cy="2095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1100">
                  <a:solidFill>
                    <a:srgbClr val="0064FF"/>
                  </a:solidFill>
                  <a:latin typeface="Outfit SemiBold"/>
                  <a:ea typeface="Outfit SemiBold"/>
                  <a:cs typeface="Outfit SemiBold"/>
                  <a:sym typeface="Outfit SemiBold"/>
                </a:rPr>
                <a:t>Tue 20:00 UTC</a:t>
              </a:r>
              <a:endParaRPr b="0" sz="1100">
                <a:solidFill>
                  <a:srgbClr val="0064FF"/>
                </a:solidFill>
                <a:latin typeface="Outfit SemiBold"/>
                <a:ea typeface="Outfit SemiBold"/>
                <a:cs typeface="Outfit SemiBold"/>
                <a:sym typeface="Outfit SemiBold"/>
              </a:endParaRPr>
            </a:p>
            <a:p>
              <a:pPr indent="0" lvl="0" marL="0" rtl="0" algn="l">
                <a:spcBef>
                  <a:spcPts val="600"/>
                </a:spcBef>
                <a:spcAft>
                  <a:spcPts val="0"/>
                </a:spcAft>
                <a:buNone/>
              </a:pPr>
              <a:r>
                <a:rPr lang="en-GB" sz="2600">
                  <a:solidFill>
                    <a:srgbClr val="2C2C2A"/>
                  </a:solidFill>
                  <a:latin typeface="Instrument Serif"/>
                  <a:ea typeface="Instrument Serif"/>
                  <a:cs typeface="Instrument Serif"/>
                  <a:sym typeface="Instrument Serif"/>
                </a:rPr>
                <a:t>Show and tell</a:t>
              </a:r>
              <a:endParaRPr sz="2600">
                <a:solidFill>
                  <a:srgbClr val="2C2C2A"/>
                </a:solidFill>
                <a:latin typeface="Instrument Serif"/>
                <a:ea typeface="Instrument Serif"/>
                <a:cs typeface="Instrument Serif"/>
                <a:sym typeface="Instrument Serif"/>
              </a:endParaRPr>
            </a:p>
            <a:p>
              <a:pPr indent="0" lvl="0" marL="0" rtl="0" algn="l">
                <a:spcBef>
                  <a:spcPts val="900"/>
                </a:spcBef>
                <a:spcAft>
                  <a:spcPts val="0"/>
                </a:spcAft>
                <a:buNone/>
              </a:pPr>
              <a:r>
                <a:rPr lang="en-GB" sz="1100">
                  <a:solidFill>
                    <a:srgbClr val="5F5E5A"/>
                  </a:solidFill>
                  <a:latin typeface="Lora"/>
                  <a:ea typeface="Lora"/>
                  <a:cs typeface="Lora"/>
                  <a:sym typeface="Lora"/>
                </a:rPr>
                <a:t>Presenting what we’ve explored throughout the workshop</a:t>
              </a:r>
              <a:endParaRPr sz="1100">
                <a:solidFill>
                  <a:srgbClr val="5F5E5A"/>
                </a:solidFill>
                <a:latin typeface="Lora"/>
                <a:ea typeface="Lora"/>
                <a:cs typeface="Lora"/>
                <a:sym typeface="Lora"/>
              </a:endParaRPr>
            </a:p>
          </p:txBody>
        </p:sp>
      </p:grpSp>
      <p:grpSp>
        <p:nvGrpSpPr>
          <p:cNvPr id="74" name="Google Shape;74;p4"/>
          <p:cNvGrpSpPr/>
          <p:nvPr/>
        </p:nvGrpSpPr>
        <p:grpSpPr>
          <a:xfrm>
            <a:off x="822960" y="4524375"/>
            <a:ext cx="10546200" cy="1143000"/>
            <a:chOff x="0" y="0"/>
            <a:chExt cx="10546200" cy="1143000"/>
          </a:xfrm>
        </p:grpSpPr>
        <p:sp>
          <p:nvSpPr>
            <p:cNvPr id="75" name="Google Shape;75;p4"/>
            <p:cNvSpPr/>
            <p:nvPr/>
          </p:nvSpPr>
          <p:spPr>
            <a:xfrm>
              <a:off x="0" y="0"/>
              <a:ext cx="10546200" cy="1143000"/>
            </a:xfrm>
            <a:prstGeom prst="roundRect">
              <a:avLst>
                <a:gd fmla="val 6666" name="adj"/>
              </a:avLst>
            </a:prstGeom>
            <a:solidFill>
              <a:srgbClr val="E1F5E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6" name="Google Shape;76;p4"/>
            <p:cNvSpPr txBox="1"/>
            <p:nvPr/>
          </p:nvSpPr>
          <p:spPr>
            <a:xfrm>
              <a:off x="228600" y="190500"/>
              <a:ext cx="100890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1100">
                  <a:solidFill>
                    <a:srgbClr val="085041"/>
                  </a:solidFill>
                  <a:latin typeface="Outfit SemiBold"/>
                  <a:ea typeface="Outfit SemiBold"/>
                  <a:cs typeface="Outfit SemiBold"/>
                  <a:sym typeface="Outfit SemiBold"/>
                </a:rPr>
                <a:t>PARTICIPATION GUIDANCE</a:t>
              </a:r>
              <a:endParaRPr b="0" sz="1100">
                <a:solidFill>
                  <a:srgbClr val="085041"/>
                </a:solidFill>
                <a:latin typeface="Outfit SemiBold"/>
                <a:ea typeface="Outfit SemiBold"/>
                <a:cs typeface="Outfit SemiBold"/>
                <a:sym typeface="Outfit SemiBold"/>
              </a:endParaRPr>
            </a:p>
            <a:p>
              <a:pPr indent="0" lvl="0" marL="0" rtl="0" algn="l">
                <a:spcBef>
                  <a:spcPts val="450"/>
                </a:spcBef>
                <a:spcAft>
                  <a:spcPts val="0"/>
                </a:spcAft>
                <a:buNone/>
              </a:pPr>
              <a:r>
                <a:rPr lang="en-GB" sz="1300">
                  <a:solidFill>
                    <a:srgbClr val="085041"/>
                  </a:solidFill>
                  <a:latin typeface="Lora"/>
                  <a:ea typeface="Lora"/>
                  <a:cs typeface="Lora"/>
                  <a:sym typeface="Lora"/>
                </a:rPr>
                <a:t>Save everything (public) in the workshop repo — </a:t>
              </a:r>
              <a:r>
                <a:rPr b="0" lang="en-GB" sz="1300">
                  <a:solidFill>
                    <a:srgbClr val="085041"/>
                  </a:solidFill>
                  <a:latin typeface="Lora SemiBold"/>
                  <a:ea typeface="Lora SemiBold"/>
                  <a:cs typeface="Lora SemiBold"/>
                  <a:sym typeface="Lora SemiBold"/>
                </a:rPr>
                <a:t>github.com/protocolvision/workshop-kitkraft</a:t>
              </a:r>
              <a:endParaRPr sz="1300">
                <a:solidFill>
                  <a:srgbClr val="085041"/>
                </a:solidFill>
                <a:latin typeface="Lora"/>
                <a:ea typeface="Lora"/>
                <a:cs typeface="Lora"/>
                <a:sym typeface="Lora"/>
              </a:endParaRPr>
            </a:p>
          </p:txBody>
        </p:sp>
      </p:grpSp>
      <p:sp>
        <p:nvSpPr>
          <p:cNvPr id="77" name="Google Shape;77;p4"/>
          <p:cNvSpPr txBox="1"/>
          <p:nvPr>
            <p:ph idx="1" type="body"/>
          </p:nvPr>
        </p:nvSpPr>
        <p:spPr>
          <a:xfrm>
            <a:off x="822960" y="457200"/>
            <a:ext cx="9144000" cy="320100"/>
          </a:xfrm>
          <a:prstGeom prst="rect">
            <a:avLst/>
          </a:prstGeom>
          <a:noFill/>
          <a:ln>
            <a:noFill/>
          </a:ln>
        </p:spPr>
        <p:txBody>
          <a:bodyPr anchorCtr="0" anchor="t" bIns="0" lIns="0" spcFirstLastPara="1" rIns="0" wrap="square" tIns="0">
            <a:noAutofit/>
          </a:bodyPr>
          <a:lstStyle/>
          <a:p>
            <a:pPr indent="0" lvl="0" marL="0" rtl="0" algn="l">
              <a:lnSpc>
                <a:spcPct val="118000"/>
              </a:lnSpc>
              <a:spcBef>
                <a:spcPts val="0"/>
              </a:spcBef>
              <a:spcAft>
                <a:spcPts val="0"/>
              </a:spcAft>
              <a:buClr>
                <a:srgbClr val="0064FF"/>
              </a:buClr>
              <a:buSzPts val="1200"/>
              <a:buFont typeface="Outfit"/>
              <a:buNone/>
            </a:pPr>
            <a:r>
              <a:rPr lang="en-GB"/>
              <a:t>WORKSHOP  · OVERVIEW</a:t>
            </a:r>
            <a:endParaRPr/>
          </a:p>
        </p:txBody>
      </p:sp>
      <p:sp>
        <p:nvSpPr>
          <p:cNvPr id="78" name="Google Shape;78;p4"/>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g3fbabb9058b_0_3384"/>
          <p:cNvSpPr txBox="1"/>
          <p:nvPr>
            <p:ph idx="1" type="body"/>
          </p:nvPr>
        </p:nvSpPr>
        <p:spPr>
          <a:xfrm>
            <a:off x="822960" y="457200"/>
            <a:ext cx="9144000" cy="320100"/>
          </a:xfrm>
          <a:prstGeom prst="rect">
            <a:avLst/>
          </a:prstGeom>
          <a:noFill/>
          <a:ln>
            <a:noFill/>
          </a:ln>
        </p:spPr>
        <p:txBody>
          <a:bodyPr anchorCtr="0" anchor="t" bIns="0" lIns="0" spcFirstLastPara="1" rIns="0" wrap="square" tIns="0">
            <a:noAutofit/>
          </a:bodyPr>
          <a:lstStyle/>
          <a:p>
            <a:pPr indent="0" lvl="0" marL="0" rtl="0" algn="l">
              <a:lnSpc>
                <a:spcPct val="118000"/>
              </a:lnSpc>
              <a:spcBef>
                <a:spcPts val="0"/>
              </a:spcBef>
              <a:spcAft>
                <a:spcPts val="0"/>
              </a:spcAft>
              <a:buClr>
                <a:srgbClr val="0064FF"/>
              </a:buClr>
              <a:buSzPts val="1200"/>
              <a:buFont typeface="Outfit"/>
              <a:buNone/>
            </a:pPr>
            <a:r>
              <a:rPr lang="en-GB"/>
              <a:t>WORKSHOP  · OVERVIEW</a:t>
            </a:r>
            <a:endParaRPr/>
          </a:p>
        </p:txBody>
      </p:sp>
      <p:sp>
        <p:nvSpPr>
          <p:cNvPr id="84" name="Google Shape;84;g3fbabb9058b_0_3384"/>
          <p:cNvSpPr txBox="1"/>
          <p:nvPr>
            <p:ph type="title"/>
          </p:nvPr>
        </p:nvSpPr>
        <p:spPr>
          <a:xfrm>
            <a:off x="822960" y="914400"/>
            <a:ext cx="9692700" cy="1371600"/>
          </a:xfrm>
          <a:prstGeom prst="rect">
            <a:avLst/>
          </a:prstGeom>
          <a:noFill/>
          <a:ln>
            <a:noFill/>
          </a:ln>
        </p:spPr>
        <p:txBody>
          <a:bodyPr anchorCtr="0" anchor="t" bIns="0" lIns="0" spcFirstLastPara="1" rIns="0" wrap="square" tIns="0">
            <a:noAutofit/>
          </a:bodyPr>
          <a:lstStyle/>
          <a:p>
            <a:pPr indent="0" lvl="0" marL="0" rtl="0" algn="l">
              <a:lnSpc>
                <a:spcPct val="96000"/>
              </a:lnSpc>
              <a:spcBef>
                <a:spcPts val="0"/>
              </a:spcBef>
              <a:spcAft>
                <a:spcPts val="0"/>
              </a:spcAft>
              <a:buClr>
                <a:srgbClr val="2C2C2A"/>
              </a:buClr>
              <a:buSzPts val="2800"/>
              <a:buFont typeface="Instrument Serif"/>
              <a:buNone/>
            </a:pPr>
            <a:r>
              <a:rPr lang="en-GB"/>
              <a:t>This workshop is a bit different than others…</a:t>
            </a:r>
            <a:endParaRPr/>
          </a:p>
        </p:txBody>
      </p:sp>
      <p:pic>
        <p:nvPicPr>
          <p:cNvPr descr="remove the green-blue background" id="85" name="Google Shape;85;g3fbabb9058b_0_3384"/>
          <p:cNvPicPr preferRelativeResize="0"/>
          <p:nvPr/>
        </p:nvPicPr>
        <p:blipFill>
          <a:blip r:embed="rId3">
            <a:alphaModFix/>
          </a:blip>
          <a:stretch>
            <a:fillRect/>
          </a:stretch>
        </p:blipFill>
        <p:spPr>
          <a:xfrm>
            <a:off x="3034446" y="1936312"/>
            <a:ext cx="6123100" cy="4018275"/>
          </a:xfrm>
          <a:prstGeom prst="rect">
            <a:avLst/>
          </a:prstGeom>
          <a:noFill/>
          <a:ln>
            <a:noFill/>
          </a:ln>
        </p:spPr>
      </p:pic>
      <p:sp>
        <p:nvSpPr>
          <p:cNvPr id="86" name="Google Shape;86;g3fbabb9058b_0_3384"/>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5"/>
          <p:cNvSpPr txBox="1"/>
          <p:nvPr>
            <p:ph type="title"/>
          </p:nvPr>
        </p:nvSpPr>
        <p:spPr>
          <a:xfrm>
            <a:off x="822960" y="914400"/>
            <a:ext cx="9692700" cy="1371600"/>
          </a:xfrm>
          <a:prstGeom prst="rect">
            <a:avLst/>
          </a:prstGeom>
          <a:noFill/>
          <a:ln>
            <a:noFill/>
          </a:ln>
        </p:spPr>
        <p:txBody>
          <a:bodyPr anchorCtr="0" anchor="t" bIns="0" lIns="0" spcFirstLastPara="1" rIns="0" wrap="square" tIns="0">
            <a:noAutofit/>
          </a:bodyPr>
          <a:lstStyle/>
          <a:p>
            <a:pPr indent="0" lvl="0" marL="0" rtl="0" algn="l">
              <a:lnSpc>
                <a:spcPct val="96000"/>
              </a:lnSpc>
              <a:spcBef>
                <a:spcPts val="0"/>
              </a:spcBef>
              <a:spcAft>
                <a:spcPts val="0"/>
              </a:spcAft>
              <a:buClr>
                <a:srgbClr val="2C2C2A"/>
              </a:buClr>
              <a:buSzPts val="2800"/>
              <a:buFont typeface="Instrument Serif"/>
              <a:buNone/>
            </a:pPr>
            <a:r>
              <a:rPr lang="en-GB"/>
              <a:t>Before we start... testing 1,2,3...</a:t>
            </a:r>
            <a:endParaRPr/>
          </a:p>
        </p:txBody>
      </p:sp>
      <p:grpSp>
        <p:nvGrpSpPr>
          <p:cNvPr id="92" name="Google Shape;92;p5"/>
          <p:cNvGrpSpPr/>
          <p:nvPr/>
        </p:nvGrpSpPr>
        <p:grpSpPr>
          <a:xfrm>
            <a:off x="822960" y="1905000"/>
            <a:ext cx="5048400" cy="4191000"/>
            <a:chOff x="0" y="0"/>
            <a:chExt cx="5048400" cy="4191000"/>
          </a:xfrm>
        </p:grpSpPr>
        <p:sp>
          <p:nvSpPr>
            <p:cNvPr id="93" name="Google Shape;93;p5"/>
            <p:cNvSpPr/>
            <p:nvPr/>
          </p:nvSpPr>
          <p:spPr>
            <a:xfrm>
              <a:off x="0" y="0"/>
              <a:ext cx="5048400" cy="4191000"/>
            </a:xfrm>
            <a:prstGeom prst="roundRect">
              <a:avLst>
                <a:gd fmla="val 1818" name="adj"/>
              </a:avLst>
            </a:prstGeom>
            <a:solidFill>
              <a:srgbClr val="F0EDE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4" name="Google Shape;94;p5"/>
            <p:cNvSpPr txBox="1"/>
            <p:nvPr/>
          </p:nvSpPr>
          <p:spPr>
            <a:xfrm>
              <a:off x="266700" y="266700"/>
              <a:ext cx="4515000" cy="3657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1100">
                  <a:solidFill>
                    <a:srgbClr val="0064FF"/>
                  </a:solidFill>
                  <a:latin typeface="Outfit SemiBold"/>
                  <a:ea typeface="Outfit SemiBold"/>
                  <a:cs typeface="Outfit SemiBold"/>
                  <a:sym typeface="Outfit SemiBold"/>
                </a:rPr>
                <a:t>RECORDING DETAILS</a:t>
              </a:r>
              <a:endParaRPr b="0" sz="1100">
                <a:solidFill>
                  <a:srgbClr val="0064FF"/>
                </a:solidFill>
                <a:latin typeface="Outfit SemiBold"/>
                <a:ea typeface="Outfit SemiBold"/>
                <a:cs typeface="Outfit SemiBold"/>
                <a:sym typeface="Outfit SemiBold"/>
              </a:endParaRPr>
            </a:p>
            <a:p>
              <a:pPr indent="0" lvl="0" marL="0" rtl="0" algn="l">
                <a:spcBef>
                  <a:spcPts val="600"/>
                </a:spcBef>
                <a:spcAft>
                  <a:spcPts val="0"/>
                </a:spcAft>
                <a:buNone/>
              </a:pPr>
              <a:r>
                <a:rPr lang="en-GB" sz="2400">
                  <a:solidFill>
                    <a:srgbClr val="2C2C2A"/>
                  </a:solidFill>
                  <a:latin typeface="Instrument Serif"/>
                  <a:ea typeface="Instrument Serif"/>
                  <a:cs typeface="Instrument Serif"/>
                  <a:sym typeface="Instrument Serif"/>
                </a:rPr>
                <a:t>What is recorded</a:t>
              </a:r>
              <a:endParaRPr sz="2400">
                <a:solidFill>
                  <a:srgbClr val="2C2C2A"/>
                </a:solidFill>
                <a:latin typeface="Instrument Serif"/>
                <a:ea typeface="Instrument Serif"/>
                <a:cs typeface="Instrument Serif"/>
                <a:sym typeface="Instrument Serif"/>
              </a:endParaRPr>
            </a:p>
            <a:p>
              <a:pPr indent="-304800" lvl="0" marL="457200" rtl="0" algn="l">
                <a:spcBef>
                  <a:spcPts val="1500"/>
                </a:spcBef>
                <a:spcAft>
                  <a:spcPts val="0"/>
                </a:spcAft>
                <a:buClr>
                  <a:srgbClr val="2C2C2A"/>
                </a:buClr>
                <a:buSzPts val="1200"/>
                <a:buFont typeface="Lora"/>
                <a:buChar char="●"/>
              </a:pPr>
              <a:r>
                <a:rPr b="0" lang="en-GB" sz="1200">
                  <a:solidFill>
                    <a:srgbClr val="2C2C2A"/>
                  </a:solidFill>
                  <a:latin typeface="Lora SemiBold"/>
                  <a:ea typeface="Lora SemiBold"/>
                  <a:cs typeface="Lora SemiBold"/>
                  <a:sym typeface="Lora SemiBold"/>
                </a:rPr>
                <a:t>Voice &amp; Text:</a:t>
              </a:r>
              <a:r>
                <a:rPr lang="en-GB" sz="1200">
                  <a:solidFill>
                    <a:srgbClr val="2C2C2A"/>
                  </a:solidFill>
                  <a:latin typeface="Lora"/>
                  <a:ea typeface="Lora"/>
                  <a:cs typeface="Lora"/>
                  <a:sym typeface="Lora"/>
                </a:rPr>
                <a:t> Voice in #kafka and text in #workshop-kitkraft, transcribed with names</a:t>
              </a:r>
              <a:endParaRPr sz="1200">
                <a:solidFill>
                  <a:srgbClr val="2C2C2A"/>
                </a:solidFill>
                <a:latin typeface="Lora"/>
                <a:ea typeface="Lora"/>
                <a:cs typeface="Lora"/>
                <a:sym typeface="Lora"/>
              </a:endParaRPr>
            </a:p>
            <a:p>
              <a:pPr indent="-304800" lvl="0" marL="457200" rtl="0" algn="l">
                <a:spcBef>
                  <a:spcPts val="1050"/>
                </a:spcBef>
                <a:spcAft>
                  <a:spcPts val="0"/>
                </a:spcAft>
                <a:buClr>
                  <a:srgbClr val="2C2C2A"/>
                </a:buClr>
                <a:buSzPts val="1200"/>
                <a:buFont typeface="Lora"/>
                <a:buChar char="●"/>
              </a:pPr>
              <a:r>
                <a:rPr b="0" lang="en-GB" sz="1200">
                  <a:solidFill>
                    <a:srgbClr val="2C2C2A"/>
                  </a:solidFill>
                  <a:latin typeface="Lora SemiBold"/>
                  <a:ea typeface="Lora SemiBold"/>
                  <a:cs typeface="Lora SemiBold"/>
                  <a:sym typeface="Lora SemiBold"/>
                </a:rPr>
                <a:t>Public Repo:</a:t>
              </a:r>
              <a:r>
                <a:rPr lang="en-GB" sz="1200">
                  <a:solidFill>
                    <a:srgbClr val="2C2C2A"/>
                  </a:solidFill>
                  <a:latin typeface="Lora"/>
                  <a:ea typeface="Lora"/>
                  <a:cs typeface="Lora"/>
                  <a:sym typeface="Lora"/>
                </a:rPr>
                <a:t> Transcripts go directly into the public repository</a:t>
              </a:r>
              <a:endParaRPr sz="1200">
                <a:solidFill>
                  <a:srgbClr val="2C2C2A"/>
                </a:solidFill>
                <a:latin typeface="Lora"/>
                <a:ea typeface="Lora"/>
                <a:cs typeface="Lora"/>
                <a:sym typeface="Lora"/>
              </a:endParaRPr>
            </a:p>
            <a:p>
              <a:pPr indent="-304800" lvl="0" marL="457200" rtl="0" algn="l">
                <a:spcBef>
                  <a:spcPts val="1050"/>
                </a:spcBef>
                <a:spcAft>
                  <a:spcPts val="1050"/>
                </a:spcAft>
                <a:buClr>
                  <a:srgbClr val="2C2C2A"/>
                </a:buClr>
                <a:buSzPts val="1200"/>
                <a:buFont typeface="Lora"/>
                <a:buChar char="●"/>
              </a:pPr>
              <a:r>
                <a:rPr b="0" lang="en-GB" sz="1200">
                  <a:solidFill>
                    <a:srgbClr val="2C2C2A"/>
                  </a:solidFill>
                  <a:latin typeface="Lora SemiBold"/>
                  <a:ea typeface="Lora SemiBold"/>
                  <a:cs typeface="Lora SemiBold"/>
                  <a:sym typeface="Lora SemiBold"/>
                </a:rPr>
                <a:t>Breakout Rooms:</a:t>
              </a:r>
              <a:r>
                <a:rPr lang="en-GB" sz="1200">
                  <a:solidFill>
                    <a:srgbClr val="2C2C2A"/>
                  </a:solidFill>
                  <a:latin typeface="Lora"/>
                  <a:ea typeface="Lora"/>
                  <a:cs typeface="Lora"/>
                  <a:sym typeface="Lora"/>
                </a:rPr>
                <a:t> May be recorded during sessions</a:t>
              </a:r>
              <a:endParaRPr sz="1200">
                <a:solidFill>
                  <a:srgbClr val="2C2C2A"/>
                </a:solidFill>
                <a:latin typeface="Lora"/>
                <a:ea typeface="Lora"/>
                <a:cs typeface="Lora"/>
                <a:sym typeface="Lora"/>
              </a:endParaRPr>
            </a:p>
          </p:txBody>
        </p:sp>
      </p:grpSp>
      <p:grpSp>
        <p:nvGrpSpPr>
          <p:cNvPr id="95" name="Google Shape;95;p5"/>
          <p:cNvGrpSpPr/>
          <p:nvPr/>
        </p:nvGrpSpPr>
        <p:grpSpPr>
          <a:xfrm>
            <a:off x="6130290" y="1905000"/>
            <a:ext cx="5238900" cy="4191000"/>
            <a:chOff x="0" y="0"/>
            <a:chExt cx="5238900" cy="4191000"/>
          </a:xfrm>
        </p:grpSpPr>
        <p:sp>
          <p:nvSpPr>
            <p:cNvPr id="96" name="Google Shape;96;p5"/>
            <p:cNvSpPr/>
            <p:nvPr/>
          </p:nvSpPr>
          <p:spPr>
            <a:xfrm>
              <a:off x="0" y="0"/>
              <a:ext cx="5238900" cy="4191000"/>
            </a:xfrm>
            <a:prstGeom prst="roundRect">
              <a:avLst>
                <a:gd fmla="val 1818" name="adj"/>
              </a:avLst>
            </a:prstGeom>
            <a:solidFill>
              <a:srgbClr val="E1F5E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7" name="Google Shape;97;p5"/>
            <p:cNvSpPr txBox="1"/>
            <p:nvPr/>
          </p:nvSpPr>
          <p:spPr>
            <a:xfrm>
              <a:off x="266700" y="266700"/>
              <a:ext cx="4705200" cy="3657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100">
                  <a:solidFill>
                    <a:srgbClr val="085041"/>
                  </a:solidFill>
                  <a:latin typeface="Outfit SemiBold"/>
                  <a:ea typeface="Outfit SemiBold"/>
                  <a:cs typeface="Outfit SemiBold"/>
                  <a:sym typeface="Outfit SemiBold"/>
                </a:rPr>
                <a:t>NEED MORE </a:t>
              </a:r>
              <a:r>
                <a:rPr b="0" lang="en-GB" sz="1100">
                  <a:solidFill>
                    <a:srgbClr val="085041"/>
                  </a:solidFill>
                  <a:latin typeface="Outfit SemiBold"/>
                  <a:ea typeface="Outfit SemiBold"/>
                  <a:cs typeface="Outfit SemiBold"/>
                  <a:sym typeface="Outfit SemiBold"/>
                </a:rPr>
                <a:t>PRIVACY?</a:t>
              </a:r>
              <a:endParaRPr b="0" sz="1100">
                <a:solidFill>
                  <a:srgbClr val="085041"/>
                </a:solidFill>
                <a:latin typeface="Outfit SemiBold"/>
                <a:ea typeface="Outfit SemiBold"/>
                <a:cs typeface="Outfit SemiBold"/>
                <a:sym typeface="Outfit SemiBold"/>
              </a:endParaRPr>
            </a:p>
            <a:p>
              <a:pPr indent="0" lvl="0" marL="0" rtl="0" algn="l">
                <a:spcBef>
                  <a:spcPts val="600"/>
                </a:spcBef>
                <a:spcAft>
                  <a:spcPts val="0"/>
                </a:spcAft>
                <a:buNone/>
              </a:pPr>
              <a:r>
                <a:rPr lang="en-GB" sz="2400">
                  <a:solidFill>
                    <a:srgbClr val="085041"/>
                  </a:solidFill>
                  <a:latin typeface="Instrument Serif"/>
                  <a:ea typeface="Instrument Serif"/>
                  <a:cs typeface="Instrument Serif"/>
                  <a:sym typeface="Instrument Serif"/>
                </a:rPr>
                <a:t>Additional </a:t>
              </a:r>
              <a:r>
                <a:rPr lang="en-GB" sz="2400">
                  <a:solidFill>
                    <a:srgbClr val="085041"/>
                  </a:solidFill>
                  <a:latin typeface="Instrument Serif"/>
                  <a:ea typeface="Instrument Serif"/>
                  <a:cs typeface="Instrument Serif"/>
                  <a:sym typeface="Instrument Serif"/>
                </a:rPr>
                <a:t>Guidelines</a:t>
              </a:r>
              <a:endParaRPr sz="2400">
                <a:solidFill>
                  <a:srgbClr val="085041"/>
                </a:solidFill>
                <a:latin typeface="Instrument Serif"/>
                <a:ea typeface="Instrument Serif"/>
                <a:cs typeface="Instrument Serif"/>
                <a:sym typeface="Instrument Serif"/>
              </a:endParaRPr>
            </a:p>
            <a:p>
              <a:pPr indent="-304800" lvl="0" marL="457200" rtl="0" algn="l">
                <a:spcBef>
                  <a:spcPts val="1500"/>
                </a:spcBef>
                <a:spcAft>
                  <a:spcPts val="0"/>
                </a:spcAft>
                <a:buClr>
                  <a:srgbClr val="085041"/>
                </a:buClr>
                <a:buSzPts val="1200"/>
                <a:buFont typeface="Lora"/>
                <a:buChar char="●"/>
              </a:pPr>
              <a:r>
                <a:rPr lang="en-GB" sz="1200">
                  <a:solidFill>
                    <a:srgbClr val="085041"/>
                  </a:solidFill>
                  <a:latin typeface="Lora SemiBold"/>
                  <a:ea typeface="Lora SemiBold"/>
                  <a:cs typeface="Lora SemiBold"/>
                  <a:sym typeface="Lora SemiBold"/>
                </a:rPr>
                <a:t>Removing Content</a:t>
              </a:r>
              <a:r>
                <a:rPr b="0" lang="en-GB" sz="1200">
                  <a:solidFill>
                    <a:srgbClr val="085041"/>
                  </a:solidFill>
                  <a:latin typeface="Lora SemiBold"/>
                  <a:ea typeface="Lora SemiBold"/>
                  <a:cs typeface="Lora SemiBold"/>
                  <a:sym typeface="Lora SemiBold"/>
                </a:rPr>
                <a:t>:</a:t>
              </a:r>
              <a:r>
                <a:rPr lang="en-GB" sz="1200">
                  <a:solidFill>
                    <a:srgbClr val="085041"/>
                  </a:solidFill>
                  <a:latin typeface="Lora"/>
                  <a:ea typeface="Lora"/>
                  <a:cs typeface="Lora"/>
                  <a:sym typeface="Lora"/>
                </a:rPr>
                <a:t> Ask either of us to remove any line — no reason needed, any time</a:t>
              </a:r>
              <a:endParaRPr sz="1200">
                <a:solidFill>
                  <a:srgbClr val="085041"/>
                </a:solidFill>
                <a:latin typeface="Lora"/>
                <a:ea typeface="Lora"/>
                <a:cs typeface="Lora"/>
                <a:sym typeface="Lora"/>
              </a:endParaRPr>
            </a:p>
            <a:p>
              <a:pPr indent="-304800" lvl="0" marL="457200" rtl="0" algn="l">
                <a:spcBef>
                  <a:spcPts val="900"/>
                </a:spcBef>
                <a:spcAft>
                  <a:spcPts val="0"/>
                </a:spcAft>
                <a:buClr>
                  <a:srgbClr val="085041"/>
                </a:buClr>
                <a:buSzPts val="1200"/>
                <a:buFont typeface="Lora"/>
                <a:buChar char="●"/>
              </a:pPr>
              <a:r>
                <a:rPr b="0" lang="en-GB" sz="1200">
                  <a:solidFill>
                    <a:srgbClr val="085041"/>
                  </a:solidFill>
                  <a:latin typeface="Lora SemiBold"/>
                  <a:ea typeface="Lora SemiBold"/>
                  <a:cs typeface="Lora SemiBold"/>
                  <a:sym typeface="Lora SemiBold"/>
                </a:rPr>
                <a:t>Opt-Out:</a:t>
              </a:r>
              <a:r>
                <a:rPr lang="en-GB" sz="1200">
                  <a:solidFill>
                    <a:srgbClr val="085041"/>
                  </a:solidFill>
                  <a:latin typeface="Lora"/>
                  <a:ea typeface="Lora"/>
                  <a:cs typeface="Lora"/>
                  <a:sym typeface="Lora"/>
                </a:rPr>
                <a:t> Say so now if you would rather be off the transcript</a:t>
              </a:r>
              <a:endParaRPr sz="1200">
                <a:solidFill>
                  <a:srgbClr val="085041"/>
                </a:solidFill>
                <a:latin typeface="Lora"/>
                <a:ea typeface="Lora"/>
                <a:cs typeface="Lora"/>
                <a:sym typeface="Lora"/>
              </a:endParaRPr>
            </a:p>
            <a:p>
              <a:pPr indent="-304800" lvl="0" marL="457200" rtl="0" algn="l">
                <a:spcBef>
                  <a:spcPts val="900"/>
                </a:spcBef>
                <a:spcAft>
                  <a:spcPts val="0"/>
                </a:spcAft>
                <a:buClr>
                  <a:srgbClr val="085041"/>
                </a:buClr>
                <a:buSzPts val="1200"/>
                <a:buFont typeface="Lora"/>
                <a:buChar char="●"/>
              </a:pPr>
              <a:r>
                <a:rPr b="0" lang="en-GB" sz="1200">
                  <a:solidFill>
                    <a:srgbClr val="085041"/>
                  </a:solidFill>
                  <a:latin typeface="Lora SemiBold"/>
                  <a:ea typeface="Lora SemiBold"/>
                  <a:cs typeface="Lora SemiBold"/>
                  <a:sym typeface="Lora SemiBold"/>
                </a:rPr>
                <a:t>Public Standard:</a:t>
              </a:r>
              <a:r>
                <a:rPr lang="en-GB" sz="1200">
                  <a:solidFill>
                    <a:srgbClr val="085041"/>
                  </a:solidFill>
                  <a:latin typeface="Lora"/>
                  <a:ea typeface="Lora"/>
                  <a:cs typeface="Lora"/>
                  <a:sym typeface="Lora"/>
                </a:rPr>
                <a:t> Don’t put anything in a public kit you would not put on a public website</a:t>
              </a:r>
              <a:endParaRPr sz="1200">
                <a:solidFill>
                  <a:srgbClr val="085041"/>
                </a:solidFill>
                <a:latin typeface="Lora"/>
                <a:ea typeface="Lora"/>
                <a:cs typeface="Lora"/>
                <a:sym typeface="Lora"/>
              </a:endParaRPr>
            </a:p>
            <a:p>
              <a:pPr indent="-304800" lvl="0" marL="457200" rtl="0" algn="l">
                <a:spcBef>
                  <a:spcPts val="900"/>
                </a:spcBef>
                <a:spcAft>
                  <a:spcPts val="900"/>
                </a:spcAft>
                <a:buClr>
                  <a:srgbClr val="085041"/>
                </a:buClr>
                <a:buSzPts val="1200"/>
                <a:buFont typeface="Lora"/>
                <a:buChar char="●"/>
              </a:pPr>
              <a:r>
                <a:rPr b="0" lang="en-GB" sz="1200">
                  <a:solidFill>
                    <a:srgbClr val="085041"/>
                  </a:solidFill>
                  <a:latin typeface="Lora SemiBold"/>
                  <a:ea typeface="Lora SemiBold"/>
                  <a:cs typeface="Lora SemiBold"/>
                  <a:sym typeface="Lora SemiBold"/>
                </a:rPr>
                <a:t>Local Storage:</a:t>
              </a:r>
              <a:r>
                <a:rPr lang="en-GB" sz="1200">
                  <a:solidFill>
                    <a:srgbClr val="085041"/>
                  </a:solidFill>
                  <a:latin typeface="Lora"/>
                  <a:ea typeface="Lora"/>
                  <a:cs typeface="Lora"/>
                  <a:sym typeface="Lora"/>
                </a:rPr>
                <a:t> Keep sensitive info in your local folder on your machine. The repo is public from the first commit.</a:t>
              </a:r>
              <a:endParaRPr sz="1200">
                <a:solidFill>
                  <a:srgbClr val="085041"/>
                </a:solidFill>
                <a:latin typeface="Lora"/>
                <a:ea typeface="Lora"/>
                <a:cs typeface="Lora"/>
                <a:sym typeface="Lora"/>
              </a:endParaRPr>
            </a:p>
          </p:txBody>
        </p:sp>
      </p:grpSp>
      <p:sp>
        <p:nvSpPr>
          <p:cNvPr id="98" name="Google Shape;98;p5"/>
          <p:cNvSpPr txBox="1"/>
          <p:nvPr>
            <p:ph idx="1" type="body"/>
          </p:nvPr>
        </p:nvSpPr>
        <p:spPr>
          <a:xfrm>
            <a:off x="822960" y="457200"/>
            <a:ext cx="9144000" cy="320100"/>
          </a:xfrm>
          <a:prstGeom prst="rect">
            <a:avLst/>
          </a:prstGeom>
          <a:noFill/>
          <a:ln>
            <a:noFill/>
          </a:ln>
        </p:spPr>
        <p:txBody>
          <a:bodyPr anchorCtr="0" anchor="t" bIns="0" lIns="0" spcFirstLastPara="1" rIns="0" wrap="square" tIns="0">
            <a:noAutofit/>
          </a:bodyPr>
          <a:lstStyle/>
          <a:p>
            <a:pPr indent="0" lvl="0" marL="0" rtl="0" algn="l">
              <a:lnSpc>
                <a:spcPct val="118000"/>
              </a:lnSpc>
              <a:spcBef>
                <a:spcPts val="0"/>
              </a:spcBef>
              <a:spcAft>
                <a:spcPts val="0"/>
              </a:spcAft>
              <a:buClr>
                <a:srgbClr val="0064FF"/>
              </a:buClr>
              <a:buSzPts val="1200"/>
              <a:buFont typeface="Outfit"/>
              <a:buNone/>
            </a:pPr>
            <a:r>
              <a:rPr lang="en-GB"/>
              <a:t>WORKSHOP  · OVERVIEW</a:t>
            </a:r>
            <a:endParaRPr/>
          </a:p>
        </p:txBody>
      </p:sp>
      <p:sp>
        <p:nvSpPr>
          <p:cNvPr id="99" name="Google Shape;99;p5"/>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6"/>
          <p:cNvSpPr txBox="1"/>
          <p:nvPr>
            <p:ph idx="1" type="body"/>
          </p:nvPr>
        </p:nvSpPr>
        <p:spPr>
          <a:xfrm>
            <a:off x="822960" y="457200"/>
            <a:ext cx="7315200" cy="320100"/>
          </a:xfrm>
          <a:prstGeom prst="rect">
            <a:avLst/>
          </a:prstGeom>
          <a:noFill/>
          <a:ln>
            <a:noFill/>
          </a:ln>
        </p:spPr>
        <p:txBody>
          <a:bodyPr anchorCtr="0" anchor="t" bIns="0" lIns="0" spcFirstLastPara="1" rIns="0" wrap="square" tIns="0">
            <a:noAutofit/>
          </a:bodyPr>
          <a:lstStyle/>
          <a:p>
            <a:pPr indent="0" lvl="0" marL="0" rtl="0" algn="l">
              <a:lnSpc>
                <a:spcPct val="118000"/>
              </a:lnSpc>
              <a:spcBef>
                <a:spcPts val="0"/>
              </a:spcBef>
              <a:spcAft>
                <a:spcPts val="0"/>
              </a:spcAft>
              <a:buClr>
                <a:srgbClr val="0064FF"/>
              </a:buClr>
              <a:buSzPts val="1200"/>
              <a:buFont typeface="Outfit"/>
              <a:buNone/>
            </a:pPr>
            <a:r>
              <a:rPr lang="en-GB"/>
              <a:t>ROUND ROBIN</a:t>
            </a:r>
            <a:endParaRPr/>
          </a:p>
        </p:txBody>
      </p:sp>
      <p:sp>
        <p:nvSpPr>
          <p:cNvPr id="105" name="Google Shape;105;p6"/>
          <p:cNvSpPr txBox="1"/>
          <p:nvPr>
            <p:ph type="title"/>
          </p:nvPr>
        </p:nvSpPr>
        <p:spPr>
          <a:xfrm>
            <a:off x="822960" y="914400"/>
            <a:ext cx="9692700" cy="1371600"/>
          </a:xfrm>
          <a:prstGeom prst="rect">
            <a:avLst/>
          </a:prstGeom>
          <a:noFill/>
          <a:ln>
            <a:noFill/>
          </a:ln>
        </p:spPr>
        <p:txBody>
          <a:bodyPr anchorCtr="0" anchor="t" bIns="0" lIns="0" spcFirstLastPara="1" rIns="0" wrap="square" tIns="0">
            <a:noAutofit/>
          </a:bodyPr>
          <a:lstStyle/>
          <a:p>
            <a:pPr indent="0" lvl="0" marL="0" rtl="0" algn="l">
              <a:lnSpc>
                <a:spcPct val="96000"/>
              </a:lnSpc>
              <a:spcBef>
                <a:spcPts val="0"/>
              </a:spcBef>
              <a:spcAft>
                <a:spcPts val="0"/>
              </a:spcAft>
              <a:buClr>
                <a:srgbClr val="2C2C2A"/>
              </a:buClr>
              <a:buSzPts val="2800"/>
              <a:buFont typeface="Instrument Serif"/>
              <a:buNone/>
            </a:pPr>
            <a:r>
              <a:rPr lang="en-GB"/>
              <a:t>Share your name, how you use AI, and one recent surprise</a:t>
            </a:r>
            <a:endParaRPr/>
          </a:p>
        </p:txBody>
      </p:sp>
      <p:grpSp>
        <p:nvGrpSpPr>
          <p:cNvPr id="106" name="Google Shape;106;p6"/>
          <p:cNvGrpSpPr/>
          <p:nvPr/>
        </p:nvGrpSpPr>
        <p:grpSpPr>
          <a:xfrm>
            <a:off x="822960" y="1905000"/>
            <a:ext cx="3333900" cy="4191000"/>
            <a:chOff x="0" y="0"/>
            <a:chExt cx="3333900" cy="4191000"/>
          </a:xfrm>
        </p:grpSpPr>
        <p:sp>
          <p:nvSpPr>
            <p:cNvPr id="107" name="Google Shape;107;p6"/>
            <p:cNvSpPr/>
            <p:nvPr/>
          </p:nvSpPr>
          <p:spPr>
            <a:xfrm>
              <a:off x="0" y="0"/>
              <a:ext cx="3333900" cy="4191000"/>
            </a:xfrm>
            <a:prstGeom prst="roundRect">
              <a:avLst>
                <a:gd fmla="val 2285" name="adj"/>
              </a:avLst>
            </a:prstGeom>
            <a:solidFill>
              <a:srgbClr val="E1F5E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8" name="Google Shape;108;p6"/>
            <p:cNvSpPr txBox="1"/>
            <p:nvPr/>
          </p:nvSpPr>
          <p:spPr>
            <a:xfrm>
              <a:off x="0" y="0"/>
              <a:ext cx="3333900" cy="4191000"/>
            </a:xfrm>
            <a:prstGeom prst="rect">
              <a:avLst/>
            </a:prstGeom>
            <a:noFill/>
            <a:ln>
              <a:noFill/>
            </a:ln>
          </p:spPr>
          <p:txBody>
            <a:bodyPr anchorCtr="0" anchor="t" bIns="266700" lIns="266700" spcFirstLastPara="1" rIns="266700" wrap="square" tIns="266700">
              <a:noAutofit/>
            </a:bodyPr>
            <a:lstStyle/>
            <a:p>
              <a:pPr indent="0" lvl="0" marL="0" rtl="0" algn="l">
                <a:spcBef>
                  <a:spcPts val="0"/>
                </a:spcBef>
                <a:spcAft>
                  <a:spcPts val="0"/>
                </a:spcAft>
                <a:buNone/>
              </a:pPr>
              <a:r>
                <a:rPr b="0" lang="en-GB" sz="1100">
                  <a:solidFill>
                    <a:srgbClr val="085041"/>
                  </a:solidFill>
                  <a:latin typeface="Outfit SemiBold"/>
                  <a:ea typeface="Outfit SemiBold"/>
                  <a:cs typeface="Outfit SemiBold"/>
                  <a:sym typeface="Outfit SemiBold"/>
                </a:rPr>
                <a:t>Step 01</a:t>
              </a:r>
              <a:endParaRPr b="0" sz="1100">
                <a:solidFill>
                  <a:srgbClr val="085041"/>
                </a:solidFill>
                <a:latin typeface="Outfit SemiBold"/>
                <a:ea typeface="Outfit SemiBold"/>
                <a:cs typeface="Outfit SemiBold"/>
                <a:sym typeface="Outfit SemiBold"/>
              </a:endParaRPr>
            </a:p>
            <a:p>
              <a:pPr indent="0" lvl="0" marL="0" rtl="0" algn="l">
                <a:spcBef>
                  <a:spcPts val="600"/>
                </a:spcBef>
                <a:spcAft>
                  <a:spcPts val="0"/>
                </a:spcAft>
                <a:buNone/>
              </a:pPr>
              <a:r>
                <a:rPr lang="en-GB" sz="2200">
                  <a:solidFill>
                    <a:srgbClr val="085041"/>
                  </a:solidFill>
                  <a:latin typeface="Instrument Serif"/>
                  <a:ea typeface="Instrument Serif"/>
                  <a:cs typeface="Instrument Serif"/>
                  <a:sym typeface="Instrument Serif"/>
                </a:rPr>
                <a:t>Introductions</a:t>
              </a:r>
              <a:endParaRPr sz="2200">
                <a:solidFill>
                  <a:srgbClr val="085041"/>
                </a:solidFill>
                <a:latin typeface="Instrument Serif"/>
                <a:ea typeface="Instrument Serif"/>
                <a:cs typeface="Instrument Serif"/>
                <a:sym typeface="Instrument Serif"/>
              </a:endParaRPr>
            </a:p>
            <a:p>
              <a:pPr indent="-298450" lvl="0" marL="457200" rtl="0" algn="l">
                <a:spcBef>
                  <a:spcPts val="1500"/>
                </a:spcBef>
                <a:spcAft>
                  <a:spcPts val="0"/>
                </a:spcAft>
                <a:buClr>
                  <a:srgbClr val="085041"/>
                </a:buClr>
                <a:buSzPts val="1100"/>
                <a:buFont typeface="Lora"/>
                <a:buChar char="●"/>
              </a:pPr>
              <a:r>
                <a:rPr b="0" lang="en-GB" sz="1100">
                  <a:solidFill>
                    <a:srgbClr val="085041"/>
                  </a:solidFill>
                  <a:latin typeface="Lora SemiBold"/>
                  <a:ea typeface="Lora SemiBold"/>
                  <a:cs typeface="Lora SemiBold"/>
                  <a:sym typeface="Lora SemiBold"/>
                </a:rPr>
                <a:t>Name &amp; Role:</a:t>
              </a:r>
              <a:r>
                <a:rPr lang="en-GB" sz="1100">
                  <a:solidFill>
                    <a:srgbClr val="085041"/>
                  </a:solidFill>
                  <a:latin typeface="Lora"/>
                  <a:ea typeface="Lora"/>
                  <a:cs typeface="Lora"/>
                  <a:sym typeface="Lora"/>
                </a:rPr>
                <a:t> Name, organisation, one line on what you do</a:t>
              </a:r>
              <a:endParaRPr sz="1100">
                <a:solidFill>
                  <a:srgbClr val="085041"/>
                </a:solidFill>
                <a:latin typeface="Lora"/>
                <a:ea typeface="Lora"/>
                <a:cs typeface="Lora"/>
                <a:sym typeface="Lora"/>
              </a:endParaRPr>
            </a:p>
            <a:p>
              <a:pPr indent="-298450" lvl="0" marL="457200" rtl="0" algn="l">
                <a:spcBef>
                  <a:spcPts val="1050"/>
                </a:spcBef>
                <a:spcAft>
                  <a:spcPts val="0"/>
                </a:spcAft>
                <a:buClr>
                  <a:srgbClr val="085041"/>
                </a:buClr>
                <a:buSzPts val="1100"/>
                <a:buFont typeface="Lora"/>
                <a:buChar char="●"/>
              </a:pPr>
              <a:r>
                <a:rPr b="0" lang="en-GB" sz="1100">
                  <a:solidFill>
                    <a:srgbClr val="085041"/>
                  </a:solidFill>
                  <a:latin typeface="Lora SemiBold"/>
                  <a:ea typeface="Lora SemiBold"/>
                  <a:cs typeface="Lora SemiBold"/>
                  <a:sym typeface="Lora SemiBold"/>
                </a:rPr>
                <a:t>AI Usage:</a:t>
              </a:r>
              <a:r>
                <a:rPr lang="en-GB" sz="1100">
                  <a:solidFill>
                    <a:srgbClr val="085041"/>
                  </a:solidFill>
                  <a:latin typeface="Lora"/>
                  <a:ea typeface="Lora"/>
                  <a:cs typeface="Lora"/>
                  <a:sym typeface="Lora"/>
                </a:rPr>
                <a:t> Share how you use AI (Style, Prompts, Topics, Tools, Products, Assistant, etc.)</a:t>
              </a:r>
              <a:endParaRPr sz="1100">
                <a:solidFill>
                  <a:srgbClr val="085041"/>
                </a:solidFill>
                <a:latin typeface="Lora"/>
                <a:ea typeface="Lora"/>
                <a:cs typeface="Lora"/>
                <a:sym typeface="Lora"/>
              </a:endParaRPr>
            </a:p>
            <a:p>
              <a:pPr indent="-298450" lvl="0" marL="457200" rtl="0" algn="l">
                <a:spcBef>
                  <a:spcPts val="1050"/>
                </a:spcBef>
                <a:spcAft>
                  <a:spcPts val="0"/>
                </a:spcAft>
                <a:buClr>
                  <a:srgbClr val="085041"/>
                </a:buClr>
                <a:buSzPts val="1100"/>
                <a:buFont typeface="Lora"/>
                <a:buChar char="●"/>
              </a:pPr>
              <a:r>
                <a:rPr b="0" lang="en-GB" sz="1100">
                  <a:solidFill>
                    <a:srgbClr val="085041"/>
                  </a:solidFill>
                  <a:latin typeface="Lora SemiBold"/>
                  <a:ea typeface="Lora SemiBold"/>
                  <a:cs typeface="Lora SemiBold"/>
                  <a:sym typeface="Lora SemiBold"/>
                </a:rPr>
                <a:t>Surprise/Rule:</a:t>
              </a:r>
              <a:r>
                <a:rPr lang="en-GB" sz="1100">
                  <a:solidFill>
                    <a:srgbClr val="085041"/>
                  </a:solidFill>
                  <a:latin typeface="Lora"/>
                  <a:ea typeface="Lora"/>
                  <a:cs typeface="Lora"/>
                  <a:sym typeface="Lora"/>
                </a:rPr>
                <a:t> One recent surprise with AI, or one rule you personally follow</a:t>
              </a:r>
              <a:endParaRPr sz="1100">
                <a:solidFill>
                  <a:srgbClr val="085041"/>
                </a:solidFill>
                <a:latin typeface="Lora"/>
                <a:ea typeface="Lora"/>
                <a:cs typeface="Lora"/>
                <a:sym typeface="Lora"/>
              </a:endParaRPr>
            </a:p>
          </p:txBody>
        </p:sp>
      </p:grpSp>
      <p:grpSp>
        <p:nvGrpSpPr>
          <p:cNvPr id="109" name="Google Shape;109;p6"/>
          <p:cNvGrpSpPr/>
          <p:nvPr/>
        </p:nvGrpSpPr>
        <p:grpSpPr>
          <a:xfrm>
            <a:off x="4429125" y="1905000"/>
            <a:ext cx="3333900" cy="4191000"/>
            <a:chOff x="0" y="0"/>
            <a:chExt cx="3333900" cy="4191000"/>
          </a:xfrm>
        </p:grpSpPr>
        <p:sp>
          <p:nvSpPr>
            <p:cNvPr id="110" name="Google Shape;110;p6"/>
            <p:cNvSpPr/>
            <p:nvPr/>
          </p:nvSpPr>
          <p:spPr>
            <a:xfrm>
              <a:off x="0" y="0"/>
              <a:ext cx="3333900" cy="4191000"/>
            </a:xfrm>
            <a:prstGeom prst="roundRect">
              <a:avLst>
                <a:gd fmla="val 2285" name="adj"/>
              </a:avLst>
            </a:prstGeom>
            <a:solidFill>
              <a:srgbClr val="F0EDE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1" name="Google Shape;111;p6"/>
            <p:cNvSpPr txBox="1"/>
            <p:nvPr/>
          </p:nvSpPr>
          <p:spPr>
            <a:xfrm>
              <a:off x="0" y="0"/>
              <a:ext cx="3333900" cy="4191000"/>
            </a:xfrm>
            <a:prstGeom prst="rect">
              <a:avLst/>
            </a:prstGeom>
            <a:noFill/>
            <a:ln>
              <a:noFill/>
            </a:ln>
          </p:spPr>
          <p:txBody>
            <a:bodyPr anchorCtr="0" anchor="t" bIns="266700" lIns="266700" spcFirstLastPara="1" rIns="266700" wrap="square" tIns="266700">
              <a:noAutofit/>
            </a:bodyPr>
            <a:lstStyle/>
            <a:p>
              <a:pPr indent="0" lvl="0" marL="0" rtl="0" algn="l">
                <a:spcBef>
                  <a:spcPts val="0"/>
                </a:spcBef>
                <a:spcAft>
                  <a:spcPts val="0"/>
                </a:spcAft>
                <a:buNone/>
              </a:pPr>
              <a:r>
                <a:rPr b="0" lang="en-GB" sz="1100">
                  <a:solidFill>
                    <a:srgbClr val="0064FF"/>
                  </a:solidFill>
                  <a:latin typeface="Outfit SemiBold"/>
                  <a:ea typeface="Outfit SemiBold"/>
                  <a:cs typeface="Outfit SemiBold"/>
                  <a:sym typeface="Outfit SemiBold"/>
                </a:rPr>
                <a:t>Step 02</a:t>
              </a:r>
              <a:endParaRPr b="0" sz="1100">
                <a:solidFill>
                  <a:srgbClr val="0064FF"/>
                </a:solidFill>
                <a:latin typeface="Outfit SemiBold"/>
                <a:ea typeface="Outfit SemiBold"/>
                <a:cs typeface="Outfit SemiBold"/>
                <a:sym typeface="Outfit SemiBold"/>
              </a:endParaRPr>
            </a:p>
            <a:p>
              <a:pPr indent="0" lvl="0" marL="0" rtl="0" algn="l">
                <a:spcBef>
                  <a:spcPts val="600"/>
                </a:spcBef>
                <a:spcAft>
                  <a:spcPts val="0"/>
                </a:spcAft>
                <a:buNone/>
              </a:pPr>
              <a:r>
                <a:rPr lang="en-GB" sz="2200">
                  <a:solidFill>
                    <a:srgbClr val="2C2C2A"/>
                  </a:solidFill>
                  <a:latin typeface="Instrument Serif"/>
                  <a:ea typeface="Instrument Serif"/>
                  <a:cs typeface="Instrument Serif"/>
                  <a:sym typeface="Instrument Serif"/>
                </a:rPr>
                <a:t>While You Listen</a:t>
              </a:r>
              <a:endParaRPr sz="2200">
                <a:solidFill>
                  <a:srgbClr val="2C2C2A"/>
                </a:solidFill>
                <a:latin typeface="Instrument Serif"/>
                <a:ea typeface="Instrument Serif"/>
                <a:cs typeface="Instrument Serif"/>
                <a:sym typeface="Instrument Serif"/>
              </a:endParaRPr>
            </a:p>
            <a:p>
              <a:pPr indent="-298450" lvl="0" marL="457200" rtl="0" algn="l">
                <a:spcBef>
                  <a:spcPts val="1500"/>
                </a:spcBef>
                <a:spcAft>
                  <a:spcPts val="0"/>
                </a:spcAft>
                <a:buClr>
                  <a:srgbClr val="2C2C2A"/>
                </a:buClr>
                <a:buSzPts val="1100"/>
                <a:buFont typeface="Lora"/>
                <a:buChar char="●"/>
              </a:pPr>
              <a:r>
                <a:rPr lang="en-GB" sz="1100">
                  <a:solidFill>
                    <a:srgbClr val="2C2C2A"/>
                  </a:solidFill>
                  <a:latin typeface="Lora"/>
                  <a:ea typeface="Lora"/>
                  <a:cs typeface="Lora"/>
                  <a:sym typeface="Lora"/>
                </a:rPr>
                <a:t>Notice how differently people have adapted roughly the same underlying technology</a:t>
              </a:r>
              <a:endParaRPr sz="1100">
                <a:solidFill>
                  <a:srgbClr val="2C2C2A"/>
                </a:solidFill>
                <a:latin typeface="Lora"/>
                <a:ea typeface="Lora"/>
                <a:cs typeface="Lora"/>
                <a:sym typeface="Lora"/>
              </a:endParaRPr>
            </a:p>
            <a:p>
              <a:pPr indent="-298450" lvl="0" marL="457200" rtl="0" algn="l">
                <a:spcBef>
                  <a:spcPts val="1050"/>
                </a:spcBef>
                <a:spcAft>
                  <a:spcPts val="0"/>
                </a:spcAft>
                <a:buClr>
                  <a:schemeClr val="dk1"/>
                </a:buClr>
                <a:buSzPts val="1100"/>
                <a:buFont typeface="Lora"/>
                <a:buChar char="●"/>
              </a:pPr>
              <a:r>
                <a:rPr lang="en-GB" sz="1100">
                  <a:solidFill>
                    <a:schemeClr val="dk1"/>
                  </a:solidFill>
                  <a:latin typeface="Lora"/>
                  <a:ea typeface="Lora"/>
                  <a:cs typeface="Lora"/>
                  <a:sym typeface="Lora"/>
                </a:rPr>
                <a:t>Notice how people use the technology in the same ways, or very differently as yourself</a:t>
              </a:r>
              <a:endParaRPr sz="1100">
                <a:solidFill>
                  <a:srgbClr val="2C2C2A"/>
                </a:solidFill>
                <a:latin typeface="Lora"/>
                <a:ea typeface="Lora"/>
                <a:cs typeface="Lora"/>
                <a:sym typeface="Lora"/>
              </a:endParaRPr>
            </a:p>
            <a:p>
              <a:pPr indent="0" lvl="0" marL="457200" rtl="0" algn="l">
                <a:spcBef>
                  <a:spcPts val="0"/>
                </a:spcBef>
                <a:spcAft>
                  <a:spcPts val="0"/>
                </a:spcAft>
                <a:buNone/>
              </a:pPr>
              <a:r>
                <a:t/>
              </a:r>
              <a:endParaRPr sz="1100">
                <a:solidFill>
                  <a:srgbClr val="2C2C2A"/>
                </a:solidFill>
                <a:latin typeface="Lora"/>
                <a:ea typeface="Lora"/>
                <a:cs typeface="Lora"/>
                <a:sym typeface="Lora"/>
              </a:endParaRPr>
            </a:p>
            <a:p>
              <a:pPr indent="-298450" lvl="0" marL="457200" rtl="0" algn="l">
                <a:spcBef>
                  <a:spcPts val="0"/>
                </a:spcBef>
                <a:spcAft>
                  <a:spcPts val="0"/>
                </a:spcAft>
                <a:buClr>
                  <a:schemeClr val="dk1"/>
                </a:buClr>
                <a:buSzPts val="1100"/>
                <a:buFont typeface="Lora"/>
                <a:buChar char="●"/>
              </a:pPr>
              <a:r>
                <a:rPr lang="en-GB" sz="1100">
                  <a:solidFill>
                    <a:srgbClr val="2C2C2A"/>
                  </a:solidFill>
                  <a:latin typeface="Lora"/>
                  <a:ea typeface="Lora"/>
                  <a:cs typeface="Lora"/>
                  <a:sym typeface="Lora"/>
                </a:rPr>
                <a:t>A surprise is useful because it tells us where our expectations and the technology haven’t settled yet</a:t>
              </a:r>
              <a:endParaRPr sz="1100">
                <a:solidFill>
                  <a:srgbClr val="2C2C2A"/>
                </a:solidFill>
                <a:latin typeface="Lora"/>
                <a:ea typeface="Lora"/>
                <a:cs typeface="Lora"/>
                <a:sym typeface="Lora"/>
              </a:endParaRPr>
            </a:p>
          </p:txBody>
        </p:sp>
      </p:grpSp>
      <p:grpSp>
        <p:nvGrpSpPr>
          <p:cNvPr id="112" name="Google Shape;112;p6"/>
          <p:cNvGrpSpPr/>
          <p:nvPr/>
        </p:nvGrpSpPr>
        <p:grpSpPr>
          <a:xfrm>
            <a:off x="8035290" y="1905000"/>
            <a:ext cx="3333900" cy="4191000"/>
            <a:chOff x="0" y="0"/>
            <a:chExt cx="3333900" cy="4191000"/>
          </a:xfrm>
        </p:grpSpPr>
        <p:sp>
          <p:nvSpPr>
            <p:cNvPr id="113" name="Google Shape;113;p6"/>
            <p:cNvSpPr/>
            <p:nvPr/>
          </p:nvSpPr>
          <p:spPr>
            <a:xfrm>
              <a:off x="0" y="0"/>
              <a:ext cx="3333900" cy="4191000"/>
            </a:xfrm>
            <a:prstGeom prst="roundRect">
              <a:avLst>
                <a:gd fmla="val 2285" name="adj"/>
              </a:avLst>
            </a:prstGeom>
            <a:solidFill>
              <a:srgbClr val="F0EDE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4" name="Google Shape;114;p6"/>
            <p:cNvSpPr txBox="1"/>
            <p:nvPr/>
          </p:nvSpPr>
          <p:spPr>
            <a:xfrm>
              <a:off x="0" y="0"/>
              <a:ext cx="3333900" cy="4191000"/>
            </a:xfrm>
            <a:prstGeom prst="rect">
              <a:avLst/>
            </a:prstGeom>
            <a:noFill/>
            <a:ln>
              <a:noFill/>
            </a:ln>
          </p:spPr>
          <p:txBody>
            <a:bodyPr anchorCtr="0" anchor="t" bIns="266700" lIns="266700" spcFirstLastPara="1" rIns="266700" wrap="square" tIns="266700">
              <a:noAutofit/>
            </a:bodyPr>
            <a:lstStyle/>
            <a:p>
              <a:pPr indent="0" lvl="0" marL="0" rtl="0" algn="l">
                <a:spcBef>
                  <a:spcPts val="0"/>
                </a:spcBef>
                <a:spcAft>
                  <a:spcPts val="0"/>
                </a:spcAft>
                <a:buNone/>
              </a:pPr>
              <a:r>
                <a:rPr b="0" lang="en-GB" sz="1100">
                  <a:solidFill>
                    <a:srgbClr val="0064FF"/>
                  </a:solidFill>
                  <a:latin typeface="Outfit SemiBold"/>
                  <a:ea typeface="Outfit SemiBold"/>
                  <a:cs typeface="Outfit SemiBold"/>
                  <a:sym typeface="Outfit SemiBold"/>
                </a:rPr>
                <a:t>Step 03</a:t>
              </a:r>
              <a:endParaRPr b="0" sz="1100">
                <a:solidFill>
                  <a:srgbClr val="0064FF"/>
                </a:solidFill>
                <a:latin typeface="Outfit SemiBold"/>
                <a:ea typeface="Outfit SemiBold"/>
                <a:cs typeface="Outfit SemiBold"/>
                <a:sym typeface="Outfit SemiBold"/>
              </a:endParaRPr>
            </a:p>
            <a:p>
              <a:pPr indent="0" lvl="0" marL="0" rtl="0" algn="l">
                <a:spcBef>
                  <a:spcPts val="600"/>
                </a:spcBef>
                <a:spcAft>
                  <a:spcPts val="0"/>
                </a:spcAft>
                <a:buNone/>
              </a:pPr>
              <a:r>
                <a:rPr lang="en-GB" sz="2200">
                  <a:solidFill>
                    <a:srgbClr val="2C2C2A"/>
                  </a:solidFill>
                  <a:latin typeface="Instrument Serif"/>
                  <a:ea typeface="Instrument Serif"/>
                  <a:cs typeface="Instrument Serif"/>
                  <a:sym typeface="Instrument Serif"/>
                </a:rPr>
                <a:t>Take Away</a:t>
              </a:r>
              <a:endParaRPr sz="2200">
                <a:solidFill>
                  <a:srgbClr val="2C2C2A"/>
                </a:solidFill>
                <a:latin typeface="Instrument Serif"/>
                <a:ea typeface="Instrument Serif"/>
                <a:cs typeface="Instrument Serif"/>
                <a:sym typeface="Instrument Serif"/>
              </a:endParaRPr>
            </a:p>
            <a:p>
              <a:pPr indent="-298450" lvl="0" marL="457200" rtl="0" algn="l">
                <a:spcBef>
                  <a:spcPts val="1500"/>
                </a:spcBef>
                <a:spcAft>
                  <a:spcPts val="0"/>
                </a:spcAft>
                <a:buClr>
                  <a:srgbClr val="2C2C2A"/>
                </a:buClr>
                <a:buSzPts val="1100"/>
                <a:buFont typeface="Lora"/>
                <a:buChar char="●"/>
              </a:pPr>
              <a:r>
                <a:rPr lang="en-GB" sz="1100">
                  <a:solidFill>
                    <a:srgbClr val="2C2C2A"/>
                  </a:solidFill>
                  <a:latin typeface="Lora"/>
                  <a:ea typeface="Lora"/>
                  <a:cs typeface="Lora"/>
                  <a:sym typeface="Lora"/>
                </a:rPr>
                <a:t>How do people use AI similar to you?</a:t>
              </a:r>
              <a:endParaRPr sz="1100">
                <a:solidFill>
                  <a:srgbClr val="2C2C2A"/>
                </a:solidFill>
                <a:latin typeface="Lora"/>
                <a:ea typeface="Lora"/>
                <a:cs typeface="Lora"/>
                <a:sym typeface="Lora"/>
              </a:endParaRPr>
            </a:p>
            <a:p>
              <a:pPr indent="-298450" lvl="0" marL="457200" rtl="0" algn="l">
                <a:spcBef>
                  <a:spcPts val="1050"/>
                </a:spcBef>
                <a:spcAft>
                  <a:spcPts val="0"/>
                </a:spcAft>
                <a:buClr>
                  <a:srgbClr val="2C2C2A"/>
                </a:buClr>
                <a:buSzPts val="1100"/>
                <a:buFont typeface="Lora"/>
                <a:buChar char="●"/>
              </a:pPr>
              <a:r>
                <a:rPr lang="en-GB" sz="1100">
                  <a:solidFill>
                    <a:srgbClr val="2C2C2A"/>
                  </a:solidFill>
                  <a:latin typeface="Lora"/>
                  <a:ea typeface="Lora"/>
                  <a:cs typeface="Lora"/>
                  <a:sym typeface="Lora"/>
                </a:rPr>
                <a:t>How do they use it differently?</a:t>
              </a:r>
              <a:endParaRPr sz="1100">
                <a:solidFill>
                  <a:srgbClr val="2C2C2A"/>
                </a:solidFill>
                <a:latin typeface="Lora"/>
                <a:ea typeface="Lora"/>
                <a:cs typeface="Lora"/>
                <a:sym typeface="Lora"/>
              </a:endParaRPr>
            </a:p>
          </p:txBody>
        </p:sp>
      </p:grpSp>
      <p:sp>
        <p:nvSpPr>
          <p:cNvPr id="115" name="Google Shape;115;p6"/>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pic>
        <p:nvPicPr>
          <p:cNvPr id="120" name="Google Shape;120;p3"/>
          <p:cNvPicPr preferRelativeResize="0"/>
          <p:nvPr/>
        </p:nvPicPr>
        <p:blipFill rotWithShape="1">
          <a:blip r:embed="rId3">
            <a:alphaModFix/>
          </a:blip>
          <a:srcRect b="21943" l="0" r="0" t="21808"/>
          <a:stretch/>
        </p:blipFill>
        <p:spPr>
          <a:xfrm>
            <a:off x="0" y="-10100"/>
            <a:ext cx="12192000" cy="6858000"/>
          </a:xfrm>
          <a:prstGeom prst="rect">
            <a:avLst/>
          </a:prstGeom>
          <a:noFill/>
          <a:ln>
            <a:noFill/>
          </a:ln>
        </p:spPr>
      </p:pic>
      <p:sp>
        <p:nvSpPr>
          <p:cNvPr id="121" name="Google Shape;121;p3"/>
          <p:cNvSpPr txBox="1"/>
          <p:nvPr>
            <p:ph idx="1" type="body"/>
          </p:nvPr>
        </p:nvSpPr>
        <p:spPr>
          <a:xfrm>
            <a:off x="822960" y="2103120"/>
            <a:ext cx="7315200" cy="457200"/>
          </a:xfrm>
          <a:prstGeom prst="rect">
            <a:avLst/>
          </a:prstGeom>
          <a:noFill/>
          <a:ln>
            <a:noFill/>
          </a:ln>
        </p:spPr>
        <p:txBody>
          <a:bodyPr anchorCtr="0" anchor="b" bIns="0" lIns="0" spcFirstLastPara="1" rIns="0" wrap="square" tIns="0">
            <a:noAutofit/>
          </a:bodyPr>
          <a:lstStyle/>
          <a:p>
            <a:pPr indent="0" lvl="0" marL="0" rtl="0" algn="l">
              <a:lnSpc>
                <a:spcPct val="118000"/>
              </a:lnSpc>
              <a:spcBef>
                <a:spcPts val="0"/>
              </a:spcBef>
              <a:spcAft>
                <a:spcPts val="0"/>
              </a:spcAft>
              <a:buClr>
                <a:srgbClr val="FFFFFF"/>
              </a:buClr>
              <a:buSzPts val="1200"/>
              <a:buFont typeface="Outfit"/>
              <a:buNone/>
            </a:pPr>
            <a:r>
              <a:rPr lang="en-GB"/>
              <a:t>SESSION 1</a:t>
            </a:r>
            <a:endParaRPr/>
          </a:p>
        </p:txBody>
      </p:sp>
      <p:sp>
        <p:nvSpPr>
          <p:cNvPr id="122" name="Google Shape;122;p3"/>
          <p:cNvSpPr txBox="1"/>
          <p:nvPr>
            <p:ph type="title"/>
          </p:nvPr>
        </p:nvSpPr>
        <p:spPr>
          <a:xfrm>
            <a:off x="822960" y="2697480"/>
            <a:ext cx="10332720" cy="1920240"/>
          </a:xfrm>
          <a:prstGeom prst="rect">
            <a:avLst/>
          </a:prstGeom>
          <a:noFill/>
          <a:ln>
            <a:noFill/>
          </a:ln>
        </p:spPr>
        <p:txBody>
          <a:bodyPr anchorCtr="0" anchor="t" bIns="0" lIns="0" spcFirstLastPara="1" rIns="0" wrap="square" tIns="0">
            <a:noAutofit/>
          </a:bodyPr>
          <a:lstStyle/>
          <a:p>
            <a:pPr indent="0" lvl="0" marL="0" rtl="0" algn="l">
              <a:lnSpc>
                <a:spcPct val="94000"/>
              </a:lnSpc>
              <a:spcBef>
                <a:spcPts val="0"/>
              </a:spcBef>
              <a:spcAft>
                <a:spcPts val="0"/>
              </a:spcAft>
              <a:buClr>
                <a:srgbClr val="FFFFFF"/>
              </a:buClr>
              <a:buSzPts val="5400"/>
              <a:buFont typeface="Instrument Serif"/>
              <a:buNone/>
            </a:pPr>
            <a:r>
              <a:rPr lang="en-GB"/>
              <a:t>Kits</a:t>
            </a:r>
            <a:endParaRPr/>
          </a:p>
        </p:txBody>
      </p:sp>
      <p:sp>
        <p:nvSpPr>
          <p:cNvPr id="123" name="Google Shape;123;p3"/>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pic>
        <p:nvPicPr>
          <p:cNvPr id="128" name="Google Shape;128;g3fbabb9058b_0_1438"/>
          <p:cNvPicPr preferRelativeResize="0"/>
          <p:nvPr/>
        </p:nvPicPr>
        <p:blipFill>
          <a:blip r:embed="rId3">
            <a:alphaModFix/>
          </a:blip>
          <a:stretch>
            <a:fillRect/>
          </a:stretch>
        </p:blipFill>
        <p:spPr>
          <a:xfrm>
            <a:off x="572573" y="0"/>
            <a:ext cx="11046840" cy="6858000"/>
          </a:xfrm>
          <a:prstGeom prst="rect">
            <a:avLst/>
          </a:prstGeom>
          <a:noFill/>
          <a:ln>
            <a:noFill/>
          </a:ln>
        </p:spPr>
      </p:pic>
      <p:sp>
        <p:nvSpPr>
          <p:cNvPr id="129" name="Google Shape;129;g3fbabb9058b_0_1438"/>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7"/>
          <p:cNvSpPr txBox="1"/>
          <p:nvPr>
            <p:ph idx="1" type="body"/>
          </p:nvPr>
        </p:nvSpPr>
        <p:spPr>
          <a:xfrm>
            <a:off x="822960" y="457200"/>
            <a:ext cx="9144000" cy="320100"/>
          </a:xfrm>
          <a:prstGeom prst="rect">
            <a:avLst/>
          </a:prstGeom>
          <a:noFill/>
          <a:ln>
            <a:noFill/>
          </a:ln>
        </p:spPr>
        <p:txBody>
          <a:bodyPr anchorCtr="0" anchor="t" bIns="0" lIns="0" spcFirstLastPara="1" rIns="0" wrap="square" tIns="0">
            <a:noAutofit/>
          </a:bodyPr>
          <a:lstStyle/>
          <a:p>
            <a:pPr indent="0" lvl="0" marL="0" rtl="0" algn="l">
              <a:lnSpc>
                <a:spcPct val="118000"/>
              </a:lnSpc>
              <a:spcBef>
                <a:spcPts val="0"/>
              </a:spcBef>
              <a:spcAft>
                <a:spcPts val="0"/>
              </a:spcAft>
              <a:buClr>
                <a:srgbClr val="0064FF"/>
              </a:buClr>
              <a:buSzPts val="1200"/>
              <a:buFont typeface="Outfit"/>
              <a:buNone/>
            </a:pPr>
            <a:r>
              <a:rPr lang="en-GB"/>
              <a:t>SESSION 1 · KITS · CONCEPTS</a:t>
            </a:r>
            <a:endParaRPr/>
          </a:p>
        </p:txBody>
      </p:sp>
      <p:sp>
        <p:nvSpPr>
          <p:cNvPr id="135" name="Google Shape;135;p7"/>
          <p:cNvSpPr txBox="1"/>
          <p:nvPr>
            <p:ph type="title"/>
          </p:nvPr>
        </p:nvSpPr>
        <p:spPr>
          <a:xfrm>
            <a:off x="822950" y="754906"/>
            <a:ext cx="9692700" cy="610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2800"/>
              <a:buFont typeface="Instrument Serif"/>
              <a:buNone/>
            </a:pPr>
            <a:r>
              <a:rPr lang="en-GB">
                <a:solidFill>
                  <a:schemeClr val="dk1"/>
                </a:solidFill>
              </a:rPr>
              <a:t>The kit-stage intuition: farmers adapted cars before anyone built a tractor.</a:t>
            </a:r>
            <a:endParaRPr/>
          </a:p>
        </p:txBody>
      </p:sp>
      <p:grpSp>
        <p:nvGrpSpPr>
          <p:cNvPr id="136" name="Google Shape;136;p7"/>
          <p:cNvGrpSpPr/>
          <p:nvPr/>
        </p:nvGrpSpPr>
        <p:grpSpPr>
          <a:xfrm>
            <a:off x="822950" y="1987463"/>
            <a:ext cx="3333900" cy="2471282"/>
            <a:chOff x="0" y="0"/>
            <a:chExt cx="3333900" cy="2952900"/>
          </a:xfrm>
        </p:grpSpPr>
        <p:sp>
          <p:nvSpPr>
            <p:cNvPr id="137" name="Google Shape;137;p7"/>
            <p:cNvSpPr/>
            <p:nvPr/>
          </p:nvSpPr>
          <p:spPr>
            <a:xfrm>
              <a:off x="0" y="0"/>
              <a:ext cx="3333900" cy="2952900"/>
            </a:xfrm>
            <a:prstGeom prst="roundRect">
              <a:avLst>
                <a:gd fmla="val 2580" name="adj"/>
              </a:avLst>
            </a:prstGeom>
            <a:solidFill>
              <a:srgbClr val="F0EDE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8" name="Google Shape;138;p7"/>
            <p:cNvSpPr txBox="1"/>
            <p:nvPr/>
          </p:nvSpPr>
          <p:spPr>
            <a:xfrm>
              <a:off x="0" y="0"/>
              <a:ext cx="3333900" cy="2952900"/>
            </a:xfrm>
            <a:prstGeom prst="rect">
              <a:avLst/>
            </a:prstGeom>
            <a:noFill/>
            <a:ln>
              <a:noFill/>
            </a:ln>
          </p:spPr>
          <p:txBody>
            <a:bodyPr anchorCtr="0" anchor="t" bIns="228600" lIns="228600" spcFirstLastPara="1" rIns="228600" wrap="square" tIns="228600">
              <a:noAutofit/>
            </a:bodyPr>
            <a:lstStyle/>
            <a:p>
              <a:pPr indent="0" lvl="0" marL="0" rtl="0" algn="l">
                <a:spcBef>
                  <a:spcPts val="0"/>
                </a:spcBef>
                <a:spcAft>
                  <a:spcPts val="0"/>
                </a:spcAft>
                <a:buNone/>
              </a:pPr>
              <a:r>
                <a:rPr b="0" lang="en-GB" sz="1100">
                  <a:solidFill>
                    <a:srgbClr val="0064FF"/>
                  </a:solidFill>
                  <a:latin typeface="Outfit SemiBold"/>
                  <a:ea typeface="Outfit SemiBold"/>
                  <a:cs typeface="Outfit SemiBold"/>
                  <a:sym typeface="Outfit SemiBold"/>
                </a:rPr>
                <a:t>1 · THE KIT</a:t>
              </a:r>
              <a:endParaRPr b="0" sz="1100">
                <a:solidFill>
                  <a:srgbClr val="0064FF"/>
                </a:solidFill>
                <a:latin typeface="Outfit SemiBold"/>
                <a:ea typeface="Outfit SemiBold"/>
                <a:cs typeface="Outfit SemiBold"/>
                <a:sym typeface="Outfit SemiBold"/>
              </a:endParaRPr>
            </a:p>
            <a:p>
              <a:pPr indent="0" lvl="0" marL="0" rtl="0" algn="l">
                <a:spcBef>
                  <a:spcPts val="600"/>
                </a:spcBef>
                <a:spcAft>
                  <a:spcPts val="0"/>
                </a:spcAft>
                <a:buNone/>
              </a:pPr>
              <a:r>
                <a:rPr b="0" lang="en-GB" sz="2200">
                  <a:solidFill>
                    <a:srgbClr val="2C2C2A"/>
                  </a:solidFill>
                  <a:latin typeface="Instrument Serif"/>
                  <a:ea typeface="Instrument Serif"/>
                  <a:cs typeface="Instrument Serif"/>
                  <a:sym typeface="Instrument Serif"/>
                </a:rPr>
                <a:t>Iowa, 1915</a:t>
              </a:r>
              <a:endParaRPr b="0" sz="2200">
                <a:solidFill>
                  <a:srgbClr val="2C2C2A"/>
                </a:solidFill>
                <a:latin typeface="Instrument Serif"/>
                <a:ea typeface="Instrument Serif"/>
                <a:cs typeface="Instrument Serif"/>
                <a:sym typeface="Instrument Serif"/>
              </a:endParaRPr>
            </a:p>
            <a:p>
              <a:pPr indent="0" lvl="0" marL="0" rtl="0" algn="l">
                <a:spcBef>
                  <a:spcPts val="1200"/>
                </a:spcBef>
                <a:spcAft>
                  <a:spcPts val="0"/>
                </a:spcAft>
                <a:buNone/>
              </a:pPr>
              <a:r>
                <a:rPr b="0" lang="en-GB" sz="1150">
                  <a:solidFill>
                    <a:srgbClr val="2C2C2A"/>
                  </a:solidFill>
                  <a:latin typeface="Lora"/>
                  <a:ea typeface="Lora"/>
                  <a:cs typeface="Lora"/>
                  <a:sym typeface="Lora"/>
                </a:rPr>
                <a:t>A farmer jacks up a Model T's rear wheel to run a corn sheller. He wants the corn shelled, not the car.</a:t>
              </a:r>
              <a:endParaRPr b="0" sz="1150">
                <a:solidFill>
                  <a:srgbClr val="2C2C2A"/>
                </a:solidFill>
                <a:latin typeface="Lora"/>
                <a:ea typeface="Lora"/>
                <a:cs typeface="Lora"/>
                <a:sym typeface="Lora"/>
              </a:endParaRPr>
            </a:p>
          </p:txBody>
        </p:sp>
      </p:grpSp>
      <p:grpSp>
        <p:nvGrpSpPr>
          <p:cNvPr id="139" name="Google Shape;139;p7"/>
          <p:cNvGrpSpPr/>
          <p:nvPr/>
        </p:nvGrpSpPr>
        <p:grpSpPr>
          <a:xfrm>
            <a:off x="4429122" y="1987463"/>
            <a:ext cx="3333900" cy="2471282"/>
            <a:chOff x="0" y="0"/>
            <a:chExt cx="3333900" cy="2952900"/>
          </a:xfrm>
        </p:grpSpPr>
        <p:sp>
          <p:nvSpPr>
            <p:cNvPr id="140" name="Google Shape;140;p7"/>
            <p:cNvSpPr/>
            <p:nvPr/>
          </p:nvSpPr>
          <p:spPr>
            <a:xfrm>
              <a:off x="0" y="0"/>
              <a:ext cx="3333900" cy="2952900"/>
            </a:xfrm>
            <a:prstGeom prst="roundRect">
              <a:avLst>
                <a:gd fmla="val 2580" name="adj"/>
              </a:avLst>
            </a:prstGeom>
            <a:solidFill>
              <a:srgbClr val="F0EDE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1" name="Google Shape;141;p7"/>
            <p:cNvSpPr txBox="1"/>
            <p:nvPr/>
          </p:nvSpPr>
          <p:spPr>
            <a:xfrm>
              <a:off x="0" y="0"/>
              <a:ext cx="3333900" cy="2952900"/>
            </a:xfrm>
            <a:prstGeom prst="rect">
              <a:avLst/>
            </a:prstGeom>
            <a:noFill/>
            <a:ln>
              <a:noFill/>
            </a:ln>
          </p:spPr>
          <p:txBody>
            <a:bodyPr anchorCtr="0" anchor="t" bIns="228600" lIns="228600" spcFirstLastPara="1" rIns="228600" wrap="square" tIns="228600">
              <a:noAutofit/>
            </a:bodyPr>
            <a:lstStyle/>
            <a:p>
              <a:pPr indent="0" lvl="0" marL="0" rtl="0" algn="l">
                <a:spcBef>
                  <a:spcPts val="0"/>
                </a:spcBef>
                <a:spcAft>
                  <a:spcPts val="0"/>
                </a:spcAft>
                <a:buNone/>
              </a:pPr>
              <a:r>
                <a:rPr b="0" lang="en-GB" sz="1100">
                  <a:solidFill>
                    <a:srgbClr val="0064FF"/>
                  </a:solidFill>
                  <a:latin typeface="Outfit SemiBold"/>
                  <a:ea typeface="Outfit SemiBold"/>
                  <a:cs typeface="Outfit SemiBold"/>
                  <a:sym typeface="Outfit SemiBold"/>
                </a:rPr>
                <a:t>2 · THE PATTERN</a:t>
              </a:r>
              <a:endParaRPr b="0" sz="1100">
                <a:solidFill>
                  <a:srgbClr val="0064FF"/>
                </a:solidFill>
                <a:latin typeface="Outfit SemiBold"/>
                <a:ea typeface="Outfit SemiBold"/>
                <a:cs typeface="Outfit SemiBold"/>
                <a:sym typeface="Outfit SemiBold"/>
              </a:endParaRPr>
            </a:p>
            <a:p>
              <a:pPr indent="0" lvl="0" marL="0" rtl="0" algn="l">
                <a:spcBef>
                  <a:spcPts val="600"/>
                </a:spcBef>
                <a:spcAft>
                  <a:spcPts val="0"/>
                </a:spcAft>
                <a:buNone/>
              </a:pPr>
              <a:r>
                <a:rPr b="0" lang="en-GB" sz="2200">
                  <a:solidFill>
                    <a:srgbClr val="2C2C2A"/>
                  </a:solidFill>
                  <a:latin typeface="Instrument Serif"/>
                  <a:ea typeface="Instrument Serif"/>
                  <a:cs typeface="Instrument Serif"/>
                  <a:sym typeface="Instrument Serif"/>
                </a:rPr>
                <a:t>No correct way</a:t>
              </a:r>
              <a:endParaRPr b="0" sz="2200">
                <a:solidFill>
                  <a:srgbClr val="2C2C2A"/>
                </a:solidFill>
                <a:latin typeface="Instrument Serif"/>
                <a:ea typeface="Instrument Serif"/>
                <a:cs typeface="Instrument Serif"/>
                <a:sym typeface="Instrument Serif"/>
              </a:endParaRPr>
            </a:p>
            <a:p>
              <a:pPr indent="0" lvl="0" marL="0" rtl="0" algn="l">
                <a:spcBef>
                  <a:spcPts val="1200"/>
                </a:spcBef>
                <a:spcAft>
                  <a:spcPts val="0"/>
                </a:spcAft>
                <a:buNone/>
              </a:pPr>
              <a:r>
                <a:rPr b="0" lang="en-GB" sz="1150">
                  <a:solidFill>
                    <a:srgbClr val="2C2C2A"/>
                  </a:solidFill>
                  <a:latin typeface="Lora"/>
                  <a:ea typeface="Lora"/>
                  <a:cs typeface="Lora"/>
                  <a:sym typeface="Lora"/>
                </a:rPr>
                <a:t>Boulton &amp; Watt sold engineering kits and instructions, not finished engines. Components meant to be tinkered with.</a:t>
              </a:r>
              <a:endParaRPr b="0" sz="1150">
                <a:solidFill>
                  <a:srgbClr val="2C2C2A"/>
                </a:solidFill>
                <a:latin typeface="Lora"/>
                <a:ea typeface="Lora"/>
                <a:cs typeface="Lora"/>
                <a:sym typeface="Lora"/>
              </a:endParaRPr>
            </a:p>
          </p:txBody>
        </p:sp>
      </p:grpSp>
      <p:grpSp>
        <p:nvGrpSpPr>
          <p:cNvPr id="142" name="Google Shape;142;p7"/>
          <p:cNvGrpSpPr/>
          <p:nvPr/>
        </p:nvGrpSpPr>
        <p:grpSpPr>
          <a:xfrm>
            <a:off x="8035294" y="1987463"/>
            <a:ext cx="3333900" cy="2471282"/>
            <a:chOff x="0" y="0"/>
            <a:chExt cx="3333900" cy="2952900"/>
          </a:xfrm>
        </p:grpSpPr>
        <p:sp>
          <p:nvSpPr>
            <p:cNvPr id="143" name="Google Shape;143;p7"/>
            <p:cNvSpPr/>
            <p:nvPr/>
          </p:nvSpPr>
          <p:spPr>
            <a:xfrm>
              <a:off x="0" y="0"/>
              <a:ext cx="3333900" cy="2952900"/>
            </a:xfrm>
            <a:prstGeom prst="roundRect">
              <a:avLst>
                <a:gd fmla="val 2580" name="adj"/>
              </a:avLst>
            </a:prstGeom>
            <a:solidFill>
              <a:srgbClr val="E1F5E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4" name="Google Shape;144;p7"/>
            <p:cNvSpPr txBox="1"/>
            <p:nvPr/>
          </p:nvSpPr>
          <p:spPr>
            <a:xfrm>
              <a:off x="0" y="0"/>
              <a:ext cx="3333900" cy="2952900"/>
            </a:xfrm>
            <a:prstGeom prst="rect">
              <a:avLst/>
            </a:prstGeom>
            <a:noFill/>
            <a:ln>
              <a:noFill/>
            </a:ln>
          </p:spPr>
          <p:txBody>
            <a:bodyPr anchorCtr="0" anchor="t" bIns="228600" lIns="228600" spcFirstLastPara="1" rIns="228600" wrap="square" tIns="228600">
              <a:noAutofit/>
            </a:bodyPr>
            <a:lstStyle/>
            <a:p>
              <a:pPr indent="0" lvl="0" marL="0" rtl="0" algn="l">
                <a:spcBef>
                  <a:spcPts val="0"/>
                </a:spcBef>
                <a:spcAft>
                  <a:spcPts val="0"/>
                </a:spcAft>
                <a:buNone/>
              </a:pPr>
              <a:r>
                <a:rPr b="0" lang="en-GB" sz="1100">
                  <a:solidFill>
                    <a:srgbClr val="085041"/>
                  </a:solidFill>
                  <a:latin typeface="Outfit SemiBold"/>
                  <a:ea typeface="Outfit SemiBold"/>
                  <a:cs typeface="Outfit SemiBold"/>
                  <a:sym typeface="Outfit SemiBold"/>
                </a:rPr>
                <a:t>3 · THE PRODUCT ARRIVES</a:t>
              </a:r>
              <a:endParaRPr b="0" sz="1100">
                <a:solidFill>
                  <a:srgbClr val="085041"/>
                </a:solidFill>
                <a:latin typeface="Outfit SemiBold"/>
                <a:ea typeface="Outfit SemiBold"/>
                <a:cs typeface="Outfit SemiBold"/>
                <a:sym typeface="Outfit SemiBold"/>
              </a:endParaRPr>
            </a:p>
            <a:p>
              <a:pPr indent="0" lvl="0" marL="0" rtl="0" algn="l">
                <a:spcBef>
                  <a:spcPts val="600"/>
                </a:spcBef>
                <a:spcAft>
                  <a:spcPts val="0"/>
                </a:spcAft>
                <a:buNone/>
              </a:pPr>
              <a:r>
                <a:rPr b="0" lang="en-GB" sz="2200">
                  <a:solidFill>
                    <a:srgbClr val="2C2C2A"/>
                  </a:solidFill>
                  <a:latin typeface="Instrument Serif"/>
                  <a:ea typeface="Instrument Serif"/>
                  <a:cs typeface="Instrument Serif"/>
                  <a:sym typeface="Instrument Serif"/>
                </a:rPr>
                <a:t>Then the tractor</a:t>
              </a:r>
              <a:endParaRPr b="0" sz="2200">
                <a:solidFill>
                  <a:srgbClr val="2C2C2A"/>
                </a:solidFill>
                <a:latin typeface="Instrument Serif"/>
                <a:ea typeface="Instrument Serif"/>
                <a:cs typeface="Instrument Serif"/>
                <a:sym typeface="Instrument Serif"/>
              </a:endParaRPr>
            </a:p>
            <a:p>
              <a:pPr indent="0" lvl="0" marL="0" rtl="0" algn="l">
                <a:spcBef>
                  <a:spcPts val="1200"/>
                </a:spcBef>
                <a:spcAft>
                  <a:spcPts val="0"/>
                </a:spcAft>
                <a:buNone/>
              </a:pPr>
              <a:r>
                <a:rPr b="0" lang="en-GB" sz="1150">
                  <a:solidFill>
                    <a:srgbClr val="2C2C2A"/>
                  </a:solidFill>
                  <a:latin typeface="Lora"/>
                  <a:ea typeface="Lora"/>
                  <a:cs typeface="Lora"/>
                  <a:sym typeface="Lora"/>
                </a:rPr>
                <a:t>Ford watched those uses and built the product. The kit stage never shows up in the statistics — and that is where AI is now.</a:t>
              </a:r>
              <a:endParaRPr b="0" sz="1150">
                <a:solidFill>
                  <a:srgbClr val="2C2C2A"/>
                </a:solidFill>
                <a:latin typeface="Lora"/>
                <a:ea typeface="Lora"/>
                <a:cs typeface="Lora"/>
                <a:sym typeface="Lora"/>
              </a:endParaRPr>
            </a:p>
          </p:txBody>
        </p:sp>
      </p:grpSp>
      <p:grpSp>
        <p:nvGrpSpPr>
          <p:cNvPr id="145" name="Google Shape;145;p7"/>
          <p:cNvGrpSpPr/>
          <p:nvPr/>
        </p:nvGrpSpPr>
        <p:grpSpPr>
          <a:xfrm>
            <a:off x="822960" y="4876800"/>
            <a:ext cx="10546200" cy="1295400"/>
            <a:chOff x="0" y="0"/>
            <a:chExt cx="10546200" cy="1295400"/>
          </a:xfrm>
        </p:grpSpPr>
        <p:sp>
          <p:nvSpPr>
            <p:cNvPr id="146" name="Google Shape;146;p7"/>
            <p:cNvSpPr/>
            <p:nvPr/>
          </p:nvSpPr>
          <p:spPr>
            <a:xfrm>
              <a:off x="0" y="0"/>
              <a:ext cx="10546200" cy="1295400"/>
            </a:xfrm>
            <a:prstGeom prst="roundRect">
              <a:avLst>
                <a:gd fmla="val 5882" name="adj"/>
              </a:avLst>
            </a:prstGeom>
            <a:solidFill>
              <a:srgbClr val="F0EDE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7" name="Google Shape;147;p7"/>
            <p:cNvSpPr txBox="1"/>
            <p:nvPr/>
          </p:nvSpPr>
          <p:spPr>
            <a:xfrm>
              <a:off x="0" y="0"/>
              <a:ext cx="10546200" cy="1295400"/>
            </a:xfrm>
            <a:prstGeom prst="rect">
              <a:avLst/>
            </a:prstGeom>
            <a:noFill/>
            <a:ln>
              <a:noFill/>
            </a:ln>
          </p:spPr>
          <p:txBody>
            <a:bodyPr anchorCtr="0" anchor="ctr" bIns="190500" lIns="266700" spcFirstLastPara="1" rIns="266700" wrap="square" tIns="190500">
              <a:noAutofit/>
            </a:bodyPr>
            <a:lstStyle/>
            <a:p>
              <a:pPr indent="0" lvl="0" marL="0" rtl="0" algn="l">
                <a:spcBef>
                  <a:spcPts val="0"/>
                </a:spcBef>
                <a:spcAft>
                  <a:spcPts val="0"/>
                </a:spcAft>
                <a:buNone/>
              </a:pPr>
              <a:r>
                <a:rPr b="0" lang="en-GB" sz="1100">
                  <a:solidFill>
                    <a:srgbClr val="0064FF"/>
                  </a:solidFill>
                  <a:latin typeface="Outfit SemiBold"/>
                  <a:ea typeface="Outfit SemiBold"/>
                  <a:cs typeface="Outfit SemiBold"/>
                  <a:sym typeface="Outfit SemiBold"/>
                </a:rPr>
                <a:t>§ KIT PHASE DEFINITION</a:t>
              </a:r>
              <a:endParaRPr b="0" sz="1100">
                <a:solidFill>
                  <a:srgbClr val="0064FF"/>
                </a:solidFill>
                <a:latin typeface="Outfit SemiBold"/>
                <a:ea typeface="Outfit SemiBold"/>
                <a:cs typeface="Outfit SemiBold"/>
                <a:sym typeface="Outfit SemiBold"/>
              </a:endParaRPr>
            </a:p>
            <a:p>
              <a:pPr indent="0" lvl="0" marL="0" rtl="0" algn="l">
                <a:spcBef>
                  <a:spcPts val="400"/>
                </a:spcBef>
                <a:spcAft>
                  <a:spcPts val="0"/>
                </a:spcAft>
                <a:buNone/>
              </a:pPr>
              <a:r>
                <a:rPr b="0" lang="en-GB" sz="1300">
                  <a:solidFill>
                    <a:srgbClr val="2C2C2A"/>
                  </a:solidFill>
                  <a:latin typeface="Lora SemiBold"/>
                  <a:ea typeface="Lora SemiBold"/>
                  <a:cs typeface="Lora SemiBold"/>
                  <a:sym typeface="Lora SemiBold"/>
                </a:rPr>
                <a:t>The stage of a technology when people are adapting loose parts to their own jobs and nobody has built the standard product yet.</a:t>
              </a:r>
              <a:endParaRPr b="0" sz="1300">
                <a:solidFill>
                  <a:srgbClr val="2C2C2A"/>
                </a:solidFill>
                <a:latin typeface="Lora SemiBold"/>
                <a:ea typeface="Lora SemiBold"/>
                <a:cs typeface="Lora SemiBold"/>
                <a:sym typeface="Lora SemiBold"/>
              </a:endParaRPr>
            </a:p>
            <a:p>
              <a:pPr indent="0" lvl="0" marL="0" rtl="0" algn="l">
                <a:spcBef>
                  <a:spcPts val="400"/>
                </a:spcBef>
                <a:spcAft>
                  <a:spcPts val="0"/>
                </a:spcAft>
                <a:buNone/>
              </a:pPr>
              <a:r>
                <a:rPr b="0" lang="en-GB" sz="1100">
                  <a:solidFill>
                    <a:srgbClr val="555555"/>
                  </a:solidFill>
                  <a:latin typeface="Lora"/>
                  <a:ea typeface="Lora"/>
                  <a:cs typeface="Lora"/>
                  <a:sym typeface="Lora"/>
                </a:rPr>
                <a:t>This is not workflow optimisation, build-a-website, or prompt tricks. The tools that hide the assembly from you are not it either.</a:t>
              </a:r>
              <a:endParaRPr b="0" sz="1100">
                <a:solidFill>
                  <a:srgbClr val="555555"/>
                </a:solidFill>
                <a:latin typeface="Lora"/>
                <a:ea typeface="Lora"/>
                <a:cs typeface="Lora"/>
                <a:sym typeface="Lora"/>
              </a:endParaRPr>
            </a:p>
          </p:txBody>
        </p:sp>
      </p:grpSp>
      <p:sp>
        <p:nvSpPr>
          <p:cNvPr id="148" name="Google Shape;148;p7"/>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g3fbb3796125_0_103"/>
          <p:cNvSpPr txBox="1"/>
          <p:nvPr/>
        </p:nvSpPr>
        <p:spPr>
          <a:xfrm>
            <a:off x="640080" y="594360"/>
            <a:ext cx="10899900" cy="65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3000">
                <a:solidFill>
                  <a:srgbClr val="2B2B2A"/>
                </a:solidFill>
                <a:latin typeface="Instrument Serif"/>
                <a:ea typeface="Instrument Serif"/>
                <a:cs typeface="Instrument Serif"/>
                <a:sym typeface="Instrument Serif"/>
              </a:rPr>
              <a:t>AI Lives in a Heavily Protocolized World</a:t>
            </a:r>
            <a:endParaRPr sz="3000">
              <a:solidFill>
                <a:srgbClr val="2B2B2A"/>
              </a:solidFill>
              <a:latin typeface="Instrument Serif"/>
              <a:ea typeface="Instrument Serif"/>
              <a:cs typeface="Instrument Serif"/>
              <a:sym typeface="Instrument Serif"/>
            </a:endParaRPr>
          </a:p>
        </p:txBody>
      </p:sp>
      <p:pic>
        <p:nvPicPr>
          <p:cNvPr id="154" name="Google Shape;154;g3fbb3796125_0_103"/>
          <p:cNvPicPr preferRelativeResize="0"/>
          <p:nvPr/>
        </p:nvPicPr>
        <p:blipFill>
          <a:blip r:embed="rId3">
            <a:alphaModFix/>
          </a:blip>
          <a:stretch>
            <a:fillRect/>
          </a:stretch>
        </p:blipFill>
        <p:spPr>
          <a:xfrm>
            <a:off x="2220373" y="1883313"/>
            <a:ext cx="2941724" cy="2941724"/>
          </a:xfrm>
          <a:prstGeom prst="rect">
            <a:avLst/>
          </a:prstGeom>
          <a:noFill/>
          <a:ln>
            <a:noFill/>
          </a:ln>
        </p:spPr>
      </p:pic>
      <p:pic>
        <p:nvPicPr>
          <p:cNvPr id="155" name="Google Shape;155;g3fbb3796125_0_103"/>
          <p:cNvPicPr preferRelativeResize="0"/>
          <p:nvPr/>
        </p:nvPicPr>
        <p:blipFill>
          <a:blip r:embed="rId4">
            <a:alphaModFix/>
          </a:blip>
          <a:stretch>
            <a:fillRect/>
          </a:stretch>
        </p:blipFill>
        <p:spPr>
          <a:xfrm>
            <a:off x="6972099" y="1883313"/>
            <a:ext cx="2941724" cy="2941724"/>
          </a:xfrm>
          <a:prstGeom prst="rect">
            <a:avLst/>
          </a:prstGeom>
          <a:noFill/>
          <a:ln>
            <a:noFill/>
          </a:ln>
        </p:spPr>
      </p:pic>
      <p:sp>
        <p:nvSpPr>
          <p:cNvPr id="156" name="Google Shape;156;g3fbb3796125_0_103"/>
          <p:cNvSpPr txBox="1"/>
          <p:nvPr/>
        </p:nvSpPr>
        <p:spPr>
          <a:xfrm>
            <a:off x="5064036" y="2944150"/>
            <a:ext cx="2072700" cy="600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2800">
                <a:solidFill>
                  <a:srgbClr val="244063"/>
                </a:solidFill>
              </a:rPr>
              <a:t>→</a:t>
            </a:r>
            <a:endParaRPr sz="2800">
              <a:solidFill>
                <a:srgbClr val="244063"/>
              </a:solidFill>
            </a:endParaRPr>
          </a:p>
        </p:txBody>
      </p:sp>
      <p:sp>
        <p:nvSpPr>
          <p:cNvPr id="157" name="Google Shape;157;g3fbb3796125_0_103"/>
          <p:cNvSpPr txBox="1"/>
          <p:nvPr/>
        </p:nvSpPr>
        <p:spPr>
          <a:xfrm>
            <a:off x="1653788" y="4918775"/>
            <a:ext cx="4074900" cy="699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sz="1050">
                <a:solidFill>
                  <a:srgbClr val="0063FF"/>
                </a:solidFill>
                <a:latin typeface="Outfit"/>
                <a:ea typeface="Outfit"/>
                <a:cs typeface="Outfit"/>
                <a:sym typeface="Outfit"/>
              </a:rPr>
              <a:t>THE EARLIER INTUITION</a:t>
            </a:r>
            <a:endParaRPr b="1" sz="1050">
              <a:solidFill>
                <a:srgbClr val="0063FF"/>
              </a:solidFill>
              <a:latin typeface="Outfit"/>
              <a:ea typeface="Outfit"/>
              <a:cs typeface="Outfit"/>
              <a:sym typeface="Outfit"/>
            </a:endParaRPr>
          </a:p>
          <a:p>
            <a:pPr indent="0" lvl="0" marL="0" rtl="0" algn="ctr">
              <a:spcBef>
                <a:spcPts val="0"/>
              </a:spcBef>
              <a:spcAft>
                <a:spcPts val="0"/>
              </a:spcAft>
              <a:buNone/>
            </a:pPr>
            <a:r>
              <a:rPr lang="en-GB" sz="1150">
                <a:solidFill>
                  <a:srgbClr val="2B2B2A"/>
                </a:solidFill>
                <a:latin typeface="Lora"/>
                <a:ea typeface="Lora"/>
                <a:cs typeface="Lora"/>
                <a:sym typeface="Lora"/>
              </a:rPr>
              <a:t>The kit-stage intuition: loose parts, strange uses, no settled product yet.</a:t>
            </a:r>
            <a:endParaRPr sz="1150">
              <a:solidFill>
                <a:srgbClr val="2B2B2A"/>
              </a:solidFill>
              <a:latin typeface="Lora"/>
              <a:ea typeface="Lora"/>
              <a:cs typeface="Lora"/>
              <a:sym typeface="Lora"/>
            </a:endParaRPr>
          </a:p>
        </p:txBody>
      </p:sp>
      <p:sp>
        <p:nvSpPr>
          <p:cNvPr id="158" name="Google Shape;158;g3fbb3796125_0_103"/>
          <p:cNvSpPr txBox="1"/>
          <p:nvPr/>
        </p:nvSpPr>
        <p:spPr>
          <a:xfrm>
            <a:off x="6354514" y="4879050"/>
            <a:ext cx="4176900" cy="900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sz="1050">
                <a:solidFill>
                  <a:srgbClr val="084F40"/>
                </a:solidFill>
                <a:latin typeface="Outfit"/>
                <a:ea typeface="Outfit"/>
                <a:cs typeface="Outfit"/>
                <a:sym typeface="Outfit"/>
              </a:rPr>
              <a:t>THE WORLD AI ENTERS</a:t>
            </a:r>
            <a:endParaRPr b="1" sz="1050">
              <a:solidFill>
                <a:srgbClr val="084F40"/>
              </a:solidFill>
              <a:latin typeface="Outfit"/>
              <a:ea typeface="Outfit"/>
              <a:cs typeface="Outfit"/>
              <a:sym typeface="Outfit"/>
            </a:endParaRPr>
          </a:p>
          <a:p>
            <a:pPr indent="0" lvl="0" marL="0" rtl="0" algn="ctr">
              <a:spcBef>
                <a:spcPts val="0"/>
              </a:spcBef>
              <a:spcAft>
                <a:spcPts val="0"/>
              </a:spcAft>
              <a:buNone/>
            </a:pPr>
            <a:r>
              <a:rPr lang="en-GB" sz="1120">
                <a:solidFill>
                  <a:srgbClr val="2B2B2A"/>
                </a:solidFill>
                <a:latin typeface="Lora"/>
                <a:ea typeface="Lora"/>
                <a:cs typeface="Lora"/>
                <a:sym typeface="Lora"/>
              </a:rPr>
              <a:t>AI does not arrive in a low-protocol world. It arrives inside dense systems: software stacks, APIs, workflows, standards, permissions, metrics and organizational routines.</a:t>
            </a:r>
            <a:endParaRPr sz="1120">
              <a:solidFill>
                <a:srgbClr val="2B2B2A"/>
              </a:solidFill>
              <a:latin typeface="Lora"/>
              <a:ea typeface="Lora"/>
              <a:cs typeface="Lora"/>
              <a:sym typeface="Lora"/>
            </a:endParaRPr>
          </a:p>
        </p:txBody>
      </p:sp>
      <p:sp>
        <p:nvSpPr>
          <p:cNvPr id="159" name="Google Shape;159;g3fbb3796125_0_103"/>
          <p:cNvSpPr/>
          <p:nvPr/>
        </p:nvSpPr>
        <p:spPr>
          <a:xfrm>
            <a:off x="790000" y="5833053"/>
            <a:ext cx="10599900" cy="699900"/>
          </a:xfrm>
          <a:prstGeom prst="roundRect">
            <a:avLst>
              <a:gd fmla="val 16667" name="adj"/>
            </a:avLst>
          </a:prstGeom>
          <a:solidFill>
            <a:srgbClr val="F0EDE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ora"/>
              <a:ea typeface="Lora"/>
              <a:cs typeface="Lora"/>
              <a:sym typeface="Lora"/>
            </a:endParaRPr>
          </a:p>
        </p:txBody>
      </p:sp>
      <p:sp>
        <p:nvSpPr>
          <p:cNvPr id="160" name="Google Shape;160;g3fbb3796125_0_103"/>
          <p:cNvSpPr txBox="1"/>
          <p:nvPr/>
        </p:nvSpPr>
        <p:spPr>
          <a:xfrm>
            <a:off x="1030000" y="5924150"/>
            <a:ext cx="10100100" cy="51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000">
                <a:solidFill>
                  <a:srgbClr val="405266"/>
                </a:solidFill>
                <a:latin typeface="Outfit"/>
                <a:ea typeface="Outfit"/>
                <a:cs typeface="Outfit"/>
                <a:sym typeface="Outfit"/>
              </a:rPr>
              <a:t>BALLARD IS A BETTER GUIDE…</a:t>
            </a:r>
            <a:r>
              <a:rPr lang="en-GB" sz="1100">
                <a:solidFill>
                  <a:srgbClr val="2E2E2E"/>
                </a:solidFill>
                <a:latin typeface="Lora"/>
                <a:ea typeface="Lora"/>
                <a:cs typeface="Lora"/>
                <a:sym typeface="Lora"/>
              </a:rPr>
              <a:t>  </a:t>
            </a:r>
            <a:endParaRPr sz="1100">
              <a:solidFill>
                <a:srgbClr val="2E2E2E"/>
              </a:solidFill>
              <a:latin typeface="Lora"/>
              <a:ea typeface="Lora"/>
              <a:cs typeface="Lora"/>
              <a:sym typeface="Lora"/>
            </a:endParaRPr>
          </a:p>
          <a:p>
            <a:pPr indent="0" lvl="0" marL="0" rtl="0" algn="l">
              <a:spcBef>
                <a:spcPts val="0"/>
              </a:spcBef>
              <a:spcAft>
                <a:spcPts val="0"/>
              </a:spcAft>
              <a:buNone/>
            </a:pPr>
            <a:r>
              <a:rPr lang="en-GB" sz="1100">
                <a:solidFill>
                  <a:srgbClr val="2E2E2E"/>
                </a:solidFill>
                <a:latin typeface="Lora"/>
                <a:ea typeface="Lora"/>
                <a:cs typeface="Lora"/>
                <a:sym typeface="Lora"/>
              </a:rPr>
              <a:t>Crash: fascination with speed, collision and extreme failure. Concrete Island: isolation produced from within infrastructure.</a:t>
            </a:r>
            <a:endParaRPr sz="1100">
              <a:solidFill>
                <a:srgbClr val="2E2E2E"/>
              </a:solidFill>
              <a:latin typeface="Lora"/>
              <a:ea typeface="Lora"/>
              <a:cs typeface="Lora"/>
              <a:sym typeface="Lora"/>
            </a:endParaRPr>
          </a:p>
        </p:txBody>
      </p:sp>
      <p:sp>
        <p:nvSpPr>
          <p:cNvPr id="161" name="Google Shape;161;g3fbb3796125_0_103"/>
          <p:cNvSpPr/>
          <p:nvPr/>
        </p:nvSpPr>
        <p:spPr>
          <a:xfrm>
            <a:off x="790000" y="1299938"/>
            <a:ext cx="10599900" cy="393600"/>
          </a:xfrm>
          <a:prstGeom prst="roundRect">
            <a:avLst>
              <a:gd fmla="val 16667" name="adj"/>
            </a:avLst>
          </a:prstGeom>
          <a:solidFill>
            <a:srgbClr val="E0F5E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ora"/>
              <a:ea typeface="Lora"/>
              <a:cs typeface="Lora"/>
              <a:sym typeface="Lora"/>
            </a:endParaRPr>
          </a:p>
        </p:txBody>
      </p:sp>
      <p:sp>
        <p:nvSpPr>
          <p:cNvPr id="162" name="Google Shape;162;g3fbb3796125_0_103"/>
          <p:cNvSpPr txBox="1"/>
          <p:nvPr/>
        </p:nvSpPr>
        <p:spPr>
          <a:xfrm>
            <a:off x="1030000" y="1343688"/>
            <a:ext cx="10100100" cy="299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GB" sz="1700">
                <a:solidFill>
                  <a:srgbClr val="141C29"/>
                </a:solidFill>
                <a:latin typeface="Instrument Serif"/>
                <a:ea typeface="Instrument Serif"/>
                <a:cs typeface="Instrument Serif"/>
                <a:sym typeface="Instrument Serif"/>
              </a:rPr>
              <a:t>AI kitcraft means cognitive adaptation and protocol-making inside a world already saturated with protocols.</a:t>
            </a:r>
            <a:endParaRPr sz="1700">
              <a:solidFill>
                <a:srgbClr val="141C29"/>
              </a:solidFill>
              <a:latin typeface="Instrument Serif"/>
              <a:ea typeface="Instrument Serif"/>
              <a:cs typeface="Instrument Serif"/>
              <a:sym typeface="Instrument Serif"/>
            </a:endParaRPr>
          </a:p>
        </p:txBody>
      </p:sp>
      <p:sp>
        <p:nvSpPr>
          <p:cNvPr id="163" name="Google Shape;163;g3fbb3796125_0_103"/>
          <p:cNvSpPr txBox="1"/>
          <p:nvPr>
            <p:ph idx="1" type="body"/>
          </p:nvPr>
        </p:nvSpPr>
        <p:spPr>
          <a:xfrm>
            <a:off x="822960" y="457200"/>
            <a:ext cx="9144000" cy="320100"/>
          </a:xfrm>
          <a:prstGeom prst="rect">
            <a:avLst/>
          </a:prstGeom>
          <a:noFill/>
          <a:ln>
            <a:noFill/>
          </a:ln>
        </p:spPr>
        <p:txBody>
          <a:bodyPr anchorCtr="0" anchor="t" bIns="0" lIns="0" spcFirstLastPara="1" rIns="0" wrap="square" tIns="0">
            <a:noAutofit/>
          </a:bodyPr>
          <a:lstStyle/>
          <a:p>
            <a:pPr indent="0" lvl="0" marL="0" rtl="0" algn="l">
              <a:lnSpc>
                <a:spcPct val="118000"/>
              </a:lnSpc>
              <a:spcBef>
                <a:spcPts val="0"/>
              </a:spcBef>
              <a:spcAft>
                <a:spcPts val="0"/>
              </a:spcAft>
              <a:buClr>
                <a:srgbClr val="0064FF"/>
              </a:buClr>
              <a:buSzPts val="1200"/>
              <a:buFont typeface="Outfit"/>
              <a:buNone/>
            </a:pPr>
            <a:r>
              <a:rPr lang="en-GB"/>
              <a:t>SESSION 1 · KITS · </a:t>
            </a:r>
            <a:r>
              <a:rPr lang="en-GB">
                <a:solidFill>
                  <a:schemeClr val="accent1"/>
                </a:solidFill>
              </a:rPr>
              <a:t>CONCEPTS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8"/>
          <p:cNvSpPr txBox="1"/>
          <p:nvPr>
            <p:ph idx="1" type="body"/>
          </p:nvPr>
        </p:nvSpPr>
        <p:spPr>
          <a:xfrm>
            <a:off x="822960" y="457200"/>
            <a:ext cx="9144000" cy="320100"/>
          </a:xfrm>
          <a:prstGeom prst="rect">
            <a:avLst/>
          </a:prstGeom>
          <a:noFill/>
          <a:ln>
            <a:noFill/>
          </a:ln>
        </p:spPr>
        <p:txBody>
          <a:bodyPr anchorCtr="0" anchor="t" bIns="0" lIns="0" spcFirstLastPara="1" rIns="0" wrap="square" tIns="0">
            <a:noAutofit/>
          </a:bodyPr>
          <a:lstStyle/>
          <a:p>
            <a:pPr indent="0" lvl="0" marL="0" rtl="0" algn="l">
              <a:lnSpc>
                <a:spcPct val="118000"/>
              </a:lnSpc>
              <a:spcBef>
                <a:spcPts val="0"/>
              </a:spcBef>
              <a:spcAft>
                <a:spcPts val="0"/>
              </a:spcAft>
              <a:buClr>
                <a:srgbClr val="0064FF"/>
              </a:buClr>
              <a:buSzPts val="1200"/>
              <a:buFont typeface="Outfit"/>
              <a:buNone/>
            </a:pPr>
            <a:r>
              <a:rPr lang="en-GB"/>
              <a:t>SESSION 1 · KITS · </a:t>
            </a:r>
            <a:r>
              <a:rPr lang="en-GB">
                <a:solidFill>
                  <a:schemeClr val="accent1"/>
                </a:solidFill>
              </a:rPr>
              <a:t>CONCEPTS</a:t>
            </a:r>
            <a:endParaRPr/>
          </a:p>
        </p:txBody>
      </p:sp>
      <p:sp>
        <p:nvSpPr>
          <p:cNvPr id="169" name="Google Shape;169;p8"/>
          <p:cNvSpPr txBox="1"/>
          <p:nvPr>
            <p:ph type="title"/>
          </p:nvPr>
        </p:nvSpPr>
        <p:spPr>
          <a:xfrm>
            <a:off x="822960" y="914400"/>
            <a:ext cx="9692700" cy="1371600"/>
          </a:xfrm>
          <a:prstGeom prst="rect">
            <a:avLst/>
          </a:prstGeom>
          <a:noFill/>
          <a:ln>
            <a:noFill/>
          </a:ln>
        </p:spPr>
        <p:txBody>
          <a:bodyPr anchorCtr="0" anchor="t" bIns="0" lIns="0" spcFirstLastPara="1" rIns="0" wrap="square" tIns="0">
            <a:noAutofit/>
          </a:bodyPr>
          <a:lstStyle/>
          <a:p>
            <a:pPr indent="0" lvl="0" marL="0" rtl="0" algn="l">
              <a:lnSpc>
                <a:spcPct val="96000"/>
              </a:lnSpc>
              <a:spcBef>
                <a:spcPts val="0"/>
              </a:spcBef>
              <a:spcAft>
                <a:spcPts val="0"/>
              </a:spcAft>
              <a:buClr>
                <a:srgbClr val="2C2C2A"/>
              </a:buClr>
              <a:buSzPts val="2800"/>
              <a:buFont typeface="Instrument Serif"/>
              <a:buNone/>
            </a:pPr>
            <a:r>
              <a:rPr lang="en-GB"/>
              <a:t>Five maturity levels run from invisible personal use to civilization scale</a:t>
            </a:r>
            <a:endParaRPr/>
          </a:p>
        </p:txBody>
      </p:sp>
      <p:sp>
        <p:nvSpPr>
          <p:cNvPr id="170" name="Google Shape;170;p8"/>
          <p:cNvSpPr txBox="1"/>
          <p:nvPr/>
        </p:nvSpPr>
        <p:spPr>
          <a:xfrm>
            <a:off x="822960" y="1466850"/>
            <a:ext cx="10546200" cy="285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en-GB" sz="1100">
                <a:solidFill>
                  <a:srgbClr val="0064FF"/>
                </a:solidFill>
                <a:latin typeface="Outfit SemiBold"/>
                <a:ea typeface="Outfit SemiBold"/>
                <a:cs typeface="Outfit SemiBold"/>
                <a:sym typeface="Outfit SemiBold"/>
              </a:rPr>
              <a:t>Governed</a:t>
            </a:r>
            <a:r>
              <a:rPr lang="en-GB" sz="1100">
                <a:solidFill>
                  <a:srgbClr val="555555"/>
                </a:solidFill>
                <a:latin typeface="Outfit"/>
                <a:ea typeface="Outfit"/>
                <a:cs typeface="Outfit"/>
                <a:sym typeface="Outfit"/>
              </a:rPr>
              <a:t> — what the organization approves   ·   </a:t>
            </a:r>
            <a:r>
              <a:rPr b="0" lang="en-GB" sz="1100">
                <a:solidFill>
                  <a:srgbClr val="0064FF"/>
                </a:solidFill>
                <a:latin typeface="Outfit SemiBold"/>
                <a:ea typeface="Outfit SemiBold"/>
                <a:cs typeface="Outfit SemiBold"/>
                <a:sym typeface="Outfit SemiBold"/>
              </a:rPr>
              <a:t>Cultivated</a:t>
            </a:r>
            <a:r>
              <a:rPr lang="en-GB" sz="1100">
                <a:solidFill>
                  <a:srgbClr val="555555"/>
                </a:solidFill>
                <a:latin typeface="Outfit"/>
                <a:ea typeface="Outfit"/>
                <a:cs typeface="Outfit"/>
                <a:sym typeface="Outfit"/>
              </a:rPr>
              <a:t> — what its people invent</a:t>
            </a:r>
            <a:endParaRPr sz="1100">
              <a:solidFill>
                <a:srgbClr val="555555"/>
              </a:solidFill>
              <a:latin typeface="Outfit"/>
              <a:ea typeface="Outfit"/>
              <a:cs typeface="Outfit"/>
              <a:sym typeface="Outfit"/>
            </a:endParaRPr>
          </a:p>
        </p:txBody>
      </p:sp>
      <p:grpSp>
        <p:nvGrpSpPr>
          <p:cNvPr id="171" name="Google Shape;171;p8"/>
          <p:cNvGrpSpPr/>
          <p:nvPr/>
        </p:nvGrpSpPr>
        <p:grpSpPr>
          <a:xfrm>
            <a:off x="822960" y="1857375"/>
            <a:ext cx="1924200" cy="4572000"/>
            <a:chOff x="0" y="0"/>
            <a:chExt cx="1924200" cy="4572000"/>
          </a:xfrm>
        </p:grpSpPr>
        <p:sp>
          <p:nvSpPr>
            <p:cNvPr id="172" name="Google Shape;172;p8"/>
            <p:cNvSpPr/>
            <p:nvPr/>
          </p:nvSpPr>
          <p:spPr>
            <a:xfrm>
              <a:off x="0" y="0"/>
              <a:ext cx="1924200" cy="4572000"/>
            </a:xfrm>
            <a:prstGeom prst="roundRect">
              <a:avLst>
                <a:gd fmla="val 3960" name="adj"/>
              </a:avLst>
            </a:prstGeom>
            <a:solidFill>
              <a:srgbClr val="F0EDE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3" name="Google Shape;173;p8"/>
            <p:cNvSpPr txBox="1"/>
            <p:nvPr/>
          </p:nvSpPr>
          <p:spPr>
            <a:xfrm>
              <a:off x="0" y="0"/>
              <a:ext cx="1924200" cy="4572000"/>
            </a:xfrm>
            <a:prstGeom prst="rect">
              <a:avLst/>
            </a:prstGeom>
            <a:noFill/>
            <a:ln>
              <a:noFill/>
            </a:ln>
          </p:spPr>
          <p:txBody>
            <a:bodyPr anchorCtr="0" anchor="t" bIns="190500" lIns="152400" spcFirstLastPara="1" rIns="152400" wrap="square" tIns="190500">
              <a:noAutofit/>
            </a:bodyPr>
            <a:lstStyle/>
            <a:p>
              <a:pPr indent="0" lvl="0" marL="0" rtl="0" algn="l">
                <a:spcBef>
                  <a:spcPts val="0"/>
                </a:spcBef>
                <a:spcAft>
                  <a:spcPts val="0"/>
                </a:spcAft>
                <a:buNone/>
              </a:pPr>
              <a:r>
                <a:rPr b="0" lang="en-GB" sz="1100">
                  <a:solidFill>
                    <a:srgbClr val="0064FF"/>
                  </a:solidFill>
                  <a:latin typeface="Outfit SemiBold"/>
                  <a:ea typeface="Outfit SemiBold"/>
                  <a:cs typeface="Outfit SemiBold"/>
                  <a:sym typeface="Outfit SemiBold"/>
                </a:rPr>
                <a:t>L·01</a:t>
              </a:r>
              <a:endParaRPr b="0" sz="1100">
                <a:solidFill>
                  <a:srgbClr val="0064FF"/>
                </a:solidFill>
                <a:latin typeface="Outfit SemiBold"/>
                <a:ea typeface="Outfit SemiBold"/>
                <a:cs typeface="Outfit SemiBold"/>
                <a:sym typeface="Outfit SemiBold"/>
              </a:endParaRPr>
            </a:p>
            <a:p>
              <a:pPr indent="0" lvl="0" marL="0" rtl="0" algn="l">
                <a:spcBef>
                  <a:spcPts val="1200"/>
                </a:spcBef>
                <a:spcAft>
                  <a:spcPts val="0"/>
                </a:spcAft>
                <a:buNone/>
              </a:pPr>
              <a:r>
                <a:rPr b="0" lang="en-GB" sz="850">
                  <a:solidFill>
                    <a:srgbClr val="777777"/>
                  </a:solidFill>
                  <a:latin typeface="Outfit SemiBold"/>
                  <a:ea typeface="Outfit SemiBold"/>
                  <a:cs typeface="Outfit SemiBold"/>
                  <a:sym typeface="Outfit SemiBold"/>
                </a:rPr>
                <a:t>Governed</a:t>
              </a:r>
              <a:endParaRPr b="0" sz="850">
                <a:solidFill>
                  <a:srgbClr val="777777"/>
                </a:solidFill>
                <a:latin typeface="Outfit SemiBold"/>
                <a:ea typeface="Outfit SemiBold"/>
                <a:cs typeface="Outfit SemiBold"/>
                <a:sym typeface="Outfit SemiBold"/>
              </a:endParaRPr>
            </a:p>
            <a:p>
              <a:pPr indent="0" lvl="0" marL="0" rtl="0" algn="l">
                <a:spcBef>
                  <a:spcPts val="150"/>
                </a:spcBef>
                <a:spcAft>
                  <a:spcPts val="0"/>
                </a:spcAft>
                <a:buNone/>
              </a:pPr>
              <a:r>
                <a:rPr lang="en-GB" sz="1800">
                  <a:solidFill>
                    <a:srgbClr val="2C2C2A"/>
                  </a:solidFill>
                  <a:latin typeface="Instrument Serif"/>
                  <a:ea typeface="Instrument Serif"/>
                  <a:cs typeface="Instrument Serif"/>
                  <a:sym typeface="Instrument Serif"/>
                </a:rPr>
                <a:t>Shadow</a:t>
              </a:r>
              <a:endParaRPr sz="1800">
                <a:solidFill>
                  <a:srgbClr val="2C2C2A"/>
                </a:solidFill>
                <a:latin typeface="Instrument Serif"/>
                <a:ea typeface="Instrument Serif"/>
                <a:cs typeface="Instrument Serif"/>
                <a:sym typeface="Instrument Serif"/>
              </a:endParaRPr>
            </a:p>
            <a:p>
              <a:pPr indent="0" lvl="0" marL="0" rtl="0" algn="l">
                <a:spcBef>
                  <a:spcPts val="450"/>
                </a:spcBef>
                <a:spcAft>
                  <a:spcPts val="0"/>
                </a:spcAft>
                <a:buNone/>
              </a:pPr>
              <a:r>
                <a:rPr lang="en-GB" sz="1000">
                  <a:solidFill>
                    <a:srgbClr val="444444"/>
                  </a:solidFill>
                  <a:latin typeface="Lora"/>
                  <a:ea typeface="Lora"/>
                  <a:cs typeface="Lora"/>
                  <a:sym typeface="Lora"/>
                </a:rPr>
                <a:t>AI in use through personal accounts; no monitoring and no governing policy.</a:t>
              </a:r>
              <a:endParaRPr sz="1000">
                <a:solidFill>
                  <a:srgbClr val="444444"/>
                </a:solidFill>
                <a:latin typeface="Lora"/>
                <a:ea typeface="Lora"/>
                <a:cs typeface="Lora"/>
                <a:sym typeface="Lora"/>
              </a:endParaRPr>
            </a:p>
            <a:p>
              <a:pPr indent="0" lvl="0" marL="0" rtl="0" algn="l">
                <a:spcBef>
                  <a:spcPts val="1500"/>
                </a:spcBef>
                <a:spcAft>
                  <a:spcPts val="0"/>
                </a:spcAft>
                <a:buNone/>
              </a:pPr>
              <a:r>
                <a:rPr b="0" lang="en-GB" sz="850">
                  <a:solidFill>
                    <a:srgbClr val="777777"/>
                  </a:solidFill>
                  <a:latin typeface="Outfit SemiBold"/>
                  <a:ea typeface="Outfit SemiBold"/>
                  <a:cs typeface="Outfit SemiBold"/>
                  <a:sym typeface="Outfit SemiBold"/>
                </a:rPr>
                <a:t>Cultivated</a:t>
              </a:r>
              <a:endParaRPr b="0" sz="850">
                <a:solidFill>
                  <a:srgbClr val="777777"/>
                </a:solidFill>
                <a:latin typeface="Outfit SemiBold"/>
                <a:ea typeface="Outfit SemiBold"/>
                <a:cs typeface="Outfit SemiBold"/>
                <a:sym typeface="Outfit SemiBold"/>
              </a:endParaRPr>
            </a:p>
            <a:p>
              <a:pPr indent="0" lvl="0" marL="0" rtl="0" algn="l">
                <a:spcBef>
                  <a:spcPts val="150"/>
                </a:spcBef>
                <a:spcAft>
                  <a:spcPts val="0"/>
                </a:spcAft>
                <a:buNone/>
              </a:pPr>
              <a:r>
                <a:rPr lang="en-GB" sz="1800">
                  <a:solidFill>
                    <a:srgbClr val="2C2C2A"/>
                  </a:solidFill>
                  <a:latin typeface="Instrument Serif"/>
                  <a:ea typeface="Instrument Serif"/>
                  <a:cs typeface="Instrument Serif"/>
                  <a:sym typeface="Instrument Serif"/>
                </a:rPr>
                <a:t>Play</a:t>
              </a:r>
              <a:endParaRPr sz="1800">
                <a:solidFill>
                  <a:srgbClr val="2C2C2A"/>
                </a:solidFill>
                <a:latin typeface="Instrument Serif"/>
                <a:ea typeface="Instrument Serif"/>
                <a:cs typeface="Instrument Serif"/>
                <a:sym typeface="Instrument Serif"/>
              </a:endParaRPr>
            </a:p>
            <a:p>
              <a:pPr indent="0" lvl="0" marL="0" rtl="0" algn="l">
                <a:spcBef>
                  <a:spcPts val="450"/>
                </a:spcBef>
                <a:spcAft>
                  <a:spcPts val="0"/>
                </a:spcAft>
                <a:buNone/>
              </a:pPr>
              <a:r>
                <a:rPr lang="en-GB" sz="1000">
                  <a:solidFill>
                    <a:srgbClr val="444444"/>
                  </a:solidFill>
                  <a:latin typeface="Lora"/>
                  <a:ea typeface="Lora"/>
                  <a:cs typeface="Lora"/>
                  <a:sym typeface="Lora"/>
                </a:rPr>
                <a:t>Curiosity-driven exploration; AI met as a medium for deep play and discovery.</a:t>
              </a:r>
              <a:endParaRPr sz="1000">
                <a:solidFill>
                  <a:srgbClr val="444444"/>
                </a:solidFill>
                <a:latin typeface="Lora"/>
                <a:ea typeface="Lora"/>
                <a:cs typeface="Lora"/>
                <a:sym typeface="Lora"/>
              </a:endParaRPr>
            </a:p>
          </p:txBody>
        </p:sp>
      </p:grpSp>
      <p:grpSp>
        <p:nvGrpSpPr>
          <p:cNvPr id="174" name="Google Shape;174;p8"/>
          <p:cNvGrpSpPr/>
          <p:nvPr/>
        </p:nvGrpSpPr>
        <p:grpSpPr>
          <a:xfrm>
            <a:off x="2978468" y="1857375"/>
            <a:ext cx="1924200" cy="4572000"/>
            <a:chOff x="0" y="0"/>
            <a:chExt cx="1924200" cy="4572000"/>
          </a:xfrm>
        </p:grpSpPr>
        <p:sp>
          <p:nvSpPr>
            <p:cNvPr id="175" name="Google Shape;175;p8"/>
            <p:cNvSpPr/>
            <p:nvPr/>
          </p:nvSpPr>
          <p:spPr>
            <a:xfrm>
              <a:off x="0" y="0"/>
              <a:ext cx="1924200" cy="4572000"/>
            </a:xfrm>
            <a:prstGeom prst="roundRect">
              <a:avLst>
                <a:gd fmla="val 3960" name="adj"/>
              </a:avLst>
            </a:prstGeom>
            <a:solidFill>
              <a:srgbClr val="E1F5E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6" name="Google Shape;176;p8"/>
            <p:cNvSpPr txBox="1"/>
            <p:nvPr/>
          </p:nvSpPr>
          <p:spPr>
            <a:xfrm>
              <a:off x="0" y="0"/>
              <a:ext cx="1924200" cy="4572000"/>
            </a:xfrm>
            <a:prstGeom prst="rect">
              <a:avLst/>
            </a:prstGeom>
            <a:noFill/>
            <a:ln>
              <a:noFill/>
            </a:ln>
          </p:spPr>
          <p:txBody>
            <a:bodyPr anchorCtr="0" anchor="t" bIns="190500" lIns="152400" spcFirstLastPara="1" rIns="152400" wrap="square" tIns="190500">
              <a:noAutofit/>
            </a:bodyPr>
            <a:lstStyle/>
            <a:p>
              <a:pPr indent="0" lvl="0" marL="0" rtl="0" algn="l">
                <a:spcBef>
                  <a:spcPts val="0"/>
                </a:spcBef>
                <a:spcAft>
                  <a:spcPts val="0"/>
                </a:spcAft>
                <a:buNone/>
              </a:pPr>
              <a:r>
                <a:rPr b="0" lang="en-GB" sz="1100">
                  <a:solidFill>
                    <a:srgbClr val="1E4620"/>
                  </a:solidFill>
                  <a:latin typeface="Outfit SemiBold"/>
                  <a:ea typeface="Outfit SemiBold"/>
                  <a:cs typeface="Outfit SemiBold"/>
                  <a:sym typeface="Outfit SemiBold"/>
                </a:rPr>
                <a:t>L·02</a:t>
              </a:r>
              <a:r>
                <a:rPr lang="en-GB" sz="1000">
                  <a:solidFill>
                    <a:srgbClr val="1E4620"/>
                  </a:solidFill>
                  <a:latin typeface="Lora"/>
                  <a:ea typeface="Lora"/>
                  <a:cs typeface="Lora"/>
                  <a:sym typeface="Lora"/>
                </a:rPr>
                <a:t> </a:t>
              </a:r>
              <a:r>
                <a:rPr b="1" lang="en-GB" sz="750">
                  <a:solidFill>
                    <a:srgbClr val="1E4620"/>
                  </a:solidFill>
                  <a:latin typeface="Outfit"/>
                  <a:ea typeface="Outfit"/>
                  <a:cs typeface="Outfit"/>
                  <a:sym typeface="Outfit"/>
                </a:rPr>
                <a:t>WE ARE HERE</a:t>
              </a:r>
              <a:endParaRPr sz="1000">
                <a:solidFill>
                  <a:srgbClr val="1E4620"/>
                </a:solidFill>
                <a:latin typeface="Lora"/>
                <a:ea typeface="Lora"/>
                <a:cs typeface="Lora"/>
                <a:sym typeface="Lora"/>
              </a:endParaRPr>
            </a:p>
            <a:p>
              <a:pPr indent="0" lvl="0" marL="0" rtl="0" algn="l">
                <a:spcBef>
                  <a:spcPts val="1200"/>
                </a:spcBef>
                <a:spcAft>
                  <a:spcPts val="0"/>
                </a:spcAft>
                <a:buNone/>
              </a:pPr>
              <a:r>
                <a:rPr b="0" lang="en-GB" sz="850">
                  <a:solidFill>
                    <a:srgbClr val="085041"/>
                  </a:solidFill>
                  <a:latin typeface="Outfit SemiBold"/>
                  <a:ea typeface="Outfit SemiBold"/>
                  <a:cs typeface="Outfit SemiBold"/>
                  <a:sym typeface="Outfit SemiBold"/>
                </a:rPr>
                <a:t>Governed</a:t>
              </a:r>
              <a:endParaRPr b="0" sz="850">
                <a:solidFill>
                  <a:srgbClr val="085041"/>
                </a:solidFill>
                <a:latin typeface="Outfit SemiBold"/>
                <a:ea typeface="Outfit SemiBold"/>
                <a:cs typeface="Outfit SemiBold"/>
                <a:sym typeface="Outfit SemiBold"/>
              </a:endParaRPr>
            </a:p>
            <a:p>
              <a:pPr indent="0" lvl="0" marL="0" rtl="0" algn="l">
                <a:spcBef>
                  <a:spcPts val="150"/>
                </a:spcBef>
                <a:spcAft>
                  <a:spcPts val="0"/>
                </a:spcAft>
                <a:buNone/>
              </a:pPr>
              <a:r>
                <a:rPr lang="en-GB" sz="1800">
                  <a:solidFill>
                    <a:srgbClr val="085041"/>
                  </a:solidFill>
                  <a:latin typeface="Instrument Serif"/>
                  <a:ea typeface="Instrument Serif"/>
                  <a:cs typeface="Instrument Serif"/>
                  <a:sym typeface="Instrument Serif"/>
                </a:rPr>
                <a:t>Sanctioned</a:t>
              </a:r>
              <a:endParaRPr sz="1800">
                <a:solidFill>
                  <a:srgbClr val="085041"/>
                </a:solidFill>
                <a:latin typeface="Instrument Serif"/>
                <a:ea typeface="Instrument Serif"/>
                <a:cs typeface="Instrument Serif"/>
                <a:sym typeface="Instrument Serif"/>
              </a:endParaRPr>
            </a:p>
            <a:p>
              <a:pPr indent="0" lvl="0" marL="0" rtl="0" algn="l">
                <a:spcBef>
                  <a:spcPts val="450"/>
                </a:spcBef>
                <a:spcAft>
                  <a:spcPts val="0"/>
                </a:spcAft>
                <a:buNone/>
              </a:pPr>
              <a:r>
                <a:rPr lang="en-GB" sz="1000">
                  <a:solidFill>
                    <a:srgbClr val="085041"/>
                  </a:solidFill>
                  <a:latin typeface="Lora"/>
                  <a:ea typeface="Lora"/>
                  <a:cs typeface="Lora"/>
                  <a:sym typeface="Lora"/>
                </a:rPr>
                <a:t>Access policy in place; tools approved, use tracked, risk contained.</a:t>
              </a:r>
              <a:endParaRPr sz="1000">
                <a:solidFill>
                  <a:srgbClr val="085041"/>
                </a:solidFill>
                <a:latin typeface="Lora"/>
                <a:ea typeface="Lora"/>
                <a:cs typeface="Lora"/>
                <a:sym typeface="Lora"/>
              </a:endParaRPr>
            </a:p>
            <a:p>
              <a:pPr indent="0" lvl="0" marL="0" rtl="0" algn="l">
                <a:spcBef>
                  <a:spcPts val="1500"/>
                </a:spcBef>
                <a:spcAft>
                  <a:spcPts val="0"/>
                </a:spcAft>
                <a:buNone/>
              </a:pPr>
              <a:r>
                <a:rPr b="0" lang="en-GB" sz="850">
                  <a:solidFill>
                    <a:srgbClr val="085041"/>
                  </a:solidFill>
                  <a:latin typeface="Outfit SemiBold"/>
                  <a:ea typeface="Outfit SemiBold"/>
                  <a:cs typeface="Outfit SemiBold"/>
                  <a:sym typeface="Outfit SemiBold"/>
                </a:rPr>
                <a:t>Cultivated</a:t>
              </a:r>
              <a:endParaRPr b="0" sz="850">
                <a:solidFill>
                  <a:srgbClr val="085041"/>
                </a:solidFill>
                <a:latin typeface="Outfit SemiBold"/>
                <a:ea typeface="Outfit SemiBold"/>
                <a:cs typeface="Outfit SemiBold"/>
                <a:sym typeface="Outfit SemiBold"/>
              </a:endParaRPr>
            </a:p>
            <a:p>
              <a:pPr indent="0" lvl="0" marL="0" rtl="0" algn="l">
                <a:spcBef>
                  <a:spcPts val="150"/>
                </a:spcBef>
                <a:spcAft>
                  <a:spcPts val="0"/>
                </a:spcAft>
                <a:buNone/>
              </a:pPr>
              <a:r>
                <a:rPr lang="en-GB" sz="1800">
                  <a:solidFill>
                    <a:srgbClr val="085041"/>
                  </a:solidFill>
                  <a:latin typeface="Instrument Serif"/>
                  <a:ea typeface="Instrument Serif"/>
                  <a:cs typeface="Instrument Serif"/>
                  <a:sym typeface="Instrument Serif"/>
                </a:rPr>
                <a:t>KIT</a:t>
              </a:r>
              <a:endParaRPr sz="1800">
                <a:solidFill>
                  <a:srgbClr val="085041"/>
                </a:solidFill>
                <a:latin typeface="Instrument Serif"/>
                <a:ea typeface="Instrument Serif"/>
                <a:cs typeface="Instrument Serif"/>
                <a:sym typeface="Instrument Serif"/>
              </a:endParaRPr>
            </a:p>
            <a:p>
              <a:pPr indent="0" lvl="0" marL="0" rtl="0" algn="l">
                <a:spcBef>
                  <a:spcPts val="450"/>
                </a:spcBef>
                <a:spcAft>
                  <a:spcPts val="0"/>
                </a:spcAft>
                <a:buNone/>
              </a:pPr>
              <a:r>
                <a:rPr lang="en-GB" sz="1000">
                  <a:solidFill>
                    <a:srgbClr val="085041"/>
                  </a:solidFill>
                  <a:latin typeface="Lora"/>
                  <a:ea typeface="Lora"/>
                  <a:cs typeface="Lora"/>
                  <a:sym typeface="Lora"/>
                </a:rPr>
                <a:t>Users encoding personal workflows into reusable, shareable protocols of their own design.</a:t>
              </a:r>
              <a:endParaRPr sz="1000">
                <a:solidFill>
                  <a:srgbClr val="085041"/>
                </a:solidFill>
                <a:latin typeface="Lora"/>
                <a:ea typeface="Lora"/>
                <a:cs typeface="Lora"/>
                <a:sym typeface="Lora"/>
              </a:endParaRPr>
            </a:p>
          </p:txBody>
        </p:sp>
      </p:grpSp>
      <p:grpSp>
        <p:nvGrpSpPr>
          <p:cNvPr id="177" name="Google Shape;177;p8"/>
          <p:cNvGrpSpPr/>
          <p:nvPr/>
        </p:nvGrpSpPr>
        <p:grpSpPr>
          <a:xfrm>
            <a:off x="5133975" y="1857375"/>
            <a:ext cx="1924200" cy="4572000"/>
            <a:chOff x="0" y="0"/>
            <a:chExt cx="1924200" cy="4572000"/>
          </a:xfrm>
        </p:grpSpPr>
        <p:sp>
          <p:nvSpPr>
            <p:cNvPr id="178" name="Google Shape;178;p8"/>
            <p:cNvSpPr/>
            <p:nvPr/>
          </p:nvSpPr>
          <p:spPr>
            <a:xfrm>
              <a:off x="0" y="0"/>
              <a:ext cx="1924200" cy="4572000"/>
            </a:xfrm>
            <a:prstGeom prst="roundRect">
              <a:avLst>
                <a:gd fmla="val 3960" name="adj"/>
              </a:avLst>
            </a:prstGeom>
            <a:solidFill>
              <a:srgbClr val="F0EDE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9" name="Google Shape;179;p8"/>
            <p:cNvSpPr txBox="1"/>
            <p:nvPr/>
          </p:nvSpPr>
          <p:spPr>
            <a:xfrm>
              <a:off x="0" y="0"/>
              <a:ext cx="1924200" cy="4572000"/>
            </a:xfrm>
            <a:prstGeom prst="rect">
              <a:avLst/>
            </a:prstGeom>
            <a:noFill/>
            <a:ln>
              <a:noFill/>
            </a:ln>
          </p:spPr>
          <p:txBody>
            <a:bodyPr anchorCtr="0" anchor="t" bIns="190500" lIns="152400" spcFirstLastPara="1" rIns="152400" wrap="square" tIns="190500">
              <a:noAutofit/>
            </a:bodyPr>
            <a:lstStyle/>
            <a:p>
              <a:pPr indent="0" lvl="0" marL="0" rtl="0" algn="l">
                <a:spcBef>
                  <a:spcPts val="0"/>
                </a:spcBef>
                <a:spcAft>
                  <a:spcPts val="0"/>
                </a:spcAft>
                <a:buNone/>
              </a:pPr>
              <a:r>
                <a:rPr b="0" lang="en-GB" sz="1100">
                  <a:solidFill>
                    <a:srgbClr val="0064FF"/>
                  </a:solidFill>
                  <a:latin typeface="Outfit SemiBold"/>
                  <a:ea typeface="Outfit SemiBold"/>
                  <a:cs typeface="Outfit SemiBold"/>
                  <a:sym typeface="Outfit SemiBold"/>
                </a:rPr>
                <a:t>L·03</a:t>
              </a:r>
              <a:endParaRPr b="0" sz="1100">
                <a:solidFill>
                  <a:srgbClr val="0064FF"/>
                </a:solidFill>
                <a:latin typeface="Outfit SemiBold"/>
                <a:ea typeface="Outfit SemiBold"/>
                <a:cs typeface="Outfit SemiBold"/>
                <a:sym typeface="Outfit SemiBold"/>
              </a:endParaRPr>
            </a:p>
            <a:p>
              <a:pPr indent="0" lvl="0" marL="0" rtl="0" algn="l">
                <a:spcBef>
                  <a:spcPts val="1200"/>
                </a:spcBef>
                <a:spcAft>
                  <a:spcPts val="0"/>
                </a:spcAft>
                <a:buNone/>
              </a:pPr>
              <a:r>
                <a:rPr b="0" lang="en-GB" sz="850">
                  <a:solidFill>
                    <a:srgbClr val="777777"/>
                  </a:solidFill>
                  <a:latin typeface="Outfit SemiBold"/>
                  <a:ea typeface="Outfit SemiBold"/>
                  <a:cs typeface="Outfit SemiBold"/>
                  <a:sym typeface="Outfit SemiBold"/>
                </a:rPr>
                <a:t>Governed</a:t>
              </a:r>
              <a:endParaRPr b="0" sz="850">
                <a:solidFill>
                  <a:srgbClr val="777777"/>
                </a:solidFill>
                <a:latin typeface="Outfit SemiBold"/>
                <a:ea typeface="Outfit SemiBold"/>
                <a:cs typeface="Outfit SemiBold"/>
                <a:sym typeface="Outfit SemiBold"/>
              </a:endParaRPr>
            </a:p>
            <a:p>
              <a:pPr indent="0" lvl="0" marL="0" rtl="0" algn="l">
                <a:spcBef>
                  <a:spcPts val="150"/>
                </a:spcBef>
                <a:spcAft>
                  <a:spcPts val="0"/>
                </a:spcAft>
                <a:buNone/>
              </a:pPr>
              <a:r>
                <a:rPr lang="en-GB" sz="1800">
                  <a:solidFill>
                    <a:srgbClr val="2C2C2A"/>
                  </a:solidFill>
                  <a:latin typeface="Instrument Serif"/>
                  <a:ea typeface="Instrument Serif"/>
                  <a:cs typeface="Instrument Serif"/>
                  <a:sym typeface="Instrument Serif"/>
                </a:rPr>
                <a:t>Engine</a:t>
              </a:r>
              <a:endParaRPr sz="1800">
                <a:solidFill>
                  <a:srgbClr val="2C2C2A"/>
                </a:solidFill>
                <a:latin typeface="Instrument Serif"/>
                <a:ea typeface="Instrument Serif"/>
                <a:cs typeface="Instrument Serif"/>
                <a:sym typeface="Instrument Serif"/>
              </a:endParaRPr>
            </a:p>
            <a:p>
              <a:pPr indent="0" lvl="0" marL="0" rtl="0" algn="l">
                <a:spcBef>
                  <a:spcPts val="450"/>
                </a:spcBef>
                <a:spcAft>
                  <a:spcPts val="0"/>
                </a:spcAft>
                <a:buNone/>
              </a:pPr>
              <a:r>
                <a:rPr lang="en-GB" sz="1000">
                  <a:solidFill>
                    <a:srgbClr val="444444"/>
                  </a:solidFill>
                  <a:latin typeface="Lora"/>
                  <a:ea typeface="Lora"/>
                  <a:cs typeface="Lora"/>
                  <a:sym typeface="Lora"/>
                </a:rPr>
                <a:t>Workflows built around AI with named owners and quality metrics.</a:t>
              </a:r>
              <a:endParaRPr sz="1000">
                <a:solidFill>
                  <a:srgbClr val="444444"/>
                </a:solidFill>
                <a:latin typeface="Lora"/>
                <a:ea typeface="Lora"/>
                <a:cs typeface="Lora"/>
                <a:sym typeface="Lora"/>
              </a:endParaRPr>
            </a:p>
            <a:p>
              <a:pPr indent="0" lvl="0" marL="0" rtl="0" algn="l">
                <a:spcBef>
                  <a:spcPts val="1500"/>
                </a:spcBef>
                <a:spcAft>
                  <a:spcPts val="0"/>
                </a:spcAft>
                <a:buNone/>
              </a:pPr>
              <a:r>
                <a:rPr b="0" lang="en-GB" sz="850">
                  <a:solidFill>
                    <a:srgbClr val="777777"/>
                  </a:solidFill>
                  <a:latin typeface="Outfit SemiBold"/>
                  <a:ea typeface="Outfit SemiBold"/>
                  <a:cs typeface="Outfit SemiBold"/>
                  <a:sym typeface="Outfit SemiBold"/>
                </a:rPr>
                <a:t>Cultivated</a:t>
              </a:r>
              <a:endParaRPr b="0" sz="850">
                <a:solidFill>
                  <a:srgbClr val="777777"/>
                </a:solidFill>
                <a:latin typeface="Outfit SemiBold"/>
                <a:ea typeface="Outfit SemiBold"/>
                <a:cs typeface="Outfit SemiBold"/>
                <a:sym typeface="Outfit SemiBold"/>
              </a:endParaRPr>
            </a:p>
            <a:p>
              <a:pPr indent="0" lvl="0" marL="0" rtl="0" algn="l">
                <a:spcBef>
                  <a:spcPts val="150"/>
                </a:spcBef>
                <a:spcAft>
                  <a:spcPts val="0"/>
                </a:spcAft>
                <a:buNone/>
              </a:pPr>
              <a:r>
                <a:rPr lang="en-GB" sz="1800">
                  <a:solidFill>
                    <a:srgbClr val="2C2C2A"/>
                  </a:solidFill>
                  <a:latin typeface="Instrument Serif"/>
                  <a:ea typeface="Instrument Serif"/>
                  <a:cs typeface="Instrument Serif"/>
                  <a:sym typeface="Instrument Serif"/>
                </a:rPr>
                <a:t>Practice</a:t>
              </a:r>
              <a:endParaRPr sz="1800">
                <a:solidFill>
                  <a:srgbClr val="2C2C2A"/>
                </a:solidFill>
                <a:latin typeface="Instrument Serif"/>
                <a:ea typeface="Instrument Serif"/>
                <a:cs typeface="Instrument Serif"/>
                <a:sym typeface="Instrument Serif"/>
              </a:endParaRPr>
            </a:p>
            <a:p>
              <a:pPr indent="0" lvl="0" marL="0" rtl="0" algn="l">
                <a:spcBef>
                  <a:spcPts val="450"/>
                </a:spcBef>
                <a:spcAft>
                  <a:spcPts val="0"/>
                </a:spcAft>
                <a:buNone/>
              </a:pPr>
              <a:r>
                <a:rPr lang="en-GB" sz="1000">
                  <a:solidFill>
                    <a:srgbClr val="444444"/>
                  </a:solidFill>
                  <a:latin typeface="Lora"/>
                  <a:ea typeface="Lora"/>
                  <a:cs typeface="Lora"/>
                  <a:sym typeface="Lora"/>
                </a:rPr>
                <a:t>New forms of work emerge that were not possible before AI; roles are redefined.</a:t>
              </a:r>
              <a:endParaRPr sz="1000">
                <a:solidFill>
                  <a:srgbClr val="444444"/>
                </a:solidFill>
                <a:latin typeface="Lora"/>
                <a:ea typeface="Lora"/>
                <a:cs typeface="Lora"/>
                <a:sym typeface="Lora"/>
              </a:endParaRPr>
            </a:p>
          </p:txBody>
        </p:sp>
      </p:grpSp>
      <p:grpSp>
        <p:nvGrpSpPr>
          <p:cNvPr id="180" name="Google Shape;180;p8"/>
          <p:cNvGrpSpPr/>
          <p:nvPr/>
        </p:nvGrpSpPr>
        <p:grpSpPr>
          <a:xfrm>
            <a:off x="7289483" y="1857375"/>
            <a:ext cx="1924200" cy="4572000"/>
            <a:chOff x="0" y="0"/>
            <a:chExt cx="1924200" cy="4572000"/>
          </a:xfrm>
        </p:grpSpPr>
        <p:sp>
          <p:nvSpPr>
            <p:cNvPr id="181" name="Google Shape;181;p8"/>
            <p:cNvSpPr/>
            <p:nvPr/>
          </p:nvSpPr>
          <p:spPr>
            <a:xfrm>
              <a:off x="0" y="0"/>
              <a:ext cx="1924200" cy="4572000"/>
            </a:xfrm>
            <a:prstGeom prst="roundRect">
              <a:avLst>
                <a:gd fmla="val 3960" name="adj"/>
              </a:avLst>
            </a:prstGeom>
            <a:solidFill>
              <a:srgbClr val="F0EDE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2" name="Google Shape;182;p8"/>
            <p:cNvSpPr txBox="1"/>
            <p:nvPr/>
          </p:nvSpPr>
          <p:spPr>
            <a:xfrm>
              <a:off x="0" y="0"/>
              <a:ext cx="1924200" cy="4572000"/>
            </a:xfrm>
            <a:prstGeom prst="rect">
              <a:avLst/>
            </a:prstGeom>
            <a:noFill/>
            <a:ln>
              <a:noFill/>
            </a:ln>
          </p:spPr>
          <p:txBody>
            <a:bodyPr anchorCtr="0" anchor="t" bIns="190500" lIns="152400" spcFirstLastPara="1" rIns="152400" wrap="square" tIns="190500">
              <a:noAutofit/>
            </a:bodyPr>
            <a:lstStyle/>
            <a:p>
              <a:pPr indent="0" lvl="0" marL="0" rtl="0" algn="l">
                <a:spcBef>
                  <a:spcPts val="0"/>
                </a:spcBef>
                <a:spcAft>
                  <a:spcPts val="0"/>
                </a:spcAft>
                <a:buNone/>
              </a:pPr>
              <a:r>
                <a:rPr b="0" lang="en-GB" sz="1100">
                  <a:solidFill>
                    <a:srgbClr val="0064FF"/>
                  </a:solidFill>
                  <a:latin typeface="Outfit SemiBold"/>
                  <a:ea typeface="Outfit SemiBold"/>
                  <a:cs typeface="Outfit SemiBold"/>
                  <a:sym typeface="Outfit SemiBold"/>
                </a:rPr>
                <a:t>L·04</a:t>
              </a:r>
              <a:endParaRPr b="0" sz="1100">
                <a:solidFill>
                  <a:srgbClr val="0064FF"/>
                </a:solidFill>
                <a:latin typeface="Outfit SemiBold"/>
                <a:ea typeface="Outfit SemiBold"/>
                <a:cs typeface="Outfit SemiBold"/>
                <a:sym typeface="Outfit SemiBold"/>
              </a:endParaRPr>
            </a:p>
            <a:p>
              <a:pPr indent="0" lvl="0" marL="0" rtl="0" algn="l">
                <a:spcBef>
                  <a:spcPts val="1200"/>
                </a:spcBef>
                <a:spcAft>
                  <a:spcPts val="0"/>
                </a:spcAft>
                <a:buNone/>
              </a:pPr>
              <a:r>
                <a:rPr b="0" lang="en-GB" sz="850">
                  <a:solidFill>
                    <a:srgbClr val="777777"/>
                  </a:solidFill>
                  <a:latin typeface="Outfit SemiBold"/>
                  <a:ea typeface="Outfit SemiBold"/>
                  <a:cs typeface="Outfit SemiBold"/>
                  <a:sym typeface="Outfit SemiBold"/>
                </a:rPr>
                <a:t>Governed</a:t>
              </a:r>
              <a:endParaRPr b="0" sz="850">
                <a:solidFill>
                  <a:srgbClr val="777777"/>
                </a:solidFill>
                <a:latin typeface="Outfit SemiBold"/>
                <a:ea typeface="Outfit SemiBold"/>
                <a:cs typeface="Outfit SemiBold"/>
                <a:sym typeface="Outfit SemiBold"/>
              </a:endParaRPr>
            </a:p>
            <a:p>
              <a:pPr indent="0" lvl="0" marL="0" rtl="0" algn="l">
                <a:spcBef>
                  <a:spcPts val="150"/>
                </a:spcBef>
                <a:spcAft>
                  <a:spcPts val="0"/>
                </a:spcAft>
                <a:buNone/>
              </a:pPr>
              <a:r>
                <a:rPr lang="en-GB" sz="1800">
                  <a:solidFill>
                    <a:srgbClr val="2C2C2A"/>
                  </a:solidFill>
                  <a:latin typeface="Instrument Serif"/>
                  <a:ea typeface="Instrument Serif"/>
                  <a:cs typeface="Instrument Serif"/>
                  <a:sym typeface="Instrument Serif"/>
                </a:rPr>
                <a:t>Infrastructure</a:t>
              </a:r>
              <a:endParaRPr sz="1800">
                <a:solidFill>
                  <a:srgbClr val="2C2C2A"/>
                </a:solidFill>
                <a:latin typeface="Instrument Serif"/>
                <a:ea typeface="Instrument Serif"/>
                <a:cs typeface="Instrument Serif"/>
                <a:sym typeface="Instrument Serif"/>
              </a:endParaRPr>
            </a:p>
            <a:p>
              <a:pPr indent="0" lvl="0" marL="0" rtl="0" algn="l">
                <a:spcBef>
                  <a:spcPts val="450"/>
                </a:spcBef>
                <a:spcAft>
                  <a:spcPts val="0"/>
                </a:spcAft>
                <a:buNone/>
              </a:pPr>
              <a:r>
                <a:rPr lang="en-GB" sz="1000">
                  <a:solidFill>
                    <a:srgbClr val="444444"/>
                  </a:solidFill>
                  <a:latin typeface="Lora"/>
                  <a:ea typeface="Lora"/>
                  <a:cs typeface="Lora"/>
                  <a:sym typeface="Lora"/>
                </a:rPr>
                <a:t>AI is a sector baseline; the coordination problem crosses organizations.</a:t>
              </a:r>
              <a:endParaRPr sz="1000">
                <a:solidFill>
                  <a:srgbClr val="444444"/>
                </a:solidFill>
                <a:latin typeface="Lora"/>
                <a:ea typeface="Lora"/>
                <a:cs typeface="Lora"/>
                <a:sym typeface="Lora"/>
              </a:endParaRPr>
            </a:p>
            <a:p>
              <a:pPr indent="0" lvl="0" marL="0" rtl="0" algn="l">
                <a:spcBef>
                  <a:spcPts val="1500"/>
                </a:spcBef>
                <a:spcAft>
                  <a:spcPts val="0"/>
                </a:spcAft>
                <a:buNone/>
              </a:pPr>
              <a:r>
                <a:rPr b="0" lang="en-GB" sz="850">
                  <a:solidFill>
                    <a:srgbClr val="777777"/>
                  </a:solidFill>
                  <a:latin typeface="Outfit SemiBold"/>
                  <a:ea typeface="Outfit SemiBold"/>
                  <a:cs typeface="Outfit SemiBold"/>
                  <a:sym typeface="Outfit SemiBold"/>
                </a:rPr>
                <a:t>Cultivated</a:t>
              </a:r>
              <a:endParaRPr b="0" sz="850">
                <a:solidFill>
                  <a:srgbClr val="777777"/>
                </a:solidFill>
                <a:latin typeface="Outfit SemiBold"/>
                <a:ea typeface="Outfit SemiBold"/>
                <a:cs typeface="Outfit SemiBold"/>
                <a:sym typeface="Outfit SemiBold"/>
              </a:endParaRPr>
            </a:p>
            <a:p>
              <a:pPr indent="0" lvl="0" marL="0" rtl="0" algn="l">
                <a:spcBef>
                  <a:spcPts val="150"/>
                </a:spcBef>
                <a:spcAft>
                  <a:spcPts val="0"/>
                </a:spcAft>
                <a:buNone/>
              </a:pPr>
              <a:r>
                <a:rPr lang="en-GB" sz="1800">
                  <a:solidFill>
                    <a:srgbClr val="2C2C2A"/>
                  </a:solidFill>
                  <a:latin typeface="Instrument Serif"/>
                  <a:ea typeface="Instrument Serif"/>
                  <a:cs typeface="Instrument Serif"/>
                  <a:sym typeface="Instrument Serif"/>
                </a:rPr>
                <a:t>Vernacular</a:t>
              </a:r>
              <a:endParaRPr sz="1800">
                <a:solidFill>
                  <a:srgbClr val="2C2C2A"/>
                </a:solidFill>
                <a:latin typeface="Instrument Serif"/>
                <a:ea typeface="Instrument Serif"/>
                <a:cs typeface="Instrument Serif"/>
                <a:sym typeface="Instrument Serif"/>
              </a:endParaRPr>
            </a:p>
            <a:p>
              <a:pPr indent="0" lvl="0" marL="0" rtl="0" algn="l">
                <a:spcBef>
                  <a:spcPts val="450"/>
                </a:spcBef>
                <a:spcAft>
                  <a:spcPts val="0"/>
                </a:spcAft>
                <a:buNone/>
              </a:pPr>
              <a:r>
                <a:rPr lang="en-GB" sz="1000">
                  <a:solidFill>
                    <a:srgbClr val="444444"/>
                  </a:solidFill>
                  <a:latin typeface="Lora"/>
                  <a:ea typeface="Lora"/>
                  <a:cs typeface="Lora"/>
                  <a:sym typeface="Lora"/>
                </a:rPr>
                <a:t>Practices absorbed into culture; tacit knowledge spreads without mandates.</a:t>
              </a:r>
              <a:endParaRPr sz="1000">
                <a:solidFill>
                  <a:srgbClr val="444444"/>
                </a:solidFill>
                <a:latin typeface="Lora"/>
                <a:ea typeface="Lora"/>
                <a:cs typeface="Lora"/>
                <a:sym typeface="Lora"/>
              </a:endParaRPr>
            </a:p>
          </p:txBody>
        </p:sp>
      </p:grpSp>
      <p:grpSp>
        <p:nvGrpSpPr>
          <p:cNvPr id="183" name="Google Shape;183;p8"/>
          <p:cNvGrpSpPr/>
          <p:nvPr/>
        </p:nvGrpSpPr>
        <p:grpSpPr>
          <a:xfrm>
            <a:off x="9444990" y="1857375"/>
            <a:ext cx="1924200" cy="4572000"/>
            <a:chOff x="0" y="0"/>
            <a:chExt cx="1924200" cy="4572000"/>
          </a:xfrm>
        </p:grpSpPr>
        <p:sp>
          <p:nvSpPr>
            <p:cNvPr id="184" name="Google Shape;184;p8"/>
            <p:cNvSpPr/>
            <p:nvPr/>
          </p:nvSpPr>
          <p:spPr>
            <a:xfrm>
              <a:off x="0" y="0"/>
              <a:ext cx="1924200" cy="4572000"/>
            </a:xfrm>
            <a:prstGeom prst="roundRect">
              <a:avLst>
                <a:gd fmla="val 3960" name="adj"/>
              </a:avLst>
            </a:prstGeom>
            <a:solidFill>
              <a:srgbClr val="F0EDE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5" name="Google Shape;185;p8"/>
            <p:cNvSpPr txBox="1"/>
            <p:nvPr/>
          </p:nvSpPr>
          <p:spPr>
            <a:xfrm>
              <a:off x="0" y="0"/>
              <a:ext cx="1924200" cy="4572000"/>
            </a:xfrm>
            <a:prstGeom prst="rect">
              <a:avLst/>
            </a:prstGeom>
            <a:noFill/>
            <a:ln>
              <a:noFill/>
            </a:ln>
          </p:spPr>
          <p:txBody>
            <a:bodyPr anchorCtr="0" anchor="t" bIns="190500" lIns="152400" spcFirstLastPara="1" rIns="152400" wrap="square" tIns="190500">
              <a:noAutofit/>
            </a:bodyPr>
            <a:lstStyle/>
            <a:p>
              <a:pPr indent="0" lvl="0" marL="0" rtl="0" algn="l">
                <a:spcBef>
                  <a:spcPts val="0"/>
                </a:spcBef>
                <a:spcAft>
                  <a:spcPts val="0"/>
                </a:spcAft>
                <a:buNone/>
              </a:pPr>
              <a:r>
                <a:rPr b="0" lang="en-GB" sz="1100">
                  <a:solidFill>
                    <a:srgbClr val="0064FF"/>
                  </a:solidFill>
                  <a:latin typeface="Outfit SemiBold"/>
                  <a:ea typeface="Outfit SemiBold"/>
                  <a:cs typeface="Outfit SemiBold"/>
                  <a:sym typeface="Outfit SemiBold"/>
                </a:rPr>
                <a:t>L·05</a:t>
              </a:r>
              <a:endParaRPr b="0" sz="1100">
                <a:solidFill>
                  <a:srgbClr val="0064FF"/>
                </a:solidFill>
                <a:latin typeface="Outfit SemiBold"/>
                <a:ea typeface="Outfit SemiBold"/>
                <a:cs typeface="Outfit SemiBold"/>
                <a:sym typeface="Outfit SemiBold"/>
              </a:endParaRPr>
            </a:p>
            <a:p>
              <a:pPr indent="0" lvl="0" marL="0" rtl="0" algn="l">
                <a:spcBef>
                  <a:spcPts val="1200"/>
                </a:spcBef>
                <a:spcAft>
                  <a:spcPts val="0"/>
                </a:spcAft>
                <a:buNone/>
              </a:pPr>
              <a:r>
                <a:rPr b="0" lang="en-GB" sz="850">
                  <a:solidFill>
                    <a:srgbClr val="777777"/>
                  </a:solidFill>
                  <a:latin typeface="Outfit SemiBold"/>
                  <a:ea typeface="Outfit SemiBold"/>
                  <a:cs typeface="Outfit SemiBold"/>
                  <a:sym typeface="Outfit SemiBold"/>
                </a:rPr>
                <a:t>Governed</a:t>
              </a:r>
              <a:endParaRPr b="0" sz="850">
                <a:solidFill>
                  <a:srgbClr val="777777"/>
                </a:solidFill>
                <a:latin typeface="Outfit SemiBold"/>
                <a:ea typeface="Outfit SemiBold"/>
                <a:cs typeface="Outfit SemiBold"/>
                <a:sym typeface="Outfit SemiBold"/>
              </a:endParaRPr>
            </a:p>
            <a:p>
              <a:pPr indent="0" lvl="0" marL="0" rtl="0" algn="l">
                <a:spcBef>
                  <a:spcPts val="150"/>
                </a:spcBef>
                <a:spcAft>
                  <a:spcPts val="0"/>
                </a:spcAft>
                <a:buNone/>
              </a:pPr>
              <a:r>
                <a:rPr lang="en-GB" sz="1800">
                  <a:solidFill>
                    <a:srgbClr val="2C2C2A"/>
                  </a:solidFill>
                  <a:latin typeface="Instrument Serif"/>
                  <a:ea typeface="Instrument Serif"/>
                  <a:cs typeface="Instrument Serif"/>
                  <a:sym typeface="Instrument Serif"/>
                </a:rPr>
                <a:t>Planetary</a:t>
              </a:r>
              <a:endParaRPr sz="1800">
                <a:solidFill>
                  <a:srgbClr val="2C2C2A"/>
                </a:solidFill>
                <a:latin typeface="Instrument Serif"/>
                <a:ea typeface="Instrument Serif"/>
                <a:cs typeface="Instrument Serif"/>
                <a:sym typeface="Instrument Serif"/>
              </a:endParaRPr>
            </a:p>
            <a:p>
              <a:pPr indent="0" lvl="0" marL="0" rtl="0" algn="l">
                <a:spcBef>
                  <a:spcPts val="450"/>
                </a:spcBef>
                <a:spcAft>
                  <a:spcPts val="0"/>
                </a:spcAft>
                <a:buNone/>
              </a:pPr>
              <a:r>
                <a:rPr lang="en-GB" sz="1000">
                  <a:solidFill>
                    <a:srgbClr val="444444"/>
                  </a:solidFill>
                  <a:latin typeface="Lora"/>
                  <a:ea typeface="Lora"/>
                  <a:cs typeface="Lora"/>
                  <a:sym typeface="Lora"/>
                </a:rPr>
                <a:t>Civilization-scale AI; coordination and legibility become the governance challenge.</a:t>
              </a:r>
              <a:endParaRPr sz="1000">
                <a:solidFill>
                  <a:srgbClr val="444444"/>
                </a:solidFill>
                <a:latin typeface="Lora"/>
                <a:ea typeface="Lora"/>
                <a:cs typeface="Lora"/>
                <a:sym typeface="Lora"/>
              </a:endParaRPr>
            </a:p>
            <a:p>
              <a:pPr indent="0" lvl="0" marL="0" rtl="0" algn="l">
                <a:spcBef>
                  <a:spcPts val="1500"/>
                </a:spcBef>
                <a:spcAft>
                  <a:spcPts val="0"/>
                </a:spcAft>
                <a:buNone/>
              </a:pPr>
              <a:r>
                <a:rPr b="0" lang="en-GB" sz="850">
                  <a:solidFill>
                    <a:srgbClr val="777777"/>
                  </a:solidFill>
                  <a:latin typeface="Outfit SemiBold"/>
                  <a:ea typeface="Outfit SemiBold"/>
                  <a:cs typeface="Outfit SemiBold"/>
                  <a:sym typeface="Outfit SemiBold"/>
                </a:rPr>
                <a:t>Cultivated</a:t>
              </a:r>
              <a:endParaRPr b="0" sz="850">
                <a:solidFill>
                  <a:srgbClr val="777777"/>
                </a:solidFill>
                <a:latin typeface="Outfit SemiBold"/>
                <a:ea typeface="Outfit SemiBold"/>
                <a:cs typeface="Outfit SemiBold"/>
                <a:sym typeface="Outfit SemiBold"/>
              </a:endParaRPr>
            </a:p>
            <a:p>
              <a:pPr indent="0" lvl="0" marL="0" rtl="0" algn="l">
                <a:spcBef>
                  <a:spcPts val="150"/>
                </a:spcBef>
                <a:spcAft>
                  <a:spcPts val="0"/>
                </a:spcAft>
                <a:buNone/>
              </a:pPr>
              <a:r>
                <a:rPr lang="en-GB" sz="1800">
                  <a:solidFill>
                    <a:srgbClr val="2C2C2A"/>
                  </a:solidFill>
                  <a:latin typeface="Instrument Serif"/>
                  <a:ea typeface="Instrument Serif"/>
                  <a:cs typeface="Instrument Serif"/>
                  <a:sym typeface="Instrument Serif"/>
                </a:rPr>
                <a:t>Fluency</a:t>
              </a:r>
              <a:endParaRPr sz="1800">
                <a:solidFill>
                  <a:srgbClr val="2C2C2A"/>
                </a:solidFill>
                <a:latin typeface="Instrument Serif"/>
                <a:ea typeface="Instrument Serif"/>
                <a:cs typeface="Instrument Serif"/>
                <a:sym typeface="Instrument Serif"/>
              </a:endParaRPr>
            </a:p>
            <a:p>
              <a:pPr indent="0" lvl="0" marL="0" rtl="0" algn="l">
                <a:spcBef>
                  <a:spcPts val="450"/>
                </a:spcBef>
                <a:spcAft>
                  <a:spcPts val="0"/>
                </a:spcAft>
                <a:buNone/>
              </a:pPr>
              <a:r>
                <a:rPr lang="en-GB" sz="1000">
                  <a:solidFill>
                    <a:srgbClr val="444444"/>
                  </a:solidFill>
                  <a:latin typeface="Lora"/>
                  <a:ea typeface="Lora"/>
                  <a:cs typeface="Lora"/>
                  <a:sym typeface="Lora"/>
                </a:rPr>
                <a:t>AI fully absorbed into how people think and work — second nature, no longer named.</a:t>
              </a:r>
              <a:endParaRPr sz="1000">
                <a:solidFill>
                  <a:srgbClr val="444444"/>
                </a:solidFill>
                <a:latin typeface="Lora"/>
                <a:ea typeface="Lora"/>
                <a:cs typeface="Lora"/>
                <a:sym typeface="Lora"/>
              </a:endParaRPr>
            </a:p>
          </p:txBody>
        </p:sp>
      </p:grpSp>
      <p:sp>
        <p:nvSpPr>
          <p:cNvPr id="186" name="Google Shape;186;p8"/>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g3fbb3796125_0_137"/>
          <p:cNvSpPr txBox="1"/>
          <p:nvPr>
            <p:ph idx="1" type="body"/>
          </p:nvPr>
        </p:nvSpPr>
        <p:spPr>
          <a:xfrm>
            <a:off x="822960" y="457200"/>
            <a:ext cx="9144000" cy="320100"/>
          </a:xfrm>
          <a:prstGeom prst="rect">
            <a:avLst/>
          </a:prstGeom>
          <a:noFill/>
          <a:ln>
            <a:noFill/>
          </a:ln>
        </p:spPr>
        <p:txBody>
          <a:bodyPr anchorCtr="0" anchor="t" bIns="0" lIns="0" spcFirstLastPara="1" rIns="0" wrap="square" tIns="0">
            <a:noAutofit/>
          </a:bodyPr>
          <a:lstStyle/>
          <a:p>
            <a:pPr indent="0" lvl="0" marL="0" rtl="0" algn="l">
              <a:lnSpc>
                <a:spcPct val="118000"/>
              </a:lnSpc>
              <a:spcBef>
                <a:spcPts val="0"/>
              </a:spcBef>
              <a:spcAft>
                <a:spcPts val="0"/>
              </a:spcAft>
              <a:buClr>
                <a:srgbClr val="0064FF"/>
              </a:buClr>
              <a:buSzPts val="1200"/>
              <a:buFont typeface="Outfit"/>
              <a:buNone/>
            </a:pPr>
            <a:r>
              <a:rPr lang="en-GB"/>
              <a:t>SESSION 1 · KITS · DEFINITION</a:t>
            </a:r>
            <a:endParaRPr/>
          </a:p>
        </p:txBody>
      </p:sp>
      <p:sp>
        <p:nvSpPr>
          <p:cNvPr id="192" name="Google Shape;192;g3fbb3796125_0_137"/>
          <p:cNvSpPr txBox="1"/>
          <p:nvPr>
            <p:ph type="title"/>
          </p:nvPr>
        </p:nvSpPr>
        <p:spPr>
          <a:xfrm>
            <a:off x="822949" y="914400"/>
            <a:ext cx="10644300" cy="1371600"/>
          </a:xfrm>
          <a:prstGeom prst="rect">
            <a:avLst/>
          </a:prstGeom>
          <a:noFill/>
          <a:ln>
            <a:noFill/>
          </a:ln>
        </p:spPr>
        <p:txBody>
          <a:bodyPr anchorCtr="0" anchor="t" bIns="0" lIns="0" spcFirstLastPara="1" rIns="0" wrap="square" tIns="0">
            <a:noAutofit/>
          </a:bodyPr>
          <a:lstStyle/>
          <a:p>
            <a:pPr indent="0" lvl="0" marL="0" rtl="0" algn="l">
              <a:lnSpc>
                <a:spcPct val="96000"/>
              </a:lnSpc>
              <a:spcBef>
                <a:spcPts val="0"/>
              </a:spcBef>
              <a:spcAft>
                <a:spcPts val="0"/>
              </a:spcAft>
              <a:buClr>
                <a:srgbClr val="2C2C2A"/>
              </a:buClr>
              <a:buSzPts val="2800"/>
              <a:buFont typeface="Instrument Serif"/>
              <a:buNone/>
            </a:pPr>
            <a:r>
              <a:rPr lang="en-GB"/>
              <a:t>A kit is a local protocol for adapting AI inside an inherited system.</a:t>
            </a:r>
            <a:endParaRPr/>
          </a:p>
        </p:txBody>
      </p:sp>
      <p:grpSp>
        <p:nvGrpSpPr>
          <p:cNvPr id="193" name="Google Shape;193;g3fbb3796125_0_137"/>
          <p:cNvGrpSpPr/>
          <p:nvPr/>
        </p:nvGrpSpPr>
        <p:grpSpPr>
          <a:xfrm>
            <a:off x="822960" y="1845225"/>
            <a:ext cx="5095800" cy="2952900"/>
            <a:chOff x="0" y="0"/>
            <a:chExt cx="5095800" cy="2952900"/>
          </a:xfrm>
        </p:grpSpPr>
        <p:sp>
          <p:nvSpPr>
            <p:cNvPr id="194" name="Google Shape;194;g3fbb3796125_0_137"/>
            <p:cNvSpPr/>
            <p:nvPr/>
          </p:nvSpPr>
          <p:spPr>
            <a:xfrm>
              <a:off x="0" y="0"/>
              <a:ext cx="5095800" cy="2952900"/>
            </a:xfrm>
            <a:prstGeom prst="roundRect">
              <a:avLst>
                <a:gd fmla="val 2580" name="adj"/>
              </a:avLst>
            </a:prstGeom>
            <a:solidFill>
              <a:srgbClr val="F0EDE6"/>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 name="Google Shape;195;g3fbb3796125_0_137"/>
            <p:cNvSpPr txBox="1"/>
            <p:nvPr/>
          </p:nvSpPr>
          <p:spPr>
            <a:xfrm>
              <a:off x="0" y="0"/>
              <a:ext cx="5095800" cy="2952900"/>
            </a:xfrm>
            <a:prstGeom prst="rect">
              <a:avLst/>
            </a:prstGeom>
            <a:solidFill>
              <a:srgbClr val="000000">
                <a:alpha val="0"/>
              </a:srgbClr>
            </a:solidFill>
            <a:ln>
              <a:noFill/>
            </a:ln>
          </p:spPr>
          <p:txBody>
            <a:bodyPr anchorCtr="0" anchor="t" bIns="228600" lIns="228600" spcFirstLastPara="1" rIns="228600" wrap="square" tIns="228600">
              <a:noAutofit/>
            </a:bodyPr>
            <a:lstStyle/>
            <a:p>
              <a:pPr indent="0" lvl="0" marL="0" marR="0" rtl="0" algn="l">
                <a:lnSpc>
                  <a:spcPct val="100000"/>
                </a:lnSpc>
                <a:spcBef>
                  <a:spcPts val="0"/>
                </a:spcBef>
                <a:spcAft>
                  <a:spcPts val="0"/>
                </a:spcAft>
                <a:buClr>
                  <a:srgbClr val="000000"/>
                </a:buClr>
                <a:buSzPts val="1100"/>
                <a:buFont typeface="Arial"/>
                <a:buNone/>
              </a:pPr>
              <a:r>
                <a:rPr b="0" i="0" lang="en-GB" sz="1100" u="none" cap="none" strike="noStrike">
                  <a:solidFill>
                    <a:srgbClr val="0064FF"/>
                  </a:solidFill>
                  <a:latin typeface="Outfit SemiBold"/>
                  <a:ea typeface="Outfit SemiBold"/>
                  <a:cs typeface="Outfit SemiBold"/>
                  <a:sym typeface="Outfit SemiBold"/>
                </a:rPr>
                <a:t>1 · THE CONCEPT</a:t>
              </a:r>
              <a:endParaRPr b="0" i="0" sz="1100" u="none" cap="none" strike="noStrike">
                <a:solidFill>
                  <a:srgbClr val="0064FF"/>
                </a:solidFill>
                <a:latin typeface="Outfit SemiBold"/>
                <a:ea typeface="Outfit SemiBold"/>
                <a:cs typeface="Outfit SemiBold"/>
                <a:sym typeface="Outfit SemiBold"/>
              </a:endParaRPr>
            </a:p>
            <a:p>
              <a:pPr indent="0" lvl="0" marL="0" marR="0" rtl="0" algn="l">
                <a:lnSpc>
                  <a:spcPct val="100000"/>
                </a:lnSpc>
                <a:spcBef>
                  <a:spcPts val="1000"/>
                </a:spcBef>
                <a:spcAft>
                  <a:spcPts val="0"/>
                </a:spcAft>
                <a:buClr>
                  <a:srgbClr val="000000"/>
                </a:buClr>
                <a:buSzPts val="1150"/>
                <a:buFont typeface="Arial"/>
                <a:buNone/>
              </a:pPr>
              <a:r>
                <a:rPr lang="en-GB" sz="1150">
                  <a:solidFill>
                    <a:srgbClr val="2C2C2A"/>
                  </a:solidFill>
                  <a:latin typeface="Lora"/>
                  <a:ea typeface="Lora"/>
                  <a:cs typeface="Lora"/>
                  <a:sym typeface="Lora"/>
                </a:rPr>
                <a:t>AI still gives you loose parts: prompts, files, model calls, agents and steps you can bend around one recurring job.</a:t>
              </a:r>
              <a:endParaRPr b="0" i="0" sz="1150" u="none" cap="none" strike="noStrike">
                <a:solidFill>
                  <a:srgbClr val="2C2C2A"/>
                </a:solidFill>
                <a:latin typeface="Lora"/>
                <a:ea typeface="Lora"/>
                <a:cs typeface="Lora"/>
                <a:sym typeface="Lora"/>
              </a:endParaRPr>
            </a:p>
            <a:p>
              <a:pPr indent="0" lvl="0" marL="0" marR="0" rtl="0" algn="l">
                <a:lnSpc>
                  <a:spcPct val="100000"/>
                </a:lnSpc>
                <a:spcBef>
                  <a:spcPts val="1000"/>
                </a:spcBef>
                <a:spcAft>
                  <a:spcPts val="0"/>
                </a:spcAft>
                <a:buClr>
                  <a:srgbClr val="000000"/>
                </a:buClr>
                <a:buSzPts val="1150"/>
                <a:buFont typeface="Arial"/>
                <a:buNone/>
              </a:pPr>
              <a:r>
                <a:rPr lang="en-GB" sz="1150">
                  <a:solidFill>
                    <a:srgbClr val="2C2C2A"/>
                  </a:solidFill>
                  <a:latin typeface="Lora"/>
                  <a:ea typeface="Lora"/>
                  <a:cs typeface="Lora"/>
                  <a:sym typeface="Lora"/>
                </a:rPr>
                <a:t>But the practice sits inside existing workflows, permissions, standards, software and organizational constraints. The kit records how you make room inside them.</a:t>
              </a:r>
              <a:endParaRPr b="0" i="0" sz="1150" u="none" cap="none" strike="noStrike">
                <a:solidFill>
                  <a:srgbClr val="2C2C2A"/>
                </a:solidFill>
                <a:latin typeface="Lora"/>
                <a:ea typeface="Lora"/>
                <a:cs typeface="Lora"/>
                <a:sym typeface="Lora"/>
              </a:endParaRPr>
            </a:p>
            <a:p>
              <a:pPr indent="0" lvl="0" marL="0" marR="0" rtl="0" algn="l">
                <a:lnSpc>
                  <a:spcPct val="100000"/>
                </a:lnSpc>
                <a:spcBef>
                  <a:spcPts val="1000"/>
                </a:spcBef>
                <a:spcAft>
                  <a:spcPts val="0"/>
                </a:spcAft>
                <a:buClr>
                  <a:srgbClr val="000000"/>
                </a:buClr>
                <a:buSzPts val="1150"/>
                <a:buFont typeface="Arial"/>
                <a:buNone/>
              </a:pPr>
              <a:r>
                <a:rPr b="0" i="0" lang="en-GB" sz="1150" u="none" cap="none" strike="noStrike">
                  <a:solidFill>
                    <a:srgbClr val="2C2C2A"/>
                  </a:solidFill>
                  <a:latin typeface="Lora"/>
                  <a:ea typeface="Lora"/>
                  <a:cs typeface="Lora"/>
                  <a:sym typeface="Lora"/>
                </a:rPr>
                <a:t>A factory — tonight's topic — runs without you, bends to its user, and hands off work others can build on.</a:t>
              </a:r>
              <a:endParaRPr b="0" i="0" sz="1150" u="none" cap="none" strike="noStrike">
                <a:solidFill>
                  <a:srgbClr val="2C2C2A"/>
                </a:solidFill>
                <a:latin typeface="Lora"/>
                <a:ea typeface="Lora"/>
                <a:cs typeface="Lora"/>
                <a:sym typeface="Lora"/>
              </a:endParaRPr>
            </a:p>
          </p:txBody>
        </p:sp>
      </p:grpSp>
      <p:grpSp>
        <p:nvGrpSpPr>
          <p:cNvPr id="196" name="Google Shape;196;g3fbb3796125_0_137"/>
          <p:cNvGrpSpPr/>
          <p:nvPr/>
        </p:nvGrpSpPr>
        <p:grpSpPr>
          <a:xfrm>
            <a:off x="6143625" y="1845225"/>
            <a:ext cx="5225400" cy="2952900"/>
            <a:chOff x="0" y="0"/>
            <a:chExt cx="5225400" cy="2952900"/>
          </a:xfrm>
        </p:grpSpPr>
        <p:sp>
          <p:nvSpPr>
            <p:cNvPr id="197" name="Google Shape;197;g3fbb3796125_0_137"/>
            <p:cNvSpPr/>
            <p:nvPr/>
          </p:nvSpPr>
          <p:spPr>
            <a:xfrm>
              <a:off x="0" y="0"/>
              <a:ext cx="5225400" cy="2952900"/>
            </a:xfrm>
            <a:prstGeom prst="roundRect">
              <a:avLst>
                <a:gd fmla="val 2580" name="adj"/>
              </a:avLst>
            </a:prstGeom>
            <a:solidFill>
              <a:srgbClr val="E1F5EE"/>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 name="Google Shape;198;g3fbb3796125_0_137"/>
            <p:cNvSpPr txBox="1"/>
            <p:nvPr/>
          </p:nvSpPr>
          <p:spPr>
            <a:xfrm>
              <a:off x="0" y="0"/>
              <a:ext cx="5225400" cy="2952900"/>
            </a:xfrm>
            <a:prstGeom prst="rect">
              <a:avLst/>
            </a:prstGeom>
            <a:solidFill>
              <a:srgbClr val="000000">
                <a:alpha val="0"/>
              </a:srgbClr>
            </a:solidFill>
            <a:ln>
              <a:noFill/>
            </a:ln>
          </p:spPr>
          <p:txBody>
            <a:bodyPr anchorCtr="0" anchor="t" bIns="228600" lIns="228600" spcFirstLastPara="1" rIns="228600" wrap="square" tIns="228600">
              <a:noAutofit/>
            </a:bodyPr>
            <a:lstStyle/>
            <a:p>
              <a:pPr indent="0" lvl="0" marL="0" marR="0" rtl="0" algn="l">
                <a:lnSpc>
                  <a:spcPct val="100000"/>
                </a:lnSpc>
                <a:spcBef>
                  <a:spcPts val="0"/>
                </a:spcBef>
                <a:spcAft>
                  <a:spcPts val="0"/>
                </a:spcAft>
                <a:buClr>
                  <a:srgbClr val="000000"/>
                </a:buClr>
                <a:buSzPts val="1100"/>
                <a:buFont typeface="Arial"/>
                <a:buNone/>
              </a:pPr>
              <a:r>
                <a:rPr b="0" i="0" lang="en-GB" sz="1100" u="none" cap="none" strike="noStrike">
                  <a:solidFill>
                    <a:srgbClr val="085041"/>
                  </a:solidFill>
                  <a:latin typeface="Outfit SemiBold"/>
                  <a:ea typeface="Outfit SemiBold"/>
                  <a:cs typeface="Outfit SemiBold"/>
                  <a:sym typeface="Outfit SemiBold"/>
                </a:rPr>
                <a:t>2 · STRUCTURE</a:t>
              </a:r>
              <a:endParaRPr b="0" i="0" sz="1100" u="none" cap="none" strike="noStrike">
                <a:solidFill>
                  <a:srgbClr val="085041"/>
                </a:solidFill>
                <a:latin typeface="Outfit SemiBold"/>
                <a:ea typeface="Outfit SemiBold"/>
                <a:cs typeface="Outfit SemiBold"/>
                <a:sym typeface="Outfit SemiBold"/>
              </a:endParaRPr>
            </a:p>
            <a:p>
              <a:pPr indent="0" lvl="0" marL="0" marR="0" rtl="0" algn="l">
                <a:lnSpc>
                  <a:spcPct val="100000"/>
                </a:lnSpc>
                <a:spcBef>
                  <a:spcPts val="400"/>
                </a:spcBef>
                <a:spcAft>
                  <a:spcPts val="0"/>
                </a:spcAft>
                <a:buClr>
                  <a:srgbClr val="000000"/>
                </a:buClr>
                <a:buSzPts val="2200"/>
                <a:buFont typeface="Arial"/>
                <a:buNone/>
              </a:pPr>
              <a:r>
                <a:rPr b="0" i="0" lang="en-GB" sz="2200" u="none" cap="none" strike="noStrike">
                  <a:solidFill>
                    <a:srgbClr val="2C2C2A"/>
                  </a:solidFill>
                  <a:latin typeface="Instrument Serif"/>
                  <a:ea typeface="Instrument Serif"/>
                  <a:cs typeface="Instrument Serif"/>
                  <a:sym typeface="Instrument Serif"/>
                </a:rPr>
                <a:t>Your kit folder</a:t>
              </a:r>
              <a:endParaRPr b="0" i="0" sz="2200" u="none" cap="none" strike="noStrike">
                <a:solidFill>
                  <a:srgbClr val="2C2C2A"/>
                </a:solidFill>
                <a:latin typeface="Instrument Serif"/>
                <a:ea typeface="Instrument Serif"/>
                <a:cs typeface="Instrument Serif"/>
                <a:sym typeface="Instrument Serif"/>
              </a:endParaRPr>
            </a:p>
            <a:p>
              <a:pPr indent="-298450" lvl="0" marL="457200" marR="0" rtl="0" algn="l">
                <a:lnSpc>
                  <a:spcPct val="100000"/>
                </a:lnSpc>
                <a:spcBef>
                  <a:spcPts val="1000"/>
                </a:spcBef>
                <a:spcAft>
                  <a:spcPts val="0"/>
                </a:spcAft>
                <a:buClr>
                  <a:srgbClr val="085041"/>
                </a:buClr>
                <a:buSzPts val="1100"/>
                <a:buFont typeface="Lora"/>
                <a:buChar char="●"/>
              </a:pPr>
              <a:r>
                <a:rPr b="0" i="0" lang="en-GB" sz="1100" u="none" cap="none" strike="noStrike">
                  <a:solidFill>
                    <a:srgbClr val="2C2C2A"/>
                  </a:solidFill>
                  <a:latin typeface="Arial"/>
                  <a:ea typeface="Arial"/>
                  <a:cs typeface="Arial"/>
                  <a:sym typeface="Arial"/>
                </a:rPr>
                <a:t>README.md</a:t>
              </a:r>
              <a:r>
                <a:rPr b="0" i="0" lang="en-GB" sz="1100" u="none" cap="none" strike="noStrike">
                  <a:solidFill>
                    <a:srgbClr val="085041"/>
                  </a:solidFill>
                  <a:latin typeface="Lora"/>
                  <a:ea typeface="Lora"/>
                  <a:cs typeface="Lora"/>
                  <a:sym typeface="Lora"/>
                </a:rPr>
                <a:t> — for people</a:t>
              </a:r>
              <a:endParaRPr b="0" i="0" sz="1100" u="none" cap="none" strike="noStrike">
                <a:solidFill>
                  <a:srgbClr val="085041"/>
                </a:solidFill>
                <a:latin typeface="Lora"/>
                <a:ea typeface="Lora"/>
                <a:cs typeface="Lora"/>
                <a:sym typeface="Lora"/>
              </a:endParaRPr>
            </a:p>
            <a:p>
              <a:pPr indent="-298450" lvl="0" marL="457200" marR="0" rtl="0" algn="l">
                <a:lnSpc>
                  <a:spcPct val="100000"/>
                </a:lnSpc>
                <a:spcBef>
                  <a:spcPts val="600"/>
                </a:spcBef>
                <a:spcAft>
                  <a:spcPts val="0"/>
                </a:spcAft>
                <a:buClr>
                  <a:srgbClr val="085041"/>
                </a:buClr>
                <a:buSzPts val="1100"/>
                <a:buFont typeface="Lora"/>
                <a:buChar char="●"/>
              </a:pPr>
              <a:r>
                <a:rPr b="0" i="0" lang="en-GB" sz="1100" u="none" cap="none" strike="noStrike">
                  <a:solidFill>
                    <a:srgbClr val="2C2C2A"/>
                  </a:solidFill>
                  <a:latin typeface="Arial"/>
                  <a:ea typeface="Arial"/>
                  <a:cs typeface="Arial"/>
                  <a:sym typeface="Arial"/>
                </a:rPr>
                <a:t>SKILL.md</a:t>
              </a:r>
              <a:r>
                <a:rPr b="0" i="0" lang="en-GB" sz="1100" u="none" cap="none" strike="noStrike">
                  <a:solidFill>
                    <a:srgbClr val="085041"/>
                  </a:solidFill>
                  <a:latin typeface="Lora"/>
                  <a:ea typeface="Lora"/>
                  <a:cs typeface="Lora"/>
                  <a:sym typeface="Lora"/>
                </a:rPr>
                <a:t> — for the assistant: what the job is, when to use it</a:t>
              </a:r>
              <a:endParaRPr b="0" i="0" sz="1100" u="none" cap="none" strike="noStrike">
                <a:solidFill>
                  <a:srgbClr val="085041"/>
                </a:solidFill>
                <a:latin typeface="Lora"/>
                <a:ea typeface="Lora"/>
                <a:cs typeface="Lora"/>
                <a:sym typeface="Lora"/>
              </a:endParaRPr>
            </a:p>
            <a:p>
              <a:pPr indent="-298450" lvl="0" marL="457200" marR="0" rtl="0" algn="l">
                <a:lnSpc>
                  <a:spcPct val="100000"/>
                </a:lnSpc>
                <a:spcBef>
                  <a:spcPts val="600"/>
                </a:spcBef>
                <a:spcAft>
                  <a:spcPts val="0"/>
                </a:spcAft>
                <a:buClr>
                  <a:srgbClr val="085041"/>
                </a:buClr>
                <a:buSzPts val="1100"/>
                <a:buFont typeface="Lora"/>
                <a:buChar char="●"/>
              </a:pPr>
              <a:r>
                <a:rPr b="0" i="0" lang="en-GB" sz="1100" u="none" cap="none" strike="noStrike">
                  <a:solidFill>
                    <a:srgbClr val="2C2C2A"/>
                  </a:solidFill>
                  <a:latin typeface="Arial"/>
                  <a:ea typeface="Arial"/>
                  <a:cs typeface="Arial"/>
                  <a:sym typeface="Arial"/>
                </a:rPr>
                <a:t>examples/</a:t>
              </a:r>
              <a:r>
                <a:rPr b="0" i="0" lang="en-GB" sz="1100" u="none" cap="none" strike="noStrike">
                  <a:solidFill>
                    <a:srgbClr val="085041"/>
                  </a:solidFill>
                  <a:latin typeface="Lora"/>
                  <a:ea typeface="Lora"/>
                  <a:cs typeface="Lora"/>
                  <a:sym typeface="Lora"/>
                </a:rPr>
                <a:t> — one worked input and output</a:t>
              </a:r>
              <a:endParaRPr b="0" i="0" sz="1100" u="none" cap="none" strike="noStrike">
                <a:solidFill>
                  <a:srgbClr val="085041"/>
                </a:solidFill>
                <a:latin typeface="Lora"/>
                <a:ea typeface="Lora"/>
                <a:cs typeface="Lora"/>
                <a:sym typeface="Lora"/>
              </a:endParaRPr>
            </a:p>
            <a:p>
              <a:pPr indent="-298450" lvl="0" marL="457200" marR="0" rtl="0" algn="l">
                <a:lnSpc>
                  <a:spcPct val="100000"/>
                </a:lnSpc>
                <a:spcBef>
                  <a:spcPts val="600"/>
                </a:spcBef>
                <a:spcAft>
                  <a:spcPts val="0"/>
                </a:spcAft>
                <a:buClr>
                  <a:srgbClr val="085041"/>
                </a:buClr>
                <a:buSzPts val="1100"/>
                <a:buFont typeface="Lora"/>
                <a:buChar char="●"/>
              </a:pPr>
              <a:r>
                <a:rPr b="0" i="0" lang="en-GB" sz="1100" u="none" cap="none" strike="noStrike">
                  <a:solidFill>
                    <a:srgbClr val="2C2C2A"/>
                  </a:solidFill>
                  <a:latin typeface="Arial"/>
                  <a:ea typeface="Arial"/>
                  <a:cs typeface="Arial"/>
                  <a:sym typeface="Arial"/>
                </a:rPr>
                <a:t>LOG.md</a:t>
              </a:r>
              <a:r>
                <a:rPr b="0" i="0" lang="en-GB" sz="1100" u="none" cap="none" strike="noStrike">
                  <a:solidFill>
                    <a:srgbClr val="085041"/>
                  </a:solidFill>
                  <a:latin typeface="Lora"/>
                  <a:ea typeface="Lora"/>
                  <a:cs typeface="Lora"/>
                  <a:sym typeface="Lora"/>
                </a:rPr>
                <a:t> — what changed, and what broke</a:t>
              </a:r>
              <a:endParaRPr b="0" i="0" sz="1100" u="none" cap="none" strike="noStrike">
                <a:solidFill>
                  <a:srgbClr val="085041"/>
                </a:solidFill>
                <a:latin typeface="Lora"/>
                <a:ea typeface="Lora"/>
                <a:cs typeface="Lora"/>
                <a:sym typeface="Lora"/>
              </a:endParaRPr>
            </a:p>
            <a:p>
              <a:pPr indent="-298450" lvl="0" marL="457200" marR="0" rtl="0" algn="l">
                <a:lnSpc>
                  <a:spcPct val="100000"/>
                </a:lnSpc>
                <a:spcBef>
                  <a:spcPts val="600"/>
                </a:spcBef>
                <a:spcAft>
                  <a:spcPts val="0"/>
                </a:spcAft>
                <a:buClr>
                  <a:srgbClr val="085041"/>
                </a:buClr>
                <a:buSzPts val="1100"/>
                <a:buFont typeface="Lora"/>
                <a:buChar char="●"/>
              </a:pPr>
              <a:r>
                <a:rPr b="0" i="0" lang="en-GB" sz="1100" u="none" cap="none" strike="noStrike">
                  <a:solidFill>
                    <a:srgbClr val="085041"/>
                  </a:solidFill>
                  <a:latin typeface="Lora"/>
                  <a:ea typeface="Lora"/>
                  <a:cs typeface="Lora"/>
                  <a:sym typeface="Lora"/>
                </a:rPr>
                <a:t>Template in the repo: </a:t>
              </a:r>
              <a:r>
                <a:rPr b="0" i="0" lang="en-GB" sz="1100" u="none" cap="none" strike="noStrike">
                  <a:solidFill>
                    <a:srgbClr val="2C2C2A"/>
                  </a:solidFill>
                  <a:latin typeface="Arial"/>
                  <a:ea typeface="Arial"/>
                  <a:cs typeface="Arial"/>
                  <a:sym typeface="Arial"/>
                </a:rPr>
                <a:t>PARTICIPANT_TEMPLATE/</a:t>
              </a:r>
              <a:endParaRPr b="0" i="0" sz="1100" u="none" cap="none" strike="noStrike">
                <a:solidFill>
                  <a:srgbClr val="085041"/>
                </a:solidFill>
                <a:latin typeface="Lora"/>
                <a:ea typeface="Lora"/>
                <a:cs typeface="Lora"/>
                <a:sym typeface="Lora"/>
              </a:endParaRPr>
            </a:p>
          </p:txBody>
        </p:sp>
      </p:grpSp>
      <p:grpSp>
        <p:nvGrpSpPr>
          <p:cNvPr id="199" name="Google Shape;199;g3fbb3796125_0_137"/>
          <p:cNvGrpSpPr/>
          <p:nvPr/>
        </p:nvGrpSpPr>
        <p:grpSpPr>
          <a:xfrm>
            <a:off x="822960" y="4876800"/>
            <a:ext cx="10546200" cy="1295400"/>
            <a:chOff x="0" y="0"/>
            <a:chExt cx="10546200" cy="1295400"/>
          </a:xfrm>
        </p:grpSpPr>
        <p:sp>
          <p:nvSpPr>
            <p:cNvPr id="200" name="Google Shape;200;g3fbb3796125_0_137"/>
            <p:cNvSpPr/>
            <p:nvPr/>
          </p:nvSpPr>
          <p:spPr>
            <a:xfrm>
              <a:off x="0" y="0"/>
              <a:ext cx="10546200" cy="1295400"/>
            </a:xfrm>
            <a:prstGeom prst="roundRect">
              <a:avLst>
                <a:gd fmla="val 5882" name="adj"/>
              </a:avLst>
            </a:prstGeom>
            <a:solidFill>
              <a:srgbClr val="F0EDE6"/>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 name="Google Shape;201;g3fbb3796125_0_137"/>
            <p:cNvSpPr txBox="1"/>
            <p:nvPr/>
          </p:nvSpPr>
          <p:spPr>
            <a:xfrm>
              <a:off x="0" y="0"/>
              <a:ext cx="10546200" cy="1295400"/>
            </a:xfrm>
            <a:prstGeom prst="rect">
              <a:avLst/>
            </a:prstGeom>
            <a:solidFill>
              <a:srgbClr val="000000">
                <a:alpha val="0"/>
              </a:srgbClr>
            </a:solidFill>
            <a:ln>
              <a:noFill/>
            </a:ln>
          </p:spPr>
          <p:txBody>
            <a:bodyPr anchorCtr="0" anchor="ctr" bIns="190500" lIns="266700" spcFirstLastPara="1" rIns="266700" wrap="square" tIns="190500">
              <a:noAutofit/>
            </a:bodyPr>
            <a:lstStyle/>
            <a:p>
              <a:pPr indent="0" lvl="0" marL="0" marR="0" rtl="0" algn="l">
                <a:lnSpc>
                  <a:spcPct val="100000"/>
                </a:lnSpc>
                <a:spcBef>
                  <a:spcPts val="0"/>
                </a:spcBef>
                <a:spcAft>
                  <a:spcPts val="0"/>
                </a:spcAft>
                <a:buClr>
                  <a:srgbClr val="000000"/>
                </a:buClr>
                <a:buSzPts val="1100"/>
                <a:buFont typeface="Arial"/>
                <a:buNone/>
              </a:pPr>
              <a:r>
                <a:rPr b="0" i="0" lang="en-GB" sz="1100" u="none" cap="none" strike="noStrike">
                  <a:solidFill>
                    <a:srgbClr val="0064FF"/>
                  </a:solidFill>
                  <a:latin typeface="Outfit SemiBold"/>
                  <a:ea typeface="Outfit SemiBold"/>
                  <a:cs typeface="Outfit SemiBold"/>
                  <a:sym typeface="Outfit SemiBold"/>
                </a:rPr>
                <a:t>§ KIT DEFINITION</a:t>
              </a:r>
              <a:endParaRPr b="0" i="0" sz="1100" u="none" cap="none" strike="noStrike">
                <a:solidFill>
                  <a:srgbClr val="0064FF"/>
                </a:solidFill>
                <a:latin typeface="Outfit SemiBold"/>
                <a:ea typeface="Outfit SemiBold"/>
                <a:cs typeface="Outfit SemiBold"/>
                <a:sym typeface="Outfit SemiBold"/>
              </a:endParaRPr>
            </a:p>
            <a:p>
              <a:pPr indent="0" lvl="0" marL="0" marR="0" rtl="0" algn="l">
                <a:lnSpc>
                  <a:spcPct val="100000"/>
                </a:lnSpc>
                <a:spcBef>
                  <a:spcPts val="400"/>
                </a:spcBef>
                <a:spcAft>
                  <a:spcPts val="0"/>
                </a:spcAft>
                <a:buClr>
                  <a:srgbClr val="000000"/>
                </a:buClr>
                <a:buSzPts val="1300"/>
                <a:buFont typeface="Arial"/>
                <a:buNone/>
              </a:pPr>
              <a:r>
                <a:rPr lang="en-GB" sz="1300">
                  <a:solidFill>
                    <a:srgbClr val="2C2C2A"/>
                  </a:solidFill>
                  <a:latin typeface="Lora"/>
                  <a:ea typeface="Lora"/>
                  <a:cs typeface="Lora"/>
                  <a:sym typeface="Lora"/>
                </a:rPr>
                <a:t>A reusable protocol for adapting a plastic AI capability to a local task inside an already structured environment. It keeps enough of the practice explicit that it can be tested, changed and shared.</a:t>
              </a:r>
              <a:endParaRPr b="0" i="0" sz="1300" u="none" cap="none" strike="noStrike">
                <a:solidFill>
                  <a:srgbClr val="2C2C2A"/>
                </a:solidFill>
                <a:latin typeface="Lora"/>
                <a:ea typeface="Lora"/>
                <a:cs typeface="Lora"/>
                <a:sym typeface="Lora"/>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10"/>
          <p:cNvSpPr txBox="1"/>
          <p:nvPr>
            <p:ph idx="1" type="body"/>
          </p:nvPr>
        </p:nvSpPr>
        <p:spPr>
          <a:xfrm>
            <a:off x="822960" y="457200"/>
            <a:ext cx="9144000" cy="320100"/>
          </a:xfrm>
          <a:prstGeom prst="rect">
            <a:avLst/>
          </a:prstGeom>
          <a:noFill/>
          <a:ln>
            <a:noFill/>
          </a:ln>
        </p:spPr>
        <p:txBody>
          <a:bodyPr anchorCtr="0" anchor="t" bIns="0" lIns="0" spcFirstLastPara="1" rIns="0" wrap="square" tIns="0">
            <a:noAutofit/>
          </a:bodyPr>
          <a:lstStyle/>
          <a:p>
            <a:pPr indent="0" lvl="0" marL="0" rtl="0" algn="l">
              <a:lnSpc>
                <a:spcPct val="118000"/>
              </a:lnSpc>
              <a:spcBef>
                <a:spcPts val="0"/>
              </a:spcBef>
              <a:spcAft>
                <a:spcPts val="0"/>
              </a:spcAft>
              <a:buClr>
                <a:srgbClr val="0064FF"/>
              </a:buClr>
              <a:buSzPts val="1200"/>
              <a:buFont typeface="Outfit"/>
              <a:buNone/>
            </a:pPr>
            <a:r>
              <a:rPr lang="en-GB"/>
              <a:t>SESSION 1 · KITS · </a:t>
            </a:r>
            <a:r>
              <a:rPr lang="en-GB">
                <a:solidFill>
                  <a:schemeClr val="accent1"/>
                </a:solidFill>
              </a:rPr>
              <a:t>CONCEPTS</a:t>
            </a:r>
            <a:endParaRPr/>
          </a:p>
        </p:txBody>
      </p:sp>
      <p:sp>
        <p:nvSpPr>
          <p:cNvPr id="207" name="Google Shape;207;p10"/>
          <p:cNvSpPr txBox="1"/>
          <p:nvPr>
            <p:ph type="title"/>
          </p:nvPr>
        </p:nvSpPr>
        <p:spPr>
          <a:xfrm>
            <a:off x="822960" y="914400"/>
            <a:ext cx="9692700" cy="1371600"/>
          </a:xfrm>
          <a:prstGeom prst="rect">
            <a:avLst/>
          </a:prstGeom>
          <a:noFill/>
          <a:ln>
            <a:noFill/>
          </a:ln>
        </p:spPr>
        <p:txBody>
          <a:bodyPr anchorCtr="0" anchor="t" bIns="0" lIns="0" spcFirstLastPara="1" rIns="0" wrap="square" tIns="0">
            <a:noAutofit/>
          </a:bodyPr>
          <a:lstStyle/>
          <a:p>
            <a:pPr indent="0" lvl="0" marL="0" rtl="0" algn="l">
              <a:lnSpc>
                <a:spcPct val="96000"/>
              </a:lnSpc>
              <a:spcBef>
                <a:spcPts val="0"/>
              </a:spcBef>
              <a:spcAft>
                <a:spcPts val="0"/>
              </a:spcAft>
              <a:buClr>
                <a:srgbClr val="2C2C2A"/>
              </a:buClr>
              <a:buSzPts val="2800"/>
              <a:buFont typeface="Instrument Serif"/>
              <a:buNone/>
            </a:pPr>
            <a:r>
              <a:rPr lang="en-GB"/>
              <a:t>What happens after Kits?</a:t>
            </a:r>
            <a:endParaRPr/>
          </a:p>
        </p:txBody>
      </p:sp>
      <p:grpSp>
        <p:nvGrpSpPr>
          <p:cNvPr id="208" name="Google Shape;208;p10"/>
          <p:cNvGrpSpPr/>
          <p:nvPr/>
        </p:nvGrpSpPr>
        <p:grpSpPr>
          <a:xfrm>
            <a:off x="822960" y="1714500"/>
            <a:ext cx="3362400" cy="2762400"/>
            <a:chOff x="0" y="0"/>
            <a:chExt cx="3362400" cy="2762400"/>
          </a:xfrm>
        </p:grpSpPr>
        <p:sp>
          <p:nvSpPr>
            <p:cNvPr id="209" name="Google Shape;209;p10"/>
            <p:cNvSpPr/>
            <p:nvPr/>
          </p:nvSpPr>
          <p:spPr>
            <a:xfrm>
              <a:off x="0" y="0"/>
              <a:ext cx="3362400" cy="2762400"/>
            </a:xfrm>
            <a:prstGeom prst="roundRect">
              <a:avLst>
                <a:gd fmla="val 2758" name="adj"/>
              </a:avLst>
            </a:prstGeom>
            <a:solidFill>
              <a:srgbClr val="F0EDE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0" name="Google Shape;210;p10"/>
            <p:cNvSpPr txBox="1"/>
            <p:nvPr/>
          </p:nvSpPr>
          <p:spPr>
            <a:xfrm>
              <a:off x="0" y="0"/>
              <a:ext cx="3362400" cy="2762400"/>
            </a:xfrm>
            <a:prstGeom prst="rect">
              <a:avLst/>
            </a:prstGeom>
            <a:noFill/>
            <a:ln>
              <a:noFill/>
            </a:ln>
          </p:spPr>
          <p:txBody>
            <a:bodyPr anchorCtr="0" anchor="ctr" bIns="266700" lIns="266700" spcFirstLastPara="1" rIns="266700" wrap="square" tIns="266700">
              <a:noAutofit/>
            </a:bodyPr>
            <a:lstStyle/>
            <a:p>
              <a:pPr indent="0" lvl="0" marL="0" rtl="0" algn="l">
                <a:spcBef>
                  <a:spcPts val="0"/>
                </a:spcBef>
                <a:spcAft>
                  <a:spcPts val="0"/>
                </a:spcAft>
                <a:buNone/>
              </a:pPr>
              <a:r>
                <a:rPr b="0" lang="en-GB" sz="1000">
                  <a:solidFill>
                    <a:srgbClr val="0064FF"/>
                  </a:solidFill>
                  <a:latin typeface="Outfit SemiBold"/>
                  <a:ea typeface="Outfit SemiBold"/>
                  <a:cs typeface="Outfit SemiBold"/>
                  <a:sym typeface="Outfit SemiBold"/>
                </a:rPr>
                <a:t>1 · DISCOVER → ENCODE</a:t>
              </a:r>
              <a:endParaRPr b="0" sz="1000">
                <a:solidFill>
                  <a:srgbClr val="0064FF"/>
                </a:solidFill>
                <a:latin typeface="Outfit SemiBold"/>
                <a:ea typeface="Outfit SemiBold"/>
                <a:cs typeface="Outfit SemiBold"/>
                <a:sym typeface="Outfit SemiBold"/>
              </a:endParaRPr>
            </a:p>
            <a:p>
              <a:pPr indent="0" lvl="0" marL="0" rtl="0" algn="l">
                <a:spcBef>
                  <a:spcPts val="900"/>
                </a:spcBef>
                <a:spcAft>
                  <a:spcPts val="0"/>
                </a:spcAft>
                <a:buNone/>
              </a:pPr>
              <a:r>
                <a:rPr b="0" lang="en-GB" sz="2800">
                  <a:solidFill>
                    <a:srgbClr val="2C2C2A"/>
                  </a:solidFill>
                  <a:latin typeface="Instrument Serif"/>
                  <a:ea typeface="Instrument Serif"/>
                  <a:cs typeface="Instrument Serif"/>
                  <a:sym typeface="Instrument Serif"/>
                </a:rPr>
                <a:t>Kit</a:t>
              </a:r>
              <a:endParaRPr b="0" sz="2800">
                <a:solidFill>
                  <a:srgbClr val="2C2C2A"/>
                </a:solidFill>
                <a:latin typeface="Instrument Serif"/>
                <a:ea typeface="Instrument Serif"/>
                <a:cs typeface="Instrument Serif"/>
                <a:sym typeface="Instrument Serif"/>
              </a:endParaRPr>
            </a:p>
            <a:p>
              <a:pPr indent="0" lvl="0" marL="0" rtl="0" algn="l">
                <a:spcBef>
                  <a:spcPts val="600"/>
                </a:spcBef>
                <a:spcAft>
                  <a:spcPts val="0"/>
                </a:spcAft>
                <a:buNone/>
              </a:pPr>
              <a:r>
                <a:rPr lang="en-GB" sz="1300">
                  <a:solidFill>
                    <a:srgbClr val="555555"/>
                  </a:solidFill>
                  <a:latin typeface="Lora"/>
                  <a:ea typeface="Lora"/>
                  <a:cs typeface="Lora"/>
                  <a:sym typeface="Lora"/>
                </a:rPr>
                <a:t>Personal</a:t>
              </a:r>
              <a:r>
                <a:rPr b="0" lang="en-GB" sz="1300">
                  <a:solidFill>
                    <a:srgbClr val="555555"/>
                  </a:solidFill>
                  <a:latin typeface="Lora"/>
                  <a:ea typeface="Lora"/>
                  <a:cs typeface="Lora"/>
                  <a:sym typeface="Lora"/>
                </a:rPr>
                <a:t> practice</a:t>
              </a:r>
              <a:endParaRPr b="0" sz="1300">
                <a:solidFill>
                  <a:srgbClr val="555555"/>
                </a:solidFill>
                <a:latin typeface="Lora"/>
                <a:ea typeface="Lora"/>
                <a:cs typeface="Lora"/>
                <a:sym typeface="Lora"/>
              </a:endParaRPr>
            </a:p>
          </p:txBody>
        </p:sp>
      </p:grpSp>
      <p:grpSp>
        <p:nvGrpSpPr>
          <p:cNvPr id="211" name="Google Shape;211;p10"/>
          <p:cNvGrpSpPr/>
          <p:nvPr/>
        </p:nvGrpSpPr>
        <p:grpSpPr>
          <a:xfrm>
            <a:off x="4413885" y="1714500"/>
            <a:ext cx="3362400" cy="2762400"/>
            <a:chOff x="0" y="0"/>
            <a:chExt cx="3362400" cy="2762400"/>
          </a:xfrm>
        </p:grpSpPr>
        <p:sp>
          <p:nvSpPr>
            <p:cNvPr id="212" name="Google Shape;212;p10"/>
            <p:cNvSpPr/>
            <p:nvPr/>
          </p:nvSpPr>
          <p:spPr>
            <a:xfrm>
              <a:off x="0" y="0"/>
              <a:ext cx="3362400" cy="2762400"/>
            </a:xfrm>
            <a:prstGeom prst="roundRect">
              <a:avLst>
                <a:gd fmla="val 2758" name="adj"/>
              </a:avLst>
            </a:prstGeom>
            <a:solidFill>
              <a:srgbClr val="E1F5E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3" name="Google Shape;213;p10"/>
            <p:cNvSpPr txBox="1"/>
            <p:nvPr/>
          </p:nvSpPr>
          <p:spPr>
            <a:xfrm>
              <a:off x="0" y="0"/>
              <a:ext cx="3362400" cy="2762400"/>
            </a:xfrm>
            <a:prstGeom prst="rect">
              <a:avLst/>
            </a:prstGeom>
            <a:noFill/>
            <a:ln>
              <a:noFill/>
            </a:ln>
          </p:spPr>
          <p:txBody>
            <a:bodyPr anchorCtr="0" anchor="ctr" bIns="266700" lIns="266700" spcFirstLastPara="1" rIns="266700" wrap="square" tIns="266700">
              <a:noAutofit/>
            </a:bodyPr>
            <a:lstStyle/>
            <a:p>
              <a:pPr indent="0" lvl="0" marL="0" rtl="0" algn="l">
                <a:spcBef>
                  <a:spcPts val="0"/>
                </a:spcBef>
                <a:spcAft>
                  <a:spcPts val="0"/>
                </a:spcAft>
                <a:buNone/>
              </a:pPr>
              <a:r>
                <a:rPr b="0" lang="en-GB" sz="1000">
                  <a:solidFill>
                    <a:srgbClr val="085041"/>
                  </a:solidFill>
                  <a:latin typeface="Outfit SemiBold"/>
                  <a:ea typeface="Outfit SemiBold"/>
                  <a:cs typeface="Outfit SemiBold"/>
                  <a:sym typeface="Outfit SemiBold"/>
                </a:rPr>
                <a:t>2 · STANDARDIZE · THE FRONTIER</a:t>
              </a:r>
              <a:endParaRPr b="0" sz="1000">
                <a:solidFill>
                  <a:srgbClr val="085041"/>
                </a:solidFill>
                <a:latin typeface="Outfit SemiBold"/>
                <a:ea typeface="Outfit SemiBold"/>
                <a:cs typeface="Outfit SemiBold"/>
                <a:sym typeface="Outfit SemiBold"/>
              </a:endParaRPr>
            </a:p>
            <a:p>
              <a:pPr indent="0" lvl="0" marL="0" rtl="0" algn="l">
                <a:spcBef>
                  <a:spcPts val="900"/>
                </a:spcBef>
                <a:spcAft>
                  <a:spcPts val="0"/>
                </a:spcAft>
                <a:buNone/>
              </a:pPr>
              <a:r>
                <a:rPr b="0" lang="en-GB" sz="2800">
                  <a:solidFill>
                    <a:srgbClr val="2C2C2A"/>
                  </a:solidFill>
                  <a:latin typeface="Instrument Serif"/>
                  <a:ea typeface="Instrument Serif"/>
                  <a:cs typeface="Instrument Serif"/>
                  <a:sym typeface="Instrument Serif"/>
                </a:rPr>
                <a:t>Factory</a:t>
              </a:r>
              <a:endParaRPr b="0" sz="2800">
                <a:solidFill>
                  <a:srgbClr val="2C2C2A"/>
                </a:solidFill>
                <a:latin typeface="Instrument Serif"/>
                <a:ea typeface="Instrument Serif"/>
                <a:cs typeface="Instrument Serif"/>
                <a:sym typeface="Instrument Serif"/>
              </a:endParaRPr>
            </a:p>
            <a:p>
              <a:pPr indent="0" lvl="0" marL="0" rtl="0" algn="l">
                <a:spcBef>
                  <a:spcPts val="600"/>
                </a:spcBef>
                <a:spcAft>
                  <a:spcPts val="0"/>
                </a:spcAft>
                <a:buNone/>
              </a:pPr>
              <a:r>
                <a:rPr lang="en-GB" sz="1300">
                  <a:solidFill>
                    <a:srgbClr val="085041"/>
                  </a:solidFill>
                  <a:latin typeface="Lora"/>
                  <a:ea typeface="Lora"/>
                  <a:cs typeface="Lora"/>
                  <a:sym typeface="Lora"/>
                </a:rPr>
                <a:t>Standard</a:t>
              </a:r>
              <a:r>
                <a:rPr b="0" lang="en-GB" sz="1300">
                  <a:solidFill>
                    <a:srgbClr val="085041"/>
                  </a:solidFill>
                  <a:latin typeface="Lora"/>
                  <a:ea typeface="Lora"/>
                  <a:cs typeface="Lora"/>
                  <a:sym typeface="Lora"/>
                </a:rPr>
                <a:t> practice</a:t>
              </a:r>
              <a:endParaRPr b="0" sz="1300">
                <a:solidFill>
                  <a:srgbClr val="085041"/>
                </a:solidFill>
                <a:latin typeface="Lora"/>
                <a:ea typeface="Lora"/>
                <a:cs typeface="Lora"/>
                <a:sym typeface="Lora"/>
              </a:endParaRPr>
            </a:p>
          </p:txBody>
        </p:sp>
      </p:grpSp>
      <p:grpSp>
        <p:nvGrpSpPr>
          <p:cNvPr id="214" name="Google Shape;214;p10"/>
          <p:cNvGrpSpPr/>
          <p:nvPr/>
        </p:nvGrpSpPr>
        <p:grpSpPr>
          <a:xfrm>
            <a:off x="8004810" y="1714500"/>
            <a:ext cx="3362400" cy="2762400"/>
            <a:chOff x="0" y="0"/>
            <a:chExt cx="3362400" cy="2762400"/>
          </a:xfrm>
        </p:grpSpPr>
        <p:sp>
          <p:nvSpPr>
            <p:cNvPr id="215" name="Google Shape;215;p10"/>
            <p:cNvSpPr/>
            <p:nvPr/>
          </p:nvSpPr>
          <p:spPr>
            <a:xfrm>
              <a:off x="0" y="0"/>
              <a:ext cx="3362400" cy="2762400"/>
            </a:xfrm>
            <a:prstGeom prst="roundRect">
              <a:avLst>
                <a:gd fmla="val 2758" name="adj"/>
              </a:avLst>
            </a:prstGeom>
            <a:solidFill>
              <a:srgbClr val="F0EDE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6" name="Google Shape;216;p10"/>
            <p:cNvSpPr txBox="1"/>
            <p:nvPr/>
          </p:nvSpPr>
          <p:spPr>
            <a:xfrm>
              <a:off x="0" y="0"/>
              <a:ext cx="3362400" cy="2762400"/>
            </a:xfrm>
            <a:prstGeom prst="rect">
              <a:avLst/>
            </a:prstGeom>
            <a:noFill/>
            <a:ln>
              <a:noFill/>
            </a:ln>
          </p:spPr>
          <p:txBody>
            <a:bodyPr anchorCtr="0" anchor="ctr" bIns="266700" lIns="266700" spcFirstLastPara="1" rIns="266700" wrap="square" tIns="266700">
              <a:noAutofit/>
            </a:bodyPr>
            <a:lstStyle/>
            <a:p>
              <a:pPr indent="0" lvl="0" marL="0" rtl="0" algn="l">
                <a:spcBef>
                  <a:spcPts val="0"/>
                </a:spcBef>
                <a:spcAft>
                  <a:spcPts val="0"/>
                </a:spcAft>
                <a:buNone/>
              </a:pPr>
              <a:r>
                <a:rPr b="0" lang="en-GB" sz="1000">
                  <a:solidFill>
                    <a:srgbClr val="0064FF"/>
                  </a:solidFill>
                  <a:latin typeface="Outfit SemiBold"/>
                  <a:ea typeface="Outfit SemiBold"/>
                  <a:cs typeface="Outfit SemiBold"/>
                  <a:sym typeface="Outfit SemiBold"/>
                </a:rPr>
                <a:t>3 · NETWORK</a:t>
              </a:r>
              <a:endParaRPr b="0" sz="1000">
                <a:solidFill>
                  <a:srgbClr val="0064FF"/>
                </a:solidFill>
                <a:latin typeface="Outfit SemiBold"/>
                <a:ea typeface="Outfit SemiBold"/>
                <a:cs typeface="Outfit SemiBold"/>
                <a:sym typeface="Outfit SemiBold"/>
              </a:endParaRPr>
            </a:p>
            <a:p>
              <a:pPr indent="0" lvl="0" marL="0" rtl="0" algn="l">
                <a:spcBef>
                  <a:spcPts val="900"/>
                </a:spcBef>
                <a:spcAft>
                  <a:spcPts val="0"/>
                </a:spcAft>
                <a:buNone/>
              </a:pPr>
              <a:r>
                <a:rPr b="0" lang="en-GB" sz="2800">
                  <a:solidFill>
                    <a:srgbClr val="2C2C2A"/>
                  </a:solidFill>
                  <a:latin typeface="Instrument Serif"/>
                  <a:ea typeface="Instrument Serif"/>
                  <a:cs typeface="Instrument Serif"/>
                  <a:sym typeface="Instrument Serif"/>
                </a:rPr>
                <a:t>Bridge</a:t>
              </a:r>
              <a:endParaRPr b="0" sz="2800">
                <a:solidFill>
                  <a:srgbClr val="2C2C2A"/>
                </a:solidFill>
                <a:latin typeface="Instrument Serif"/>
                <a:ea typeface="Instrument Serif"/>
                <a:cs typeface="Instrument Serif"/>
                <a:sym typeface="Instrument Serif"/>
              </a:endParaRPr>
            </a:p>
            <a:p>
              <a:pPr indent="0" lvl="0" marL="0" rtl="0" algn="l">
                <a:spcBef>
                  <a:spcPts val="600"/>
                </a:spcBef>
                <a:spcAft>
                  <a:spcPts val="0"/>
                </a:spcAft>
                <a:buNone/>
              </a:pPr>
              <a:r>
                <a:rPr lang="en-GB" sz="1300">
                  <a:solidFill>
                    <a:srgbClr val="555555"/>
                  </a:solidFill>
                  <a:latin typeface="Lora"/>
                  <a:ea typeface="Lora"/>
                  <a:cs typeface="Lora"/>
                  <a:sym typeface="Lora"/>
                </a:rPr>
                <a:t>Networked</a:t>
              </a:r>
              <a:r>
                <a:rPr b="0" lang="en-GB" sz="1300">
                  <a:solidFill>
                    <a:srgbClr val="555555"/>
                  </a:solidFill>
                  <a:latin typeface="Lora"/>
                  <a:ea typeface="Lora"/>
                  <a:cs typeface="Lora"/>
                  <a:sym typeface="Lora"/>
                </a:rPr>
                <a:t> practice</a:t>
              </a:r>
              <a:endParaRPr b="0" sz="1300">
                <a:solidFill>
                  <a:srgbClr val="555555"/>
                </a:solidFill>
                <a:latin typeface="Lora"/>
                <a:ea typeface="Lora"/>
                <a:cs typeface="Lora"/>
                <a:sym typeface="Lora"/>
              </a:endParaRPr>
            </a:p>
          </p:txBody>
        </p:sp>
      </p:grpSp>
      <p:sp>
        <p:nvSpPr>
          <p:cNvPr id="217" name="Google Shape;217;p10"/>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g3fbb2403e20_0_0"/>
          <p:cNvSpPr txBox="1"/>
          <p:nvPr>
            <p:ph type="title"/>
          </p:nvPr>
        </p:nvSpPr>
        <p:spPr>
          <a:xfrm>
            <a:off x="822960" y="2247600"/>
            <a:ext cx="9692700" cy="1371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Hold Up. What makes AI-tech and Kits interesting anyways?</a:t>
            </a:r>
            <a:endParaRPr/>
          </a:p>
        </p:txBody>
      </p:sp>
      <p:sp>
        <p:nvSpPr>
          <p:cNvPr id="223" name="Google Shape;223;g3fbb2403e20_0_0"/>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pic>
        <p:nvPicPr>
          <p:cNvPr id="224" name="Google Shape;224;g3fbb2403e20_0_0"/>
          <p:cNvPicPr preferRelativeResize="0"/>
          <p:nvPr/>
        </p:nvPicPr>
        <p:blipFill>
          <a:blip r:embed="rId3">
            <a:alphaModFix/>
          </a:blip>
          <a:stretch>
            <a:fillRect/>
          </a:stretch>
        </p:blipFill>
        <p:spPr>
          <a:xfrm>
            <a:off x="7377425" y="3407675"/>
            <a:ext cx="4814575" cy="34504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15"/>
          <p:cNvSpPr txBox="1"/>
          <p:nvPr>
            <p:ph idx="1" type="body"/>
          </p:nvPr>
        </p:nvSpPr>
        <p:spPr>
          <a:xfrm>
            <a:off x="822960" y="457200"/>
            <a:ext cx="9144000" cy="320100"/>
          </a:xfrm>
          <a:prstGeom prst="rect">
            <a:avLst/>
          </a:prstGeom>
          <a:noFill/>
          <a:ln>
            <a:noFill/>
          </a:ln>
        </p:spPr>
        <p:txBody>
          <a:bodyPr anchorCtr="0" anchor="t" bIns="0" lIns="0" spcFirstLastPara="1" rIns="0" wrap="square" tIns="0">
            <a:noAutofit/>
          </a:bodyPr>
          <a:lstStyle/>
          <a:p>
            <a:pPr indent="0" lvl="0" marL="0" rtl="0" algn="l">
              <a:lnSpc>
                <a:spcPct val="118000"/>
              </a:lnSpc>
              <a:spcBef>
                <a:spcPts val="0"/>
              </a:spcBef>
              <a:spcAft>
                <a:spcPts val="0"/>
              </a:spcAft>
              <a:buClr>
                <a:srgbClr val="0064FF"/>
              </a:buClr>
              <a:buSzPts val="1200"/>
              <a:buFont typeface="Outfit"/>
              <a:buNone/>
            </a:pPr>
            <a:r>
              <a:rPr lang="en-GB"/>
              <a:t>SESSION 1 · KITS </a:t>
            </a:r>
            <a:r>
              <a:rPr lang="en-GB"/>
              <a:t>· </a:t>
            </a:r>
            <a:r>
              <a:rPr lang="en-GB">
                <a:solidFill>
                  <a:schemeClr val="accent1"/>
                </a:solidFill>
              </a:rPr>
              <a:t>CONCEPTS</a:t>
            </a:r>
            <a:endParaRPr/>
          </a:p>
        </p:txBody>
      </p:sp>
      <p:sp>
        <p:nvSpPr>
          <p:cNvPr id="230" name="Google Shape;230;p15"/>
          <p:cNvSpPr txBox="1"/>
          <p:nvPr>
            <p:ph type="title"/>
          </p:nvPr>
        </p:nvSpPr>
        <p:spPr>
          <a:xfrm>
            <a:off x="822960" y="914400"/>
            <a:ext cx="9692700" cy="1371600"/>
          </a:xfrm>
          <a:prstGeom prst="rect">
            <a:avLst/>
          </a:prstGeom>
          <a:noFill/>
          <a:ln>
            <a:noFill/>
          </a:ln>
        </p:spPr>
        <p:txBody>
          <a:bodyPr anchorCtr="0" anchor="t" bIns="0" lIns="0" spcFirstLastPara="1" rIns="0" wrap="square" tIns="0">
            <a:noAutofit/>
          </a:bodyPr>
          <a:lstStyle/>
          <a:p>
            <a:pPr indent="0" lvl="0" marL="0" rtl="0" algn="l">
              <a:lnSpc>
                <a:spcPct val="96000"/>
              </a:lnSpc>
              <a:spcBef>
                <a:spcPts val="0"/>
              </a:spcBef>
              <a:spcAft>
                <a:spcPts val="0"/>
              </a:spcAft>
              <a:buClr>
                <a:srgbClr val="2C2C2A"/>
              </a:buClr>
              <a:buSzPts val="2800"/>
              <a:buFont typeface="Instrument Serif"/>
              <a:buNone/>
            </a:pPr>
            <a:r>
              <a:rPr lang="en-GB"/>
              <a:t>AI is a shared substrate ("the model"). This means everyone arrives at the same idea, often at similar times</a:t>
            </a:r>
            <a:endParaRPr/>
          </a:p>
        </p:txBody>
      </p:sp>
      <p:grpSp>
        <p:nvGrpSpPr>
          <p:cNvPr id="231" name="Google Shape;231;p15"/>
          <p:cNvGrpSpPr/>
          <p:nvPr/>
        </p:nvGrpSpPr>
        <p:grpSpPr>
          <a:xfrm>
            <a:off x="822950" y="1857375"/>
            <a:ext cx="10544100" cy="3769694"/>
            <a:chOff x="0" y="0"/>
            <a:chExt cx="10544100" cy="4253773"/>
          </a:xfrm>
        </p:grpSpPr>
        <p:sp>
          <p:nvSpPr>
            <p:cNvPr id="232" name="Google Shape;232;p15"/>
            <p:cNvSpPr/>
            <p:nvPr/>
          </p:nvSpPr>
          <p:spPr>
            <a:xfrm>
              <a:off x="0" y="0"/>
              <a:ext cx="105441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b="1"/>
            </a:p>
          </p:txBody>
        </p:sp>
        <p:sp>
          <p:nvSpPr>
            <p:cNvPr id="233" name="Google Shape;233;p15"/>
            <p:cNvSpPr txBox="1"/>
            <p:nvPr/>
          </p:nvSpPr>
          <p:spPr>
            <a:xfrm>
              <a:off x="0" y="3967873"/>
              <a:ext cx="105441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300">
                  <a:solidFill>
                    <a:srgbClr val="555555"/>
                  </a:solidFill>
                  <a:latin typeface="Lora"/>
                  <a:ea typeface="Lora"/>
                  <a:cs typeface="Lora"/>
                  <a:sym typeface="Lora"/>
                </a:rPr>
                <a:t>So being first to an idea has stopped being the game… so…: What is scarce instead?</a:t>
              </a:r>
              <a:endParaRPr b="1" sz="1300">
                <a:solidFill>
                  <a:srgbClr val="555555"/>
                </a:solidFill>
                <a:latin typeface="Lora"/>
                <a:ea typeface="Lora"/>
                <a:cs typeface="Lora"/>
                <a:sym typeface="Lora"/>
              </a:endParaRPr>
            </a:p>
          </p:txBody>
        </p:sp>
      </p:grpSp>
      <p:grpSp>
        <p:nvGrpSpPr>
          <p:cNvPr id="234" name="Google Shape;234;p15"/>
          <p:cNvGrpSpPr/>
          <p:nvPr/>
        </p:nvGrpSpPr>
        <p:grpSpPr>
          <a:xfrm>
            <a:off x="822847" y="2044150"/>
            <a:ext cx="5124600" cy="3000300"/>
            <a:chOff x="0" y="0"/>
            <a:chExt cx="5124600" cy="3000300"/>
          </a:xfrm>
        </p:grpSpPr>
        <p:sp>
          <p:nvSpPr>
            <p:cNvPr id="235" name="Google Shape;235;p15"/>
            <p:cNvSpPr/>
            <p:nvPr/>
          </p:nvSpPr>
          <p:spPr>
            <a:xfrm>
              <a:off x="0" y="0"/>
              <a:ext cx="5124600" cy="3000300"/>
            </a:xfrm>
            <a:prstGeom prst="roundRect">
              <a:avLst>
                <a:gd fmla="val 2539" name="adj"/>
              </a:avLst>
            </a:prstGeom>
            <a:solidFill>
              <a:srgbClr val="F0EDE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6" name="Google Shape;236;p15"/>
            <p:cNvSpPr txBox="1"/>
            <p:nvPr/>
          </p:nvSpPr>
          <p:spPr>
            <a:xfrm>
              <a:off x="0" y="0"/>
              <a:ext cx="5124600" cy="3000300"/>
            </a:xfrm>
            <a:prstGeom prst="rect">
              <a:avLst/>
            </a:prstGeom>
            <a:noFill/>
            <a:ln>
              <a:noFill/>
            </a:ln>
          </p:spPr>
          <p:txBody>
            <a:bodyPr anchorCtr="0" anchor="t" bIns="266700" lIns="266700" spcFirstLastPara="1" rIns="266700" wrap="square" tIns="266700">
              <a:noAutofit/>
            </a:bodyPr>
            <a:lstStyle/>
            <a:p>
              <a:pPr indent="0" lvl="0" marL="0" rtl="0" algn="l">
                <a:spcBef>
                  <a:spcPts val="0"/>
                </a:spcBef>
                <a:spcAft>
                  <a:spcPts val="0"/>
                </a:spcAft>
                <a:buNone/>
              </a:pPr>
              <a:r>
                <a:rPr b="0" lang="en-GB" sz="1000">
                  <a:solidFill>
                    <a:srgbClr val="0064FF"/>
                  </a:solidFill>
                  <a:latin typeface="Outfit SemiBold"/>
                  <a:ea typeface="Outfit SemiBold"/>
                  <a:cs typeface="Outfit SemiBold"/>
                  <a:sym typeface="Outfit SemiBold"/>
                </a:rPr>
                <a:t>1 · THE EFFECT ON IDEAS</a:t>
              </a:r>
              <a:endParaRPr b="0" sz="1000">
                <a:solidFill>
                  <a:srgbClr val="0064FF"/>
                </a:solidFill>
                <a:latin typeface="Outfit SemiBold"/>
                <a:ea typeface="Outfit SemiBold"/>
                <a:cs typeface="Outfit SemiBold"/>
                <a:sym typeface="Outfit SemiBold"/>
              </a:endParaRPr>
            </a:p>
            <a:p>
              <a:pPr indent="0" lvl="0" marL="0" rtl="0" algn="l">
                <a:spcBef>
                  <a:spcPts val="1000"/>
                </a:spcBef>
                <a:spcAft>
                  <a:spcPts val="0"/>
                </a:spcAft>
                <a:buNone/>
              </a:pPr>
              <a:r>
                <a:rPr b="0" lang="en-GB" sz="2600">
                  <a:solidFill>
                    <a:srgbClr val="2C2C2A"/>
                  </a:solidFill>
                  <a:latin typeface="Instrument Serif"/>
                  <a:ea typeface="Instrument Serif"/>
                  <a:cs typeface="Instrument Serif"/>
                  <a:sym typeface="Instrument Serif"/>
                </a:rPr>
                <a:t>Common Knowledge</a:t>
              </a:r>
              <a:endParaRPr b="0" sz="2600">
                <a:solidFill>
                  <a:srgbClr val="2C2C2A"/>
                </a:solidFill>
                <a:latin typeface="Instrument Serif"/>
                <a:ea typeface="Instrument Serif"/>
                <a:cs typeface="Instrument Serif"/>
                <a:sym typeface="Instrument Serif"/>
              </a:endParaRPr>
            </a:p>
            <a:p>
              <a:pPr indent="0" lvl="0" marL="0" rtl="0" algn="l">
                <a:spcBef>
                  <a:spcPts val="800"/>
                </a:spcBef>
                <a:spcAft>
                  <a:spcPts val="0"/>
                </a:spcAft>
                <a:buNone/>
              </a:pPr>
              <a:r>
                <a:rPr b="0" lang="en-GB" sz="1150">
                  <a:solidFill>
                    <a:srgbClr val="555555"/>
                  </a:solidFill>
                  <a:latin typeface="Lora"/>
                  <a:ea typeface="Lora"/>
                  <a:cs typeface="Lora"/>
                  <a:sym typeface="Lora"/>
                </a:rPr>
                <a:t>Anything worth thinking about is being thought about by everyone capable of it, with AI in the loop — down to similar metaphors and names. There is no gradient left for a new idea to flow along.</a:t>
              </a:r>
              <a:endParaRPr b="0" sz="1150">
                <a:solidFill>
                  <a:srgbClr val="555555"/>
                </a:solidFill>
                <a:latin typeface="Lora"/>
                <a:ea typeface="Lora"/>
                <a:cs typeface="Lora"/>
                <a:sym typeface="Lora"/>
              </a:endParaRPr>
            </a:p>
            <a:p>
              <a:pPr indent="0" lvl="0" marL="0" rtl="0" algn="l">
                <a:spcBef>
                  <a:spcPts val="1000"/>
                </a:spcBef>
                <a:spcAft>
                  <a:spcPts val="0"/>
                </a:spcAft>
                <a:buNone/>
              </a:pPr>
              <a:r>
                <a:rPr b="0" i="1" lang="en-GB" sz="1100">
                  <a:solidFill>
                    <a:srgbClr val="666666"/>
                  </a:solidFill>
                  <a:latin typeface="Lora"/>
                  <a:ea typeface="Lora"/>
                  <a:cs typeface="Lora"/>
                  <a:sym typeface="Lora"/>
                </a:rPr>
                <a:t>Rao: a great many thoughts are now "common knowledge at birth".</a:t>
              </a:r>
              <a:endParaRPr b="0" i="1" sz="1100">
                <a:solidFill>
                  <a:srgbClr val="666666"/>
                </a:solidFill>
                <a:latin typeface="Lora"/>
                <a:ea typeface="Lora"/>
                <a:cs typeface="Lora"/>
                <a:sym typeface="Lora"/>
              </a:endParaRPr>
            </a:p>
          </p:txBody>
        </p:sp>
      </p:grpSp>
      <p:grpSp>
        <p:nvGrpSpPr>
          <p:cNvPr id="237" name="Google Shape;237;p15"/>
          <p:cNvGrpSpPr/>
          <p:nvPr/>
        </p:nvGrpSpPr>
        <p:grpSpPr>
          <a:xfrm>
            <a:off x="6242573" y="2044150"/>
            <a:ext cx="5124600" cy="3000300"/>
            <a:chOff x="0" y="0"/>
            <a:chExt cx="5124600" cy="3000300"/>
          </a:xfrm>
        </p:grpSpPr>
        <p:sp>
          <p:nvSpPr>
            <p:cNvPr id="238" name="Google Shape;238;p15"/>
            <p:cNvSpPr/>
            <p:nvPr/>
          </p:nvSpPr>
          <p:spPr>
            <a:xfrm>
              <a:off x="0" y="0"/>
              <a:ext cx="5124600" cy="3000300"/>
            </a:xfrm>
            <a:prstGeom prst="roundRect">
              <a:avLst>
                <a:gd fmla="val 2539" name="adj"/>
              </a:avLst>
            </a:prstGeom>
            <a:solidFill>
              <a:srgbClr val="E1F5E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9" name="Google Shape;239;p15"/>
            <p:cNvSpPr txBox="1"/>
            <p:nvPr/>
          </p:nvSpPr>
          <p:spPr>
            <a:xfrm>
              <a:off x="0" y="0"/>
              <a:ext cx="5124600" cy="3000300"/>
            </a:xfrm>
            <a:prstGeom prst="rect">
              <a:avLst/>
            </a:prstGeom>
            <a:noFill/>
            <a:ln>
              <a:noFill/>
            </a:ln>
          </p:spPr>
          <p:txBody>
            <a:bodyPr anchorCtr="0" anchor="t" bIns="266700" lIns="266700" spcFirstLastPara="1" rIns="266700" wrap="square" tIns="266700">
              <a:noAutofit/>
            </a:bodyPr>
            <a:lstStyle/>
            <a:p>
              <a:pPr indent="0" lvl="0" marL="0" rtl="0" algn="l">
                <a:spcBef>
                  <a:spcPts val="0"/>
                </a:spcBef>
                <a:spcAft>
                  <a:spcPts val="0"/>
                </a:spcAft>
                <a:buNone/>
              </a:pPr>
              <a:r>
                <a:rPr b="0" lang="en-GB" sz="1000">
                  <a:solidFill>
                    <a:srgbClr val="085041"/>
                  </a:solidFill>
                  <a:latin typeface="Outfit SemiBold"/>
                  <a:ea typeface="Outfit SemiBold"/>
                  <a:cs typeface="Outfit SemiBold"/>
                  <a:sym typeface="Outfit SemiBold"/>
                </a:rPr>
                <a:t>2 · IT REACHES QUESTIONS TOO</a:t>
              </a:r>
              <a:endParaRPr b="0" sz="1000">
                <a:solidFill>
                  <a:srgbClr val="085041"/>
                </a:solidFill>
                <a:latin typeface="Outfit SemiBold"/>
                <a:ea typeface="Outfit SemiBold"/>
                <a:cs typeface="Outfit SemiBold"/>
                <a:sym typeface="Outfit SemiBold"/>
              </a:endParaRPr>
            </a:p>
            <a:p>
              <a:pPr indent="0" lvl="0" marL="0" rtl="0" algn="l">
                <a:spcBef>
                  <a:spcPts val="1000"/>
                </a:spcBef>
                <a:spcAft>
                  <a:spcPts val="0"/>
                </a:spcAft>
                <a:buNone/>
              </a:pPr>
              <a:r>
                <a:rPr b="0" lang="en-GB" sz="2600">
                  <a:solidFill>
                    <a:srgbClr val="2C2C2A"/>
                  </a:solidFill>
                  <a:latin typeface="Instrument Serif"/>
                  <a:ea typeface="Instrument Serif"/>
                  <a:cs typeface="Instrument Serif"/>
                  <a:sym typeface="Instrument Serif"/>
                </a:rPr>
                <a:t>Curiosity Indexing</a:t>
              </a:r>
              <a:endParaRPr b="0" sz="2600">
                <a:solidFill>
                  <a:srgbClr val="2C2C2A"/>
                </a:solidFill>
                <a:latin typeface="Instrument Serif"/>
                <a:ea typeface="Instrument Serif"/>
                <a:cs typeface="Instrument Serif"/>
                <a:sym typeface="Instrument Serif"/>
              </a:endParaRPr>
            </a:p>
            <a:p>
              <a:pPr indent="0" lvl="0" marL="0" rtl="0" algn="l">
                <a:spcBef>
                  <a:spcPts val="800"/>
                </a:spcBef>
                <a:spcAft>
                  <a:spcPts val="0"/>
                </a:spcAft>
                <a:buNone/>
              </a:pPr>
              <a:r>
                <a:rPr b="0" lang="en-GB" sz="1150">
                  <a:solidFill>
                    <a:srgbClr val="085041"/>
                  </a:solidFill>
                  <a:latin typeface="Lora"/>
                  <a:ea typeface="Lora"/>
                  <a:cs typeface="Lora"/>
                  <a:sym typeface="Lora"/>
                </a:rPr>
                <a:t>Models behave like index funds not only of past knowledge but of present curiosities.</a:t>
              </a:r>
              <a:endParaRPr b="0" sz="1150">
                <a:solidFill>
                  <a:srgbClr val="085041"/>
                </a:solidFill>
                <a:latin typeface="Lora"/>
                <a:ea typeface="Lora"/>
                <a:cs typeface="Lora"/>
                <a:sym typeface="Lora"/>
              </a:endParaRPr>
            </a:p>
            <a:p>
              <a:pPr indent="0" lvl="0" marL="0" rtl="0" algn="l">
                <a:spcBef>
                  <a:spcPts val="1000"/>
                </a:spcBef>
                <a:spcAft>
                  <a:spcPts val="0"/>
                </a:spcAft>
                <a:buNone/>
              </a:pPr>
              <a:r>
                <a:rPr b="0" lang="en-GB" sz="1100">
                  <a:solidFill>
                    <a:srgbClr val="085041"/>
                  </a:solidFill>
                  <a:latin typeface="Lora"/>
                  <a:ea typeface="Lora"/>
                  <a:cs typeface="Lora"/>
                  <a:sym typeface="Lora"/>
                </a:rPr>
                <a:t>Explore an unformed question and others converge on the same framing.</a:t>
              </a:r>
              <a:endParaRPr b="0" sz="1100">
                <a:solidFill>
                  <a:srgbClr val="085041"/>
                </a:solidFill>
                <a:latin typeface="Lora"/>
                <a:ea typeface="Lora"/>
                <a:cs typeface="Lora"/>
                <a:sym typeface="Lora"/>
              </a:endParaRPr>
            </a:p>
          </p:txBody>
        </p:sp>
      </p:grpSp>
      <p:sp>
        <p:nvSpPr>
          <p:cNvPr id="240" name="Google Shape;240;p15"/>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14"/>
          <p:cNvSpPr txBox="1"/>
          <p:nvPr>
            <p:ph idx="1" type="body"/>
          </p:nvPr>
        </p:nvSpPr>
        <p:spPr>
          <a:xfrm>
            <a:off x="822960" y="457200"/>
            <a:ext cx="9144000" cy="2859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700"/>
              </a:spcBef>
              <a:spcAft>
                <a:spcPts val="0"/>
              </a:spcAft>
              <a:buNone/>
            </a:pPr>
            <a:r>
              <a:rPr lang="en-GB" sz="1200">
                <a:solidFill>
                  <a:srgbClr val="0064FF"/>
                </a:solidFill>
              </a:rPr>
              <a:t>SESSION 1 · KITS · </a:t>
            </a:r>
            <a:r>
              <a:rPr lang="en-GB">
                <a:solidFill>
                  <a:schemeClr val="accent1"/>
                </a:solidFill>
              </a:rPr>
              <a:t>CONCEPTS</a:t>
            </a:r>
            <a:endParaRPr sz="1200">
              <a:solidFill>
                <a:srgbClr val="0064FF"/>
              </a:solidFill>
            </a:endParaRPr>
          </a:p>
        </p:txBody>
      </p:sp>
      <p:sp>
        <p:nvSpPr>
          <p:cNvPr id="246" name="Google Shape;246;p14"/>
          <p:cNvSpPr txBox="1"/>
          <p:nvPr>
            <p:ph type="title"/>
          </p:nvPr>
        </p:nvSpPr>
        <p:spPr>
          <a:xfrm>
            <a:off x="822960" y="847633"/>
            <a:ext cx="10544100" cy="6192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lang="en-GB"/>
              <a:t>And yet while the model is shared, </a:t>
            </a:r>
            <a:r>
              <a:rPr b="0" lang="en-GB">
                <a:solidFill>
                  <a:srgbClr val="2C2C2A"/>
                </a:solidFill>
                <a:latin typeface="Instrument Serif"/>
                <a:ea typeface="Instrument Serif"/>
                <a:cs typeface="Instrument Serif"/>
                <a:sym typeface="Instrument Serif"/>
              </a:rPr>
              <a:t>AI lets you run your thinking like a smallholding: automated, customised, and local</a:t>
            </a:r>
            <a:endParaRPr b="0">
              <a:solidFill>
                <a:srgbClr val="2C2C2A"/>
              </a:solidFill>
              <a:latin typeface="Instrument Serif"/>
              <a:ea typeface="Instrument Serif"/>
              <a:cs typeface="Instrument Serif"/>
              <a:sym typeface="Instrument Serif"/>
            </a:endParaRPr>
          </a:p>
        </p:txBody>
      </p:sp>
      <p:sp>
        <p:nvSpPr>
          <p:cNvPr id="247" name="Google Shape;247;p14"/>
          <p:cNvSpPr txBox="1"/>
          <p:nvPr/>
        </p:nvSpPr>
        <p:spPr>
          <a:xfrm>
            <a:off x="822960" y="1877175"/>
            <a:ext cx="105441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1300">
                <a:solidFill>
                  <a:srgbClr val="555555"/>
                </a:solidFill>
                <a:latin typeface="Lora"/>
                <a:ea typeface="Lora"/>
                <a:cs typeface="Lora"/>
                <a:sym typeface="Lora"/>
              </a:rPr>
              <a:t>Rao calls this cognitive farmsteading, and says it rests on three affordances of AI:</a:t>
            </a:r>
            <a:endParaRPr b="0" sz="1300">
              <a:solidFill>
                <a:srgbClr val="555555"/>
              </a:solidFill>
              <a:latin typeface="Lora"/>
              <a:ea typeface="Lora"/>
              <a:cs typeface="Lora"/>
              <a:sym typeface="Lora"/>
            </a:endParaRPr>
          </a:p>
        </p:txBody>
      </p:sp>
      <p:grpSp>
        <p:nvGrpSpPr>
          <p:cNvPr id="248" name="Google Shape;248;p14"/>
          <p:cNvGrpSpPr/>
          <p:nvPr/>
        </p:nvGrpSpPr>
        <p:grpSpPr>
          <a:xfrm>
            <a:off x="822950" y="2171498"/>
            <a:ext cx="3362400" cy="2367237"/>
            <a:chOff x="0" y="0"/>
            <a:chExt cx="3362400" cy="3000300"/>
          </a:xfrm>
        </p:grpSpPr>
        <p:sp>
          <p:nvSpPr>
            <p:cNvPr id="249" name="Google Shape;249;p14"/>
            <p:cNvSpPr/>
            <p:nvPr/>
          </p:nvSpPr>
          <p:spPr>
            <a:xfrm>
              <a:off x="0" y="0"/>
              <a:ext cx="3362400" cy="3000300"/>
            </a:xfrm>
            <a:prstGeom prst="roundRect">
              <a:avLst>
                <a:gd fmla="val 2539" name="adj"/>
              </a:avLst>
            </a:prstGeom>
            <a:solidFill>
              <a:srgbClr val="F0EDE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0" name="Google Shape;250;p14"/>
            <p:cNvSpPr txBox="1"/>
            <p:nvPr/>
          </p:nvSpPr>
          <p:spPr>
            <a:xfrm>
              <a:off x="0" y="0"/>
              <a:ext cx="3362400" cy="3000300"/>
            </a:xfrm>
            <a:prstGeom prst="rect">
              <a:avLst/>
            </a:prstGeom>
            <a:noFill/>
            <a:ln>
              <a:noFill/>
            </a:ln>
          </p:spPr>
          <p:txBody>
            <a:bodyPr anchorCtr="0" anchor="t" bIns="266700" lIns="266700" spcFirstLastPara="1" rIns="266700" wrap="square" tIns="266700">
              <a:noAutofit/>
            </a:bodyPr>
            <a:lstStyle/>
            <a:p>
              <a:pPr indent="0" lvl="0" marL="0" rtl="0" algn="l">
                <a:spcBef>
                  <a:spcPts val="0"/>
                </a:spcBef>
                <a:spcAft>
                  <a:spcPts val="0"/>
                </a:spcAft>
                <a:buNone/>
              </a:pPr>
              <a:r>
                <a:rPr b="0" lang="en-GB" sz="1000">
                  <a:solidFill>
                    <a:srgbClr val="0064FF"/>
                  </a:solidFill>
                  <a:latin typeface="Outfit SemiBold"/>
                  <a:ea typeface="Outfit SemiBold"/>
                  <a:cs typeface="Outfit SemiBold"/>
                  <a:sym typeface="Outfit SemiBold"/>
                </a:rPr>
                <a:t>1 · AFFORDANCE 1</a:t>
              </a:r>
              <a:endParaRPr b="0" sz="1000">
                <a:solidFill>
                  <a:srgbClr val="0064FF"/>
                </a:solidFill>
                <a:latin typeface="Outfit SemiBold"/>
                <a:ea typeface="Outfit SemiBold"/>
                <a:cs typeface="Outfit SemiBold"/>
                <a:sym typeface="Outfit SemiBold"/>
              </a:endParaRPr>
            </a:p>
            <a:p>
              <a:pPr indent="0" lvl="0" marL="0" rtl="0" algn="l">
                <a:spcBef>
                  <a:spcPts val="600"/>
                </a:spcBef>
                <a:spcAft>
                  <a:spcPts val="0"/>
                </a:spcAft>
                <a:buNone/>
              </a:pPr>
              <a:r>
                <a:rPr b="0" lang="en-GB" sz="2600">
                  <a:solidFill>
                    <a:srgbClr val="2C2C2A"/>
                  </a:solidFill>
                  <a:latin typeface="Instrument Serif"/>
                  <a:ea typeface="Instrument Serif"/>
                  <a:cs typeface="Instrument Serif"/>
                  <a:sym typeface="Instrument Serif"/>
                </a:rPr>
                <a:t>Automation</a:t>
              </a:r>
              <a:endParaRPr b="0" sz="2600">
                <a:solidFill>
                  <a:srgbClr val="2C2C2A"/>
                </a:solidFill>
                <a:latin typeface="Instrument Serif"/>
                <a:ea typeface="Instrument Serif"/>
                <a:cs typeface="Instrument Serif"/>
                <a:sym typeface="Instrument Serif"/>
              </a:endParaRPr>
            </a:p>
            <a:p>
              <a:pPr indent="0" lvl="0" marL="0" rtl="0" algn="l">
                <a:spcBef>
                  <a:spcPts val="900"/>
                </a:spcBef>
                <a:spcAft>
                  <a:spcPts val="0"/>
                </a:spcAft>
                <a:buNone/>
              </a:pPr>
              <a:r>
                <a:rPr b="0" lang="en-GB" sz="1150">
                  <a:solidFill>
                    <a:srgbClr val="555555"/>
                  </a:solidFill>
                  <a:latin typeface="Lora"/>
                  <a:ea typeface="Lora"/>
                  <a:cs typeface="Lora"/>
                  <a:sym typeface="Lora"/>
                </a:rPr>
                <a:t>You set up a whole intellectual farmstead — a dizzying variety of automations and scaled operations, run by very few people.</a:t>
              </a:r>
              <a:endParaRPr b="0" sz="1150">
                <a:solidFill>
                  <a:srgbClr val="555555"/>
                </a:solidFill>
                <a:latin typeface="Lora"/>
                <a:ea typeface="Lora"/>
                <a:cs typeface="Lora"/>
                <a:sym typeface="Lora"/>
              </a:endParaRPr>
            </a:p>
          </p:txBody>
        </p:sp>
      </p:grpSp>
      <p:grpSp>
        <p:nvGrpSpPr>
          <p:cNvPr id="251" name="Google Shape;251;p14"/>
          <p:cNvGrpSpPr/>
          <p:nvPr/>
        </p:nvGrpSpPr>
        <p:grpSpPr>
          <a:xfrm>
            <a:off x="4413875" y="2171498"/>
            <a:ext cx="3362400" cy="2367237"/>
            <a:chOff x="0" y="0"/>
            <a:chExt cx="3362400" cy="3000300"/>
          </a:xfrm>
        </p:grpSpPr>
        <p:sp>
          <p:nvSpPr>
            <p:cNvPr id="252" name="Google Shape;252;p14"/>
            <p:cNvSpPr/>
            <p:nvPr/>
          </p:nvSpPr>
          <p:spPr>
            <a:xfrm>
              <a:off x="0" y="0"/>
              <a:ext cx="3362400" cy="3000300"/>
            </a:xfrm>
            <a:prstGeom prst="roundRect">
              <a:avLst>
                <a:gd fmla="val 2539" name="adj"/>
              </a:avLst>
            </a:prstGeom>
            <a:solidFill>
              <a:srgbClr val="E1F5E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3" name="Google Shape;253;p14"/>
            <p:cNvSpPr txBox="1"/>
            <p:nvPr/>
          </p:nvSpPr>
          <p:spPr>
            <a:xfrm>
              <a:off x="0" y="0"/>
              <a:ext cx="3362400" cy="3000300"/>
            </a:xfrm>
            <a:prstGeom prst="rect">
              <a:avLst/>
            </a:prstGeom>
            <a:noFill/>
            <a:ln>
              <a:noFill/>
            </a:ln>
          </p:spPr>
          <p:txBody>
            <a:bodyPr anchorCtr="0" anchor="t" bIns="266700" lIns="266700" spcFirstLastPara="1" rIns="266700" wrap="square" tIns="266700">
              <a:noAutofit/>
            </a:bodyPr>
            <a:lstStyle/>
            <a:p>
              <a:pPr indent="0" lvl="0" marL="0" rtl="0" algn="l">
                <a:spcBef>
                  <a:spcPts val="0"/>
                </a:spcBef>
                <a:spcAft>
                  <a:spcPts val="0"/>
                </a:spcAft>
                <a:buNone/>
              </a:pPr>
              <a:r>
                <a:rPr b="0" lang="en-GB" sz="1000">
                  <a:solidFill>
                    <a:srgbClr val="085041"/>
                  </a:solidFill>
                  <a:latin typeface="Outfit SemiBold"/>
                  <a:ea typeface="Outfit SemiBold"/>
                  <a:cs typeface="Outfit SemiBold"/>
                  <a:sym typeface="Outfit SemiBold"/>
                </a:rPr>
                <a:t>2 · AFFORDANCE 2</a:t>
              </a:r>
              <a:endParaRPr b="0" sz="1000">
                <a:solidFill>
                  <a:srgbClr val="085041"/>
                </a:solidFill>
                <a:latin typeface="Outfit SemiBold"/>
                <a:ea typeface="Outfit SemiBold"/>
                <a:cs typeface="Outfit SemiBold"/>
                <a:sym typeface="Outfit SemiBold"/>
              </a:endParaRPr>
            </a:p>
            <a:p>
              <a:pPr indent="0" lvl="0" marL="0" rtl="0" algn="l">
                <a:spcBef>
                  <a:spcPts val="600"/>
                </a:spcBef>
                <a:spcAft>
                  <a:spcPts val="0"/>
                </a:spcAft>
                <a:buNone/>
              </a:pPr>
              <a:r>
                <a:rPr b="0" lang="en-GB" sz="2600">
                  <a:solidFill>
                    <a:srgbClr val="2C2C2A"/>
                  </a:solidFill>
                  <a:latin typeface="Instrument Serif"/>
                  <a:ea typeface="Instrument Serif"/>
                  <a:cs typeface="Instrument Serif"/>
                  <a:sym typeface="Instrument Serif"/>
                </a:rPr>
                <a:t>Bespokification</a:t>
              </a:r>
              <a:endParaRPr b="0" sz="2600">
                <a:solidFill>
                  <a:srgbClr val="2C2C2A"/>
                </a:solidFill>
                <a:latin typeface="Instrument Serif"/>
                <a:ea typeface="Instrument Serif"/>
                <a:cs typeface="Instrument Serif"/>
                <a:sym typeface="Instrument Serif"/>
              </a:endParaRPr>
            </a:p>
            <a:p>
              <a:pPr indent="0" lvl="0" marL="0" rtl="0" algn="l">
                <a:spcBef>
                  <a:spcPts val="900"/>
                </a:spcBef>
                <a:spcAft>
                  <a:spcPts val="0"/>
                </a:spcAft>
                <a:buNone/>
              </a:pPr>
              <a:r>
                <a:rPr b="0" lang="en-GB" sz="1150">
                  <a:solidFill>
                    <a:srgbClr val="085041"/>
                  </a:solidFill>
                  <a:latin typeface="Lora"/>
                  <a:ea typeface="Lora"/>
                  <a:cs typeface="Lora"/>
                  <a:sym typeface="Lora"/>
                </a:rPr>
                <a:t>You create n=1 products fitted to your own needs, like a farmer improvising equipment. Your thinking gets more idiosyncratic and better adapted.</a:t>
              </a:r>
              <a:endParaRPr b="0" sz="1150">
                <a:solidFill>
                  <a:srgbClr val="085041"/>
                </a:solidFill>
                <a:latin typeface="Lora"/>
                <a:ea typeface="Lora"/>
                <a:cs typeface="Lora"/>
                <a:sym typeface="Lora"/>
              </a:endParaRPr>
            </a:p>
          </p:txBody>
        </p:sp>
      </p:grpSp>
      <p:grpSp>
        <p:nvGrpSpPr>
          <p:cNvPr id="254" name="Google Shape;254;p14"/>
          <p:cNvGrpSpPr/>
          <p:nvPr/>
        </p:nvGrpSpPr>
        <p:grpSpPr>
          <a:xfrm>
            <a:off x="8004800" y="2171498"/>
            <a:ext cx="3362400" cy="2367237"/>
            <a:chOff x="0" y="0"/>
            <a:chExt cx="3362400" cy="3000300"/>
          </a:xfrm>
        </p:grpSpPr>
        <p:sp>
          <p:nvSpPr>
            <p:cNvPr id="255" name="Google Shape;255;p14"/>
            <p:cNvSpPr/>
            <p:nvPr/>
          </p:nvSpPr>
          <p:spPr>
            <a:xfrm>
              <a:off x="0" y="0"/>
              <a:ext cx="3362400" cy="3000300"/>
            </a:xfrm>
            <a:prstGeom prst="roundRect">
              <a:avLst>
                <a:gd fmla="val 2539" name="adj"/>
              </a:avLst>
            </a:prstGeom>
            <a:solidFill>
              <a:srgbClr val="F0EDE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6" name="Google Shape;256;p14"/>
            <p:cNvSpPr txBox="1"/>
            <p:nvPr/>
          </p:nvSpPr>
          <p:spPr>
            <a:xfrm>
              <a:off x="0" y="0"/>
              <a:ext cx="3362400" cy="3000300"/>
            </a:xfrm>
            <a:prstGeom prst="rect">
              <a:avLst/>
            </a:prstGeom>
            <a:noFill/>
            <a:ln>
              <a:noFill/>
            </a:ln>
          </p:spPr>
          <p:txBody>
            <a:bodyPr anchorCtr="0" anchor="t" bIns="266700" lIns="266700" spcFirstLastPara="1" rIns="266700" wrap="square" tIns="266700">
              <a:noAutofit/>
            </a:bodyPr>
            <a:lstStyle/>
            <a:p>
              <a:pPr indent="0" lvl="0" marL="0" rtl="0" algn="l">
                <a:spcBef>
                  <a:spcPts val="0"/>
                </a:spcBef>
                <a:spcAft>
                  <a:spcPts val="0"/>
                </a:spcAft>
                <a:buNone/>
              </a:pPr>
              <a:r>
                <a:rPr b="0" lang="en-GB" sz="1000">
                  <a:solidFill>
                    <a:srgbClr val="0064FF"/>
                  </a:solidFill>
                  <a:latin typeface="Outfit SemiBold"/>
                  <a:ea typeface="Outfit SemiBold"/>
                  <a:cs typeface="Outfit SemiBold"/>
                  <a:sym typeface="Outfit SemiBold"/>
                </a:rPr>
                <a:t>3 · AFFORDANCE 3</a:t>
              </a:r>
              <a:endParaRPr b="0" sz="1000">
                <a:solidFill>
                  <a:srgbClr val="0064FF"/>
                </a:solidFill>
                <a:latin typeface="Outfit SemiBold"/>
                <a:ea typeface="Outfit SemiBold"/>
                <a:cs typeface="Outfit SemiBold"/>
                <a:sym typeface="Outfit SemiBold"/>
              </a:endParaRPr>
            </a:p>
            <a:p>
              <a:pPr indent="0" lvl="0" marL="0" rtl="0" algn="l">
                <a:spcBef>
                  <a:spcPts val="600"/>
                </a:spcBef>
                <a:spcAft>
                  <a:spcPts val="0"/>
                </a:spcAft>
                <a:buNone/>
              </a:pPr>
              <a:r>
                <a:rPr b="0" lang="en-GB" sz="2600">
                  <a:solidFill>
                    <a:srgbClr val="2C2C2A"/>
                  </a:solidFill>
                  <a:latin typeface="Instrument Serif"/>
                  <a:ea typeface="Instrument Serif"/>
                  <a:cs typeface="Instrument Serif"/>
                  <a:sym typeface="Instrument Serif"/>
                </a:rPr>
                <a:t>Pensievification</a:t>
              </a:r>
              <a:endParaRPr b="0" sz="2600">
                <a:solidFill>
                  <a:srgbClr val="2C2C2A"/>
                </a:solidFill>
                <a:latin typeface="Instrument Serif"/>
                <a:ea typeface="Instrument Serif"/>
                <a:cs typeface="Instrument Serif"/>
                <a:sym typeface="Instrument Serif"/>
              </a:endParaRPr>
            </a:p>
            <a:p>
              <a:pPr indent="0" lvl="0" marL="0" rtl="0" algn="l">
                <a:spcBef>
                  <a:spcPts val="900"/>
                </a:spcBef>
                <a:spcAft>
                  <a:spcPts val="0"/>
                </a:spcAft>
                <a:buNone/>
              </a:pPr>
              <a:r>
                <a:rPr b="0" lang="en-GB" sz="1150">
                  <a:solidFill>
                    <a:srgbClr val="555555"/>
                  </a:solidFill>
                  <a:latin typeface="Lora"/>
                  <a:ea typeface="Lora"/>
                  <a:cs typeface="Lora"/>
                  <a:sym typeface="Lora"/>
                </a:rPr>
                <a:t>You share the raw outputs with a few trusted people — like trading excess produce with neighbours. It asks for high trust and it builds it.</a:t>
              </a:r>
              <a:endParaRPr b="0" sz="1150">
                <a:solidFill>
                  <a:srgbClr val="555555"/>
                </a:solidFill>
                <a:latin typeface="Lora"/>
                <a:ea typeface="Lora"/>
                <a:cs typeface="Lora"/>
                <a:sym typeface="Lora"/>
              </a:endParaRPr>
            </a:p>
          </p:txBody>
        </p:sp>
      </p:grpSp>
      <p:grpSp>
        <p:nvGrpSpPr>
          <p:cNvPr id="257" name="Google Shape;257;p14"/>
          <p:cNvGrpSpPr/>
          <p:nvPr/>
        </p:nvGrpSpPr>
        <p:grpSpPr>
          <a:xfrm>
            <a:off x="822960" y="5067300"/>
            <a:ext cx="10544100" cy="1143000"/>
            <a:chOff x="0" y="0"/>
            <a:chExt cx="10544100" cy="1143000"/>
          </a:xfrm>
        </p:grpSpPr>
        <p:sp>
          <p:nvSpPr>
            <p:cNvPr id="258" name="Google Shape;258;p14"/>
            <p:cNvSpPr/>
            <p:nvPr/>
          </p:nvSpPr>
          <p:spPr>
            <a:xfrm>
              <a:off x="0" y="0"/>
              <a:ext cx="10544100" cy="1143000"/>
            </a:xfrm>
            <a:prstGeom prst="roundRect">
              <a:avLst>
                <a:gd fmla="val 6666" name="adj"/>
              </a:avLst>
            </a:prstGeom>
            <a:solidFill>
              <a:srgbClr val="F0EDE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9" name="Google Shape;259;p14"/>
            <p:cNvSpPr txBox="1"/>
            <p:nvPr/>
          </p:nvSpPr>
          <p:spPr>
            <a:xfrm>
              <a:off x="0" y="0"/>
              <a:ext cx="10544100" cy="1143000"/>
            </a:xfrm>
            <a:prstGeom prst="rect">
              <a:avLst/>
            </a:prstGeom>
            <a:noFill/>
            <a:ln>
              <a:noFill/>
            </a:ln>
          </p:spPr>
          <p:txBody>
            <a:bodyPr anchorCtr="0" anchor="ctr" bIns="0" lIns="266700" spcFirstLastPara="1" rIns="266700" wrap="square" tIns="0">
              <a:noAutofit/>
            </a:bodyPr>
            <a:lstStyle/>
            <a:p>
              <a:pPr indent="0" lvl="0" marL="0" rtl="0" algn="l">
                <a:spcBef>
                  <a:spcPts val="0"/>
                </a:spcBef>
                <a:spcAft>
                  <a:spcPts val="0"/>
                </a:spcAft>
                <a:buNone/>
              </a:pPr>
              <a:r>
                <a:rPr b="0" lang="en-GB" sz="1000">
                  <a:solidFill>
                    <a:srgbClr val="0064FF"/>
                  </a:solidFill>
                  <a:latin typeface="Outfit SemiBold"/>
                  <a:ea typeface="Outfit SemiBold"/>
                  <a:cs typeface="Outfit SemiBold"/>
                  <a:sym typeface="Outfit SemiBold"/>
                </a:rPr>
                <a:t>KEY TAKEAWAY</a:t>
              </a:r>
              <a:endParaRPr b="0" sz="1000">
                <a:solidFill>
                  <a:srgbClr val="0064FF"/>
                </a:solidFill>
                <a:latin typeface="Outfit SemiBold"/>
                <a:ea typeface="Outfit SemiBold"/>
                <a:cs typeface="Outfit SemiBold"/>
                <a:sym typeface="Outfit SemiBold"/>
              </a:endParaRPr>
            </a:p>
            <a:p>
              <a:pPr indent="0" lvl="0" marL="0" rtl="0" algn="l">
                <a:spcBef>
                  <a:spcPts val="450"/>
                </a:spcBef>
                <a:spcAft>
                  <a:spcPts val="0"/>
                </a:spcAft>
                <a:buNone/>
              </a:pPr>
              <a:r>
                <a:rPr lang="en-GB" sz="1250">
                  <a:solidFill>
                    <a:srgbClr val="2C2C2A"/>
                  </a:solidFill>
                  <a:latin typeface="Lora"/>
                  <a:ea typeface="Lora"/>
                  <a:cs typeface="Lora"/>
                  <a:sym typeface="Lora"/>
                </a:rPr>
                <a:t>Overall, </a:t>
              </a:r>
              <a:r>
                <a:rPr b="0" lang="en-GB" sz="1250">
                  <a:solidFill>
                    <a:srgbClr val="2C2C2A"/>
                  </a:solidFill>
                  <a:latin typeface="Lora"/>
                  <a:ea typeface="Lora"/>
                  <a:cs typeface="Lora"/>
                  <a:sym typeface="Lora"/>
                </a:rPr>
                <a:t> the combined tendency is divergence, not convergence. Your practice becomes better adapted to you — and stops making sense to anyone else.</a:t>
              </a:r>
              <a:endParaRPr b="0" sz="1250">
                <a:solidFill>
                  <a:srgbClr val="2C2C2A"/>
                </a:solidFill>
                <a:latin typeface="Lora"/>
                <a:ea typeface="Lora"/>
                <a:cs typeface="Lora"/>
                <a:sym typeface="Lora"/>
              </a:endParaRPr>
            </a:p>
          </p:txBody>
        </p:sp>
      </p:grpSp>
      <p:sp>
        <p:nvSpPr>
          <p:cNvPr id="260" name="Google Shape;260;p14"/>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11"/>
          <p:cNvSpPr txBox="1"/>
          <p:nvPr>
            <p:ph idx="1" type="body"/>
          </p:nvPr>
        </p:nvSpPr>
        <p:spPr>
          <a:xfrm>
            <a:off x="822960" y="457200"/>
            <a:ext cx="9144000" cy="320100"/>
          </a:xfrm>
          <a:prstGeom prst="rect">
            <a:avLst/>
          </a:prstGeom>
          <a:noFill/>
          <a:ln>
            <a:noFill/>
          </a:ln>
        </p:spPr>
        <p:txBody>
          <a:bodyPr anchorCtr="0" anchor="t" bIns="0" lIns="0" spcFirstLastPara="1" rIns="0" wrap="square" tIns="0">
            <a:noAutofit/>
          </a:bodyPr>
          <a:lstStyle/>
          <a:p>
            <a:pPr indent="0" lvl="0" marL="0" rtl="0" algn="l">
              <a:lnSpc>
                <a:spcPct val="118000"/>
              </a:lnSpc>
              <a:spcBef>
                <a:spcPts val="0"/>
              </a:spcBef>
              <a:spcAft>
                <a:spcPts val="0"/>
              </a:spcAft>
              <a:buClr>
                <a:srgbClr val="0064FF"/>
              </a:buClr>
              <a:buSzPts val="1200"/>
              <a:buFont typeface="Outfit"/>
              <a:buNone/>
            </a:pPr>
            <a:r>
              <a:rPr lang="en-GB"/>
              <a:t>SESSION 1 · KITS · EXAMPLE</a:t>
            </a:r>
            <a:endParaRPr/>
          </a:p>
        </p:txBody>
      </p:sp>
      <p:sp>
        <p:nvSpPr>
          <p:cNvPr id="266" name="Google Shape;266;p11"/>
          <p:cNvSpPr txBox="1"/>
          <p:nvPr>
            <p:ph type="title"/>
          </p:nvPr>
        </p:nvSpPr>
        <p:spPr>
          <a:xfrm>
            <a:off x="822950" y="914400"/>
            <a:ext cx="9692700" cy="752400"/>
          </a:xfrm>
          <a:prstGeom prst="rect">
            <a:avLst/>
          </a:prstGeom>
          <a:noFill/>
          <a:ln>
            <a:noFill/>
          </a:ln>
        </p:spPr>
        <p:txBody>
          <a:bodyPr anchorCtr="0" anchor="t" bIns="0" lIns="0" spcFirstLastPara="1" rIns="0" wrap="square" tIns="0">
            <a:noAutofit/>
          </a:bodyPr>
          <a:lstStyle/>
          <a:p>
            <a:pPr indent="0" lvl="0" marL="0" rtl="0" algn="l">
              <a:lnSpc>
                <a:spcPct val="96000"/>
              </a:lnSpc>
              <a:spcBef>
                <a:spcPts val="0"/>
              </a:spcBef>
              <a:spcAft>
                <a:spcPts val="0"/>
              </a:spcAft>
              <a:buClr>
                <a:srgbClr val="2C2C2A"/>
              </a:buClr>
              <a:buSzPts val="2800"/>
              <a:buFont typeface="Instrument Serif"/>
              <a:buNone/>
            </a:pPr>
            <a:r>
              <a:rPr lang="en-GB"/>
              <a:t>How are these private spaces accessible? What interfaces are emerging to access AI-native Kits and Factories?</a:t>
            </a:r>
            <a:endParaRPr/>
          </a:p>
        </p:txBody>
      </p:sp>
      <p:grpSp>
        <p:nvGrpSpPr>
          <p:cNvPr id="267" name="Google Shape;267;p11"/>
          <p:cNvGrpSpPr/>
          <p:nvPr/>
        </p:nvGrpSpPr>
        <p:grpSpPr>
          <a:xfrm>
            <a:off x="2106724" y="2357900"/>
            <a:ext cx="7978200" cy="523800"/>
            <a:chOff x="0" y="0"/>
            <a:chExt cx="10546200" cy="523800"/>
          </a:xfrm>
        </p:grpSpPr>
        <p:sp>
          <p:nvSpPr>
            <p:cNvPr id="268" name="Google Shape;268;p11"/>
            <p:cNvSpPr/>
            <p:nvPr/>
          </p:nvSpPr>
          <p:spPr>
            <a:xfrm>
              <a:off x="0" y="0"/>
              <a:ext cx="10546200" cy="523800"/>
            </a:xfrm>
            <a:prstGeom prst="roundRect">
              <a:avLst>
                <a:gd fmla="val 14545" name="adj"/>
              </a:avLst>
            </a:prstGeom>
            <a:solidFill>
              <a:srgbClr val="F0EDE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i="1"/>
            </a:p>
          </p:txBody>
        </p:sp>
        <p:sp>
          <p:nvSpPr>
            <p:cNvPr id="269" name="Google Shape;269;p11"/>
            <p:cNvSpPr txBox="1"/>
            <p:nvPr/>
          </p:nvSpPr>
          <p:spPr>
            <a:xfrm>
              <a:off x="0" y="0"/>
              <a:ext cx="10546200" cy="523800"/>
            </a:xfrm>
            <a:prstGeom prst="rect">
              <a:avLst/>
            </a:prstGeom>
            <a:noFill/>
            <a:ln>
              <a:noFill/>
            </a:ln>
          </p:spPr>
          <p:txBody>
            <a:bodyPr anchorCtr="0" anchor="t" bIns="0" lIns="228600" spcFirstLastPara="1" rIns="228600" wrap="square" tIns="0">
              <a:noAutofit/>
            </a:bodyPr>
            <a:lstStyle/>
            <a:p>
              <a:pPr indent="0" lvl="0" marL="0" rtl="0" algn="ctr">
                <a:spcBef>
                  <a:spcPts val="0"/>
                </a:spcBef>
                <a:spcAft>
                  <a:spcPts val="0"/>
                </a:spcAft>
                <a:buNone/>
              </a:pPr>
              <a:r>
                <a:t/>
              </a:r>
              <a:endParaRPr i="1" sz="1000">
                <a:solidFill>
                  <a:srgbClr val="0064FF"/>
                </a:solidFill>
                <a:latin typeface="Outfit SemiBold"/>
                <a:ea typeface="Outfit SemiBold"/>
                <a:cs typeface="Outfit SemiBold"/>
                <a:sym typeface="Outfit SemiBold"/>
              </a:endParaRPr>
            </a:p>
            <a:p>
              <a:pPr indent="0" lvl="0" marL="0" rtl="0" algn="ctr">
                <a:spcBef>
                  <a:spcPts val="0"/>
                </a:spcBef>
                <a:spcAft>
                  <a:spcPts val="0"/>
                </a:spcAft>
                <a:buNone/>
              </a:pPr>
              <a:r>
                <a:rPr b="0" i="1" lang="en-GB" sz="1000">
                  <a:solidFill>
                    <a:srgbClr val="0064FF"/>
                  </a:solidFill>
                  <a:latin typeface="Outfit SemiBold"/>
                  <a:ea typeface="Outfit SemiBold"/>
                  <a:cs typeface="Outfit SemiBold"/>
                  <a:sym typeface="Outfit SemiBold"/>
                </a:rPr>
                <a:t>THE CORPUS</a:t>
              </a:r>
              <a:r>
                <a:rPr i="1" lang="en-GB" sz="1100">
                  <a:solidFill>
                    <a:srgbClr val="2C2C2A"/>
                  </a:solidFill>
                  <a:latin typeface="Lora"/>
                  <a:ea typeface="Lora"/>
                  <a:cs typeface="Lora"/>
                  <a:sym typeface="Lora"/>
                </a:rPr>
                <a:t> </a:t>
              </a:r>
              <a:r>
                <a:rPr i="1" lang="en-GB" sz="1100">
                  <a:solidFill>
                    <a:srgbClr val="666666"/>
                  </a:solidFill>
                  <a:latin typeface="Lora"/>
                  <a:ea typeface="Lora"/>
                  <a:cs typeface="Lora"/>
                  <a:sym typeface="Lora"/>
                </a:rPr>
                <a:t>—</a:t>
              </a:r>
              <a:r>
                <a:rPr i="1" lang="en-GB" sz="1100">
                  <a:solidFill>
                    <a:srgbClr val="2C2C2A"/>
                  </a:solidFill>
                  <a:latin typeface="Lora"/>
                  <a:ea typeface="Lora"/>
                  <a:cs typeface="Lora"/>
                  <a:sym typeface="Lora"/>
                </a:rPr>
                <a:t> The Protocol Institute archive of essays, videos, content, discussions, training, readings, and more...</a:t>
              </a:r>
              <a:endParaRPr i="1" sz="1100">
                <a:solidFill>
                  <a:srgbClr val="2C2C2A"/>
                </a:solidFill>
                <a:latin typeface="Lora"/>
                <a:ea typeface="Lora"/>
                <a:cs typeface="Lora"/>
                <a:sym typeface="Lora"/>
              </a:endParaRPr>
            </a:p>
          </p:txBody>
        </p:sp>
      </p:grpSp>
      <p:grpSp>
        <p:nvGrpSpPr>
          <p:cNvPr id="270" name="Google Shape;270;p11"/>
          <p:cNvGrpSpPr/>
          <p:nvPr/>
        </p:nvGrpSpPr>
        <p:grpSpPr>
          <a:xfrm>
            <a:off x="822910" y="3053225"/>
            <a:ext cx="3362400" cy="2476500"/>
            <a:chOff x="0" y="0"/>
            <a:chExt cx="3362400" cy="2476500"/>
          </a:xfrm>
        </p:grpSpPr>
        <p:sp>
          <p:nvSpPr>
            <p:cNvPr id="271" name="Google Shape;271;p11"/>
            <p:cNvSpPr/>
            <p:nvPr/>
          </p:nvSpPr>
          <p:spPr>
            <a:xfrm>
              <a:off x="0" y="0"/>
              <a:ext cx="3362400" cy="2476500"/>
            </a:xfrm>
            <a:prstGeom prst="roundRect">
              <a:avLst>
                <a:gd fmla="val 3076" name="adj"/>
              </a:avLst>
            </a:prstGeom>
            <a:solidFill>
              <a:srgbClr val="F0EDE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2" name="Google Shape;272;p11"/>
            <p:cNvSpPr txBox="1"/>
            <p:nvPr/>
          </p:nvSpPr>
          <p:spPr>
            <a:xfrm>
              <a:off x="0" y="0"/>
              <a:ext cx="3362400" cy="2476500"/>
            </a:xfrm>
            <a:prstGeom prst="rect">
              <a:avLst/>
            </a:prstGeom>
            <a:noFill/>
            <a:ln>
              <a:noFill/>
            </a:ln>
          </p:spPr>
          <p:txBody>
            <a:bodyPr anchorCtr="0" anchor="t" bIns="228600" lIns="228600" spcFirstLastPara="1" rIns="228600" wrap="square" tIns="228600">
              <a:noAutofit/>
            </a:bodyPr>
            <a:lstStyle/>
            <a:p>
              <a:pPr indent="0" lvl="0" marL="0" rtl="0" algn="l">
                <a:spcBef>
                  <a:spcPts val="0"/>
                </a:spcBef>
                <a:spcAft>
                  <a:spcPts val="0"/>
                </a:spcAft>
                <a:buNone/>
              </a:pPr>
              <a:r>
                <a:rPr b="0" lang="en-GB" sz="1000">
                  <a:solidFill>
                    <a:srgbClr val="0064FF"/>
                  </a:solidFill>
                  <a:latin typeface="Outfit SemiBold"/>
                  <a:ea typeface="Outfit SemiBold"/>
                  <a:cs typeface="Outfit SemiBold"/>
                  <a:sym typeface="Outfit SemiBold"/>
                </a:rPr>
                <a:t>DOOR 1 · </a:t>
              </a:r>
              <a:r>
                <a:rPr lang="en-GB" sz="1000">
                  <a:solidFill>
                    <a:srgbClr val="0064FF"/>
                  </a:solidFill>
                  <a:latin typeface="Outfit SemiBold"/>
                  <a:ea typeface="Outfit SemiBold"/>
                  <a:cs typeface="Outfit SemiBold"/>
                  <a:sym typeface="Outfit SemiBold"/>
                </a:rPr>
                <a:t>INDIVIDUALS</a:t>
              </a:r>
              <a:endParaRPr b="0" sz="1000">
                <a:solidFill>
                  <a:srgbClr val="0064FF"/>
                </a:solidFill>
                <a:latin typeface="Outfit SemiBold"/>
                <a:ea typeface="Outfit SemiBold"/>
                <a:cs typeface="Outfit SemiBold"/>
                <a:sym typeface="Outfit SemiBold"/>
              </a:endParaRPr>
            </a:p>
            <a:p>
              <a:pPr indent="0" lvl="0" marL="0" rtl="0" algn="l">
                <a:spcBef>
                  <a:spcPts val="800"/>
                </a:spcBef>
                <a:spcAft>
                  <a:spcPts val="0"/>
                </a:spcAft>
                <a:buNone/>
              </a:pPr>
              <a:r>
                <a:rPr lang="en-GB" sz="2400">
                  <a:solidFill>
                    <a:srgbClr val="2C2C2A"/>
                  </a:solidFill>
                  <a:latin typeface="Instrument Serif"/>
                  <a:ea typeface="Instrument Serif"/>
                  <a:cs typeface="Instrument Serif"/>
                  <a:sym typeface="Instrument Serif"/>
                </a:rPr>
                <a:t>A web page</a:t>
              </a:r>
              <a:endParaRPr sz="2400">
                <a:solidFill>
                  <a:srgbClr val="2C2C2A"/>
                </a:solidFill>
                <a:latin typeface="Instrument Serif"/>
                <a:ea typeface="Instrument Serif"/>
                <a:cs typeface="Instrument Serif"/>
                <a:sym typeface="Instrument Serif"/>
              </a:endParaRPr>
            </a:p>
            <a:p>
              <a:pPr indent="0" lvl="0" marL="0" rtl="0" algn="l">
                <a:spcBef>
                  <a:spcPts val="1200"/>
                </a:spcBef>
                <a:spcAft>
                  <a:spcPts val="0"/>
                </a:spcAft>
                <a:buNone/>
              </a:pPr>
              <a:r>
                <a:rPr lang="en-GB" sz="1200">
                  <a:solidFill>
                    <a:srgbClr val="555555"/>
                  </a:solidFill>
                  <a:latin typeface="Outfit"/>
                  <a:ea typeface="Outfit"/>
                  <a:cs typeface="Outfit"/>
                  <a:sym typeface="Outfit"/>
                </a:rPr>
                <a:t>c3po.protocolized.io</a:t>
              </a:r>
              <a:endParaRPr sz="1200">
                <a:solidFill>
                  <a:srgbClr val="555555"/>
                </a:solidFill>
                <a:latin typeface="Outfit"/>
                <a:ea typeface="Outfit"/>
                <a:cs typeface="Outfit"/>
                <a:sym typeface="Outfit"/>
              </a:endParaRPr>
            </a:p>
          </p:txBody>
        </p:sp>
      </p:grpSp>
      <p:grpSp>
        <p:nvGrpSpPr>
          <p:cNvPr id="273" name="Google Shape;273;p11"/>
          <p:cNvGrpSpPr/>
          <p:nvPr/>
        </p:nvGrpSpPr>
        <p:grpSpPr>
          <a:xfrm>
            <a:off x="4413835" y="3053225"/>
            <a:ext cx="3362400" cy="2476500"/>
            <a:chOff x="0" y="0"/>
            <a:chExt cx="3362400" cy="2476500"/>
          </a:xfrm>
        </p:grpSpPr>
        <p:sp>
          <p:nvSpPr>
            <p:cNvPr id="274" name="Google Shape;274;p11"/>
            <p:cNvSpPr/>
            <p:nvPr/>
          </p:nvSpPr>
          <p:spPr>
            <a:xfrm>
              <a:off x="0" y="0"/>
              <a:ext cx="3362400" cy="2476500"/>
            </a:xfrm>
            <a:prstGeom prst="roundRect">
              <a:avLst>
                <a:gd fmla="val 3076" name="adj"/>
              </a:avLst>
            </a:prstGeom>
            <a:solidFill>
              <a:srgbClr val="F0EDE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5" name="Google Shape;275;p11"/>
            <p:cNvSpPr txBox="1"/>
            <p:nvPr/>
          </p:nvSpPr>
          <p:spPr>
            <a:xfrm>
              <a:off x="0" y="0"/>
              <a:ext cx="3362400" cy="2476500"/>
            </a:xfrm>
            <a:prstGeom prst="rect">
              <a:avLst/>
            </a:prstGeom>
            <a:noFill/>
            <a:ln>
              <a:noFill/>
            </a:ln>
          </p:spPr>
          <p:txBody>
            <a:bodyPr anchorCtr="0" anchor="t" bIns="228600" lIns="228600" spcFirstLastPara="1" rIns="228600" wrap="square" tIns="228600">
              <a:noAutofit/>
            </a:bodyPr>
            <a:lstStyle/>
            <a:p>
              <a:pPr indent="0" lvl="0" marL="0" rtl="0" algn="l">
                <a:spcBef>
                  <a:spcPts val="0"/>
                </a:spcBef>
                <a:spcAft>
                  <a:spcPts val="0"/>
                </a:spcAft>
                <a:buNone/>
              </a:pPr>
              <a:r>
                <a:rPr b="0" lang="en-GB" sz="1000">
                  <a:solidFill>
                    <a:srgbClr val="0064FF"/>
                  </a:solidFill>
                  <a:latin typeface="Outfit SemiBold"/>
                  <a:ea typeface="Outfit SemiBold"/>
                  <a:cs typeface="Outfit SemiBold"/>
                  <a:sym typeface="Outfit SemiBold"/>
                </a:rPr>
                <a:t>DOOR 2 · COMMUNIT</a:t>
              </a:r>
              <a:r>
                <a:rPr lang="en-GB" sz="1000">
                  <a:solidFill>
                    <a:srgbClr val="0064FF"/>
                  </a:solidFill>
                  <a:latin typeface="Outfit SemiBold"/>
                  <a:ea typeface="Outfit SemiBold"/>
                  <a:cs typeface="Outfit SemiBold"/>
                  <a:sym typeface="Outfit SemiBold"/>
                </a:rPr>
                <a:t>IES</a:t>
              </a:r>
              <a:endParaRPr b="0" sz="1000">
                <a:solidFill>
                  <a:srgbClr val="0064FF"/>
                </a:solidFill>
                <a:latin typeface="Outfit SemiBold"/>
                <a:ea typeface="Outfit SemiBold"/>
                <a:cs typeface="Outfit SemiBold"/>
                <a:sym typeface="Outfit SemiBold"/>
              </a:endParaRPr>
            </a:p>
            <a:p>
              <a:pPr indent="0" lvl="0" marL="0" rtl="0" algn="l">
                <a:spcBef>
                  <a:spcPts val="800"/>
                </a:spcBef>
                <a:spcAft>
                  <a:spcPts val="0"/>
                </a:spcAft>
                <a:buNone/>
              </a:pPr>
              <a:r>
                <a:rPr lang="en-GB" sz="2400">
                  <a:solidFill>
                    <a:srgbClr val="2C2C2A"/>
                  </a:solidFill>
                  <a:latin typeface="Instrument Serif"/>
                  <a:ea typeface="Instrument Serif"/>
                  <a:cs typeface="Instrument Serif"/>
                  <a:sym typeface="Instrument Serif"/>
                </a:rPr>
                <a:t>A chat bot</a:t>
              </a:r>
              <a:endParaRPr sz="2400">
                <a:solidFill>
                  <a:srgbClr val="2C2C2A"/>
                </a:solidFill>
                <a:latin typeface="Instrument Serif"/>
                <a:ea typeface="Instrument Serif"/>
                <a:cs typeface="Instrument Serif"/>
                <a:sym typeface="Instrument Serif"/>
              </a:endParaRPr>
            </a:p>
            <a:p>
              <a:pPr indent="0" lvl="0" marL="0" rtl="0" algn="l">
                <a:spcBef>
                  <a:spcPts val="1200"/>
                </a:spcBef>
                <a:spcAft>
                  <a:spcPts val="0"/>
                </a:spcAft>
                <a:buNone/>
              </a:pPr>
              <a:r>
                <a:rPr lang="en-GB" sz="1200">
                  <a:solidFill>
                    <a:srgbClr val="555555"/>
                  </a:solidFill>
                  <a:latin typeface="Outfit"/>
                  <a:ea typeface="Outfit"/>
                  <a:cs typeface="Outfit"/>
                  <a:sym typeface="Outfit"/>
                </a:rPr>
                <a:t>@C3PO in the Institute discussion forum</a:t>
              </a:r>
              <a:endParaRPr sz="1200">
                <a:solidFill>
                  <a:srgbClr val="555555"/>
                </a:solidFill>
                <a:latin typeface="Outfit"/>
                <a:ea typeface="Outfit"/>
                <a:cs typeface="Outfit"/>
                <a:sym typeface="Outfit"/>
              </a:endParaRPr>
            </a:p>
          </p:txBody>
        </p:sp>
      </p:grpSp>
      <p:grpSp>
        <p:nvGrpSpPr>
          <p:cNvPr id="276" name="Google Shape;276;p11"/>
          <p:cNvGrpSpPr/>
          <p:nvPr/>
        </p:nvGrpSpPr>
        <p:grpSpPr>
          <a:xfrm>
            <a:off x="8004760" y="3053225"/>
            <a:ext cx="3362400" cy="2476500"/>
            <a:chOff x="0" y="0"/>
            <a:chExt cx="3362400" cy="2476500"/>
          </a:xfrm>
        </p:grpSpPr>
        <p:sp>
          <p:nvSpPr>
            <p:cNvPr id="277" name="Google Shape;277;p11"/>
            <p:cNvSpPr/>
            <p:nvPr/>
          </p:nvSpPr>
          <p:spPr>
            <a:xfrm>
              <a:off x="0" y="0"/>
              <a:ext cx="3362400" cy="2476500"/>
            </a:xfrm>
            <a:prstGeom prst="roundRect">
              <a:avLst>
                <a:gd fmla="val 3076" name="adj"/>
              </a:avLst>
            </a:prstGeom>
            <a:solidFill>
              <a:srgbClr val="E1F5E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8" name="Google Shape;278;p11"/>
            <p:cNvSpPr txBox="1"/>
            <p:nvPr/>
          </p:nvSpPr>
          <p:spPr>
            <a:xfrm>
              <a:off x="0" y="0"/>
              <a:ext cx="3362400" cy="2476500"/>
            </a:xfrm>
            <a:prstGeom prst="rect">
              <a:avLst/>
            </a:prstGeom>
            <a:noFill/>
            <a:ln>
              <a:noFill/>
            </a:ln>
          </p:spPr>
          <p:txBody>
            <a:bodyPr anchorCtr="0" anchor="t" bIns="228600" lIns="228600" spcFirstLastPara="1" rIns="228600" wrap="square" tIns="228600">
              <a:noAutofit/>
            </a:bodyPr>
            <a:lstStyle/>
            <a:p>
              <a:pPr indent="0" lvl="0" marL="0" rtl="0" algn="l">
                <a:spcBef>
                  <a:spcPts val="0"/>
                </a:spcBef>
                <a:spcAft>
                  <a:spcPts val="0"/>
                </a:spcAft>
                <a:buNone/>
              </a:pPr>
              <a:r>
                <a:rPr b="0" lang="en-GB" sz="1000">
                  <a:solidFill>
                    <a:srgbClr val="085041"/>
                  </a:solidFill>
                  <a:latin typeface="Outfit SemiBold"/>
                  <a:ea typeface="Outfit SemiBold"/>
                  <a:cs typeface="Outfit SemiBold"/>
                  <a:sym typeface="Outfit SemiBold"/>
                </a:rPr>
                <a:t>DOOR 3 · MACHIN</a:t>
              </a:r>
              <a:r>
                <a:rPr lang="en-GB" sz="1000">
                  <a:solidFill>
                    <a:srgbClr val="085041"/>
                  </a:solidFill>
                  <a:latin typeface="Outfit SemiBold"/>
                  <a:ea typeface="Outfit SemiBold"/>
                  <a:cs typeface="Outfit SemiBold"/>
                  <a:sym typeface="Outfit SemiBold"/>
                </a:rPr>
                <a:t>ES</a:t>
              </a:r>
              <a:endParaRPr b="0" sz="1000">
                <a:solidFill>
                  <a:srgbClr val="085041"/>
                </a:solidFill>
                <a:latin typeface="Outfit SemiBold"/>
                <a:ea typeface="Outfit SemiBold"/>
                <a:cs typeface="Outfit SemiBold"/>
                <a:sym typeface="Outfit SemiBold"/>
              </a:endParaRPr>
            </a:p>
            <a:p>
              <a:pPr indent="0" lvl="0" marL="0" rtl="0" algn="l">
                <a:spcBef>
                  <a:spcPts val="800"/>
                </a:spcBef>
                <a:spcAft>
                  <a:spcPts val="0"/>
                </a:spcAft>
                <a:buNone/>
              </a:pPr>
              <a:r>
                <a:rPr lang="en-GB" sz="2400">
                  <a:solidFill>
                    <a:srgbClr val="2C2C2A"/>
                  </a:solidFill>
                  <a:latin typeface="Instrument Serif"/>
                  <a:ea typeface="Instrument Serif"/>
                  <a:cs typeface="Instrument Serif"/>
                  <a:sym typeface="Instrument Serif"/>
                </a:rPr>
                <a:t>Direct Call</a:t>
              </a:r>
              <a:endParaRPr sz="2400">
                <a:solidFill>
                  <a:srgbClr val="2C2C2A"/>
                </a:solidFill>
                <a:latin typeface="Instrument Serif"/>
                <a:ea typeface="Instrument Serif"/>
                <a:cs typeface="Instrument Serif"/>
                <a:sym typeface="Instrument Serif"/>
              </a:endParaRPr>
            </a:p>
            <a:p>
              <a:pPr indent="0" lvl="0" marL="0" rtl="0" algn="l">
                <a:spcBef>
                  <a:spcPts val="800"/>
                </a:spcBef>
                <a:spcAft>
                  <a:spcPts val="0"/>
                </a:spcAft>
                <a:buNone/>
              </a:pPr>
              <a:r>
                <a:rPr lang="en-GB" sz="1100">
                  <a:solidFill>
                    <a:srgbClr val="085041"/>
                  </a:solidFill>
                  <a:latin typeface="Lora"/>
                  <a:ea typeface="Lora"/>
                  <a:cs typeface="Lora"/>
                  <a:sym typeface="Lora"/>
                </a:rPr>
                <a:t>Any assistant can call it directly:</a:t>
              </a:r>
              <a:endParaRPr sz="1100">
                <a:solidFill>
                  <a:srgbClr val="085041"/>
                </a:solidFill>
                <a:latin typeface="Lora"/>
                <a:ea typeface="Lora"/>
                <a:cs typeface="Lora"/>
                <a:sym typeface="Lora"/>
              </a:endParaRPr>
            </a:p>
            <a:p>
              <a:pPr indent="0" lvl="0" marL="0" rtl="0" algn="l">
                <a:spcBef>
                  <a:spcPts val="800"/>
                </a:spcBef>
                <a:spcAft>
                  <a:spcPts val="0"/>
                </a:spcAft>
                <a:buNone/>
              </a:pPr>
              <a:r>
                <a:rPr lang="en-GB" sz="950">
                  <a:solidFill>
                    <a:srgbClr val="085041"/>
                  </a:solidFill>
                  <a:latin typeface="Courier New"/>
                  <a:ea typeface="Courier New"/>
                  <a:cs typeface="Courier New"/>
                  <a:sym typeface="Courier New"/>
                </a:rPr>
                <a:t>claude mcp add c3po --transport http https://c3po.protocolized.io/mcp</a:t>
              </a:r>
              <a:endParaRPr sz="950">
                <a:solidFill>
                  <a:srgbClr val="085041"/>
                </a:solidFill>
                <a:latin typeface="Courier New"/>
                <a:ea typeface="Courier New"/>
                <a:cs typeface="Courier New"/>
                <a:sym typeface="Courier New"/>
              </a:endParaRPr>
            </a:p>
          </p:txBody>
        </p:sp>
      </p:grpSp>
      <p:sp>
        <p:nvSpPr>
          <p:cNvPr id="279" name="Google Shape;279;p11"/>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13"/>
          <p:cNvSpPr txBox="1"/>
          <p:nvPr>
            <p:ph idx="1" type="body"/>
          </p:nvPr>
        </p:nvSpPr>
        <p:spPr>
          <a:xfrm>
            <a:off x="822960" y="457200"/>
            <a:ext cx="9144000" cy="320100"/>
          </a:xfrm>
          <a:prstGeom prst="rect">
            <a:avLst/>
          </a:prstGeom>
          <a:noFill/>
          <a:ln>
            <a:noFill/>
          </a:ln>
        </p:spPr>
        <p:txBody>
          <a:bodyPr anchorCtr="0" anchor="t" bIns="0" lIns="0" spcFirstLastPara="1" rIns="0" wrap="square" tIns="0">
            <a:noAutofit/>
          </a:bodyPr>
          <a:lstStyle/>
          <a:p>
            <a:pPr indent="0" lvl="0" marL="0" rtl="0" algn="l">
              <a:lnSpc>
                <a:spcPct val="118000"/>
              </a:lnSpc>
              <a:spcBef>
                <a:spcPts val="0"/>
              </a:spcBef>
              <a:spcAft>
                <a:spcPts val="0"/>
              </a:spcAft>
              <a:buClr>
                <a:srgbClr val="0064FF"/>
              </a:buClr>
              <a:buSzPts val="1200"/>
              <a:buFont typeface="Outfit"/>
              <a:buNone/>
            </a:pPr>
            <a:r>
              <a:rPr lang="en-GB"/>
              <a:t>SESSION 1 · KITS · </a:t>
            </a:r>
            <a:r>
              <a:rPr lang="en-GB">
                <a:solidFill>
                  <a:schemeClr val="accent1"/>
                </a:solidFill>
              </a:rPr>
              <a:t>CONCEPTS</a:t>
            </a:r>
            <a:endParaRPr/>
          </a:p>
        </p:txBody>
      </p:sp>
      <p:sp>
        <p:nvSpPr>
          <p:cNvPr id="285" name="Google Shape;285;p13"/>
          <p:cNvSpPr txBox="1"/>
          <p:nvPr>
            <p:ph type="title"/>
          </p:nvPr>
        </p:nvSpPr>
        <p:spPr>
          <a:xfrm>
            <a:off x="822960" y="914400"/>
            <a:ext cx="9692700" cy="1371600"/>
          </a:xfrm>
          <a:prstGeom prst="rect">
            <a:avLst/>
          </a:prstGeom>
          <a:noFill/>
          <a:ln>
            <a:noFill/>
          </a:ln>
        </p:spPr>
        <p:txBody>
          <a:bodyPr anchorCtr="0" anchor="t" bIns="0" lIns="0" spcFirstLastPara="1" rIns="0" wrap="square" tIns="0">
            <a:noAutofit/>
          </a:bodyPr>
          <a:lstStyle/>
          <a:p>
            <a:pPr indent="0" lvl="0" marL="0" rtl="0" algn="l">
              <a:lnSpc>
                <a:spcPct val="96000"/>
              </a:lnSpc>
              <a:spcBef>
                <a:spcPts val="0"/>
              </a:spcBef>
              <a:spcAft>
                <a:spcPts val="0"/>
              </a:spcAft>
              <a:buClr>
                <a:srgbClr val="2C2C2A"/>
              </a:buClr>
              <a:buSzPts val="2800"/>
              <a:buFont typeface="Instrument Serif"/>
              <a:buNone/>
            </a:pPr>
            <a:r>
              <a:rPr lang="en-GB"/>
              <a:t>New modes of collaboration require public signalling</a:t>
            </a:r>
            <a:endParaRPr/>
          </a:p>
        </p:txBody>
      </p:sp>
      <p:grpSp>
        <p:nvGrpSpPr>
          <p:cNvPr id="286" name="Google Shape;286;p13"/>
          <p:cNvGrpSpPr/>
          <p:nvPr/>
        </p:nvGrpSpPr>
        <p:grpSpPr>
          <a:xfrm>
            <a:off x="822960" y="1857375"/>
            <a:ext cx="5124600" cy="3000300"/>
            <a:chOff x="0" y="0"/>
            <a:chExt cx="5124600" cy="3000300"/>
          </a:xfrm>
        </p:grpSpPr>
        <p:sp>
          <p:nvSpPr>
            <p:cNvPr id="287" name="Google Shape;287;p13"/>
            <p:cNvSpPr/>
            <p:nvPr/>
          </p:nvSpPr>
          <p:spPr>
            <a:xfrm>
              <a:off x="0" y="0"/>
              <a:ext cx="5124600" cy="3000300"/>
            </a:xfrm>
            <a:prstGeom prst="roundRect">
              <a:avLst>
                <a:gd fmla="val 2539" name="adj"/>
              </a:avLst>
            </a:prstGeom>
            <a:solidFill>
              <a:srgbClr val="F0EDE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8" name="Google Shape;288;p13"/>
            <p:cNvSpPr txBox="1"/>
            <p:nvPr/>
          </p:nvSpPr>
          <p:spPr>
            <a:xfrm>
              <a:off x="0" y="0"/>
              <a:ext cx="5124600" cy="3000300"/>
            </a:xfrm>
            <a:prstGeom prst="rect">
              <a:avLst/>
            </a:prstGeom>
            <a:solidFill>
              <a:srgbClr val="000000">
                <a:alpha val="0"/>
              </a:srgbClr>
            </a:solidFill>
            <a:ln>
              <a:noFill/>
            </a:ln>
          </p:spPr>
          <p:txBody>
            <a:bodyPr anchorCtr="0" anchor="t" bIns="266700" lIns="266700" spcFirstLastPara="1" rIns="266700" wrap="square" tIns="266700">
              <a:noAutofit/>
            </a:bodyPr>
            <a:lstStyle/>
            <a:p>
              <a:pPr indent="0" lvl="0" marL="0" rtl="0" algn="l">
                <a:spcBef>
                  <a:spcPts val="0"/>
                </a:spcBef>
                <a:spcAft>
                  <a:spcPts val="0"/>
                </a:spcAft>
                <a:buNone/>
              </a:pPr>
              <a:r>
                <a:rPr b="0" lang="en-GB" sz="1000">
                  <a:solidFill>
                    <a:srgbClr val="0064FF"/>
                  </a:solidFill>
                  <a:latin typeface="Outfit SemiBold"/>
                  <a:ea typeface="Outfit SemiBold"/>
                  <a:cs typeface="Outfit SemiBold"/>
                  <a:sym typeface="Outfit SemiBold"/>
                </a:rPr>
                <a:t>1 · WHERE AI PRACTICE SITS TODAY</a:t>
              </a:r>
              <a:endParaRPr b="0" sz="1000">
                <a:solidFill>
                  <a:srgbClr val="0064FF"/>
                </a:solidFill>
                <a:latin typeface="Outfit SemiBold"/>
                <a:ea typeface="Outfit SemiBold"/>
                <a:cs typeface="Outfit SemiBold"/>
                <a:sym typeface="Outfit SemiBold"/>
              </a:endParaRPr>
            </a:p>
            <a:p>
              <a:pPr indent="0" lvl="0" marL="0" rtl="0" algn="l">
                <a:spcBef>
                  <a:spcPts val="1000"/>
                </a:spcBef>
                <a:spcAft>
                  <a:spcPts val="0"/>
                </a:spcAft>
                <a:buNone/>
              </a:pPr>
              <a:r>
                <a:rPr b="0" lang="en-GB" sz="2800">
                  <a:solidFill>
                    <a:srgbClr val="2C2C2A"/>
                  </a:solidFill>
                  <a:latin typeface="Instrument Serif"/>
                  <a:ea typeface="Instrument Serif"/>
                  <a:cs typeface="Instrument Serif"/>
                  <a:sym typeface="Instrument Serif"/>
                </a:rPr>
                <a:t>Journal</a:t>
              </a:r>
              <a:endParaRPr b="0" sz="2800">
                <a:solidFill>
                  <a:srgbClr val="2C2C2A"/>
                </a:solidFill>
                <a:latin typeface="Instrument Serif"/>
                <a:ea typeface="Instrument Serif"/>
                <a:cs typeface="Instrument Serif"/>
                <a:sym typeface="Instrument Serif"/>
              </a:endParaRPr>
            </a:p>
            <a:p>
              <a:pPr indent="0" lvl="0" marL="0" rtl="0" algn="l">
                <a:spcBef>
                  <a:spcPts val="800"/>
                </a:spcBef>
                <a:spcAft>
                  <a:spcPts val="0"/>
                </a:spcAft>
                <a:buNone/>
              </a:pPr>
              <a:r>
                <a:rPr b="0" lang="en-GB" sz="1300">
                  <a:solidFill>
                    <a:srgbClr val="555555"/>
                  </a:solidFill>
                  <a:latin typeface="Lora"/>
                  <a:ea typeface="Lora"/>
                  <a:cs typeface="Lora"/>
                  <a:sym typeface="Lora"/>
                </a:rPr>
                <a:t>One observer, kept to yourself</a:t>
              </a:r>
              <a:endParaRPr b="0" sz="1300">
                <a:solidFill>
                  <a:srgbClr val="555555"/>
                </a:solidFill>
                <a:latin typeface="Lora"/>
                <a:ea typeface="Lora"/>
                <a:cs typeface="Lora"/>
                <a:sym typeface="Lora"/>
              </a:endParaRPr>
            </a:p>
            <a:p>
              <a:pPr indent="0" lvl="0" marL="0" rtl="0" algn="l">
                <a:spcBef>
                  <a:spcPts val="1000"/>
                </a:spcBef>
                <a:spcAft>
                  <a:spcPts val="0"/>
                </a:spcAft>
                <a:buNone/>
              </a:pPr>
              <a:r>
                <a:rPr b="0" lang="en-GB" sz="1100">
                  <a:solidFill>
                    <a:srgbClr val="666666"/>
                  </a:solidFill>
                  <a:latin typeface="Lora"/>
                  <a:ea typeface="Lora"/>
                  <a:cs typeface="Lora"/>
                  <a:sym typeface="Lora"/>
                </a:rPr>
                <a:t>It works, and it dies with your laptop or the walled-garden platform.</a:t>
              </a:r>
              <a:endParaRPr b="0" sz="1100">
                <a:solidFill>
                  <a:srgbClr val="666666"/>
                </a:solidFill>
                <a:latin typeface="Lora"/>
                <a:ea typeface="Lora"/>
                <a:cs typeface="Lora"/>
                <a:sym typeface="Lora"/>
              </a:endParaRPr>
            </a:p>
          </p:txBody>
        </p:sp>
      </p:grpSp>
      <p:grpSp>
        <p:nvGrpSpPr>
          <p:cNvPr id="289" name="Google Shape;289;p13"/>
          <p:cNvGrpSpPr/>
          <p:nvPr/>
        </p:nvGrpSpPr>
        <p:grpSpPr>
          <a:xfrm>
            <a:off x="6242685" y="1857375"/>
            <a:ext cx="5124600" cy="3000300"/>
            <a:chOff x="0" y="0"/>
            <a:chExt cx="5124600" cy="3000300"/>
          </a:xfrm>
        </p:grpSpPr>
        <p:sp>
          <p:nvSpPr>
            <p:cNvPr id="290" name="Google Shape;290;p13"/>
            <p:cNvSpPr/>
            <p:nvPr/>
          </p:nvSpPr>
          <p:spPr>
            <a:xfrm>
              <a:off x="0" y="0"/>
              <a:ext cx="5124600" cy="3000300"/>
            </a:xfrm>
            <a:prstGeom prst="roundRect">
              <a:avLst>
                <a:gd fmla="val 2539" name="adj"/>
              </a:avLst>
            </a:prstGeom>
            <a:solidFill>
              <a:srgbClr val="E1F5E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1" name="Google Shape;291;p13"/>
            <p:cNvSpPr txBox="1"/>
            <p:nvPr/>
          </p:nvSpPr>
          <p:spPr>
            <a:xfrm>
              <a:off x="0" y="0"/>
              <a:ext cx="5124600" cy="3000300"/>
            </a:xfrm>
            <a:prstGeom prst="rect">
              <a:avLst/>
            </a:prstGeom>
            <a:solidFill>
              <a:srgbClr val="000000">
                <a:alpha val="0"/>
              </a:srgbClr>
            </a:solidFill>
            <a:ln>
              <a:noFill/>
            </a:ln>
          </p:spPr>
          <p:txBody>
            <a:bodyPr anchorCtr="0" anchor="t" bIns="266700" lIns="266700" spcFirstLastPara="1" rIns="266700" wrap="square" tIns="266700">
              <a:noAutofit/>
            </a:bodyPr>
            <a:lstStyle/>
            <a:p>
              <a:pPr indent="0" lvl="0" marL="0" rtl="0" algn="l">
                <a:spcBef>
                  <a:spcPts val="0"/>
                </a:spcBef>
                <a:spcAft>
                  <a:spcPts val="0"/>
                </a:spcAft>
                <a:buNone/>
              </a:pPr>
              <a:r>
                <a:rPr b="0" lang="en-GB" sz="1000">
                  <a:solidFill>
                    <a:srgbClr val="085041"/>
                  </a:solidFill>
                  <a:latin typeface="Outfit SemiBold"/>
                  <a:ea typeface="Outfit SemiBold"/>
                  <a:cs typeface="Outfit SemiBold"/>
                  <a:sym typeface="Outfit SemiBold"/>
                </a:rPr>
                <a:t>2 · WHAT WE ARE DOING TODAY</a:t>
              </a:r>
              <a:endParaRPr b="0" sz="1000">
                <a:solidFill>
                  <a:srgbClr val="085041"/>
                </a:solidFill>
                <a:latin typeface="Outfit SemiBold"/>
                <a:ea typeface="Outfit SemiBold"/>
                <a:cs typeface="Outfit SemiBold"/>
                <a:sym typeface="Outfit SemiBold"/>
              </a:endParaRPr>
            </a:p>
            <a:p>
              <a:pPr indent="0" lvl="0" marL="0" rtl="0" algn="l">
                <a:spcBef>
                  <a:spcPts val="1000"/>
                </a:spcBef>
                <a:spcAft>
                  <a:spcPts val="0"/>
                </a:spcAft>
                <a:buNone/>
              </a:pPr>
              <a:r>
                <a:rPr b="0" lang="en-GB" sz="2800">
                  <a:solidFill>
                    <a:srgbClr val="2C2C2A"/>
                  </a:solidFill>
                  <a:latin typeface="Instrument Serif"/>
                  <a:ea typeface="Instrument Serif"/>
                  <a:cs typeface="Instrument Serif"/>
                  <a:sym typeface="Instrument Serif"/>
                </a:rPr>
                <a:t>Field notebook</a:t>
              </a:r>
              <a:endParaRPr b="0" sz="2800">
                <a:solidFill>
                  <a:srgbClr val="2C2C2A"/>
                </a:solidFill>
                <a:latin typeface="Instrument Serif"/>
                <a:ea typeface="Instrument Serif"/>
                <a:cs typeface="Instrument Serif"/>
                <a:sym typeface="Instrument Serif"/>
              </a:endParaRPr>
            </a:p>
            <a:p>
              <a:pPr indent="0" lvl="0" marL="0" rtl="0" algn="l">
                <a:spcBef>
                  <a:spcPts val="800"/>
                </a:spcBef>
                <a:spcAft>
                  <a:spcPts val="0"/>
                </a:spcAft>
                <a:buNone/>
              </a:pPr>
              <a:r>
                <a:rPr b="0" lang="en-GB" sz="1300">
                  <a:solidFill>
                    <a:srgbClr val="085041"/>
                  </a:solidFill>
                  <a:latin typeface="Lora"/>
                  <a:ea typeface="Lora"/>
                  <a:cs typeface="Lora"/>
                  <a:sym typeface="Lora"/>
                </a:rPr>
                <a:t>One observer, exposed for others</a:t>
              </a:r>
              <a:endParaRPr b="0" sz="1300">
                <a:solidFill>
                  <a:srgbClr val="085041"/>
                </a:solidFill>
                <a:latin typeface="Lora"/>
                <a:ea typeface="Lora"/>
                <a:cs typeface="Lora"/>
                <a:sym typeface="Lora"/>
              </a:endParaRPr>
            </a:p>
            <a:p>
              <a:pPr indent="0" lvl="0" marL="0" rtl="0" algn="l">
                <a:spcBef>
                  <a:spcPts val="1000"/>
                </a:spcBef>
                <a:spcAft>
                  <a:spcPts val="0"/>
                </a:spcAft>
                <a:buNone/>
              </a:pPr>
              <a:r>
                <a:rPr b="0" lang="en-GB" sz="1100">
                  <a:solidFill>
                    <a:srgbClr val="085041"/>
                  </a:solidFill>
                  <a:latin typeface="Lora"/>
                  <a:ea typeface="Lora"/>
                  <a:cs typeface="Lora"/>
                  <a:sym typeface="Lora"/>
                </a:rPr>
                <a:t>Humboldt recording observations nobody asked for, in a form others could use.</a:t>
              </a:r>
              <a:endParaRPr b="0" sz="1100">
                <a:solidFill>
                  <a:srgbClr val="085041"/>
                </a:solidFill>
                <a:latin typeface="Lora"/>
                <a:ea typeface="Lora"/>
                <a:cs typeface="Lora"/>
                <a:sym typeface="Lora"/>
              </a:endParaRPr>
            </a:p>
          </p:txBody>
        </p:sp>
      </p:grpSp>
      <p:grpSp>
        <p:nvGrpSpPr>
          <p:cNvPr id="292" name="Google Shape;292;p13"/>
          <p:cNvGrpSpPr/>
          <p:nvPr/>
        </p:nvGrpSpPr>
        <p:grpSpPr>
          <a:xfrm>
            <a:off x="822960" y="5048250"/>
            <a:ext cx="10544100" cy="1143000"/>
            <a:chOff x="0" y="0"/>
            <a:chExt cx="10544100" cy="1143000"/>
          </a:xfrm>
        </p:grpSpPr>
        <p:sp>
          <p:nvSpPr>
            <p:cNvPr id="293" name="Google Shape;293;p13"/>
            <p:cNvSpPr/>
            <p:nvPr/>
          </p:nvSpPr>
          <p:spPr>
            <a:xfrm>
              <a:off x="0" y="0"/>
              <a:ext cx="10544100" cy="1143000"/>
            </a:xfrm>
            <a:prstGeom prst="roundRect">
              <a:avLst>
                <a:gd fmla="val 6666" name="adj"/>
              </a:avLst>
            </a:prstGeom>
            <a:solidFill>
              <a:srgbClr val="F0EDE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4" name="Google Shape;294;p13"/>
            <p:cNvSpPr txBox="1"/>
            <p:nvPr/>
          </p:nvSpPr>
          <p:spPr>
            <a:xfrm>
              <a:off x="0" y="0"/>
              <a:ext cx="10544100" cy="1143000"/>
            </a:xfrm>
            <a:prstGeom prst="rect">
              <a:avLst/>
            </a:prstGeom>
            <a:solidFill>
              <a:srgbClr val="000000">
                <a:alpha val="0"/>
              </a:srgbClr>
            </a:solidFill>
            <a:ln>
              <a:noFill/>
            </a:ln>
          </p:spPr>
          <p:txBody>
            <a:bodyPr anchorCtr="0" anchor="ctr" bIns="0" lIns="266700" spcFirstLastPara="1" rIns="266700" wrap="square" tIns="0">
              <a:noAutofit/>
            </a:bodyPr>
            <a:lstStyle/>
            <a:p>
              <a:pPr indent="0" lvl="0" marL="0" rtl="0" algn="l">
                <a:spcBef>
                  <a:spcPts val="0"/>
                </a:spcBef>
                <a:spcAft>
                  <a:spcPts val="0"/>
                </a:spcAft>
                <a:buNone/>
              </a:pPr>
              <a:r>
                <a:rPr b="0" lang="en-GB" sz="1000">
                  <a:solidFill>
                    <a:srgbClr val="0064FF"/>
                  </a:solidFill>
                  <a:latin typeface="Outfit SemiBold"/>
                  <a:ea typeface="Outfit SemiBold"/>
                  <a:cs typeface="Outfit SemiBold"/>
                  <a:sym typeface="Outfit SemiBold"/>
                </a:rPr>
                <a:t>STIGMERGIC OBSERVERS</a:t>
              </a:r>
              <a:endParaRPr b="0" sz="1000">
                <a:solidFill>
                  <a:srgbClr val="0064FF"/>
                </a:solidFill>
                <a:latin typeface="Outfit SemiBold"/>
                <a:ea typeface="Outfit SemiBold"/>
                <a:cs typeface="Outfit SemiBold"/>
                <a:sym typeface="Outfit SemiBold"/>
              </a:endParaRPr>
            </a:p>
            <a:p>
              <a:pPr indent="0" lvl="0" marL="0" rtl="0" algn="l">
                <a:spcBef>
                  <a:spcPts val="600"/>
                </a:spcBef>
                <a:spcAft>
                  <a:spcPts val="0"/>
                </a:spcAft>
                <a:buNone/>
              </a:pPr>
              <a:r>
                <a:rPr b="0" lang="en-GB" sz="1100">
                  <a:solidFill>
                    <a:srgbClr val="2C2C2A"/>
                  </a:solidFill>
                  <a:latin typeface="Lora"/>
                  <a:ea typeface="Lora"/>
                  <a:cs typeface="Lora"/>
                  <a:sym typeface="Lora"/>
                </a:rPr>
                <a:t>Many observers, interior: a novel. Many observers, exterior: stigmergy, which we have just described.</a:t>
              </a:r>
              <a:endParaRPr b="0" sz="1100">
                <a:solidFill>
                  <a:srgbClr val="2C2C2A"/>
                </a:solidFill>
                <a:latin typeface="Lora"/>
                <a:ea typeface="Lora"/>
                <a:cs typeface="Lora"/>
                <a:sym typeface="Lora"/>
              </a:endParaRPr>
            </a:p>
            <a:p>
              <a:pPr indent="0" lvl="0" marL="0" rtl="0" algn="l">
                <a:spcBef>
                  <a:spcPts val="600"/>
                </a:spcBef>
                <a:spcAft>
                  <a:spcPts val="0"/>
                </a:spcAft>
                <a:buNone/>
              </a:pPr>
              <a:r>
                <a:rPr b="1" lang="en-GB" sz="1200">
                  <a:solidFill>
                    <a:srgbClr val="2C2C2A"/>
                  </a:solidFill>
                  <a:latin typeface="Lora"/>
                  <a:ea typeface="Lora"/>
                  <a:cs typeface="Lora"/>
                  <a:sym typeface="Lora"/>
                </a:rPr>
                <a:t>Your inventory is your field notebook.</a:t>
              </a:r>
              <a:endParaRPr b="1" sz="1200">
                <a:solidFill>
                  <a:srgbClr val="2C2C2A"/>
                </a:solidFill>
                <a:latin typeface="Lora"/>
                <a:ea typeface="Lora"/>
                <a:cs typeface="Lora"/>
                <a:sym typeface="Lora"/>
              </a:endParaRPr>
            </a:p>
          </p:txBody>
        </p:sp>
      </p:grpSp>
      <p:sp>
        <p:nvSpPr>
          <p:cNvPr id="295" name="Google Shape;295;p13"/>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12"/>
          <p:cNvSpPr txBox="1"/>
          <p:nvPr>
            <p:ph idx="1" type="body"/>
          </p:nvPr>
        </p:nvSpPr>
        <p:spPr>
          <a:xfrm>
            <a:off x="822960" y="457200"/>
            <a:ext cx="9144000" cy="320100"/>
          </a:xfrm>
          <a:prstGeom prst="rect">
            <a:avLst/>
          </a:prstGeom>
          <a:noFill/>
          <a:ln>
            <a:noFill/>
          </a:ln>
        </p:spPr>
        <p:txBody>
          <a:bodyPr anchorCtr="0" anchor="t" bIns="0" lIns="0" spcFirstLastPara="1" rIns="0" wrap="square" tIns="0">
            <a:noAutofit/>
          </a:bodyPr>
          <a:lstStyle/>
          <a:p>
            <a:pPr indent="0" lvl="0" marL="0" rtl="0" algn="l">
              <a:lnSpc>
                <a:spcPct val="118000"/>
              </a:lnSpc>
              <a:spcBef>
                <a:spcPts val="0"/>
              </a:spcBef>
              <a:spcAft>
                <a:spcPts val="0"/>
              </a:spcAft>
              <a:buClr>
                <a:srgbClr val="0064FF"/>
              </a:buClr>
              <a:buSzPts val="1200"/>
              <a:buFont typeface="Outfit"/>
              <a:buNone/>
            </a:pPr>
            <a:r>
              <a:rPr lang="en-GB"/>
              <a:t>SESSION 1 · KITS · </a:t>
            </a:r>
            <a:r>
              <a:rPr lang="en-GB">
                <a:solidFill>
                  <a:schemeClr val="accent1"/>
                </a:solidFill>
              </a:rPr>
              <a:t>CONCEPTS</a:t>
            </a:r>
            <a:endParaRPr/>
          </a:p>
        </p:txBody>
      </p:sp>
      <p:sp>
        <p:nvSpPr>
          <p:cNvPr id="301" name="Google Shape;301;p12"/>
          <p:cNvSpPr txBox="1"/>
          <p:nvPr>
            <p:ph type="title"/>
          </p:nvPr>
        </p:nvSpPr>
        <p:spPr>
          <a:xfrm>
            <a:off x="822950" y="914400"/>
            <a:ext cx="9692700" cy="533400"/>
          </a:xfrm>
          <a:prstGeom prst="rect">
            <a:avLst/>
          </a:prstGeom>
          <a:noFill/>
          <a:ln>
            <a:noFill/>
          </a:ln>
        </p:spPr>
        <p:txBody>
          <a:bodyPr anchorCtr="0" anchor="t" bIns="0" lIns="0" spcFirstLastPara="1" rIns="0" wrap="square" tIns="0">
            <a:noAutofit/>
          </a:bodyPr>
          <a:lstStyle/>
          <a:p>
            <a:pPr indent="0" lvl="0" marL="0" rtl="0" algn="l">
              <a:lnSpc>
                <a:spcPct val="96000"/>
              </a:lnSpc>
              <a:spcBef>
                <a:spcPts val="0"/>
              </a:spcBef>
              <a:spcAft>
                <a:spcPts val="0"/>
              </a:spcAft>
              <a:buClr>
                <a:srgbClr val="2C2C2A"/>
              </a:buClr>
              <a:buSzPts val="2800"/>
              <a:buFont typeface="Instrument Serif"/>
              <a:buNone/>
            </a:pPr>
            <a:r>
              <a:rPr lang="en-GB"/>
              <a:t>How can you, and managed AI agents, signal to others?</a:t>
            </a:r>
            <a:endParaRPr/>
          </a:p>
        </p:txBody>
      </p:sp>
      <p:grpSp>
        <p:nvGrpSpPr>
          <p:cNvPr id="302" name="Google Shape;302;p12"/>
          <p:cNvGrpSpPr/>
          <p:nvPr/>
        </p:nvGrpSpPr>
        <p:grpSpPr>
          <a:xfrm>
            <a:off x="822960" y="2000250"/>
            <a:ext cx="10546200" cy="533400"/>
            <a:chOff x="0" y="0"/>
            <a:chExt cx="10546200" cy="533400"/>
          </a:xfrm>
        </p:grpSpPr>
        <p:sp>
          <p:nvSpPr>
            <p:cNvPr id="303" name="Google Shape;303;p12"/>
            <p:cNvSpPr/>
            <p:nvPr/>
          </p:nvSpPr>
          <p:spPr>
            <a:xfrm>
              <a:off x="0" y="0"/>
              <a:ext cx="10546200" cy="533400"/>
            </a:xfrm>
            <a:prstGeom prst="roundRect">
              <a:avLst>
                <a:gd fmla="val 14285" name="adj"/>
              </a:avLst>
            </a:prstGeom>
            <a:solidFill>
              <a:srgbClr val="F0EDE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4" name="Google Shape;304;p12"/>
            <p:cNvSpPr txBox="1"/>
            <p:nvPr/>
          </p:nvSpPr>
          <p:spPr>
            <a:xfrm>
              <a:off x="0" y="0"/>
              <a:ext cx="10546200" cy="533400"/>
            </a:xfrm>
            <a:prstGeom prst="rect">
              <a:avLst/>
            </a:prstGeom>
            <a:noFill/>
            <a:ln>
              <a:noFill/>
            </a:ln>
          </p:spPr>
          <p:txBody>
            <a:bodyPr anchorCtr="0" anchor="ctr" bIns="0" lIns="228600" spcFirstLastPara="1" rIns="228600" wrap="square" tIns="0">
              <a:noAutofit/>
            </a:bodyPr>
            <a:lstStyle/>
            <a:p>
              <a:pPr indent="0" lvl="0" marL="0" rtl="0" algn="ctr">
                <a:spcBef>
                  <a:spcPts val="0"/>
                </a:spcBef>
                <a:spcAft>
                  <a:spcPts val="0"/>
                </a:spcAft>
                <a:buNone/>
              </a:pPr>
              <a:r>
                <a:rPr b="0" lang="en-GB" sz="1000">
                  <a:solidFill>
                    <a:srgbClr val="0064FF"/>
                  </a:solidFill>
                  <a:latin typeface="Outfit SemiBold"/>
                  <a:ea typeface="Outfit SemiBold"/>
                  <a:cs typeface="Outfit SemiBold"/>
                  <a:sym typeface="Outfit SemiBold"/>
                </a:rPr>
                <a:t>§ TRACES (STIGMERGY)</a:t>
              </a:r>
              <a:r>
                <a:rPr lang="en-GB" sz="1100">
                  <a:solidFill>
                    <a:srgbClr val="2C2C2A"/>
                  </a:solidFill>
                  <a:latin typeface="Lora"/>
                  <a:ea typeface="Lora"/>
                  <a:cs typeface="Lora"/>
                  <a:sym typeface="Lora"/>
                </a:rPr>
                <a:t> </a:t>
              </a:r>
              <a:r>
                <a:rPr lang="en-GB" sz="1100">
                  <a:solidFill>
                    <a:srgbClr val="666666"/>
                  </a:solidFill>
                  <a:latin typeface="Lora"/>
                  <a:ea typeface="Lora"/>
                  <a:cs typeface="Lora"/>
                  <a:sym typeface="Lora"/>
                </a:rPr>
                <a:t>— </a:t>
              </a:r>
              <a:r>
                <a:rPr lang="en-GB" sz="1100">
                  <a:solidFill>
                    <a:srgbClr val="2C2C2A"/>
                  </a:solidFill>
                  <a:latin typeface="Lora"/>
                  <a:ea typeface="Lora"/>
                  <a:cs typeface="Lora"/>
                  <a:sym typeface="Lora"/>
                </a:rPr>
                <a:t>Coordination through what people leave behind rather than what they say: a trace in a shared place prompts the next person’s action, with nobody present at the same time.</a:t>
              </a:r>
              <a:endParaRPr sz="1100">
                <a:solidFill>
                  <a:srgbClr val="2C2C2A"/>
                </a:solidFill>
                <a:latin typeface="Lora"/>
                <a:ea typeface="Lora"/>
                <a:cs typeface="Lora"/>
                <a:sym typeface="Lora"/>
              </a:endParaRPr>
            </a:p>
          </p:txBody>
        </p:sp>
      </p:grpSp>
      <p:grpSp>
        <p:nvGrpSpPr>
          <p:cNvPr id="305" name="Google Shape;305;p12"/>
          <p:cNvGrpSpPr/>
          <p:nvPr/>
        </p:nvGrpSpPr>
        <p:grpSpPr>
          <a:xfrm>
            <a:off x="822960" y="2724150"/>
            <a:ext cx="3362400" cy="3048000"/>
            <a:chOff x="0" y="0"/>
            <a:chExt cx="3362400" cy="3048000"/>
          </a:xfrm>
        </p:grpSpPr>
        <p:sp>
          <p:nvSpPr>
            <p:cNvPr id="306" name="Google Shape;306;p12"/>
            <p:cNvSpPr/>
            <p:nvPr/>
          </p:nvSpPr>
          <p:spPr>
            <a:xfrm>
              <a:off x="0" y="0"/>
              <a:ext cx="3362400" cy="3048000"/>
            </a:xfrm>
            <a:prstGeom prst="roundRect">
              <a:avLst>
                <a:gd fmla="val 2500" name="adj"/>
              </a:avLst>
            </a:prstGeom>
            <a:solidFill>
              <a:srgbClr val="F0EDE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7" name="Google Shape;307;p12"/>
            <p:cNvSpPr txBox="1"/>
            <p:nvPr/>
          </p:nvSpPr>
          <p:spPr>
            <a:xfrm>
              <a:off x="0" y="0"/>
              <a:ext cx="3362400" cy="3048000"/>
            </a:xfrm>
            <a:prstGeom prst="rect">
              <a:avLst/>
            </a:prstGeom>
            <a:noFill/>
            <a:ln>
              <a:noFill/>
            </a:ln>
          </p:spPr>
          <p:txBody>
            <a:bodyPr anchorCtr="0" anchor="t" bIns="266700" lIns="266700" spcFirstLastPara="1" rIns="266700" wrap="square" tIns="266700">
              <a:noAutofit/>
            </a:bodyPr>
            <a:lstStyle/>
            <a:p>
              <a:pPr indent="0" lvl="0" marL="0" rtl="0" algn="l">
                <a:spcBef>
                  <a:spcPts val="0"/>
                </a:spcBef>
                <a:spcAft>
                  <a:spcPts val="0"/>
                </a:spcAft>
                <a:buNone/>
              </a:pPr>
              <a:r>
                <a:rPr b="0" lang="en-GB" sz="1000">
                  <a:solidFill>
                    <a:srgbClr val="0064FF"/>
                  </a:solidFill>
                  <a:latin typeface="Outfit SemiBold"/>
                  <a:ea typeface="Outfit SemiBold"/>
                  <a:cs typeface="Outfit SemiBold"/>
                  <a:sym typeface="Outfit SemiBold"/>
                </a:rPr>
                <a:t>1 · SEMATECTONIC</a:t>
              </a:r>
              <a:endParaRPr b="0" sz="1000">
                <a:solidFill>
                  <a:srgbClr val="0064FF"/>
                </a:solidFill>
                <a:latin typeface="Outfit SemiBold"/>
                <a:ea typeface="Outfit SemiBold"/>
                <a:cs typeface="Outfit SemiBold"/>
                <a:sym typeface="Outfit SemiBold"/>
              </a:endParaRPr>
            </a:p>
            <a:p>
              <a:pPr indent="0" lvl="0" marL="0" rtl="0" algn="l">
                <a:spcBef>
                  <a:spcPts val="1200"/>
                </a:spcBef>
                <a:spcAft>
                  <a:spcPts val="0"/>
                </a:spcAft>
                <a:buNone/>
              </a:pPr>
              <a:r>
                <a:rPr b="0" lang="en-GB" sz="2600">
                  <a:solidFill>
                    <a:srgbClr val="2C2C2A"/>
                  </a:solidFill>
                  <a:latin typeface="Instrument Serif"/>
                  <a:ea typeface="Instrument Serif"/>
                  <a:cs typeface="Instrument Serif"/>
                  <a:sym typeface="Instrument Serif"/>
                </a:rPr>
                <a:t>The work itself</a:t>
              </a:r>
              <a:endParaRPr b="0" sz="2600">
                <a:solidFill>
                  <a:srgbClr val="2C2C2A"/>
                </a:solidFill>
                <a:latin typeface="Instrument Serif"/>
                <a:ea typeface="Instrument Serif"/>
                <a:cs typeface="Instrument Serif"/>
                <a:sym typeface="Instrument Serif"/>
              </a:endParaRPr>
            </a:p>
            <a:p>
              <a:pPr indent="0" lvl="0" marL="0" rtl="0" algn="l">
                <a:spcBef>
                  <a:spcPts val="800"/>
                </a:spcBef>
                <a:spcAft>
                  <a:spcPts val="0"/>
                </a:spcAft>
                <a:buNone/>
              </a:pPr>
              <a:r>
                <a:rPr b="0" lang="en-GB" sz="1300">
                  <a:solidFill>
                    <a:srgbClr val="555555"/>
                  </a:solidFill>
                  <a:latin typeface="Lora"/>
                  <a:ea typeface="Lora"/>
                  <a:cs typeface="Lora"/>
                  <a:sym typeface="Lora"/>
                </a:rPr>
                <a:t>Your kit</a:t>
              </a:r>
              <a:endParaRPr b="0" sz="1300">
                <a:solidFill>
                  <a:srgbClr val="555555"/>
                </a:solidFill>
                <a:latin typeface="Lora"/>
                <a:ea typeface="Lora"/>
                <a:cs typeface="Lora"/>
                <a:sym typeface="Lora"/>
              </a:endParaRPr>
            </a:p>
            <a:p>
              <a:pPr indent="0" lvl="0" marL="0" rtl="0" algn="l">
                <a:spcBef>
                  <a:spcPts val="1200"/>
                </a:spcBef>
                <a:spcAft>
                  <a:spcPts val="0"/>
                </a:spcAft>
                <a:buNone/>
              </a:pPr>
              <a:r>
                <a:rPr b="0" lang="en-GB" sz="1100">
                  <a:solidFill>
                    <a:srgbClr val="666666"/>
                  </a:solidFill>
                  <a:latin typeface="Lora"/>
                  <a:ea typeface="Lora"/>
                  <a:cs typeface="Lora"/>
                  <a:sym typeface="Lora"/>
                </a:rPr>
                <a:t>Signaling directly embedded within the artifact being produced.</a:t>
              </a:r>
              <a:endParaRPr b="0" sz="1100">
                <a:solidFill>
                  <a:srgbClr val="666666"/>
                </a:solidFill>
                <a:latin typeface="Lora"/>
                <a:ea typeface="Lora"/>
                <a:cs typeface="Lora"/>
                <a:sym typeface="Lora"/>
              </a:endParaRPr>
            </a:p>
          </p:txBody>
        </p:sp>
      </p:grpSp>
      <p:grpSp>
        <p:nvGrpSpPr>
          <p:cNvPr id="308" name="Google Shape;308;p12"/>
          <p:cNvGrpSpPr/>
          <p:nvPr/>
        </p:nvGrpSpPr>
        <p:grpSpPr>
          <a:xfrm>
            <a:off x="4413885" y="2724150"/>
            <a:ext cx="3362400" cy="3048000"/>
            <a:chOff x="0" y="0"/>
            <a:chExt cx="3362400" cy="3048000"/>
          </a:xfrm>
        </p:grpSpPr>
        <p:sp>
          <p:nvSpPr>
            <p:cNvPr id="309" name="Google Shape;309;p12"/>
            <p:cNvSpPr/>
            <p:nvPr/>
          </p:nvSpPr>
          <p:spPr>
            <a:xfrm>
              <a:off x="0" y="0"/>
              <a:ext cx="3362400" cy="3048000"/>
            </a:xfrm>
            <a:prstGeom prst="roundRect">
              <a:avLst>
                <a:gd fmla="val 2500" name="adj"/>
              </a:avLst>
            </a:prstGeom>
            <a:solidFill>
              <a:srgbClr val="E1F5E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0" name="Google Shape;310;p12"/>
            <p:cNvSpPr txBox="1"/>
            <p:nvPr/>
          </p:nvSpPr>
          <p:spPr>
            <a:xfrm>
              <a:off x="0" y="0"/>
              <a:ext cx="3362400" cy="3048000"/>
            </a:xfrm>
            <a:prstGeom prst="rect">
              <a:avLst/>
            </a:prstGeom>
            <a:noFill/>
            <a:ln>
              <a:noFill/>
            </a:ln>
          </p:spPr>
          <p:txBody>
            <a:bodyPr anchorCtr="0" anchor="t" bIns="266700" lIns="266700" spcFirstLastPara="1" rIns="266700" wrap="square" tIns="266700">
              <a:noAutofit/>
            </a:bodyPr>
            <a:lstStyle/>
            <a:p>
              <a:pPr indent="0" lvl="0" marL="0" rtl="0" algn="l">
                <a:spcBef>
                  <a:spcPts val="0"/>
                </a:spcBef>
                <a:spcAft>
                  <a:spcPts val="0"/>
                </a:spcAft>
                <a:buNone/>
              </a:pPr>
              <a:r>
                <a:rPr b="0" lang="en-GB" sz="1000">
                  <a:solidFill>
                    <a:srgbClr val="085041"/>
                  </a:solidFill>
                  <a:latin typeface="Outfit SemiBold"/>
                  <a:ea typeface="Outfit SemiBold"/>
                  <a:cs typeface="Outfit SemiBold"/>
                  <a:sym typeface="Outfit SemiBold"/>
                </a:rPr>
                <a:t>2 · MARKER-BASED</a:t>
              </a:r>
              <a:endParaRPr b="0" sz="1000">
                <a:solidFill>
                  <a:srgbClr val="085041"/>
                </a:solidFill>
                <a:latin typeface="Outfit SemiBold"/>
                <a:ea typeface="Outfit SemiBold"/>
                <a:cs typeface="Outfit SemiBold"/>
                <a:sym typeface="Outfit SemiBold"/>
              </a:endParaRPr>
            </a:p>
            <a:p>
              <a:pPr indent="0" lvl="0" marL="0" rtl="0" algn="l">
                <a:spcBef>
                  <a:spcPts val="1200"/>
                </a:spcBef>
                <a:spcAft>
                  <a:spcPts val="0"/>
                </a:spcAft>
                <a:buNone/>
              </a:pPr>
              <a:r>
                <a:rPr b="0" lang="en-GB" sz="2600">
                  <a:solidFill>
                    <a:srgbClr val="2C2C2A"/>
                  </a:solidFill>
                  <a:latin typeface="Instrument Serif"/>
                  <a:ea typeface="Instrument Serif"/>
                  <a:cs typeface="Instrument Serif"/>
                  <a:sym typeface="Instrument Serif"/>
                </a:rPr>
                <a:t>Signs about the work</a:t>
              </a:r>
              <a:endParaRPr b="0" sz="2600">
                <a:solidFill>
                  <a:srgbClr val="2C2C2A"/>
                </a:solidFill>
                <a:latin typeface="Instrument Serif"/>
                <a:ea typeface="Instrument Serif"/>
                <a:cs typeface="Instrument Serif"/>
                <a:sym typeface="Instrument Serif"/>
              </a:endParaRPr>
            </a:p>
            <a:p>
              <a:pPr indent="0" lvl="0" marL="0" rtl="0" algn="l">
                <a:spcBef>
                  <a:spcPts val="800"/>
                </a:spcBef>
                <a:spcAft>
                  <a:spcPts val="0"/>
                </a:spcAft>
                <a:buNone/>
              </a:pPr>
              <a:r>
                <a:rPr b="0" lang="en-GB" sz="1300">
                  <a:solidFill>
                    <a:srgbClr val="085041"/>
                  </a:solidFill>
                  <a:latin typeface="Lora"/>
                  <a:ea typeface="Lora"/>
                  <a:cs typeface="Lora"/>
                  <a:sym typeface="Lora"/>
                </a:rPr>
                <a:t>Your LOG.md</a:t>
              </a:r>
              <a:endParaRPr b="0" sz="1300">
                <a:solidFill>
                  <a:srgbClr val="085041"/>
                </a:solidFill>
                <a:latin typeface="Lora"/>
                <a:ea typeface="Lora"/>
                <a:cs typeface="Lora"/>
                <a:sym typeface="Lora"/>
              </a:endParaRPr>
            </a:p>
            <a:p>
              <a:pPr indent="0" lvl="0" marL="0" rtl="0" algn="l">
                <a:spcBef>
                  <a:spcPts val="1200"/>
                </a:spcBef>
                <a:spcAft>
                  <a:spcPts val="0"/>
                </a:spcAft>
                <a:buNone/>
              </a:pPr>
              <a:r>
                <a:rPr b="0" lang="en-GB" sz="1100">
                  <a:solidFill>
                    <a:srgbClr val="085041"/>
                  </a:solidFill>
                  <a:latin typeface="Lora"/>
                  <a:ea typeface="Lora"/>
                  <a:cs typeface="Lora"/>
                  <a:sym typeface="Lora"/>
                </a:rPr>
                <a:t>Explicit markers and state logs created to guide subsequent actions.</a:t>
              </a:r>
              <a:endParaRPr b="0" sz="1100">
                <a:solidFill>
                  <a:srgbClr val="085041"/>
                </a:solidFill>
                <a:latin typeface="Lora"/>
                <a:ea typeface="Lora"/>
                <a:cs typeface="Lora"/>
                <a:sym typeface="Lora"/>
              </a:endParaRPr>
            </a:p>
          </p:txBody>
        </p:sp>
      </p:grpSp>
      <p:grpSp>
        <p:nvGrpSpPr>
          <p:cNvPr id="311" name="Google Shape;311;p12"/>
          <p:cNvGrpSpPr/>
          <p:nvPr/>
        </p:nvGrpSpPr>
        <p:grpSpPr>
          <a:xfrm>
            <a:off x="8004810" y="2724150"/>
            <a:ext cx="3362400" cy="3048000"/>
            <a:chOff x="0" y="0"/>
            <a:chExt cx="3362400" cy="3048000"/>
          </a:xfrm>
        </p:grpSpPr>
        <p:sp>
          <p:nvSpPr>
            <p:cNvPr id="312" name="Google Shape;312;p12"/>
            <p:cNvSpPr/>
            <p:nvPr/>
          </p:nvSpPr>
          <p:spPr>
            <a:xfrm>
              <a:off x="0" y="0"/>
              <a:ext cx="3362400" cy="3048000"/>
            </a:xfrm>
            <a:prstGeom prst="roundRect">
              <a:avLst>
                <a:gd fmla="val 2500" name="adj"/>
              </a:avLst>
            </a:prstGeom>
            <a:solidFill>
              <a:srgbClr val="F0EDE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3" name="Google Shape;313;p12"/>
            <p:cNvSpPr txBox="1"/>
            <p:nvPr/>
          </p:nvSpPr>
          <p:spPr>
            <a:xfrm>
              <a:off x="0" y="0"/>
              <a:ext cx="3362400" cy="3048000"/>
            </a:xfrm>
            <a:prstGeom prst="rect">
              <a:avLst/>
            </a:prstGeom>
            <a:noFill/>
            <a:ln>
              <a:noFill/>
            </a:ln>
          </p:spPr>
          <p:txBody>
            <a:bodyPr anchorCtr="0" anchor="t" bIns="266700" lIns="266700" spcFirstLastPara="1" rIns="266700" wrap="square" tIns="266700">
              <a:noAutofit/>
            </a:bodyPr>
            <a:lstStyle/>
            <a:p>
              <a:pPr indent="0" lvl="0" marL="0" rtl="0" algn="l">
                <a:spcBef>
                  <a:spcPts val="0"/>
                </a:spcBef>
                <a:spcAft>
                  <a:spcPts val="0"/>
                </a:spcAft>
                <a:buNone/>
              </a:pPr>
              <a:r>
                <a:rPr b="0" lang="en-GB" sz="1000">
                  <a:solidFill>
                    <a:srgbClr val="0064FF"/>
                  </a:solidFill>
                  <a:latin typeface="Outfit SemiBold"/>
                  <a:ea typeface="Outfit SemiBold"/>
                  <a:cs typeface="Outfit SemiBold"/>
                  <a:sym typeface="Outfit SemiBold"/>
                </a:rPr>
                <a:t>3 · THE MEDIUM</a:t>
              </a:r>
              <a:endParaRPr b="0" sz="1000">
                <a:solidFill>
                  <a:srgbClr val="0064FF"/>
                </a:solidFill>
                <a:latin typeface="Outfit SemiBold"/>
                <a:ea typeface="Outfit SemiBold"/>
                <a:cs typeface="Outfit SemiBold"/>
                <a:sym typeface="Outfit SemiBold"/>
              </a:endParaRPr>
            </a:p>
            <a:p>
              <a:pPr indent="0" lvl="0" marL="0" rtl="0" algn="l">
                <a:spcBef>
                  <a:spcPts val="1200"/>
                </a:spcBef>
                <a:spcAft>
                  <a:spcPts val="0"/>
                </a:spcAft>
                <a:buNone/>
              </a:pPr>
              <a:r>
                <a:rPr b="0" lang="en-GB" sz="2600">
                  <a:solidFill>
                    <a:srgbClr val="2C2C2A"/>
                  </a:solidFill>
                  <a:latin typeface="Instrument Serif"/>
                  <a:ea typeface="Instrument Serif"/>
                  <a:cs typeface="Instrument Serif"/>
                  <a:sym typeface="Instrument Serif"/>
                </a:rPr>
                <a:t>The production system</a:t>
              </a:r>
              <a:endParaRPr b="0" sz="2600">
                <a:solidFill>
                  <a:srgbClr val="2C2C2A"/>
                </a:solidFill>
                <a:latin typeface="Instrument Serif"/>
                <a:ea typeface="Instrument Serif"/>
                <a:cs typeface="Instrument Serif"/>
                <a:sym typeface="Instrument Serif"/>
              </a:endParaRPr>
            </a:p>
            <a:p>
              <a:pPr indent="0" lvl="0" marL="0" rtl="0" algn="l">
                <a:spcBef>
                  <a:spcPts val="800"/>
                </a:spcBef>
                <a:spcAft>
                  <a:spcPts val="0"/>
                </a:spcAft>
                <a:buNone/>
              </a:pPr>
              <a:r>
                <a:rPr b="0" lang="en-GB" sz="1300">
                  <a:solidFill>
                    <a:srgbClr val="555555"/>
                  </a:solidFill>
                  <a:latin typeface="Lora"/>
                  <a:ea typeface="Lora"/>
                  <a:cs typeface="Lora"/>
                  <a:sym typeface="Lora"/>
                </a:rPr>
                <a:t>The project's infra</a:t>
              </a:r>
              <a:endParaRPr b="0" sz="1300">
                <a:solidFill>
                  <a:srgbClr val="555555"/>
                </a:solidFill>
                <a:latin typeface="Lora"/>
                <a:ea typeface="Lora"/>
                <a:cs typeface="Lora"/>
                <a:sym typeface="Lora"/>
              </a:endParaRPr>
            </a:p>
            <a:p>
              <a:pPr indent="0" lvl="0" marL="0" rtl="0" algn="l">
                <a:spcBef>
                  <a:spcPts val="1200"/>
                </a:spcBef>
                <a:spcAft>
                  <a:spcPts val="0"/>
                </a:spcAft>
                <a:buNone/>
              </a:pPr>
              <a:r>
                <a:rPr b="0" lang="en-GB" sz="1100">
                  <a:solidFill>
                    <a:srgbClr val="666666"/>
                  </a:solidFill>
                  <a:latin typeface="Lora"/>
                  <a:ea typeface="Lora"/>
                  <a:cs typeface="Lora"/>
                  <a:sym typeface="Lora"/>
                </a:rPr>
                <a:t>Environmental context and infrastructure that prompt next steps automatically.</a:t>
              </a:r>
              <a:endParaRPr b="0" sz="1100">
                <a:solidFill>
                  <a:srgbClr val="666666"/>
                </a:solidFill>
                <a:latin typeface="Lora"/>
                <a:ea typeface="Lora"/>
                <a:cs typeface="Lora"/>
                <a:sym typeface="Lora"/>
              </a:endParaRPr>
            </a:p>
          </p:txBody>
        </p:sp>
      </p:grpSp>
      <p:sp>
        <p:nvSpPr>
          <p:cNvPr id="314" name="Google Shape;314;p12"/>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16"/>
          <p:cNvSpPr txBox="1"/>
          <p:nvPr/>
        </p:nvSpPr>
        <p:spPr>
          <a:xfrm>
            <a:off x="822960" y="457200"/>
            <a:ext cx="9144000" cy="3201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n-GB" sz="1200">
                <a:solidFill>
                  <a:srgbClr val="0064FF"/>
                </a:solidFill>
                <a:latin typeface="Outfit"/>
                <a:ea typeface="Outfit"/>
                <a:cs typeface="Outfit"/>
                <a:sym typeface="Outfit"/>
              </a:rPr>
              <a:t>SESSION 1 · KITS · </a:t>
            </a:r>
            <a:r>
              <a:rPr lang="en-GB" sz="1200">
                <a:solidFill>
                  <a:schemeClr val="accent1"/>
                </a:solidFill>
                <a:latin typeface="Outfit"/>
                <a:ea typeface="Outfit"/>
                <a:cs typeface="Outfit"/>
                <a:sym typeface="Outfit"/>
              </a:rPr>
              <a:t>CONCEPTS</a:t>
            </a:r>
            <a:endParaRPr b="0" sz="1200">
              <a:solidFill>
                <a:srgbClr val="0064FF"/>
              </a:solidFill>
              <a:latin typeface="Outfit"/>
              <a:ea typeface="Outfit"/>
              <a:cs typeface="Outfit"/>
              <a:sym typeface="Outfit"/>
            </a:endParaRPr>
          </a:p>
        </p:txBody>
      </p:sp>
      <p:sp>
        <p:nvSpPr>
          <p:cNvPr id="320" name="Google Shape;320;p16"/>
          <p:cNvSpPr txBox="1"/>
          <p:nvPr/>
        </p:nvSpPr>
        <p:spPr>
          <a:xfrm>
            <a:off x="822960" y="838200"/>
            <a:ext cx="9692700" cy="5334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lang="en-GB" sz="2800">
                <a:solidFill>
                  <a:srgbClr val="2C2C2A"/>
                </a:solidFill>
                <a:latin typeface="Instrument Serif"/>
                <a:ea typeface="Instrument Serif"/>
                <a:cs typeface="Instrument Serif"/>
                <a:sym typeface="Instrument Serif"/>
              </a:rPr>
              <a:t>Expanding our awareness: from personal tooling to public protocols</a:t>
            </a:r>
            <a:endParaRPr b="0" sz="2800">
              <a:solidFill>
                <a:srgbClr val="2C2C2A"/>
              </a:solidFill>
              <a:latin typeface="Instrument Serif"/>
              <a:ea typeface="Instrument Serif"/>
              <a:cs typeface="Instrument Serif"/>
              <a:sym typeface="Instrument Serif"/>
            </a:endParaRPr>
          </a:p>
        </p:txBody>
      </p:sp>
      <p:grpSp>
        <p:nvGrpSpPr>
          <p:cNvPr id="321" name="Google Shape;321;p16"/>
          <p:cNvGrpSpPr/>
          <p:nvPr/>
        </p:nvGrpSpPr>
        <p:grpSpPr>
          <a:xfrm>
            <a:off x="822960" y="1829519"/>
            <a:ext cx="5124600" cy="1762200"/>
            <a:chOff x="0" y="0"/>
            <a:chExt cx="5124600" cy="1762200"/>
          </a:xfrm>
        </p:grpSpPr>
        <p:sp>
          <p:nvSpPr>
            <p:cNvPr id="322" name="Google Shape;322;p16"/>
            <p:cNvSpPr/>
            <p:nvPr/>
          </p:nvSpPr>
          <p:spPr>
            <a:xfrm>
              <a:off x="0" y="0"/>
              <a:ext cx="5124600" cy="1762200"/>
            </a:xfrm>
            <a:prstGeom prst="roundRect">
              <a:avLst>
                <a:gd fmla="val 4324" name="adj"/>
              </a:avLst>
            </a:prstGeom>
            <a:solidFill>
              <a:srgbClr val="F0EDE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3" name="Google Shape;323;p16"/>
            <p:cNvSpPr txBox="1"/>
            <p:nvPr/>
          </p:nvSpPr>
          <p:spPr>
            <a:xfrm>
              <a:off x="0" y="0"/>
              <a:ext cx="5124600" cy="1762200"/>
            </a:xfrm>
            <a:prstGeom prst="rect">
              <a:avLst/>
            </a:prstGeom>
            <a:noFill/>
            <a:ln>
              <a:noFill/>
            </a:ln>
          </p:spPr>
          <p:txBody>
            <a:bodyPr anchorCtr="0" anchor="t" bIns="209550" lIns="228600" spcFirstLastPara="1" rIns="228600" wrap="square" tIns="209550">
              <a:noAutofit/>
            </a:bodyPr>
            <a:lstStyle/>
            <a:p>
              <a:pPr indent="0" lvl="0" marL="0" rtl="0" algn="l">
                <a:spcBef>
                  <a:spcPts val="0"/>
                </a:spcBef>
                <a:spcAft>
                  <a:spcPts val="0"/>
                </a:spcAft>
                <a:buNone/>
              </a:pPr>
              <a:r>
                <a:rPr b="0" lang="en-GB" sz="1000">
                  <a:solidFill>
                    <a:srgbClr val="0064FF"/>
                  </a:solidFill>
                  <a:latin typeface="Outfit SemiBold"/>
                  <a:ea typeface="Outfit SemiBold"/>
                  <a:cs typeface="Outfit SemiBold"/>
                  <a:sym typeface="Outfit SemiBold"/>
                </a:rPr>
                <a:t>1 · EXTERNAL / ARCHIVE</a:t>
              </a:r>
              <a:endParaRPr b="0" sz="1000">
                <a:solidFill>
                  <a:srgbClr val="0064FF"/>
                </a:solidFill>
                <a:latin typeface="Outfit SemiBold"/>
                <a:ea typeface="Outfit SemiBold"/>
                <a:cs typeface="Outfit SemiBold"/>
                <a:sym typeface="Outfit SemiBold"/>
              </a:endParaRPr>
            </a:p>
            <a:p>
              <a:pPr indent="0" lvl="0" marL="0" rtl="0" algn="l">
                <a:spcBef>
                  <a:spcPts val="450"/>
                </a:spcBef>
                <a:spcAft>
                  <a:spcPts val="0"/>
                </a:spcAft>
                <a:buNone/>
              </a:pPr>
              <a:r>
                <a:rPr b="0" lang="en-GB" sz="2200">
                  <a:solidFill>
                    <a:srgbClr val="2C2C2A"/>
                  </a:solidFill>
                  <a:latin typeface="Instrument Serif"/>
                  <a:ea typeface="Instrument Serif"/>
                  <a:cs typeface="Instrument Serif"/>
                  <a:sym typeface="Instrument Serif"/>
                </a:rPr>
                <a:t>Precommodificatio</a:t>
              </a:r>
              <a:r>
                <a:rPr lang="en-GB" sz="2200">
                  <a:solidFill>
                    <a:srgbClr val="2C2C2A"/>
                  </a:solidFill>
                  <a:latin typeface="Instrument Serif"/>
                  <a:ea typeface="Instrument Serif"/>
                  <a:cs typeface="Instrument Serif"/>
                  <a:sym typeface="Instrument Serif"/>
                </a:rPr>
                <a:t>n</a:t>
              </a:r>
              <a:endParaRPr b="0" sz="2200">
                <a:solidFill>
                  <a:srgbClr val="2C2C2A"/>
                </a:solidFill>
                <a:latin typeface="Instrument Serif"/>
                <a:ea typeface="Instrument Serif"/>
                <a:cs typeface="Instrument Serif"/>
                <a:sym typeface="Instrument Serif"/>
              </a:endParaRPr>
            </a:p>
            <a:p>
              <a:pPr indent="0" lvl="0" marL="0" rtl="0" algn="l">
                <a:spcBef>
                  <a:spcPts val="450"/>
                </a:spcBef>
                <a:spcAft>
                  <a:spcPts val="0"/>
                </a:spcAft>
                <a:buNone/>
              </a:pPr>
              <a:r>
                <a:rPr lang="en-GB" sz="1100">
                  <a:solidFill>
                    <a:srgbClr val="555555"/>
                  </a:solidFill>
                  <a:latin typeface="Lora"/>
                  <a:ea typeface="Lora"/>
                  <a:cs typeface="Lora"/>
                  <a:sym typeface="Lora"/>
                </a:rPr>
                <a:t>What is already present before I act?</a:t>
              </a:r>
              <a:endParaRPr b="0" sz="1100">
                <a:solidFill>
                  <a:srgbClr val="555555"/>
                </a:solidFill>
                <a:latin typeface="Lora"/>
                <a:ea typeface="Lora"/>
                <a:cs typeface="Lora"/>
                <a:sym typeface="Lora"/>
              </a:endParaRPr>
            </a:p>
          </p:txBody>
        </p:sp>
      </p:grpSp>
      <p:grpSp>
        <p:nvGrpSpPr>
          <p:cNvPr id="324" name="Google Shape;324;p16"/>
          <p:cNvGrpSpPr/>
          <p:nvPr/>
        </p:nvGrpSpPr>
        <p:grpSpPr>
          <a:xfrm>
            <a:off x="6242685" y="1829519"/>
            <a:ext cx="5124600" cy="1762200"/>
            <a:chOff x="0" y="0"/>
            <a:chExt cx="5124600" cy="1762200"/>
          </a:xfrm>
        </p:grpSpPr>
        <p:sp>
          <p:nvSpPr>
            <p:cNvPr id="325" name="Google Shape;325;p16"/>
            <p:cNvSpPr/>
            <p:nvPr/>
          </p:nvSpPr>
          <p:spPr>
            <a:xfrm>
              <a:off x="0" y="0"/>
              <a:ext cx="5124600" cy="1762200"/>
            </a:xfrm>
            <a:prstGeom prst="roundRect">
              <a:avLst>
                <a:gd fmla="val 4324" name="adj"/>
              </a:avLst>
            </a:prstGeom>
            <a:solidFill>
              <a:srgbClr val="E1F5E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6" name="Google Shape;326;p16"/>
            <p:cNvSpPr txBox="1"/>
            <p:nvPr/>
          </p:nvSpPr>
          <p:spPr>
            <a:xfrm>
              <a:off x="0" y="0"/>
              <a:ext cx="5124600" cy="1762200"/>
            </a:xfrm>
            <a:prstGeom prst="rect">
              <a:avLst/>
            </a:prstGeom>
            <a:noFill/>
            <a:ln>
              <a:noFill/>
            </a:ln>
          </p:spPr>
          <p:txBody>
            <a:bodyPr anchorCtr="0" anchor="t" bIns="209550" lIns="228600" spcFirstLastPara="1" rIns="228600" wrap="square" tIns="209550">
              <a:noAutofit/>
            </a:bodyPr>
            <a:lstStyle/>
            <a:p>
              <a:pPr indent="0" lvl="0" marL="0" rtl="0" algn="l">
                <a:spcBef>
                  <a:spcPts val="0"/>
                </a:spcBef>
                <a:spcAft>
                  <a:spcPts val="0"/>
                </a:spcAft>
                <a:buNone/>
              </a:pPr>
              <a:r>
                <a:rPr b="0" lang="en-GB" sz="1000">
                  <a:solidFill>
                    <a:srgbClr val="085041"/>
                  </a:solidFill>
                  <a:latin typeface="Outfit SemiBold"/>
                  <a:ea typeface="Outfit SemiBold"/>
                  <a:cs typeface="Outfit SemiBold"/>
                  <a:sym typeface="Outfit SemiBold"/>
                </a:rPr>
                <a:t>2 · EXTERNAL / LIVE</a:t>
              </a:r>
              <a:endParaRPr b="0" sz="1000">
                <a:solidFill>
                  <a:srgbClr val="085041"/>
                </a:solidFill>
                <a:latin typeface="Outfit SemiBold"/>
                <a:ea typeface="Outfit SemiBold"/>
                <a:cs typeface="Outfit SemiBold"/>
                <a:sym typeface="Outfit SemiBold"/>
              </a:endParaRPr>
            </a:p>
            <a:p>
              <a:pPr indent="0" lvl="0" marL="0" rtl="0" algn="l">
                <a:spcBef>
                  <a:spcPts val="450"/>
                </a:spcBef>
                <a:spcAft>
                  <a:spcPts val="0"/>
                </a:spcAft>
                <a:buNone/>
              </a:pPr>
              <a:r>
                <a:rPr b="0" lang="en-GB" sz="2200">
                  <a:solidFill>
                    <a:srgbClr val="2C2C2A"/>
                  </a:solidFill>
                  <a:latin typeface="Instrument Serif"/>
                  <a:ea typeface="Instrument Serif"/>
                  <a:cs typeface="Instrument Serif"/>
                  <a:sym typeface="Instrument Serif"/>
                </a:rPr>
                <a:t>Traces / pheromones</a:t>
              </a:r>
              <a:endParaRPr b="0" sz="2200">
                <a:solidFill>
                  <a:srgbClr val="2C2C2A"/>
                </a:solidFill>
                <a:latin typeface="Instrument Serif"/>
                <a:ea typeface="Instrument Serif"/>
                <a:cs typeface="Instrument Serif"/>
                <a:sym typeface="Instrument Serif"/>
              </a:endParaRPr>
            </a:p>
            <a:p>
              <a:pPr indent="0" lvl="0" marL="0" rtl="0" algn="l">
                <a:spcBef>
                  <a:spcPts val="450"/>
                </a:spcBef>
                <a:spcAft>
                  <a:spcPts val="0"/>
                </a:spcAft>
                <a:buNone/>
              </a:pPr>
              <a:r>
                <a:rPr lang="en-GB" sz="1100">
                  <a:solidFill>
                    <a:srgbClr val="085041"/>
                  </a:solidFill>
                  <a:latin typeface="Lora"/>
                  <a:ea typeface="Lora"/>
                  <a:cs typeface="Lora"/>
                  <a:sym typeface="Lora"/>
                </a:rPr>
                <a:t>What are others are leaving behind?</a:t>
              </a:r>
              <a:endParaRPr b="0" sz="1100">
                <a:solidFill>
                  <a:srgbClr val="085041"/>
                </a:solidFill>
                <a:latin typeface="Lora"/>
                <a:ea typeface="Lora"/>
                <a:cs typeface="Lora"/>
                <a:sym typeface="Lora"/>
              </a:endParaRPr>
            </a:p>
          </p:txBody>
        </p:sp>
      </p:grpSp>
      <p:grpSp>
        <p:nvGrpSpPr>
          <p:cNvPr id="327" name="Google Shape;327;p16"/>
          <p:cNvGrpSpPr/>
          <p:nvPr/>
        </p:nvGrpSpPr>
        <p:grpSpPr>
          <a:xfrm>
            <a:off x="822960" y="3734519"/>
            <a:ext cx="5124600" cy="1762200"/>
            <a:chOff x="0" y="0"/>
            <a:chExt cx="5124600" cy="1762200"/>
          </a:xfrm>
        </p:grpSpPr>
        <p:sp>
          <p:nvSpPr>
            <p:cNvPr id="328" name="Google Shape;328;p16"/>
            <p:cNvSpPr/>
            <p:nvPr/>
          </p:nvSpPr>
          <p:spPr>
            <a:xfrm>
              <a:off x="0" y="0"/>
              <a:ext cx="5124600" cy="1762200"/>
            </a:xfrm>
            <a:prstGeom prst="roundRect">
              <a:avLst>
                <a:gd fmla="val 4324" name="adj"/>
              </a:avLst>
            </a:prstGeom>
            <a:solidFill>
              <a:srgbClr val="F0EDE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9" name="Google Shape;329;p16"/>
            <p:cNvSpPr txBox="1"/>
            <p:nvPr/>
          </p:nvSpPr>
          <p:spPr>
            <a:xfrm>
              <a:off x="0" y="0"/>
              <a:ext cx="5124600" cy="1762200"/>
            </a:xfrm>
            <a:prstGeom prst="rect">
              <a:avLst/>
            </a:prstGeom>
            <a:noFill/>
            <a:ln>
              <a:noFill/>
            </a:ln>
          </p:spPr>
          <p:txBody>
            <a:bodyPr anchorCtr="0" anchor="t" bIns="209550" lIns="228600" spcFirstLastPara="1" rIns="228600" wrap="square" tIns="209550">
              <a:noAutofit/>
            </a:bodyPr>
            <a:lstStyle/>
            <a:p>
              <a:pPr indent="0" lvl="0" marL="0" rtl="0" algn="l">
                <a:spcBef>
                  <a:spcPts val="0"/>
                </a:spcBef>
                <a:spcAft>
                  <a:spcPts val="0"/>
                </a:spcAft>
                <a:buNone/>
              </a:pPr>
              <a:r>
                <a:rPr b="0" lang="en-GB" sz="1000">
                  <a:solidFill>
                    <a:srgbClr val="0064FF"/>
                  </a:solidFill>
                  <a:latin typeface="Outfit SemiBold"/>
                  <a:ea typeface="Outfit SemiBold"/>
                  <a:cs typeface="Outfit SemiBold"/>
                  <a:sym typeface="Outfit SemiBold"/>
                </a:rPr>
                <a:t>3 · INTERNAL / ARCHIVE</a:t>
              </a:r>
              <a:endParaRPr b="0" sz="1000">
                <a:solidFill>
                  <a:srgbClr val="0064FF"/>
                </a:solidFill>
                <a:latin typeface="Outfit SemiBold"/>
                <a:ea typeface="Outfit SemiBold"/>
                <a:cs typeface="Outfit SemiBold"/>
                <a:sym typeface="Outfit SemiBold"/>
              </a:endParaRPr>
            </a:p>
            <a:p>
              <a:pPr indent="0" lvl="0" marL="0" rtl="0" algn="l">
                <a:spcBef>
                  <a:spcPts val="450"/>
                </a:spcBef>
                <a:spcAft>
                  <a:spcPts val="0"/>
                </a:spcAft>
                <a:buNone/>
              </a:pPr>
              <a:r>
                <a:rPr lang="en-GB" sz="2200">
                  <a:solidFill>
                    <a:srgbClr val="2C2C2A"/>
                  </a:solidFill>
                  <a:latin typeface="Instrument Serif"/>
                  <a:ea typeface="Instrument Serif"/>
                  <a:cs typeface="Instrument Serif"/>
                  <a:sym typeface="Instrument Serif"/>
                </a:rPr>
                <a:t>Anchored Reality</a:t>
              </a:r>
              <a:endParaRPr b="0" sz="2200">
                <a:solidFill>
                  <a:srgbClr val="2C2C2A"/>
                </a:solidFill>
                <a:latin typeface="Instrument Serif"/>
                <a:ea typeface="Instrument Serif"/>
                <a:cs typeface="Instrument Serif"/>
                <a:sym typeface="Instrument Serif"/>
              </a:endParaRPr>
            </a:p>
            <a:p>
              <a:pPr indent="0" lvl="0" marL="0" rtl="0" algn="l">
                <a:spcBef>
                  <a:spcPts val="450"/>
                </a:spcBef>
                <a:spcAft>
                  <a:spcPts val="0"/>
                </a:spcAft>
                <a:buNone/>
              </a:pPr>
              <a:r>
                <a:rPr lang="en-GB" sz="1100">
                  <a:solidFill>
                    <a:srgbClr val="555555"/>
                  </a:solidFill>
                  <a:latin typeface="Lora"/>
                  <a:ea typeface="Lora"/>
                  <a:cs typeface="Lora"/>
                  <a:sym typeface="Lora"/>
                </a:rPr>
                <a:t>What is actually true, local and constrained?</a:t>
              </a:r>
              <a:endParaRPr sz="1100">
                <a:solidFill>
                  <a:srgbClr val="555555"/>
                </a:solidFill>
                <a:latin typeface="Lora"/>
                <a:ea typeface="Lora"/>
                <a:cs typeface="Lora"/>
                <a:sym typeface="Lora"/>
              </a:endParaRPr>
            </a:p>
          </p:txBody>
        </p:sp>
      </p:grpSp>
      <p:grpSp>
        <p:nvGrpSpPr>
          <p:cNvPr id="330" name="Google Shape;330;p16"/>
          <p:cNvGrpSpPr/>
          <p:nvPr/>
        </p:nvGrpSpPr>
        <p:grpSpPr>
          <a:xfrm>
            <a:off x="6242685" y="3734519"/>
            <a:ext cx="5124600" cy="1762200"/>
            <a:chOff x="0" y="0"/>
            <a:chExt cx="5124600" cy="1762200"/>
          </a:xfrm>
        </p:grpSpPr>
        <p:sp>
          <p:nvSpPr>
            <p:cNvPr id="331" name="Google Shape;331;p16"/>
            <p:cNvSpPr/>
            <p:nvPr/>
          </p:nvSpPr>
          <p:spPr>
            <a:xfrm>
              <a:off x="0" y="0"/>
              <a:ext cx="5124600" cy="1762200"/>
            </a:xfrm>
            <a:prstGeom prst="roundRect">
              <a:avLst>
                <a:gd fmla="val 4324" name="adj"/>
              </a:avLst>
            </a:prstGeom>
            <a:solidFill>
              <a:srgbClr val="F0EDE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2" name="Google Shape;332;p16"/>
            <p:cNvSpPr txBox="1"/>
            <p:nvPr/>
          </p:nvSpPr>
          <p:spPr>
            <a:xfrm>
              <a:off x="0" y="0"/>
              <a:ext cx="5124600" cy="1762200"/>
            </a:xfrm>
            <a:prstGeom prst="rect">
              <a:avLst/>
            </a:prstGeom>
            <a:noFill/>
            <a:ln>
              <a:noFill/>
            </a:ln>
          </p:spPr>
          <p:txBody>
            <a:bodyPr anchorCtr="0" anchor="t" bIns="209550" lIns="228600" spcFirstLastPara="1" rIns="228600" wrap="square" tIns="209550">
              <a:noAutofit/>
            </a:bodyPr>
            <a:lstStyle/>
            <a:p>
              <a:pPr indent="0" lvl="0" marL="0" rtl="0" algn="l">
                <a:spcBef>
                  <a:spcPts val="0"/>
                </a:spcBef>
                <a:spcAft>
                  <a:spcPts val="0"/>
                </a:spcAft>
                <a:buNone/>
              </a:pPr>
              <a:r>
                <a:rPr b="0" lang="en-GB" sz="1000">
                  <a:solidFill>
                    <a:srgbClr val="0064FF"/>
                  </a:solidFill>
                  <a:latin typeface="Outfit SemiBold"/>
                  <a:ea typeface="Outfit SemiBold"/>
                  <a:cs typeface="Outfit SemiBold"/>
                  <a:sym typeface="Outfit SemiBold"/>
                </a:rPr>
                <a:t>4 · INTERNAL / LIVE</a:t>
              </a:r>
              <a:endParaRPr b="0" sz="1000">
                <a:solidFill>
                  <a:srgbClr val="0064FF"/>
                </a:solidFill>
                <a:latin typeface="Outfit SemiBold"/>
                <a:ea typeface="Outfit SemiBold"/>
                <a:cs typeface="Outfit SemiBold"/>
                <a:sym typeface="Outfit SemiBold"/>
              </a:endParaRPr>
            </a:p>
            <a:p>
              <a:pPr indent="0" lvl="0" marL="0" rtl="0" algn="l">
                <a:spcBef>
                  <a:spcPts val="450"/>
                </a:spcBef>
                <a:spcAft>
                  <a:spcPts val="0"/>
                </a:spcAft>
                <a:buNone/>
              </a:pPr>
              <a:r>
                <a:rPr b="0" lang="en-GB" sz="2200">
                  <a:solidFill>
                    <a:srgbClr val="2C2C2A"/>
                  </a:solidFill>
                  <a:latin typeface="Instrument Serif"/>
                  <a:ea typeface="Instrument Serif"/>
                  <a:cs typeface="Instrument Serif"/>
                  <a:sym typeface="Instrument Serif"/>
                </a:rPr>
                <a:t>Playability</a:t>
              </a:r>
              <a:endParaRPr b="0" sz="2200">
                <a:solidFill>
                  <a:srgbClr val="2C2C2A"/>
                </a:solidFill>
                <a:latin typeface="Instrument Serif"/>
                <a:ea typeface="Instrument Serif"/>
                <a:cs typeface="Instrument Serif"/>
                <a:sym typeface="Instrument Serif"/>
              </a:endParaRPr>
            </a:p>
            <a:p>
              <a:pPr indent="0" lvl="0" marL="0" rtl="0" algn="l">
                <a:spcBef>
                  <a:spcPts val="450"/>
                </a:spcBef>
                <a:spcAft>
                  <a:spcPts val="0"/>
                </a:spcAft>
                <a:buNone/>
              </a:pPr>
              <a:r>
                <a:rPr lang="en-GB" sz="1100">
                  <a:solidFill>
                    <a:srgbClr val="555555"/>
                  </a:solidFill>
                  <a:latin typeface="Lora"/>
                  <a:ea typeface="Lora"/>
                  <a:cs typeface="Lora"/>
                  <a:sym typeface="Lora"/>
                </a:rPr>
                <a:t>Where can I intervene, recombine, alter or test?</a:t>
              </a:r>
              <a:endParaRPr b="0" sz="1100">
                <a:solidFill>
                  <a:srgbClr val="555555"/>
                </a:solidFill>
                <a:latin typeface="Lora"/>
                <a:ea typeface="Lora"/>
                <a:cs typeface="Lora"/>
                <a:sym typeface="Lora"/>
              </a:endParaRPr>
            </a:p>
          </p:txBody>
        </p:sp>
      </p:grpSp>
      <p:sp>
        <p:nvSpPr>
          <p:cNvPr id="333" name="Google Shape;333;p16"/>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17"/>
          <p:cNvSpPr txBox="1"/>
          <p:nvPr>
            <p:ph idx="1" type="body"/>
          </p:nvPr>
        </p:nvSpPr>
        <p:spPr>
          <a:xfrm>
            <a:off x="822960" y="457200"/>
            <a:ext cx="7315200" cy="3201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a:solidFill>
                  <a:schemeClr val="accent1"/>
                </a:solidFill>
              </a:rPr>
              <a:t>SESSION 1 · KITS · EXERCISE</a:t>
            </a:r>
            <a:endParaRPr>
              <a:solidFill>
                <a:schemeClr val="accent1"/>
              </a:solidFill>
            </a:endParaRPr>
          </a:p>
          <a:p>
            <a:pPr indent="0" lvl="0" marL="0" rtl="0" algn="l">
              <a:spcBef>
                <a:spcPts val="700"/>
              </a:spcBef>
              <a:spcAft>
                <a:spcPts val="0"/>
              </a:spcAft>
              <a:buNone/>
            </a:pPr>
            <a:r>
              <a:t/>
            </a:r>
            <a:endParaRPr/>
          </a:p>
        </p:txBody>
      </p:sp>
      <p:sp>
        <p:nvSpPr>
          <p:cNvPr id="339" name="Google Shape;339;p17"/>
          <p:cNvSpPr txBox="1"/>
          <p:nvPr>
            <p:ph type="title"/>
          </p:nvPr>
        </p:nvSpPr>
        <p:spPr>
          <a:xfrm>
            <a:off x="822960" y="838200"/>
            <a:ext cx="9692700" cy="6858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lang="en-GB"/>
              <a:t>Exercise: </a:t>
            </a:r>
            <a:r>
              <a:rPr b="0" i="0" lang="en-GB" sz="2800">
                <a:solidFill>
                  <a:srgbClr val="2C2C2A"/>
                </a:solidFill>
                <a:latin typeface="Instrument Serif"/>
                <a:ea typeface="Instrument Serif"/>
                <a:cs typeface="Instrument Serif"/>
                <a:sym typeface="Instrument Serif"/>
              </a:rPr>
              <a:t>Ask your AI assistant to list the AI kits you already use</a:t>
            </a:r>
            <a:endParaRPr b="0" i="0" sz="2800">
              <a:solidFill>
                <a:srgbClr val="2C2C2A"/>
              </a:solidFill>
              <a:latin typeface="Instrument Serif"/>
              <a:ea typeface="Instrument Serif"/>
              <a:cs typeface="Instrument Serif"/>
              <a:sym typeface="Instrument Serif"/>
            </a:endParaRPr>
          </a:p>
        </p:txBody>
      </p:sp>
      <p:grpSp>
        <p:nvGrpSpPr>
          <p:cNvPr id="340" name="Google Shape;340;p17"/>
          <p:cNvGrpSpPr/>
          <p:nvPr/>
        </p:nvGrpSpPr>
        <p:grpSpPr>
          <a:xfrm>
            <a:off x="822950" y="2057601"/>
            <a:ext cx="3238500" cy="3429000"/>
            <a:chOff x="0" y="0"/>
            <a:chExt cx="3238500" cy="4572000"/>
          </a:xfrm>
        </p:grpSpPr>
        <p:sp>
          <p:nvSpPr>
            <p:cNvPr id="341" name="Google Shape;341;p17"/>
            <p:cNvSpPr/>
            <p:nvPr/>
          </p:nvSpPr>
          <p:spPr>
            <a:xfrm>
              <a:off x="0" y="0"/>
              <a:ext cx="3238500" cy="4572000"/>
            </a:xfrm>
            <a:prstGeom prst="roundRect">
              <a:avLst>
                <a:gd fmla="val 2352" name="adj"/>
              </a:avLst>
            </a:prstGeom>
            <a:solidFill>
              <a:srgbClr val="F0EDE6"/>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42" name="Google Shape;342;p17"/>
            <p:cNvSpPr txBox="1"/>
            <p:nvPr/>
          </p:nvSpPr>
          <p:spPr>
            <a:xfrm>
              <a:off x="0" y="0"/>
              <a:ext cx="3238500" cy="4572000"/>
            </a:xfrm>
            <a:prstGeom prst="rect">
              <a:avLst/>
            </a:prstGeom>
            <a:noFill/>
            <a:ln>
              <a:noFill/>
            </a:ln>
          </p:spPr>
          <p:txBody>
            <a:bodyPr anchorCtr="0" anchor="t" bIns="228600" lIns="228600" spcFirstLastPara="1" rIns="228600" wrap="square" tIns="228600">
              <a:noAutofit/>
            </a:bodyPr>
            <a:lstStyle/>
            <a:p>
              <a:pPr indent="0" lvl="0" marL="0" rtl="0" algn="l">
                <a:spcBef>
                  <a:spcPts val="0"/>
                </a:spcBef>
                <a:spcAft>
                  <a:spcPts val="0"/>
                </a:spcAft>
                <a:buNone/>
              </a:pPr>
              <a:r>
                <a:rPr b="0" lang="en-GB" sz="1000">
                  <a:solidFill>
                    <a:srgbClr val="0064FF"/>
                  </a:solidFill>
                  <a:latin typeface="Outfit SemiBold"/>
                  <a:ea typeface="Outfit SemiBold"/>
                  <a:cs typeface="Outfit SemiBold"/>
                  <a:sym typeface="Outfit SemiBold"/>
                </a:rPr>
                <a:t>1 · STEPS</a:t>
              </a:r>
              <a:endParaRPr b="0" sz="1000">
                <a:solidFill>
                  <a:srgbClr val="0064FF"/>
                </a:solidFill>
                <a:latin typeface="Outfit SemiBold"/>
                <a:ea typeface="Outfit SemiBold"/>
                <a:cs typeface="Outfit SemiBold"/>
                <a:sym typeface="Outfit SemiBold"/>
              </a:endParaRPr>
            </a:p>
            <a:p>
              <a:pPr indent="0" lvl="0" marL="0" rtl="0" algn="l">
                <a:spcBef>
                  <a:spcPts val="600"/>
                </a:spcBef>
                <a:spcAft>
                  <a:spcPts val="0"/>
                </a:spcAft>
                <a:buNone/>
              </a:pPr>
              <a:r>
                <a:rPr lang="en-GB" sz="2400">
                  <a:solidFill>
                    <a:srgbClr val="2C2C2A"/>
                  </a:solidFill>
                  <a:latin typeface="Instrument Serif"/>
                  <a:ea typeface="Instrument Serif"/>
                  <a:cs typeface="Instrument Serif"/>
                  <a:sym typeface="Instrument Serif"/>
                </a:rPr>
                <a:t>Workflow</a:t>
              </a:r>
              <a:endParaRPr sz="2400">
                <a:solidFill>
                  <a:srgbClr val="2C2C2A"/>
                </a:solidFill>
                <a:latin typeface="Instrument Serif"/>
                <a:ea typeface="Instrument Serif"/>
                <a:cs typeface="Instrument Serif"/>
                <a:sym typeface="Instrument Serif"/>
              </a:endParaRPr>
            </a:p>
            <a:p>
              <a:pPr indent="-298450" lvl="0" marL="457200" rtl="0" algn="l">
                <a:spcBef>
                  <a:spcPts val="1200"/>
                </a:spcBef>
                <a:spcAft>
                  <a:spcPts val="0"/>
                </a:spcAft>
                <a:buClr>
                  <a:srgbClr val="2C2C2A"/>
                </a:buClr>
                <a:buSzPts val="1100"/>
                <a:buFont typeface="Lora"/>
                <a:buAutoNum type="arabicPeriod"/>
              </a:pPr>
              <a:r>
                <a:rPr lang="en-GB" sz="1100">
                  <a:solidFill>
                    <a:srgbClr val="2C2C2A"/>
                  </a:solidFill>
                  <a:latin typeface="Lora"/>
                  <a:ea typeface="Lora"/>
                  <a:cs typeface="Lora"/>
                  <a:sym typeface="Lora"/>
                </a:rPr>
                <a:t>Open your harness at the top of the clone</a:t>
              </a:r>
              <a:endParaRPr sz="1100">
                <a:solidFill>
                  <a:srgbClr val="2C2C2A"/>
                </a:solidFill>
                <a:latin typeface="Lora"/>
                <a:ea typeface="Lora"/>
                <a:cs typeface="Lora"/>
                <a:sym typeface="Lora"/>
              </a:endParaRPr>
            </a:p>
            <a:p>
              <a:pPr indent="-298450" lvl="0" marL="457200" rtl="0" algn="l">
                <a:spcBef>
                  <a:spcPts val="900"/>
                </a:spcBef>
                <a:spcAft>
                  <a:spcPts val="0"/>
                </a:spcAft>
                <a:buClr>
                  <a:srgbClr val="2C2C2A"/>
                </a:buClr>
                <a:buSzPts val="1100"/>
                <a:buFont typeface="Lora"/>
                <a:buAutoNum type="arabicPeriod"/>
              </a:pPr>
              <a:r>
                <a:rPr lang="en-GB" sz="1100">
                  <a:solidFill>
                    <a:srgbClr val="2C2C2A"/>
                  </a:solidFill>
                  <a:latin typeface="Lora"/>
                  <a:ea typeface="Lora"/>
                  <a:cs typeface="Lora"/>
                  <a:sym typeface="Lora"/>
                </a:rPr>
                <a:t>Paste the prompt on the right and say "do this"</a:t>
              </a:r>
              <a:endParaRPr sz="1100">
                <a:solidFill>
                  <a:srgbClr val="2C2C2A"/>
                </a:solidFill>
                <a:latin typeface="Lora"/>
                <a:ea typeface="Lora"/>
                <a:cs typeface="Lora"/>
                <a:sym typeface="Lora"/>
              </a:endParaRPr>
            </a:p>
            <a:p>
              <a:pPr indent="-298450" lvl="0" marL="457200" rtl="0" algn="l">
                <a:spcBef>
                  <a:spcPts val="900"/>
                </a:spcBef>
                <a:spcAft>
                  <a:spcPts val="0"/>
                </a:spcAft>
                <a:buClr>
                  <a:srgbClr val="2C2C2A"/>
                </a:buClr>
                <a:buSzPts val="1100"/>
                <a:buFont typeface="Lora"/>
                <a:buAutoNum type="arabicPeriod"/>
              </a:pPr>
              <a:r>
                <a:rPr lang="en-GB" sz="1100">
                  <a:solidFill>
                    <a:srgbClr val="2C2C2A"/>
                  </a:solidFill>
                  <a:latin typeface="Lora"/>
                  <a:ea typeface="Lora"/>
                  <a:cs typeface="Lora"/>
                  <a:sym typeface="Lora"/>
                </a:rPr>
                <a:t>Answer its questions — it will not invent kits for you</a:t>
              </a:r>
              <a:endParaRPr sz="1100">
                <a:solidFill>
                  <a:srgbClr val="2C2C2A"/>
                </a:solidFill>
                <a:latin typeface="Lora"/>
                <a:ea typeface="Lora"/>
                <a:cs typeface="Lora"/>
                <a:sym typeface="Lora"/>
              </a:endParaRPr>
            </a:p>
            <a:p>
              <a:pPr indent="-298450" lvl="0" marL="457200" rtl="0" algn="l">
                <a:spcBef>
                  <a:spcPts val="900"/>
                </a:spcBef>
                <a:spcAft>
                  <a:spcPts val="900"/>
                </a:spcAft>
                <a:buClr>
                  <a:srgbClr val="2C2C2A"/>
                </a:buClr>
                <a:buSzPts val="1100"/>
                <a:buFont typeface="Lora"/>
                <a:buAutoNum type="arabicPeriod"/>
              </a:pPr>
              <a:r>
                <a:rPr lang="en-GB" sz="1100">
                  <a:solidFill>
                    <a:srgbClr val="2C2C2A"/>
                  </a:solidFill>
                  <a:latin typeface="Lora"/>
                  <a:ea typeface="Lora"/>
                  <a:cs typeface="Lora"/>
                  <a:sym typeface="Lora"/>
                </a:rPr>
                <a:t>Let it commit and push, then check the file on GitHub</a:t>
              </a:r>
              <a:endParaRPr sz="1100">
                <a:solidFill>
                  <a:srgbClr val="2C2C2A"/>
                </a:solidFill>
                <a:latin typeface="Lora"/>
                <a:ea typeface="Lora"/>
                <a:cs typeface="Lora"/>
                <a:sym typeface="Lora"/>
              </a:endParaRPr>
            </a:p>
          </p:txBody>
        </p:sp>
      </p:grpSp>
      <p:grpSp>
        <p:nvGrpSpPr>
          <p:cNvPr id="343" name="Google Shape;343;p17"/>
          <p:cNvGrpSpPr/>
          <p:nvPr/>
        </p:nvGrpSpPr>
        <p:grpSpPr>
          <a:xfrm>
            <a:off x="4251950" y="2057601"/>
            <a:ext cx="4095900" cy="3429000"/>
            <a:chOff x="0" y="0"/>
            <a:chExt cx="4095900" cy="4572000"/>
          </a:xfrm>
        </p:grpSpPr>
        <p:sp>
          <p:nvSpPr>
            <p:cNvPr id="344" name="Google Shape;344;p17"/>
            <p:cNvSpPr/>
            <p:nvPr/>
          </p:nvSpPr>
          <p:spPr>
            <a:xfrm>
              <a:off x="0" y="0"/>
              <a:ext cx="4095900" cy="4572000"/>
            </a:xfrm>
            <a:prstGeom prst="roundRect">
              <a:avLst>
                <a:gd fmla="val 1860" name="adj"/>
              </a:avLst>
            </a:prstGeom>
            <a:solidFill>
              <a:srgbClr val="E1F5EE"/>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45" name="Google Shape;345;p17"/>
            <p:cNvSpPr txBox="1"/>
            <p:nvPr/>
          </p:nvSpPr>
          <p:spPr>
            <a:xfrm>
              <a:off x="0" y="0"/>
              <a:ext cx="4095900" cy="4572000"/>
            </a:xfrm>
            <a:prstGeom prst="rect">
              <a:avLst/>
            </a:prstGeom>
            <a:noFill/>
            <a:ln>
              <a:noFill/>
            </a:ln>
          </p:spPr>
          <p:txBody>
            <a:bodyPr anchorCtr="0" anchor="t" bIns="228600" lIns="228600" spcFirstLastPara="1" rIns="228600" wrap="square" tIns="228600">
              <a:noAutofit/>
            </a:bodyPr>
            <a:lstStyle/>
            <a:p>
              <a:pPr indent="0" lvl="0" marL="0" rtl="0" algn="l">
                <a:spcBef>
                  <a:spcPts val="0"/>
                </a:spcBef>
                <a:spcAft>
                  <a:spcPts val="0"/>
                </a:spcAft>
                <a:buNone/>
              </a:pPr>
              <a:r>
                <a:rPr b="0" lang="en-GB" sz="1000">
                  <a:solidFill>
                    <a:srgbClr val="085041"/>
                  </a:solidFill>
                  <a:latin typeface="Outfit SemiBold"/>
                  <a:ea typeface="Outfit SemiBold"/>
                  <a:cs typeface="Outfit SemiBold"/>
                  <a:sym typeface="Outfit SemiBold"/>
                </a:rPr>
                <a:t>2 · PROMPT</a:t>
              </a:r>
              <a:endParaRPr b="0" sz="1000">
                <a:solidFill>
                  <a:srgbClr val="085041"/>
                </a:solidFill>
                <a:latin typeface="Outfit SemiBold"/>
                <a:ea typeface="Outfit SemiBold"/>
                <a:cs typeface="Outfit SemiBold"/>
                <a:sym typeface="Outfit SemiBold"/>
              </a:endParaRPr>
            </a:p>
            <a:p>
              <a:pPr indent="0" lvl="0" marL="0" rtl="0" algn="l">
                <a:spcBef>
                  <a:spcPts val="600"/>
                </a:spcBef>
                <a:spcAft>
                  <a:spcPts val="0"/>
                </a:spcAft>
                <a:buNone/>
              </a:pPr>
              <a:r>
                <a:rPr lang="en-GB" sz="2400">
                  <a:solidFill>
                    <a:srgbClr val="2C2C2A"/>
                  </a:solidFill>
                  <a:latin typeface="Instrument Serif"/>
                  <a:ea typeface="Instrument Serif"/>
                  <a:cs typeface="Instrument Serif"/>
                  <a:sym typeface="Instrument Serif"/>
                </a:rPr>
                <a:t>Paste this to your assistant</a:t>
              </a:r>
              <a:endParaRPr sz="2400">
                <a:solidFill>
                  <a:srgbClr val="2C2C2A"/>
                </a:solidFill>
                <a:latin typeface="Instrument Serif"/>
                <a:ea typeface="Instrument Serif"/>
                <a:cs typeface="Instrument Serif"/>
                <a:sym typeface="Instrument Serif"/>
              </a:endParaRPr>
            </a:p>
            <a:p>
              <a:pPr indent="0" lvl="0" marL="0" rtl="0" algn="l">
                <a:spcBef>
                  <a:spcPts val="900"/>
                </a:spcBef>
                <a:spcAft>
                  <a:spcPts val="0"/>
                </a:spcAft>
                <a:buNone/>
              </a:pPr>
              <a:r>
                <a:rPr lang="en-GB" sz="1050">
                  <a:solidFill>
                    <a:srgbClr val="1E4620"/>
                  </a:solidFill>
                  <a:latin typeface="Arial"/>
                  <a:ea typeface="Arial"/>
                  <a:cs typeface="Arial"/>
                  <a:sym typeface="Arial"/>
                </a:rPr>
                <a:t>Read instructions/S1-inventory.md in this repo and do this. Interview me one question at a time about the AI kits I already use</a:t>
              </a:r>
              <a:r>
                <a:rPr lang="en-GB" sz="1050">
                  <a:solidFill>
                    <a:srgbClr val="1E4620"/>
                  </a:solidFill>
                </a:rPr>
                <a:t>. </a:t>
              </a:r>
              <a:r>
                <a:rPr lang="en-GB" sz="1050">
                  <a:solidFill>
                    <a:srgbClr val="1E4620"/>
                  </a:solidFill>
                  <a:latin typeface="Arial"/>
                  <a:ea typeface="Arial"/>
                  <a:cs typeface="Arial"/>
                  <a:sym typeface="Arial"/>
                </a:rPr>
                <a:t>Do not invent any. Write the result to participants/&lt;my-handle&gt;/s1-inventory/inventory.md, then commit and push.</a:t>
              </a:r>
              <a:endParaRPr sz="1050">
                <a:solidFill>
                  <a:srgbClr val="1E4620"/>
                </a:solidFill>
                <a:latin typeface="Arial"/>
                <a:ea typeface="Arial"/>
                <a:cs typeface="Arial"/>
                <a:sym typeface="Arial"/>
              </a:endParaRPr>
            </a:p>
            <a:p>
              <a:pPr indent="0" lvl="0" marL="0" rtl="0" algn="l">
                <a:spcBef>
                  <a:spcPts val="1200"/>
                </a:spcBef>
                <a:spcAft>
                  <a:spcPts val="0"/>
                </a:spcAft>
                <a:buNone/>
              </a:pPr>
              <a:r>
                <a:rPr b="0" lang="en-GB" sz="1000">
                  <a:solidFill>
                    <a:srgbClr val="085041"/>
                  </a:solidFill>
                  <a:latin typeface="Outfit SemiBold"/>
                  <a:ea typeface="Outfit SemiBold"/>
                  <a:cs typeface="Outfit SemiBold"/>
                  <a:sym typeface="Outfit SemiBold"/>
                </a:rPr>
                <a:t>DONE WHEN</a:t>
              </a:r>
              <a:endParaRPr b="0" sz="1000">
                <a:solidFill>
                  <a:srgbClr val="085041"/>
                </a:solidFill>
                <a:latin typeface="Outfit SemiBold"/>
                <a:ea typeface="Outfit SemiBold"/>
                <a:cs typeface="Outfit SemiBold"/>
                <a:sym typeface="Outfit SemiBold"/>
              </a:endParaRPr>
            </a:p>
            <a:p>
              <a:pPr indent="0" lvl="0" marL="0" rtl="0" algn="l">
                <a:spcBef>
                  <a:spcPts val="300"/>
                </a:spcBef>
                <a:spcAft>
                  <a:spcPts val="0"/>
                </a:spcAft>
                <a:buNone/>
              </a:pPr>
              <a:r>
                <a:rPr lang="en-GB" sz="1050">
                  <a:solidFill>
                    <a:srgbClr val="085041"/>
                  </a:solidFill>
                  <a:latin typeface="Lora"/>
                  <a:ea typeface="Lora"/>
                  <a:cs typeface="Lora"/>
                  <a:sym typeface="Lora"/>
                </a:rPr>
                <a:t>participants/&lt;you&gt;/s1-inventory/inventory.md is on main and you can open it in a browser.</a:t>
              </a:r>
              <a:endParaRPr sz="1050">
                <a:solidFill>
                  <a:srgbClr val="085041"/>
                </a:solidFill>
                <a:latin typeface="Lora"/>
                <a:ea typeface="Lora"/>
                <a:cs typeface="Lora"/>
                <a:sym typeface="Lora"/>
              </a:endParaRPr>
            </a:p>
          </p:txBody>
        </p:sp>
      </p:grpSp>
      <p:grpSp>
        <p:nvGrpSpPr>
          <p:cNvPr id="346" name="Google Shape;346;p17"/>
          <p:cNvGrpSpPr/>
          <p:nvPr/>
        </p:nvGrpSpPr>
        <p:grpSpPr>
          <a:xfrm>
            <a:off x="8538200" y="2057601"/>
            <a:ext cx="2830800" cy="3429000"/>
            <a:chOff x="0" y="0"/>
            <a:chExt cx="2830800" cy="4572000"/>
          </a:xfrm>
        </p:grpSpPr>
        <p:sp>
          <p:nvSpPr>
            <p:cNvPr id="347" name="Google Shape;347;p17"/>
            <p:cNvSpPr/>
            <p:nvPr/>
          </p:nvSpPr>
          <p:spPr>
            <a:xfrm>
              <a:off x="0" y="0"/>
              <a:ext cx="2830800" cy="4572000"/>
            </a:xfrm>
            <a:prstGeom prst="roundRect">
              <a:avLst>
                <a:gd fmla="val 2691" name="adj"/>
              </a:avLst>
            </a:prstGeom>
            <a:solidFill>
              <a:srgbClr val="F0EDE6"/>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48" name="Google Shape;348;p17"/>
            <p:cNvSpPr txBox="1"/>
            <p:nvPr/>
          </p:nvSpPr>
          <p:spPr>
            <a:xfrm>
              <a:off x="0" y="0"/>
              <a:ext cx="2830800" cy="4572000"/>
            </a:xfrm>
            <a:prstGeom prst="rect">
              <a:avLst/>
            </a:prstGeom>
            <a:noFill/>
            <a:ln>
              <a:noFill/>
            </a:ln>
          </p:spPr>
          <p:txBody>
            <a:bodyPr anchorCtr="0" anchor="t" bIns="228600" lIns="228600" spcFirstLastPara="1" rIns="228600" wrap="square" tIns="228600">
              <a:noAutofit/>
            </a:bodyPr>
            <a:lstStyle/>
            <a:p>
              <a:pPr indent="0" lvl="0" marL="0" rtl="0" algn="l">
                <a:spcBef>
                  <a:spcPts val="0"/>
                </a:spcBef>
                <a:spcAft>
                  <a:spcPts val="0"/>
                </a:spcAft>
                <a:buNone/>
              </a:pPr>
              <a:r>
                <a:rPr b="0" lang="en-GB" sz="1000">
                  <a:solidFill>
                    <a:srgbClr val="0064FF"/>
                  </a:solidFill>
                  <a:latin typeface="Outfit SemiBold"/>
                  <a:ea typeface="Outfit SemiBold"/>
                  <a:cs typeface="Outfit SemiBold"/>
                  <a:sym typeface="Outfit SemiBold"/>
                </a:rPr>
                <a:t>3 · GUIDANCE</a:t>
              </a:r>
              <a:endParaRPr b="0" sz="1000">
                <a:solidFill>
                  <a:srgbClr val="0064FF"/>
                </a:solidFill>
                <a:latin typeface="Outfit SemiBold"/>
                <a:ea typeface="Outfit SemiBold"/>
                <a:cs typeface="Outfit SemiBold"/>
                <a:sym typeface="Outfit SemiBold"/>
              </a:endParaRPr>
            </a:p>
            <a:p>
              <a:pPr indent="0" lvl="0" marL="0" rtl="0" algn="l">
                <a:spcBef>
                  <a:spcPts val="600"/>
                </a:spcBef>
                <a:spcAft>
                  <a:spcPts val="0"/>
                </a:spcAft>
                <a:buNone/>
              </a:pPr>
              <a:r>
                <a:rPr lang="en-GB" sz="2400">
                  <a:solidFill>
                    <a:srgbClr val="2C2C2A"/>
                  </a:solidFill>
                  <a:latin typeface="Instrument Serif"/>
                  <a:ea typeface="Instrument Serif"/>
                  <a:cs typeface="Instrument Serif"/>
                  <a:sym typeface="Instrument Serif"/>
                </a:rPr>
                <a:t>What counts as a kit?</a:t>
              </a:r>
              <a:endParaRPr sz="2400">
                <a:solidFill>
                  <a:srgbClr val="2C2C2A"/>
                </a:solidFill>
                <a:latin typeface="Instrument Serif"/>
                <a:ea typeface="Instrument Serif"/>
                <a:cs typeface="Instrument Serif"/>
                <a:sym typeface="Instrument Serif"/>
              </a:endParaRPr>
            </a:p>
            <a:p>
              <a:pPr indent="0" lvl="0" marL="0" rtl="0" algn="l">
                <a:spcBef>
                  <a:spcPts val="900"/>
                </a:spcBef>
                <a:spcAft>
                  <a:spcPts val="0"/>
                </a:spcAft>
                <a:buNone/>
              </a:pPr>
              <a:r>
                <a:rPr lang="en-GB" sz="1050">
                  <a:solidFill>
                    <a:srgbClr val="555555"/>
                  </a:solidFill>
                  <a:latin typeface="Lora"/>
                  <a:ea typeface="Lora"/>
                  <a:cs typeface="Lora"/>
                  <a:sym typeface="Lora"/>
                </a:rPr>
                <a:t>A saved prompt, a custom GPT or project, a doc you copy from, a sheet with an AI step, an automation, a skill. One to three is plenty.</a:t>
              </a:r>
              <a:endParaRPr sz="1050">
                <a:solidFill>
                  <a:srgbClr val="555555"/>
                </a:solidFill>
                <a:latin typeface="Lora"/>
                <a:ea typeface="Lora"/>
                <a:cs typeface="Lora"/>
                <a:sym typeface="Lora"/>
              </a:endParaRPr>
            </a:p>
            <a:p>
              <a:pPr indent="0" lvl="0" marL="0" rtl="0" algn="l">
                <a:spcBef>
                  <a:spcPts val="1200"/>
                </a:spcBef>
                <a:spcAft>
                  <a:spcPts val="0"/>
                </a:spcAft>
                <a:buNone/>
              </a:pPr>
              <a:r>
                <a:t/>
              </a:r>
              <a:endParaRPr sz="950">
                <a:solidFill>
                  <a:srgbClr val="666666"/>
                </a:solidFill>
                <a:latin typeface="Lora"/>
                <a:ea typeface="Lora"/>
                <a:cs typeface="Lora"/>
                <a:sym typeface="Lora"/>
              </a:endParaRPr>
            </a:p>
          </p:txBody>
        </p:sp>
      </p:grpSp>
      <p:sp>
        <p:nvSpPr>
          <p:cNvPr id="349" name="Google Shape;349;p17"/>
          <p:cNvSpPr txBox="1"/>
          <p:nvPr/>
        </p:nvSpPr>
        <p:spPr>
          <a:xfrm>
            <a:off x="885650" y="5715000"/>
            <a:ext cx="103605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900">
                <a:solidFill>
                  <a:schemeClr val="accent1"/>
                </a:solidFill>
                <a:latin typeface="Outfit SemiBold"/>
                <a:ea typeface="Outfit SemiBold"/>
                <a:cs typeface="Outfit SemiBold"/>
                <a:sym typeface="Outfit SemiBold"/>
              </a:rPr>
              <a:t>§ AI ASSISTANT (HARNESS)</a:t>
            </a:r>
            <a:endParaRPr sz="900">
              <a:solidFill>
                <a:schemeClr val="accent1"/>
              </a:solidFill>
              <a:latin typeface="Outfit SemiBold"/>
              <a:ea typeface="Outfit SemiBold"/>
              <a:cs typeface="Outfit SemiBold"/>
              <a:sym typeface="Outfit SemiBold"/>
            </a:endParaRPr>
          </a:p>
          <a:p>
            <a:pPr indent="0" lvl="0" marL="0" rtl="0" algn="l">
              <a:spcBef>
                <a:spcPts val="300"/>
              </a:spcBef>
              <a:spcAft>
                <a:spcPts val="0"/>
              </a:spcAft>
              <a:buNone/>
            </a:pPr>
            <a:r>
              <a:rPr lang="en-GB" sz="950">
                <a:solidFill>
                  <a:srgbClr val="666666"/>
                </a:solidFill>
                <a:latin typeface="Lora"/>
                <a:ea typeface="Lora"/>
                <a:cs typeface="Lora"/>
                <a:sym typeface="Lora"/>
              </a:rPr>
              <a:t>The program you talk to, which runs the model and reads, writes and runs things on your computer. Claude Code and Codex are the two this workshop uses.</a:t>
            </a:r>
            <a:endParaRPr/>
          </a:p>
        </p:txBody>
      </p:sp>
      <p:sp>
        <p:nvSpPr>
          <p:cNvPr id="350" name="Google Shape;350;p17"/>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18"/>
          <p:cNvSpPr txBox="1"/>
          <p:nvPr>
            <p:ph type="title"/>
          </p:nvPr>
        </p:nvSpPr>
        <p:spPr>
          <a:xfrm>
            <a:off x="822960" y="914400"/>
            <a:ext cx="9692700" cy="1371600"/>
          </a:xfrm>
          <a:prstGeom prst="rect">
            <a:avLst/>
          </a:prstGeom>
          <a:noFill/>
          <a:ln>
            <a:noFill/>
          </a:ln>
        </p:spPr>
        <p:txBody>
          <a:bodyPr anchorCtr="0" anchor="t" bIns="0" lIns="0" spcFirstLastPara="1" rIns="0" wrap="square" tIns="0">
            <a:noAutofit/>
          </a:bodyPr>
          <a:lstStyle/>
          <a:p>
            <a:pPr indent="0" lvl="0" marL="0" rtl="0" algn="l">
              <a:lnSpc>
                <a:spcPct val="96000"/>
              </a:lnSpc>
              <a:spcBef>
                <a:spcPts val="0"/>
              </a:spcBef>
              <a:spcAft>
                <a:spcPts val="0"/>
              </a:spcAft>
              <a:buClr>
                <a:srgbClr val="2C2C2A"/>
              </a:buClr>
              <a:buSzPts val="2800"/>
              <a:buFont typeface="Instrument Serif"/>
              <a:buNone/>
            </a:pPr>
            <a:r>
              <a:rPr lang="en-GB"/>
              <a:t>Ask it to find the two kits related to your inventory, that could complement it</a:t>
            </a:r>
            <a:endParaRPr/>
          </a:p>
        </p:txBody>
      </p:sp>
      <p:grpSp>
        <p:nvGrpSpPr>
          <p:cNvPr id="356" name="Google Shape;356;p18"/>
          <p:cNvGrpSpPr/>
          <p:nvPr/>
        </p:nvGrpSpPr>
        <p:grpSpPr>
          <a:xfrm>
            <a:off x="822960" y="1940426"/>
            <a:ext cx="3238500" cy="3429000"/>
            <a:chOff x="0" y="0"/>
            <a:chExt cx="3238500" cy="3429000"/>
          </a:xfrm>
        </p:grpSpPr>
        <p:sp>
          <p:nvSpPr>
            <p:cNvPr id="357" name="Google Shape;357;p18"/>
            <p:cNvSpPr/>
            <p:nvPr/>
          </p:nvSpPr>
          <p:spPr>
            <a:xfrm>
              <a:off x="0" y="0"/>
              <a:ext cx="3238500" cy="3429000"/>
            </a:xfrm>
            <a:prstGeom prst="roundRect">
              <a:avLst>
                <a:gd fmla="val 2352" name="adj"/>
              </a:avLst>
            </a:prstGeom>
            <a:solidFill>
              <a:srgbClr val="F0EDE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8" name="Google Shape;358;p18"/>
            <p:cNvSpPr txBox="1"/>
            <p:nvPr/>
          </p:nvSpPr>
          <p:spPr>
            <a:xfrm>
              <a:off x="0" y="0"/>
              <a:ext cx="3238500" cy="3429000"/>
            </a:xfrm>
            <a:prstGeom prst="rect">
              <a:avLst/>
            </a:prstGeom>
            <a:solidFill>
              <a:srgbClr val="000000">
                <a:alpha val="0"/>
              </a:srgbClr>
            </a:solidFill>
            <a:ln>
              <a:noFill/>
            </a:ln>
          </p:spPr>
          <p:txBody>
            <a:bodyPr anchorCtr="0" anchor="t" bIns="228600" lIns="228600" spcFirstLastPara="1" rIns="228600" wrap="square" tIns="228600">
              <a:noAutofit/>
            </a:bodyPr>
            <a:lstStyle/>
            <a:p>
              <a:pPr indent="0" lvl="0" marL="0" rtl="0" algn="l">
                <a:spcBef>
                  <a:spcPts val="0"/>
                </a:spcBef>
                <a:spcAft>
                  <a:spcPts val="0"/>
                </a:spcAft>
                <a:buNone/>
              </a:pPr>
              <a:r>
                <a:rPr b="0" lang="en-GB" sz="1000">
                  <a:solidFill>
                    <a:srgbClr val="0064FF"/>
                  </a:solidFill>
                  <a:latin typeface="Outfit SemiBold"/>
                  <a:ea typeface="Outfit SemiBold"/>
                  <a:cs typeface="Outfit SemiBold"/>
                  <a:sym typeface="Outfit SemiBold"/>
                </a:rPr>
                <a:t>1 · STEPS</a:t>
              </a:r>
              <a:endParaRPr b="0" sz="1000">
                <a:solidFill>
                  <a:srgbClr val="0064FF"/>
                </a:solidFill>
                <a:latin typeface="Outfit SemiBold"/>
                <a:ea typeface="Outfit SemiBold"/>
                <a:cs typeface="Outfit SemiBold"/>
                <a:sym typeface="Outfit SemiBold"/>
              </a:endParaRPr>
            </a:p>
            <a:p>
              <a:pPr indent="0" lvl="0" marL="0" rtl="0" algn="l">
                <a:spcBef>
                  <a:spcPts val="600"/>
                </a:spcBef>
                <a:spcAft>
                  <a:spcPts val="0"/>
                </a:spcAft>
                <a:buNone/>
              </a:pPr>
              <a:r>
                <a:rPr b="0" lang="en-GB" sz="2400">
                  <a:solidFill>
                    <a:srgbClr val="2C2C2A"/>
                  </a:solidFill>
                  <a:latin typeface="Instrument Serif"/>
                  <a:ea typeface="Instrument Serif"/>
                  <a:cs typeface="Instrument Serif"/>
                  <a:sym typeface="Instrument Serif"/>
                </a:rPr>
                <a:t>Workflow</a:t>
              </a:r>
              <a:endParaRPr b="0" sz="1000">
                <a:solidFill>
                  <a:srgbClr val="0064FF"/>
                </a:solidFill>
                <a:latin typeface="Outfit SemiBold"/>
                <a:ea typeface="Outfit SemiBold"/>
                <a:cs typeface="Outfit SemiBold"/>
                <a:sym typeface="Outfit SemiBold"/>
              </a:endParaRPr>
            </a:p>
            <a:p>
              <a:pPr indent="-298450" lvl="0" marL="457200" rtl="0" algn="l">
                <a:spcBef>
                  <a:spcPts val="1200"/>
                </a:spcBef>
                <a:spcAft>
                  <a:spcPts val="0"/>
                </a:spcAft>
                <a:buClr>
                  <a:srgbClr val="2C2C2A"/>
                </a:buClr>
                <a:buSzPts val="1100"/>
                <a:buFont typeface="Lora"/>
                <a:buAutoNum type="arabicPeriod"/>
              </a:pPr>
              <a:r>
                <a:rPr b="0" lang="en-GB" sz="1100">
                  <a:solidFill>
                    <a:srgbClr val="2C2C2A"/>
                  </a:solidFill>
                  <a:latin typeface="Lora"/>
                  <a:ea typeface="Lora"/>
                  <a:cs typeface="Lora"/>
                  <a:sym typeface="Lora"/>
                </a:rPr>
                <a:t>Pull, so you have everyone's inventories</a:t>
              </a:r>
              <a:endParaRPr b="0" sz="1100">
                <a:solidFill>
                  <a:srgbClr val="2C2C2A"/>
                </a:solidFill>
                <a:latin typeface="Lora"/>
                <a:ea typeface="Lora"/>
                <a:cs typeface="Lora"/>
                <a:sym typeface="Lora"/>
              </a:endParaRPr>
            </a:p>
            <a:p>
              <a:pPr indent="-298450" lvl="0" marL="457200" rtl="0" algn="l">
                <a:spcBef>
                  <a:spcPts val="900"/>
                </a:spcBef>
                <a:spcAft>
                  <a:spcPts val="0"/>
                </a:spcAft>
                <a:buClr>
                  <a:srgbClr val="2C2C2A"/>
                </a:buClr>
                <a:buSzPts val="1100"/>
                <a:buFont typeface="Lora"/>
                <a:buAutoNum type="arabicPeriod"/>
              </a:pPr>
              <a:r>
                <a:rPr b="0" lang="en-GB" sz="1100">
                  <a:solidFill>
                    <a:srgbClr val="2C2C2A"/>
                  </a:solidFill>
                  <a:latin typeface="Lora"/>
                  <a:ea typeface="Lora"/>
                  <a:cs typeface="Lora"/>
                  <a:sym typeface="Lora"/>
                </a:rPr>
                <a:t>Paste the prompt on the right and say "do this"</a:t>
              </a:r>
              <a:endParaRPr b="0" sz="1100">
                <a:solidFill>
                  <a:srgbClr val="2C2C2A"/>
                </a:solidFill>
                <a:latin typeface="Lora"/>
                <a:ea typeface="Lora"/>
                <a:cs typeface="Lora"/>
                <a:sym typeface="Lora"/>
              </a:endParaRPr>
            </a:p>
            <a:p>
              <a:pPr indent="-298450" lvl="0" marL="457200" rtl="0" algn="l">
                <a:spcBef>
                  <a:spcPts val="900"/>
                </a:spcBef>
                <a:spcAft>
                  <a:spcPts val="900"/>
                </a:spcAft>
                <a:buClr>
                  <a:srgbClr val="2C2C2A"/>
                </a:buClr>
                <a:buSzPts val="1100"/>
                <a:buFont typeface="Lora"/>
                <a:buAutoNum type="arabicPeriod"/>
              </a:pPr>
              <a:r>
                <a:rPr b="0" lang="en-GB" sz="1100">
                  <a:solidFill>
                    <a:srgbClr val="2C2C2A"/>
                  </a:solidFill>
                  <a:latin typeface="Lora"/>
                  <a:ea typeface="Lora"/>
                  <a:cs typeface="Lora"/>
                  <a:sym typeface="Lora"/>
                </a:rPr>
                <a:t>Write the two </a:t>
              </a:r>
              <a:r>
                <a:rPr lang="en-GB" sz="1100">
                  <a:solidFill>
                    <a:srgbClr val="2C2C2A"/>
                  </a:solidFill>
                  <a:latin typeface="Lora"/>
                  <a:ea typeface="Lora"/>
                  <a:cs typeface="Lora"/>
                  <a:sym typeface="Lora"/>
                </a:rPr>
                <a:t>kits</a:t>
              </a:r>
              <a:r>
                <a:rPr b="0" lang="en-GB" sz="1100">
                  <a:solidFill>
                    <a:srgbClr val="2C2C2A"/>
                  </a:solidFill>
                  <a:latin typeface="Lora"/>
                  <a:ea typeface="Lora"/>
                  <a:cs typeface="Lora"/>
                  <a:sym typeface="Lora"/>
                </a:rPr>
                <a:t> down — they seed tomorrow's groups</a:t>
              </a:r>
              <a:endParaRPr b="0" sz="1100">
                <a:solidFill>
                  <a:srgbClr val="2C2C2A"/>
                </a:solidFill>
                <a:latin typeface="Lora"/>
                <a:ea typeface="Lora"/>
                <a:cs typeface="Lora"/>
                <a:sym typeface="Lora"/>
              </a:endParaRPr>
            </a:p>
          </p:txBody>
        </p:sp>
      </p:grpSp>
      <p:grpSp>
        <p:nvGrpSpPr>
          <p:cNvPr id="359" name="Google Shape;359;p18"/>
          <p:cNvGrpSpPr/>
          <p:nvPr/>
        </p:nvGrpSpPr>
        <p:grpSpPr>
          <a:xfrm>
            <a:off x="4251960" y="1940426"/>
            <a:ext cx="4095900" cy="3429000"/>
            <a:chOff x="0" y="0"/>
            <a:chExt cx="4095900" cy="3429000"/>
          </a:xfrm>
        </p:grpSpPr>
        <p:sp>
          <p:nvSpPr>
            <p:cNvPr id="360" name="Google Shape;360;p18"/>
            <p:cNvSpPr/>
            <p:nvPr/>
          </p:nvSpPr>
          <p:spPr>
            <a:xfrm>
              <a:off x="0" y="0"/>
              <a:ext cx="4095900" cy="3429000"/>
            </a:xfrm>
            <a:prstGeom prst="roundRect">
              <a:avLst>
                <a:gd fmla="val 2222" name="adj"/>
              </a:avLst>
            </a:prstGeom>
            <a:solidFill>
              <a:srgbClr val="E1F5E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1" name="Google Shape;361;p18"/>
            <p:cNvSpPr txBox="1"/>
            <p:nvPr/>
          </p:nvSpPr>
          <p:spPr>
            <a:xfrm>
              <a:off x="0" y="0"/>
              <a:ext cx="4095900" cy="3429000"/>
            </a:xfrm>
            <a:prstGeom prst="rect">
              <a:avLst/>
            </a:prstGeom>
            <a:solidFill>
              <a:srgbClr val="000000">
                <a:alpha val="0"/>
              </a:srgbClr>
            </a:solidFill>
            <a:ln>
              <a:noFill/>
            </a:ln>
          </p:spPr>
          <p:txBody>
            <a:bodyPr anchorCtr="0" anchor="t" bIns="228600" lIns="228600" spcFirstLastPara="1" rIns="228600" wrap="square" tIns="228600">
              <a:noAutofit/>
            </a:bodyPr>
            <a:lstStyle/>
            <a:p>
              <a:pPr indent="0" lvl="0" marL="0" rtl="0" algn="l">
                <a:spcBef>
                  <a:spcPts val="0"/>
                </a:spcBef>
                <a:spcAft>
                  <a:spcPts val="0"/>
                </a:spcAft>
                <a:buNone/>
              </a:pPr>
              <a:r>
                <a:rPr b="0" lang="en-GB" sz="1000">
                  <a:solidFill>
                    <a:srgbClr val="085041"/>
                  </a:solidFill>
                  <a:latin typeface="Outfit SemiBold"/>
                  <a:ea typeface="Outfit SemiBold"/>
                  <a:cs typeface="Outfit SemiBold"/>
                  <a:sym typeface="Outfit SemiBold"/>
                </a:rPr>
                <a:t>2 · PROMPT</a:t>
              </a:r>
              <a:endParaRPr b="0" sz="1000">
                <a:solidFill>
                  <a:srgbClr val="085041"/>
                </a:solidFill>
                <a:latin typeface="Outfit SemiBold"/>
                <a:ea typeface="Outfit SemiBold"/>
                <a:cs typeface="Outfit SemiBold"/>
                <a:sym typeface="Outfit SemiBold"/>
              </a:endParaRPr>
            </a:p>
            <a:p>
              <a:pPr indent="0" lvl="0" marL="0" rtl="0" algn="l">
                <a:spcBef>
                  <a:spcPts val="600"/>
                </a:spcBef>
                <a:spcAft>
                  <a:spcPts val="0"/>
                </a:spcAft>
                <a:buNone/>
              </a:pPr>
              <a:r>
                <a:rPr b="0" lang="en-GB" sz="2400">
                  <a:solidFill>
                    <a:srgbClr val="2C2C2A"/>
                  </a:solidFill>
                  <a:latin typeface="Instrument Serif"/>
                  <a:ea typeface="Instrument Serif"/>
                  <a:cs typeface="Instrument Serif"/>
                  <a:sym typeface="Instrument Serif"/>
                </a:rPr>
                <a:t>Paste this to your assistant</a:t>
              </a:r>
              <a:endParaRPr b="0" sz="1000">
                <a:solidFill>
                  <a:srgbClr val="085041"/>
                </a:solidFill>
                <a:latin typeface="Outfit SemiBold"/>
                <a:ea typeface="Outfit SemiBold"/>
                <a:cs typeface="Outfit SemiBold"/>
                <a:sym typeface="Outfit SemiBold"/>
              </a:endParaRPr>
            </a:p>
            <a:p>
              <a:pPr indent="0" lvl="0" marL="0" rtl="0" algn="l">
                <a:spcBef>
                  <a:spcPts val="1000"/>
                </a:spcBef>
                <a:spcAft>
                  <a:spcPts val="0"/>
                </a:spcAft>
                <a:buNone/>
              </a:pPr>
              <a:r>
                <a:rPr b="0" lang="en-GB" sz="1050">
                  <a:solidFill>
                    <a:srgbClr val="1E4620"/>
                  </a:solidFill>
                  <a:latin typeface="Arial"/>
                  <a:ea typeface="Arial"/>
                  <a:cs typeface="Arial"/>
                  <a:sym typeface="Arial"/>
                </a:rPr>
                <a:t>git pull, then read every participants/*/s1-inventory/inventory.md. Name the</a:t>
              </a:r>
              <a:r>
                <a:rPr lang="en-GB" sz="1050">
                  <a:solidFill>
                    <a:srgbClr val="1E4620"/>
                  </a:solidFill>
                </a:rPr>
                <a:t> two </a:t>
              </a:r>
              <a:r>
                <a:rPr b="0" lang="en-GB" sz="1050">
                  <a:solidFill>
                    <a:srgbClr val="1E4620"/>
                  </a:solidFill>
                  <a:latin typeface="Arial"/>
                  <a:ea typeface="Arial"/>
                  <a:cs typeface="Arial"/>
                  <a:sym typeface="Arial"/>
                </a:rPr>
                <a:t> kits </a:t>
              </a:r>
              <a:r>
                <a:rPr lang="en-GB" sz="1050">
                  <a:solidFill>
                    <a:srgbClr val="1E4620"/>
                  </a:solidFill>
                </a:rPr>
                <a:t>could complement mine </a:t>
              </a:r>
              <a:r>
                <a:rPr b="0" lang="en-GB" sz="1050">
                  <a:solidFill>
                    <a:srgbClr val="1E4620"/>
                  </a:solidFill>
                  <a:latin typeface="Arial"/>
                  <a:ea typeface="Arial"/>
                  <a:cs typeface="Arial"/>
                  <a:sym typeface="Arial"/>
                </a:rPr>
                <a:t>and say in one line why for each. Append the answer to my inventory.md under "</a:t>
              </a:r>
              <a:r>
                <a:rPr lang="en-GB" sz="1050">
                  <a:solidFill>
                    <a:srgbClr val="1E4620"/>
                  </a:solidFill>
                </a:rPr>
                <a:t>Related</a:t>
              </a:r>
              <a:r>
                <a:rPr b="0" lang="en-GB" sz="1050">
                  <a:solidFill>
                    <a:srgbClr val="1E4620"/>
                  </a:solidFill>
                  <a:latin typeface="Arial"/>
                  <a:ea typeface="Arial"/>
                  <a:cs typeface="Arial"/>
                  <a:sym typeface="Arial"/>
                </a:rPr>
                <a:t>", then commit and push.</a:t>
              </a:r>
              <a:endParaRPr b="0" sz="1050">
                <a:solidFill>
                  <a:srgbClr val="1E4620"/>
                </a:solidFill>
                <a:latin typeface="Arial"/>
                <a:ea typeface="Arial"/>
                <a:cs typeface="Arial"/>
                <a:sym typeface="Arial"/>
              </a:endParaRPr>
            </a:p>
            <a:p>
              <a:pPr indent="0" lvl="0" marL="0" rtl="0" algn="l">
                <a:spcBef>
                  <a:spcPts val="1400"/>
                </a:spcBef>
                <a:spcAft>
                  <a:spcPts val="0"/>
                </a:spcAft>
                <a:buNone/>
              </a:pPr>
              <a:r>
                <a:rPr b="0" lang="en-GB" sz="1000">
                  <a:solidFill>
                    <a:srgbClr val="085041"/>
                  </a:solidFill>
                  <a:latin typeface="Outfit SemiBold"/>
                  <a:ea typeface="Outfit SemiBold"/>
                  <a:cs typeface="Outfit SemiBold"/>
                  <a:sym typeface="Outfit SemiBold"/>
                </a:rPr>
                <a:t>DONE WHEN</a:t>
              </a:r>
              <a:endParaRPr b="0" sz="1000">
                <a:solidFill>
                  <a:srgbClr val="085041"/>
                </a:solidFill>
                <a:latin typeface="Outfit SemiBold"/>
                <a:ea typeface="Outfit SemiBold"/>
                <a:cs typeface="Outfit SemiBold"/>
                <a:sym typeface="Outfit SemiBold"/>
              </a:endParaRPr>
            </a:p>
            <a:p>
              <a:pPr indent="0" lvl="0" marL="0" rtl="0" algn="l">
                <a:spcBef>
                  <a:spcPts val="400"/>
                </a:spcBef>
                <a:spcAft>
                  <a:spcPts val="0"/>
                </a:spcAft>
                <a:buNone/>
              </a:pPr>
              <a:r>
                <a:rPr b="0" lang="en-GB" sz="1050">
                  <a:solidFill>
                    <a:srgbClr val="085041"/>
                  </a:solidFill>
                  <a:latin typeface="Lora"/>
                  <a:ea typeface="Lora"/>
                  <a:cs typeface="Lora"/>
                  <a:sym typeface="Lora"/>
                </a:rPr>
                <a:t>You have two names, with a reason each, pushed to your own folder.</a:t>
              </a:r>
              <a:endParaRPr b="0" sz="1050">
                <a:solidFill>
                  <a:srgbClr val="085041"/>
                </a:solidFill>
                <a:latin typeface="Lora"/>
                <a:ea typeface="Lora"/>
                <a:cs typeface="Lora"/>
                <a:sym typeface="Lora"/>
              </a:endParaRPr>
            </a:p>
          </p:txBody>
        </p:sp>
      </p:grpSp>
      <p:grpSp>
        <p:nvGrpSpPr>
          <p:cNvPr id="362" name="Google Shape;362;p18"/>
          <p:cNvGrpSpPr/>
          <p:nvPr/>
        </p:nvGrpSpPr>
        <p:grpSpPr>
          <a:xfrm>
            <a:off x="8538210" y="1940426"/>
            <a:ext cx="2829000" cy="3429000"/>
            <a:chOff x="0" y="0"/>
            <a:chExt cx="2829000" cy="3429000"/>
          </a:xfrm>
        </p:grpSpPr>
        <p:sp>
          <p:nvSpPr>
            <p:cNvPr id="363" name="Google Shape;363;p18"/>
            <p:cNvSpPr/>
            <p:nvPr/>
          </p:nvSpPr>
          <p:spPr>
            <a:xfrm>
              <a:off x="0" y="0"/>
              <a:ext cx="2829000" cy="3429000"/>
            </a:xfrm>
            <a:prstGeom prst="roundRect">
              <a:avLst>
                <a:gd fmla="val 2693" name="adj"/>
              </a:avLst>
            </a:prstGeom>
            <a:solidFill>
              <a:srgbClr val="F0EDE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4" name="Google Shape;364;p18"/>
            <p:cNvSpPr txBox="1"/>
            <p:nvPr/>
          </p:nvSpPr>
          <p:spPr>
            <a:xfrm>
              <a:off x="0" y="0"/>
              <a:ext cx="2829000" cy="3429000"/>
            </a:xfrm>
            <a:prstGeom prst="rect">
              <a:avLst/>
            </a:prstGeom>
            <a:solidFill>
              <a:srgbClr val="000000">
                <a:alpha val="0"/>
              </a:srgbClr>
            </a:solidFill>
            <a:ln>
              <a:noFill/>
            </a:ln>
          </p:spPr>
          <p:txBody>
            <a:bodyPr anchorCtr="0" anchor="t" bIns="228600" lIns="228600" spcFirstLastPara="1" rIns="228600" wrap="square" tIns="228600">
              <a:noAutofit/>
            </a:bodyPr>
            <a:lstStyle/>
            <a:p>
              <a:pPr indent="0" lvl="0" marL="0" rtl="0" algn="l">
                <a:spcBef>
                  <a:spcPts val="0"/>
                </a:spcBef>
                <a:spcAft>
                  <a:spcPts val="0"/>
                </a:spcAft>
                <a:buNone/>
              </a:pPr>
              <a:r>
                <a:rPr b="0" lang="en-GB" sz="1000">
                  <a:solidFill>
                    <a:srgbClr val="0064FF"/>
                  </a:solidFill>
                  <a:latin typeface="Outfit SemiBold"/>
                  <a:ea typeface="Outfit SemiBold"/>
                  <a:cs typeface="Outfit SemiBold"/>
                  <a:sym typeface="Outfit SemiBold"/>
                </a:rPr>
                <a:t>3 · HABIT</a:t>
              </a:r>
              <a:endParaRPr b="0" sz="1000">
                <a:solidFill>
                  <a:srgbClr val="0064FF"/>
                </a:solidFill>
                <a:latin typeface="Outfit SemiBold"/>
                <a:ea typeface="Outfit SemiBold"/>
                <a:cs typeface="Outfit SemiBold"/>
                <a:sym typeface="Outfit SemiBold"/>
              </a:endParaRPr>
            </a:p>
            <a:p>
              <a:pPr indent="0" lvl="0" marL="0" rtl="0" algn="l">
                <a:spcBef>
                  <a:spcPts val="600"/>
                </a:spcBef>
                <a:spcAft>
                  <a:spcPts val="0"/>
                </a:spcAft>
                <a:buNone/>
              </a:pPr>
              <a:r>
                <a:rPr b="0" lang="en-GB" sz="2400">
                  <a:solidFill>
                    <a:srgbClr val="2C2C2A"/>
                  </a:solidFill>
                  <a:latin typeface="Instrument Serif"/>
                  <a:ea typeface="Instrument Serif"/>
                  <a:cs typeface="Instrument Serif"/>
                  <a:sym typeface="Instrument Serif"/>
                </a:rPr>
                <a:t>Read through </a:t>
              </a:r>
              <a:r>
                <a:rPr lang="en-GB" sz="2400">
                  <a:solidFill>
                    <a:srgbClr val="2C2C2A"/>
                  </a:solidFill>
                  <a:latin typeface="Instrument Serif"/>
                  <a:ea typeface="Instrument Serif"/>
                  <a:cs typeface="Instrument Serif"/>
                  <a:sym typeface="Instrument Serif"/>
                </a:rPr>
                <a:t>your AI</a:t>
              </a:r>
              <a:endParaRPr b="0" sz="1000">
                <a:solidFill>
                  <a:srgbClr val="0064FF"/>
                </a:solidFill>
                <a:latin typeface="Outfit SemiBold"/>
                <a:ea typeface="Outfit SemiBold"/>
                <a:cs typeface="Outfit SemiBold"/>
                <a:sym typeface="Outfit SemiBold"/>
              </a:endParaRPr>
            </a:p>
            <a:p>
              <a:pPr indent="0" lvl="0" marL="0" rtl="0" algn="l">
                <a:spcBef>
                  <a:spcPts val="1000"/>
                </a:spcBef>
                <a:spcAft>
                  <a:spcPts val="0"/>
                </a:spcAft>
                <a:buNone/>
              </a:pPr>
              <a:r>
                <a:rPr b="0" lang="en-GB" sz="1050">
                  <a:solidFill>
                    <a:srgbClr val="555555"/>
                  </a:solidFill>
                  <a:latin typeface="Lora"/>
                  <a:ea typeface="Lora"/>
                  <a:cs typeface="Lora"/>
                  <a:sym typeface="Lora"/>
                </a:rPr>
                <a:t>Read through your agent, not your browser.</a:t>
              </a:r>
              <a:r>
                <a:rPr lang="en-GB" sz="1050">
                  <a:solidFill>
                    <a:srgbClr val="555555"/>
                  </a:solidFill>
                  <a:latin typeface="Lora"/>
                  <a:ea typeface="Lora"/>
                  <a:cs typeface="Lora"/>
                  <a:sym typeface="Lora"/>
                </a:rPr>
                <a:t> The AI-assistant is the media through which the work happens.</a:t>
              </a:r>
              <a:endParaRPr b="0" sz="1050">
                <a:solidFill>
                  <a:srgbClr val="555555"/>
                </a:solidFill>
                <a:latin typeface="Lora"/>
                <a:ea typeface="Lora"/>
                <a:cs typeface="Lora"/>
                <a:sym typeface="Lora"/>
              </a:endParaRPr>
            </a:p>
          </p:txBody>
        </p:sp>
      </p:grpSp>
      <p:sp>
        <p:nvSpPr>
          <p:cNvPr id="365" name="Google Shape;365;p18"/>
          <p:cNvSpPr txBox="1"/>
          <p:nvPr/>
        </p:nvSpPr>
        <p:spPr>
          <a:xfrm>
            <a:off x="822960" y="5715000"/>
            <a:ext cx="10353600" cy="514500"/>
          </a:xfrm>
          <a:prstGeom prst="rect">
            <a:avLst/>
          </a:prstGeom>
          <a:solidFill>
            <a:srgbClr val="000000">
              <a:alpha val="0"/>
            </a:srgbClr>
          </a:solidFill>
          <a:ln>
            <a:noFill/>
          </a:ln>
        </p:spPr>
        <p:txBody>
          <a:bodyPr anchorCtr="0" anchor="t" bIns="76200" lIns="0" spcFirstLastPara="1" rIns="0" wrap="square" tIns="76200">
            <a:noAutofit/>
          </a:bodyPr>
          <a:lstStyle/>
          <a:p>
            <a:pPr indent="0" lvl="0" marL="0" rtl="0" algn="l">
              <a:spcBef>
                <a:spcPts val="0"/>
              </a:spcBef>
              <a:spcAft>
                <a:spcPts val="0"/>
              </a:spcAft>
              <a:buNone/>
            </a:pPr>
            <a:r>
              <a:rPr b="0" lang="en-GB" sz="900">
                <a:solidFill>
                  <a:srgbClr val="0064FF"/>
                </a:solidFill>
                <a:latin typeface="Outfit SemiBold"/>
                <a:ea typeface="Outfit SemiBold"/>
                <a:cs typeface="Outfit SemiBold"/>
                <a:sym typeface="Outfit SemiBold"/>
              </a:rPr>
              <a:t>§ INVENTORY</a:t>
            </a:r>
            <a:endParaRPr b="0" sz="900">
              <a:solidFill>
                <a:srgbClr val="0064FF"/>
              </a:solidFill>
              <a:latin typeface="Outfit SemiBold"/>
              <a:ea typeface="Outfit SemiBold"/>
              <a:cs typeface="Outfit SemiBold"/>
              <a:sym typeface="Outfit SemiBold"/>
            </a:endParaRPr>
          </a:p>
          <a:p>
            <a:pPr indent="0" lvl="0" marL="0" rtl="0" algn="l">
              <a:spcBef>
                <a:spcPts val="300"/>
              </a:spcBef>
              <a:spcAft>
                <a:spcPts val="0"/>
              </a:spcAft>
              <a:buNone/>
            </a:pPr>
            <a:r>
              <a:rPr b="0" lang="en-GB" sz="950">
                <a:solidFill>
                  <a:srgbClr val="666666"/>
                </a:solidFill>
                <a:latin typeface="Lora"/>
                <a:ea typeface="Lora"/>
                <a:cs typeface="Lora"/>
                <a:sym typeface="Lora"/>
              </a:rPr>
              <a:t>Your own list of the AI kits you already use, one to three of them. It is the first thing you put in the repo.</a:t>
            </a:r>
            <a:endParaRPr b="0" sz="950">
              <a:solidFill>
                <a:srgbClr val="666666"/>
              </a:solidFill>
              <a:latin typeface="Lora"/>
              <a:ea typeface="Lora"/>
              <a:cs typeface="Lora"/>
              <a:sym typeface="Lora"/>
            </a:endParaRPr>
          </a:p>
        </p:txBody>
      </p:sp>
      <p:sp>
        <p:nvSpPr>
          <p:cNvPr id="366" name="Google Shape;366;p18"/>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367" name="Google Shape;367;p18"/>
          <p:cNvSpPr txBox="1"/>
          <p:nvPr>
            <p:ph idx="1" type="body"/>
          </p:nvPr>
        </p:nvSpPr>
        <p:spPr>
          <a:xfrm>
            <a:off x="822960" y="457200"/>
            <a:ext cx="7315200" cy="3201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a:solidFill>
                  <a:schemeClr val="accent1"/>
                </a:solidFill>
              </a:rPr>
              <a:t>SESSION 1 · KITS · EXERCISE</a:t>
            </a:r>
            <a:endParaRPr>
              <a:solidFill>
                <a:schemeClr val="accent1"/>
              </a:solidFill>
            </a:endParaRPr>
          </a:p>
          <a:p>
            <a:pPr indent="0" lvl="0" marL="0" rtl="0" algn="l">
              <a:spcBef>
                <a:spcPts val="700"/>
              </a:spcBef>
              <a:spcAft>
                <a:spcPts val="0"/>
              </a:spcAft>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19"/>
          <p:cNvSpPr txBox="1"/>
          <p:nvPr>
            <p:ph type="title"/>
          </p:nvPr>
        </p:nvSpPr>
        <p:spPr>
          <a:xfrm>
            <a:off x="822960" y="914400"/>
            <a:ext cx="9692700" cy="1371600"/>
          </a:xfrm>
          <a:prstGeom prst="rect">
            <a:avLst/>
          </a:prstGeom>
          <a:noFill/>
          <a:ln>
            <a:noFill/>
          </a:ln>
        </p:spPr>
        <p:txBody>
          <a:bodyPr anchorCtr="0" anchor="t" bIns="0" lIns="0" spcFirstLastPara="1" rIns="0" wrap="square" tIns="0">
            <a:noAutofit/>
          </a:bodyPr>
          <a:lstStyle/>
          <a:p>
            <a:pPr indent="0" lvl="0" marL="0" rtl="0" algn="l">
              <a:lnSpc>
                <a:spcPct val="96000"/>
              </a:lnSpc>
              <a:spcBef>
                <a:spcPts val="0"/>
              </a:spcBef>
              <a:spcAft>
                <a:spcPts val="0"/>
              </a:spcAft>
              <a:buClr>
                <a:srgbClr val="2C2C2A"/>
              </a:buClr>
              <a:buSzPts val="2800"/>
              <a:buFont typeface="Instrument Serif"/>
              <a:buNone/>
            </a:pPr>
            <a:r>
              <a:rPr lang="en-GB"/>
              <a:t>Share one thing you noticed this hour in the chat</a:t>
            </a:r>
            <a:endParaRPr/>
          </a:p>
        </p:txBody>
      </p:sp>
      <p:grpSp>
        <p:nvGrpSpPr>
          <p:cNvPr id="373" name="Google Shape;373;p19"/>
          <p:cNvGrpSpPr/>
          <p:nvPr/>
        </p:nvGrpSpPr>
        <p:grpSpPr>
          <a:xfrm>
            <a:off x="822960" y="1638300"/>
            <a:ext cx="10287000" cy="609600"/>
            <a:chOff x="0" y="0"/>
            <a:chExt cx="10287000" cy="609600"/>
          </a:xfrm>
        </p:grpSpPr>
        <p:sp>
          <p:nvSpPr>
            <p:cNvPr id="374" name="Google Shape;374;p19"/>
            <p:cNvSpPr/>
            <p:nvPr/>
          </p:nvSpPr>
          <p:spPr>
            <a:xfrm>
              <a:off x="0" y="0"/>
              <a:ext cx="10287000" cy="4572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5" name="Google Shape;375;p19"/>
            <p:cNvSpPr txBox="1"/>
            <p:nvPr/>
          </p:nvSpPr>
          <p:spPr>
            <a:xfrm>
              <a:off x="0" y="152400"/>
              <a:ext cx="10287000" cy="457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1500">
                  <a:solidFill>
                    <a:srgbClr val="5F5E5A"/>
                  </a:solidFill>
                  <a:latin typeface="Lora"/>
                  <a:ea typeface="Lora"/>
                  <a:cs typeface="Lora"/>
                  <a:sym typeface="Lora"/>
                </a:rPr>
                <a:t>Which of the four did this hour expand for you?</a:t>
              </a:r>
              <a:endParaRPr b="0" sz="1500">
                <a:solidFill>
                  <a:srgbClr val="5F5E5A"/>
                </a:solidFill>
                <a:latin typeface="Lora"/>
                <a:ea typeface="Lora"/>
                <a:cs typeface="Lora"/>
                <a:sym typeface="Lora"/>
              </a:endParaRPr>
            </a:p>
          </p:txBody>
        </p:sp>
      </p:grpSp>
      <p:grpSp>
        <p:nvGrpSpPr>
          <p:cNvPr id="376" name="Google Shape;376;p19"/>
          <p:cNvGrpSpPr/>
          <p:nvPr/>
        </p:nvGrpSpPr>
        <p:grpSpPr>
          <a:xfrm>
            <a:off x="822960" y="2247900"/>
            <a:ext cx="2428800" cy="2857500"/>
            <a:chOff x="0" y="0"/>
            <a:chExt cx="2428800" cy="2857500"/>
          </a:xfrm>
        </p:grpSpPr>
        <p:sp>
          <p:nvSpPr>
            <p:cNvPr id="377" name="Google Shape;377;p19"/>
            <p:cNvSpPr/>
            <p:nvPr/>
          </p:nvSpPr>
          <p:spPr>
            <a:xfrm>
              <a:off x="0" y="0"/>
              <a:ext cx="2428800" cy="2857500"/>
            </a:xfrm>
            <a:prstGeom prst="roundRect">
              <a:avLst>
                <a:gd fmla="val 3137" name="adj"/>
              </a:avLst>
            </a:prstGeom>
            <a:solidFill>
              <a:srgbClr val="E1F5E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solidFill>
                  <a:srgbClr val="334155"/>
                </a:solidFill>
              </a:endParaRPr>
            </a:p>
          </p:txBody>
        </p:sp>
        <p:sp>
          <p:nvSpPr>
            <p:cNvPr id="378" name="Google Shape;378;p19"/>
            <p:cNvSpPr txBox="1"/>
            <p:nvPr/>
          </p:nvSpPr>
          <p:spPr>
            <a:xfrm>
              <a:off x="0" y="0"/>
              <a:ext cx="2428800" cy="2857500"/>
            </a:xfrm>
            <a:prstGeom prst="rect">
              <a:avLst/>
            </a:prstGeom>
            <a:noFill/>
            <a:ln>
              <a:noFill/>
            </a:ln>
          </p:spPr>
          <p:txBody>
            <a:bodyPr anchorCtr="0" anchor="t" bIns="228600" lIns="228600" spcFirstLastPara="1" rIns="228600" wrap="square" tIns="228600">
              <a:noAutofit/>
            </a:bodyPr>
            <a:lstStyle/>
            <a:p>
              <a:pPr indent="0" lvl="0" marL="0" rtl="0" algn="l">
                <a:spcBef>
                  <a:spcPts val="0"/>
                </a:spcBef>
                <a:spcAft>
                  <a:spcPts val="0"/>
                </a:spcAft>
                <a:buNone/>
              </a:pPr>
              <a:r>
                <a:rPr b="0" lang="en-GB" sz="1000">
                  <a:solidFill>
                    <a:srgbClr val="334155"/>
                  </a:solidFill>
                  <a:latin typeface="Outfit SemiBold"/>
                  <a:ea typeface="Outfit SemiBold"/>
                  <a:cs typeface="Outfit SemiBold"/>
                  <a:sym typeface="Outfit SemiBold"/>
                </a:rPr>
                <a:t>EXTERNAL · ARCHIVE</a:t>
              </a:r>
              <a:endParaRPr b="0" sz="1000">
                <a:solidFill>
                  <a:srgbClr val="334155"/>
                </a:solidFill>
                <a:latin typeface="Outfit SemiBold"/>
                <a:ea typeface="Outfit SemiBold"/>
                <a:cs typeface="Outfit SemiBold"/>
                <a:sym typeface="Outfit SemiBold"/>
              </a:endParaRPr>
            </a:p>
            <a:p>
              <a:pPr indent="0" lvl="0" marL="0" rtl="0" algn="l">
                <a:spcBef>
                  <a:spcPts val="900"/>
                </a:spcBef>
                <a:spcAft>
                  <a:spcPts val="0"/>
                </a:spcAft>
                <a:buNone/>
              </a:pPr>
              <a:r>
                <a:rPr b="0" lang="en-GB" sz="2200">
                  <a:solidFill>
                    <a:srgbClr val="334155"/>
                  </a:solidFill>
                  <a:latin typeface="Instrument Serif"/>
                  <a:ea typeface="Instrument Serif"/>
                  <a:cs typeface="Instrument Serif"/>
                  <a:sym typeface="Instrument Serif"/>
                </a:rPr>
                <a:t>Precommodification </a:t>
              </a:r>
              <a:r>
                <a:rPr lang="en-GB" sz="2200">
                  <a:solidFill>
                    <a:srgbClr val="334155"/>
                  </a:solidFill>
                  <a:latin typeface="Instrument Serif"/>
                  <a:ea typeface="Instrument Serif"/>
                  <a:cs typeface="Instrument Serif"/>
                  <a:sym typeface="Instrument Serif"/>
                </a:rPr>
                <a:t>P</a:t>
              </a:r>
              <a:r>
                <a:rPr b="0" lang="en-GB" sz="2200">
                  <a:solidFill>
                    <a:srgbClr val="334155"/>
                  </a:solidFill>
                  <a:latin typeface="Instrument Serif"/>
                  <a:ea typeface="Instrument Serif"/>
                  <a:cs typeface="Instrument Serif"/>
                  <a:sym typeface="Instrument Serif"/>
                </a:rPr>
                <a:t>atterns</a:t>
              </a:r>
              <a:endParaRPr b="0" sz="2200">
                <a:solidFill>
                  <a:srgbClr val="334155"/>
                </a:solidFill>
                <a:latin typeface="Instrument Serif"/>
                <a:ea typeface="Instrument Serif"/>
                <a:cs typeface="Instrument Serif"/>
                <a:sym typeface="Instrument Serif"/>
              </a:endParaRPr>
            </a:p>
          </p:txBody>
        </p:sp>
      </p:grpSp>
      <p:grpSp>
        <p:nvGrpSpPr>
          <p:cNvPr id="379" name="Google Shape;379;p19"/>
          <p:cNvGrpSpPr/>
          <p:nvPr/>
        </p:nvGrpSpPr>
        <p:grpSpPr>
          <a:xfrm>
            <a:off x="3442335" y="2247900"/>
            <a:ext cx="2428800" cy="2857500"/>
            <a:chOff x="0" y="0"/>
            <a:chExt cx="2428800" cy="2857500"/>
          </a:xfrm>
        </p:grpSpPr>
        <p:sp>
          <p:nvSpPr>
            <p:cNvPr id="380" name="Google Shape;380;p19"/>
            <p:cNvSpPr/>
            <p:nvPr/>
          </p:nvSpPr>
          <p:spPr>
            <a:xfrm>
              <a:off x="0" y="0"/>
              <a:ext cx="2428800" cy="2857500"/>
            </a:xfrm>
            <a:prstGeom prst="roundRect">
              <a:avLst>
                <a:gd fmla="val 3137" name="adj"/>
              </a:avLst>
            </a:prstGeom>
            <a:solidFill>
              <a:srgbClr val="E1F5E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solidFill>
                  <a:srgbClr val="334155"/>
                </a:solidFill>
              </a:endParaRPr>
            </a:p>
          </p:txBody>
        </p:sp>
        <p:sp>
          <p:nvSpPr>
            <p:cNvPr id="381" name="Google Shape;381;p19"/>
            <p:cNvSpPr txBox="1"/>
            <p:nvPr/>
          </p:nvSpPr>
          <p:spPr>
            <a:xfrm>
              <a:off x="0" y="0"/>
              <a:ext cx="2428800" cy="2857500"/>
            </a:xfrm>
            <a:prstGeom prst="rect">
              <a:avLst/>
            </a:prstGeom>
            <a:noFill/>
            <a:ln>
              <a:noFill/>
            </a:ln>
          </p:spPr>
          <p:txBody>
            <a:bodyPr anchorCtr="0" anchor="t" bIns="228600" lIns="228600" spcFirstLastPara="1" rIns="228600" wrap="square" tIns="228600">
              <a:noAutofit/>
            </a:bodyPr>
            <a:lstStyle/>
            <a:p>
              <a:pPr indent="0" lvl="0" marL="0" rtl="0" algn="l">
                <a:spcBef>
                  <a:spcPts val="0"/>
                </a:spcBef>
                <a:spcAft>
                  <a:spcPts val="0"/>
                </a:spcAft>
                <a:buNone/>
              </a:pPr>
              <a:r>
                <a:rPr b="0" lang="en-GB" sz="1000">
                  <a:solidFill>
                    <a:srgbClr val="334155"/>
                  </a:solidFill>
                  <a:latin typeface="Outfit SemiBold"/>
                  <a:ea typeface="Outfit SemiBold"/>
                  <a:cs typeface="Outfit SemiBold"/>
                  <a:sym typeface="Outfit SemiBold"/>
                </a:rPr>
                <a:t>EXTERNAL · LIVE</a:t>
              </a:r>
              <a:endParaRPr b="0" sz="1000">
                <a:solidFill>
                  <a:srgbClr val="334155"/>
                </a:solidFill>
                <a:latin typeface="Outfit SemiBold"/>
                <a:ea typeface="Outfit SemiBold"/>
                <a:cs typeface="Outfit SemiBold"/>
                <a:sym typeface="Outfit SemiBold"/>
              </a:endParaRPr>
            </a:p>
            <a:p>
              <a:pPr indent="0" lvl="0" marL="0" rtl="0" algn="l">
                <a:spcBef>
                  <a:spcPts val="900"/>
                </a:spcBef>
                <a:spcAft>
                  <a:spcPts val="0"/>
                </a:spcAft>
                <a:buNone/>
              </a:pPr>
              <a:r>
                <a:rPr lang="en-GB" sz="2200">
                  <a:solidFill>
                    <a:srgbClr val="334155"/>
                  </a:solidFill>
                  <a:latin typeface="Instrument Serif"/>
                  <a:ea typeface="Instrument Serif"/>
                  <a:cs typeface="Instrument Serif"/>
                  <a:sym typeface="Instrument Serif"/>
                </a:rPr>
                <a:t>Public </a:t>
              </a:r>
              <a:r>
                <a:rPr b="0" lang="en-GB" sz="2200">
                  <a:solidFill>
                    <a:srgbClr val="334155"/>
                  </a:solidFill>
                  <a:latin typeface="Instrument Serif"/>
                  <a:ea typeface="Instrument Serif"/>
                  <a:cs typeface="Instrument Serif"/>
                  <a:sym typeface="Instrument Serif"/>
                </a:rPr>
                <a:t>Traces and/or Stigmergy Patterns</a:t>
              </a:r>
              <a:endParaRPr b="0" sz="2200">
                <a:solidFill>
                  <a:srgbClr val="334155"/>
                </a:solidFill>
                <a:latin typeface="Instrument Serif"/>
                <a:ea typeface="Instrument Serif"/>
                <a:cs typeface="Instrument Serif"/>
                <a:sym typeface="Instrument Serif"/>
              </a:endParaRPr>
            </a:p>
          </p:txBody>
        </p:sp>
      </p:grpSp>
      <p:grpSp>
        <p:nvGrpSpPr>
          <p:cNvPr id="382" name="Google Shape;382;p19"/>
          <p:cNvGrpSpPr/>
          <p:nvPr/>
        </p:nvGrpSpPr>
        <p:grpSpPr>
          <a:xfrm>
            <a:off x="6061710" y="2247900"/>
            <a:ext cx="2428800" cy="2857500"/>
            <a:chOff x="0" y="0"/>
            <a:chExt cx="2428800" cy="2857500"/>
          </a:xfrm>
        </p:grpSpPr>
        <p:sp>
          <p:nvSpPr>
            <p:cNvPr id="383" name="Google Shape;383;p19"/>
            <p:cNvSpPr/>
            <p:nvPr/>
          </p:nvSpPr>
          <p:spPr>
            <a:xfrm>
              <a:off x="0" y="0"/>
              <a:ext cx="2428800" cy="2857500"/>
            </a:xfrm>
            <a:prstGeom prst="roundRect">
              <a:avLst>
                <a:gd fmla="val 3137" name="adj"/>
              </a:avLst>
            </a:prstGeom>
            <a:solidFill>
              <a:srgbClr val="E1F5E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solidFill>
                  <a:srgbClr val="334155"/>
                </a:solidFill>
              </a:endParaRPr>
            </a:p>
          </p:txBody>
        </p:sp>
        <p:sp>
          <p:nvSpPr>
            <p:cNvPr id="384" name="Google Shape;384;p19"/>
            <p:cNvSpPr txBox="1"/>
            <p:nvPr/>
          </p:nvSpPr>
          <p:spPr>
            <a:xfrm>
              <a:off x="0" y="0"/>
              <a:ext cx="2428800" cy="2857500"/>
            </a:xfrm>
            <a:prstGeom prst="rect">
              <a:avLst/>
            </a:prstGeom>
            <a:solidFill>
              <a:srgbClr val="E1F5EE"/>
            </a:solidFill>
            <a:ln>
              <a:noFill/>
            </a:ln>
          </p:spPr>
          <p:txBody>
            <a:bodyPr anchorCtr="0" anchor="t" bIns="228600" lIns="228600" spcFirstLastPara="1" rIns="228600" wrap="square" tIns="228600">
              <a:noAutofit/>
            </a:bodyPr>
            <a:lstStyle/>
            <a:p>
              <a:pPr indent="0" lvl="0" marL="0" rtl="0" algn="l">
                <a:spcBef>
                  <a:spcPts val="0"/>
                </a:spcBef>
                <a:spcAft>
                  <a:spcPts val="0"/>
                </a:spcAft>
                <a:buNone/>
              </a:pPr>
              <a:r>
                <a:rPr b="0" lang="en-GB" sz="1000">
                  <a:solidFill>
                    <a:srgbClr val="334155"/>
                  </a:solidFill>
                  <a:latin typeface="Outfit SemiBold"/>
                  <a:ea typeface="Outfit SemiBold"/>
                  <a:cs typeface="Outfit SemiBold"/>
                  <a:sym typeface="Outfit SemiBold"/>
                </a:rPr>
                <a:t>INTERNAL · ARCHIVE</a:t>
              </a:r>
              <a:endParaRPr b="0" sz="1000">
                <a:solidFill>
                  <a:srgbClr val="334155"/>
                </a:solidFill>
                <a:latin typeface="Outfit SemiBold"/>
                <a:ea typeface="Outfit SemiBold"/>
                <a:cs typeface="Outfit SemiBold"/>
                <a:sym typeface="Outfit SemiBold"/>
              </a:endParaRPr>
            </a:p>
            <a:p>
              <a:pPr indent="0" lvl="0" marL="0" rtl="0" algn="l">
                <a:spcBef>
                  <a:spcPts val="900"/>
                </a:spcBef>
                <a:spcAft>
                  <a:spcPts val="0"/>
                </a:spcAft>
                <a:buNone/>
              </a:pPr>
              <a:r>
                <a:rPr lang="en-GB" sz="2200">
                  <a:solidFill>
                    <a:srgbClr val="334155"/>
                  </a:solidFill>
                  <a:latin typeface="Instrument Serif"/>
                  <a:ea typeface="Instrument Serif"/>
                  <a:cs typeface="Instrument Serif"/>
                  <a:sym typeface="Instrument Serif"/>
                </a:rPr>
                <a:t>Personal Memory</a:t>
              </a:r>
              <a:endParaRPr b="0" sz="2200">
                <a:solidFill>
                  <a:srgbClr val="334155"/>
                </a:solidFill>
                <a:latin typeface="Instrument Serif"/>
                <a:ea typeface="Instrument Serif"/>
                <a:cs typeface="Instrument Serif"/>
                <a:sym typeface="Instrument Serif"/>
              </a:endParaRPr>
            </a:p>
          </p:txBody>
        </p:sp>
      </p:grpSp>
      <p:grpSp>
        <p:nvGrpSpPr>
          <p:cNvPr id="385" name="Google Shape;385;p19"/>
          <p:cNvGrpSpPr/>
          <p:nvPr/>
        </p:nvGrpSpPr>
        <p:grpSpPr>
          <a:xfrm>
            <a:off x="8681085" y="2247900"/>
            <a:ext cx="2428800" cy="2857500"/>
            <a:chOff x="0" y="0"/>
            <a:chExt cx="2428800" cy="2857500"/>
          </a:xfrm>
        </p:grpSpPr>
        <p:sp>
          <p:nvSpPr>
            <p:cNvPr id="386" name="Google Shape;386;p19"/>
            <p:cNvSpPr/>
            <p:nvPr/>
          </p:nvSpPr>
          <p:spPr>
            <a:xfrm>
              <a:off x="0" y="0"/>
              <a:ext cx="2428800" cy="2857500"/>
            </a:xfrm>
            <a:prstGeom prst="roundRect">
              <a:avLst>
                <a:gd fmla="val 3137" name="adj"/>
              </a:avLst>
            </a:prstGeom>
            <a:solidFill>
              <a:srgbClr val="E1F5E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solidFill>
                  <a:srgbClr val="334155"/>
                </a:solidFill>
              </a:endParaRPr>
            </a:p>
          </p:txBody>
        </p:sp>
        <p:sp>
          <p:nvSpPr>
            <p:cNvPr id="387" name="Google Shape;387;p19"/>
            <p:cNvSpPr txBox="1"/>
            <p:nvPr/>
          </p:nvSpPr>
          <p:spPr>
            <a:xfrm>
              <a:off x="0" y="0"/>
              <a:ext cx="2428800" cy="2857500"/>
            </a:xfrm>
            <a:prstGeom prst="rect">
              <a:avLst/>
            </a:prstGeom>
            <a:solidFill>
              <a:srgbClr val="E1F5EE"/>
            </a:solidFill>
            <a:ln>
              <a:noFill/>
            </a:ln>
          </p:spPr>
          <p:txBody>
            <a:bodyPr anchorCtr="0" anchor="t" bIns="228600" lIns="228600" spcFirstLastPara="1" rIns="228600" wrap="square" tIns="228600">
              <a:noAutofit/>
            </a:bodyPr>
            <a:lstStyle/>
            <a:p>
              <a:pPr indent="0" lvl="0" marL="0" rtl="0" algn="l">
                <a:spcBef>
                  <a:spcPts val="0"/>
                </a:spcBef>
                <a:spcAft>
                  <a:spcPts val="0"/>
                </a:spcAft>
                <a:buNone/>
              </a:pPr>
              <a:r>
                <a:rPr b="0" lang="en-GB" sz="1000">
                  <a:solidFill>
                    <a:srgbClr val="334155"/>
                  </a:solidFill>
                  <a:latin typeface="Outfit SemiBold"/>
                  <a:ea typeface="Outfit SemiBold"/>
                  <a:cs typeface="Outfit SemiBold"/>
                  <a:sym typeface="Outfit SemiBold"/>
                </a:rPr>
                <a:t>INTERNAL · LIVE</a:t>
              </a:r>
              <a:endParaRPr b="0" sz="1000">
                <a:solidFill>
                  <a:srgbClr val="334155"/>
                </a:solidFill>
                <a:latin typeface="Outfit SemiBold"/>
                <a:ea typeface="Outfit SemiBold"/>
                <a:cs typeface="Outfit SemiBold"/>
                <a:sym typeface="Outfit SemiBold"/>
              </a:endParaRPr>
            </a:p>
            <a:p>
              <a:pPr indent="0" lvl="0" marL="0" rtl="0" algn="l">
                <a:spcBef>
                  <a:spcPts val="900"/>
                </a:spcBef>
                <a:spcAft>
                  <a:spcPts val="0"/>
                </a:spcAft>
                <a:buNone/>
              </a:pPr>
              <a:r>
                <a:rPr b="0" lang="en-GB" sz="2200">
                  <a:solidFill>
                    <a:srgbClr val="334155"/>
                  </a:solidFill>
                  <a:latin typeface="Instrument Serif"/>
                  <a:ea typeface="Instrument Serif"/>
                  <a:cs typeface="Instrument Serif"/>
                  <a:sym typeface="Instrument Serif"/>
                </a:rPr>
                <a:t>Playability / Dynamic Changes</a:t>
              </a:r>
              <a:endParaRPr b="0" sz="2200">
                <a:solidFill>
                  <a:srgbClr val="334155"/>
                </a:solidFill>
                <a:latin typeface="Instrument Serif"/>
                <a:ea typeface="Instrument Serif"/>
                <a:cs typeface="Instrument Serif"/>
                <a:sym typeface="Instrument Serif"/>
              </a:endParaRPr>
            </a:p>
          </p:txBody>
        </p:sp>
      </p:grpSp>
      <p:sp>
        <p:nvSpPr>
          <p:cNvPr id="388" name="Google Shape;388;p19"/>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389" name="Google Shape;389;p19"/>
          <p:cNvSpPr txBox="1"/>
          <p:nvPr>
            <p:ph idx="1" type="body"/>
          </p:nvPr>
        </p:nvSpPr>
        <p:spPr>
          <a:xfrm>
            <a:off x="822960" y="457200"/>
            <a:ext cx="7315200" cy="3201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a:solidFill>
                  <a:schemeClr val="accent1"/>
                </a:solidFill>
              </a:rPr>
              <a:t>SESSION 1 · KITS · EXERCISE</a:t>
            </a:r>
            <a:endParaRPr>
              <a:solidFill>
                <a:schemeClr val="accent1"/>
              </a:solidFill>
            </a:endParaRPr>
          </a:p>
          <a:p>
            <a:pPr indent="0" lvl="0" marL="0" rtl="0" algn="l">
              <a:spcBef>
                <a:spcPts val="700"/>
              </a:spcBef>
              <a:spcAft>
                <a:spcPts val="0"/>
              </a:spcAft>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grpSp>
        <p:nvGrpSpPr>
          <p:cNvPr id="394" name="Google Shape;394;p20"/>
          <p:cNvGrpSpPr/>
          <p:nvPr/>
        </p:nvGrpSpPr>
        <p:grpSpPr>
          <a:xfrm>
            <a:off x="822960" y="457200"/>
            <a:ext cx="7315200" cy="320100"/>
            <a:chOff x="0" y="0"/>
            <a:chExt cx="7315200" cy="320100"/>
          </a:xfrm>
        </p:grpSpPr>
        <p:sp>
          <p:nvSpPr>
            <p:cNvPr id="395" name="Google Shape;395;p20"/>
            <p:cNvSpPr/>
            <p:nvPr/>
          </p:nvSpPr>
          <p:spPr>
            <a:xfrm>
              <a:off x="0" y="0"/>
              <a:ext cx="7315200" cy="3201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6" name="Google Shape;396;p20"/>
            <p:cNvSpPr txBox="1"/>
            <p:nvPr/>
          </p:nvSpPr>
          <p:spPr>
            <a:xfrm>
              <a:off x="0" y="0"/>
              <a:ext cx="7315200" cy="320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1200">
                  <a:solidFill>
                    <a:srgbClr val="0064FF"/>
                  </a:solidFill>
                  <a:latin typeface="Outfit"/>
                  <a:ea typeface="Outfit"/>
                  <a:cs typeface="Outfit"/>
                  <a:sym typeface="Outfit"/>
                </a:rPr>
                <a:t>ASYNC 1 · TROUBLESHOOTING</a:t>
              </a:r>
              <a:endParaRPr b="0" sz="1200">
                <a:solidFill>
                  <a:srgbClr val="0064FF"/>
                </a:solidFill>
                <a:latin typeface="Outfit"/>
                <a:ea typeface="Outfit"/>
                <a:cs typeface="Outfit"/>
                <a:sym typeface="Outfit"/>
              </a:endParaRPr>
            </a:p>
          </p:txBody>
        </p:sp>
      </p:grpSp>
      <p:grpSp>
        <p:nvGrpSpPr>
          <p:cNvPr id="397" name="Google Shape;397;p20"/>
          <p:cNvGrpSpPr/>
          <p:nvPr/>
        </p:nvGrpSpPr>
        <p:grpSpPr>
          <a:xfrm>
            <a:off x="822960" y="914400"/>
            <a:ext cx="9692700" cy="762000"/>
            <a:chOff x="0" y="0"/>
            <a:chExt cx="9692700" cy="762000"/>
          </a:xfrm>
        </p:grpSpPr>
        <p:sp>
          <p:nvSpPr>
            <p:cNvPr id="398" name="Google Shape;398;p20"/>
            <p:cNvSpPr/>
            <p:nvPr/>
          </p:nvSpPr>
          <p:spPr>
            <a:xfrm>
              <a:off x="0" y="0"/>
              <a:ext cx="9692700" cy="762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9" name="Google Shape;399;p20"/>
            <p:cNvSpPr txBox="1"/>
            <p:nvPr/>
          </p:nvSpPr>
          <p:spPr>
            <a:xfrm>
              <a:off x="0" y="0"/>
              <a:ext cx="9692700" cy="76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800">
                  <a:solidFill>
                    <a:srgbClr val="2C2C2A"/>
                  </a:solidFill>
                  <a:latin typeface="Instrument Serif"/>
                  <a:ea typeface="Instrument Serif"/>
                  <a:cs typeface="Instrument Serif"/>
                  <a:sym typeface="Instrument Serif"/>
                </a:rPr>
                <a:t>Getting ready for the next session: Choose a kit to focus on</a:t>
              </a:r>
              <a:endParaRPr b="0" sz="2800">
                <a:solidFill>
                  <a:srgbClr val="2C2C2A"/>
                </a:solidFill>
                <a:latin typeface="Instrument Serif"/>
                <a:ea typeface="Instrument Serif"/>
                <a:cs typeface="Instrument Serif"/>
                <a:sym typeface="Instrument Serif"/>
              </a:endParaRPr>
            </a:p>
          </p:txBody>
        </p:sp>
      </p:grpSp>
      <p:grpSp>
        <p:nvGrpSpPr>
          <p:cNvPr id="400" name="Google Shape;400;p20"/>
          <p:cNvGrpSpPr/>
          <p:nvPr/>
        </p:nvGrpSpPr>
        <p:grpSpPr>
          <a:xfrm>
            <a:off x="822960" y="1940423"/>
            <a:ext cx="3238500" cy="3429000"/>
            <a:chOff x="0" y="0"/>
            <a:chExt cx="3238500" cy="3429000"/>
          </a:xfrm>
        </p:grpSpPr>
        <p:sp>
          <p:nvSpPr>
            <p:cNvPr id="401" name="Google Shape;401;p20"/>
            <p:cNvSpPr/>
            <p:nvPr/>
          </p:nvSpPr>
          <p:spPr>
            <a:xfrm>
              <a:off x="0" y="0"/>
              <a:ext cx="3238500" cy="3429000"/>
            </a:xfrm>
            <a:prstGeom prst="roundRect">
              <a:avLst>
                <a:gd fmla="val 2352" name="adj"/>
              </a:avLst>
            </a:prstGeom>
            <a:solidFill>
              <a:srgbClr val="F0EDE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2" name="Google Shape;402;p20"/>
            <p:cNvSpPr txBox="1"/>
            <p:nvPr/>
          </p:nvSpPr>
          <p:spPr>
            <a:xfrm>
              <a:off x="0" y="0"/>
              <a:ext cx="3238500" cy="3429000"/>
            </a:xfrm>
            <a:prstGeom prst="rect">
              <a:avLst/>
            </a:prstGeom>
            <a:noFill/>
            <a:ln>
              <a:noFill/>
            </a:ln>
          </p:spPr>
          <p:txBody>
            <a:bodyPr anchorCtr="0" anchor="t" bIns="228600" lIns="228600" spcFirstLastPara="1" rIns="228600" wrap="square" tIns="228600">
              <a:noAutofit/>
            </a:bodyPr>
            <a:lstStyle/>
            <a:p>
              <a:pPr indent="0" lvl="0" marL="0" rtl="0" algn="l">
                <a:spcBef>
                  <a:spcPts val="0"/>
                </a:spcBef>
                <a:spcAft>
                  <a:spcPts val="0"/>
                </a:spcAft>
                <a:buNone/>
              </a:pPr>
              <a:r>
                <a:rPr b="0" lang="en-GB" sz="1000">
                  <a:solidFill>
                    <a:srgbClr val="0064FF"/>
                  </a:solidFill>
                  <a:latin typeface="Outfit SemiBold"/>
                  <a:ea typeface="Outfit SemiBold"/>
                  <a:cs typeface="Outfit SemiBold"/>
                  <a:sym typeface="Outfit SemiBold"/>
                </a:rPr>
                <a:t>1 · STEPS</a:t>
              </a:r>
              <a:endParaRPr b="0" sz="1000">
                <a:solidFill>
                  <a:srgbClr val="0064FF"/>
                </a:solidFill>
                <a:latin typeface="Outfit SemiBold"/>
                <a:ea typeface="Outfit SemiBold"/>
                <a:cs typeface="Outfit SemiBold"/>
                <a:sym typeface="Outfit SemiBold"/>
              </a:endParaRPr>
            </a:p>
            <a:p>
              <a:pPr indent="0" lvl="0" marL="0" rtl="0" algn="l">
                <a:spcBef>
                  <a:spcPts val="600"/>
                </a:spcBef>
                <a:spcAft>
                  <a:spcPts val="0"/>
                </a:spcAft>
                <a:buNone/>
              </a:pPr>
              <a:r>
                <a:rPr b="0" lang="en-GB" sz="2400">
                  <a:solidFill>
                    <a:srgbClr val="2C2C2A"/>
                  </a:solidFill>
                  <a:latin typeface="Instrument Serif"/>
                  <a:ea typeface="Instrument Serif"/>
                  <a:cs typeface="Instrument Serif"/>
                  <a:sym typeface="Instrument Serif"/>
                </a:rPr>
                <a:t>Workflow</a:t>
              </a:r>
              <a:endParaRPr b="0" sz="2400">
                <a:solidFill>
                  <a:srgbClr val="2C2C2A"/>
                </a:solidFill>
                <a:latin typeface="Instrument Serif"/>
                <a:ea typeface="Instrument Serif"/>
                <a:cs typeface="Instrument Serif"/>
                <a:sym typeface="Instrument Serif"/>
              </a:endParaRPr>
            </a:p>
            <a:p>
              <a:pPr indent="-298450" lvl="0" marL="457200" rtl="0" algn="l">
                <a:spcBef>
                  <a:spcPts val="1000"/>
                </a:spcBef>
                <a:spcAft>
                  <a:spcPts val="0"/>
                </a:spcAft>
                <a:buClr>
                  <a:srgbClr val="2C2C2A"/>
                </a:buClr>
                <a:buSzPts val="1100"/>
                <a:buFont typeface="Lora"/>
                <a:buAutoNum type="arabicPeriod"/>
              </a:pPr>
              <a:r>
                <a:rPr b="0" lang="en-GB" sz="1100">
                  <a:solidFill>
                    <a:srgbClr val="2C2C2A"/>
                  </a:solidFill>
                  <a:latin typeface="Lora"/>
                  <a:ea typeface="Lora"/>
                  <a:cs typeface="Lora"/>
                  <a:sym typeface="Lora"/>
                </a:rPr>
                <a:t>Choose the kit you will turn into a factory tonight — yours, or one of ours</a:t>
              </a:r>
              <a:endParaRPr b="0" sz="1100">
                <a:solidFill>
                  <a:srgbClr val="2C2C2A"/>
                </a:solidFill>
                <a:latin typeface="Lora"/>
                <a:ea typeface="Lora"/>
                <a:cs typeface="Lora"/>
                <a:sym typeface="Lora"/>
              </a:endParaRPr>
            </a:p>
            <a:p>
              <a:pPr indent="-298450" lvl="0" marL="457200" rtl="0" algn="l">
                <a:spcBef>
                  <a:spcPts val="900"/>
                </a:spcBef>
                <a:spcAft>
                  <a:spcPts val="0"/>
                </a:spcAft>
                <a:buClr>
                  <a:srgbClr val="2C2C2A"/>
                </a:buClr>
                <a:buSzPts val="1100"/>
                <a:buFont typeface="Lora"/>
                <a:buAutoNum type="arabicPeriod"/>
              </a:pPr>
              <a:r>
                <a:rPr b="0" lang="en-GB" sz="1100">
                  <a:solidFill>
                    <a:srgbClr val="2C2C2A"/>
                  </a:solidFill>
                  <a:latin typeface="Lora"/>
                  <a:ea typeface="Lora"/>
                  <a:cs typeface="Lora"/>
                  <a:sym typeface="Lora"/>
                </a:rPr>
                <a:t>Let your assistant draft the README's Job and Interface lines</a:t>
              </a:r>
              <a:endParaRPr b="0" sz="1100">
                <a:solidFill>
                  <a:srgbClr val="2C2C2A"/>
                </a:solidFill>
                <a:latin typeface="Lora"/>
                <a:ea typeface="Lora"/>
                <a:cs typeface="Lora"/>
                <a:sym typeface="Lora"/>
              </a:endParaRPr>
            </a:p>
            <a:p>
              <a:pPr indent="-298450" lvl="0" marL="457200" rtl="0" algn="l">
                <a:spcBef>
                  <a:spcPts val="900"/>
                </a:spcBef>
                <a:spcAft>
                  <a:spcPts val="900"/>
                </a:spcAft>
                <a:buClr>
                  <a:srgbClr val="2C2C2A"/>
                </a:buClr>
                <a:buSzPts val="1100"/>
                <a:buFont typeface="Lora"/>
                <a:buAutoNum type="arabicPeriod"/>
              </a:pPr>
              <a:r>
                <a:rPr b="0" lang="en-GB" sz="1100">
                  <a:solidFill>
                    <a:srgbClr val="2C2C2A"/>
                  </a:solidFill>
                  <a:latin typeface="Lora"/>
                  <a:ea typeface="Lora"/>
                  <a:cs typeface="Lora"/>
                  <a:sym typeface="Lora"/>
                </a:rPr>
                <a:t>Push, and stop there</a:t>
              </a:r>
              <a:endParaRPr b="0" sz="1100">
                <a:solidFill>
                  <a:srgbClr val="2C2C2A"/>
                </a:solidFill>
                <a:latin typeface="Lora"/>
                <a:ea typeface="Lora"/>
                <a:cs typeface="Lora"/>
                <a:sym typeface="Lora"/>
              </a:endParaRPr>
            </a:p>
          </p:txBody>
        </p:sp>
      </p:grpSp>
      <p:grpSp>
        <p:nvGrpSpPr>
          <p:cNvPr id="403" name="Google Shape;403;p20"/>
          <p:cNvGrpSpPr/>
          <p:nvPr/>
        </p:nvGrpSpPr>
        <p:grpSpPr>
          <a:xfrm>
            <a:off x="4251960" y="1940423"/>
            <a:ext cx="4095900" cy="3429000"/>
            <a:chOff x="0" y="0"/>
            <a:chExt cx="4095900" cy="3429000"/>
          </a:xfrm>
        </p:grpSpPr>
        <p:sp>
          <p:nvSpPr>
            <p:cNvPr id="404" name="Google Shape;404;p20"/>
            <p:cNvSpPr/>
            <p:nvPr/>
          </p:nvSpPr>
          <p:spPr>
            <a:xfrm>
              <a:off x="0" y="0"/>
              <a:ext cx="4095900" cy="3429000"/>
            </a:xfrm>
            <a:prstGeom prst="roundRect">
              <a:avLst>
                <a:gd fmla="val 2222" name="adj"/>
              </a:avLst>
            </a:prstGeom>
            <a:solidFill>
              <a:srgbClr val="E1F5E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5" name="Google Shape;405;p20"/>
            <p:cNvSpPr txBox="1"/>
            <p:nvPr/>
          </p:nvSpPr>
          <p:spPr>
            <a:xfrm>
              <a:off x="0" y="0"/>
              <a:ext cx="4095900" cy="3429000"/>
            </a:xfrm>
            <a:prstGeom prst="rect">
              <a:avLst/>
            </a:prstGeom>
            <a:noFill/>
            <a:ln>
              <a:noFill/>
            </a:ln>
          </p:spPr>
          <p:txBody>
            <a:bodyPr anchorCtr="0" anchor="t" bIns="228600" lIns="228600" spcFirstLastPara="1" rIns="228600" wrap="square" tIns="228600">
              <a:noAutofit/>
            </a:bodyPr>
            <a:lstStyle/>
            <a:p>
              <a:pPr indent="0" lvl="0" marL="0" rtl="0" algn="l">
                <a:spcBef>
                  <a:spcPts val="0"/>
                </a:spcBef>
                <a:spcAft>
                  <a:spcPts val="0"/>
                </a:spcAft>
                <a:buNone/>
              </a:pPr>
              <a:r>
                <a:rPr b="0" lang="en-GB" sz="1000">
                  <a:solidFill>
                    <a:srgbClr val="085041"/>
                  </a:solidFill>
                  <a:latin typeface="Outfit SemiBold"/>
                  <a:ea typeface="Outfit SemiBold"/>
                  <a:cs typeface="Outfit SemiBold"/>
                  <a:sym typeface="Outfit SemiBold"/>
                </a:rPr>
                <a:t>2 · PROMPT</a:t>
              </a:r>
              <a:endParaRPr b="0" sz="1000">
                <a:solidFill>
                  <a:srgbClr val="085041"/>
                </a:solidFill>
                <a:latin typeface="Outfit SemiBold"/>
                <a:ea typeface="Outfit SemiBold"/>
                <a:cs typeface="Outfit SemiBold"/>
                <a:sym typeface="Outfit SemiBold"/>
              </a:endParaRPr>
            </a:p>
            <a:p>
              <a:pPr indent="0" lvl="0" marL="0" rtl="0" algn="l">
                <a:spcBef>
                  <a:spcPts val="600"/>
                </a:spcBef>
                <a:spcAft>
                  <a:spcPts val="0"/>
                </a:spcAft>
                <a:buNone/>
              </a:pPr>
              <a:r>
                <a:rPr b="0" lang="en-GB" sz="2400">
                  <a:solidFill>
                    <a:srgbClr val="2C2C2A"/>
                  </a:solidFill>
                  <a:latin typeface="Instrument Serif"/>
                  <a:ea typeface="Instrument Serif"/>
                  <a:cs typeface="Instrument Serif"/>
                  <a:sym typeface="Instrument Serif"/>
                </a:rPr>
                <a:t>Paste this to your assistant</a:t>
              </a:r>
              <a:endParaRPr b="0" sz="2400">
                <a:solidFill>
                  <a:srgbClr val="2C2C2A"/>
                </a:solidFill>
                <a:latin typeface="Instrument Serif"/>
                <a:ea typeface="Instrument Serif"/>
                <a:cs typeface="Instrument Serif"/>
                <a:sym typeface="Instrument Serif"/>
              </a:endParaRPr>
            </a:p>
            <a:p>
              <a:pPr indent="0" lvl="0" marL="0" rtl="0" algn="l">
                <a:spcBef>
                  <a:spcPts val="1000"/>
                </a:spcBef>
                <a:spcAft>
                  <a:spcPts val="1400"/>
                </a:spcAft>
                <a:buNone/>
              </a:pPr>
              <a:r>
                <a:rPr b="0" lang="en-GB" sz="1050">
                  <a:solidFill>
                    <a:srgbClr val="1E4620"/>
                  </a:solidFill>
                  <a:latin typeface="Arial"/>
                  <a:ea typeface="Arial"/>
                  <a:cs typeface="Arial"/>
                  <a:sym typeface="Arial"/>
                </a:rPr>
                <a:t>Read instructions/async-1.md and do this. Ask me which kit from my inventory to convert, then draft only the Job and Interface lines of participants/&lt;my-handle&gt;/s2-factory/README.md. Commit and push. Stop there.</a:t>
              </a:r>
              <a:endParaRPr b="0" sz="1050">
                <a:solidFill>
                  <a:srgbClr val="1E4620"/>
                </a:solidFill>
                <a:latin typeface="Arial"/>
                <a:ea typeface="Arial"/>
                <a:cs typeface="Arial"/>
                <a:sym typeface="Arial"/>
              </a:endParaRPr>
            </a:p>
          </p:txBody>
        </p:sp>
      </p:grpSp>
      <p:grpSp>
        <p:nvGrpSpPr>
          <p:cNvPr id="406" name="Google Shape;406;p20"/>
          <p:cNvGrpSpPr/>
          <p:nvPr/>
        </p:nvGrpSpPr>
        <p:grpSpPr>
          <a:xfrm>
            <a:off x="8538210" y="1940423"/>
            <a:ext cx="2829000" cy="3429000"/>
            <a:chOff x="0" y="0"/>
            <a:chExt cx="2829000" cy="3429000"/>
          </a:xfrm>
        </p:grpSpPr>
        <p:sp>
          <p:nvSpPr>
            <p:cNvPr id="407" name="Google Shape;407;p20"/>
            <p:cNvSpPr/>
            <p:nvPr/>
          </p:nvSpPr>
          <p:spPr>
            <a:xfrm>
              <a:off x="0" y="0"/>
              <a:ext cx="2829000" cy="3429000"/>
            </a:xfrm>
            <a:prstGeom prst="roundRect">
              <a:avLst>
                <a:gd fmla="val 2693" name="adj"/>
              </a:avLst>
            </a:prstGeom>
            <a:solidFill>
              <a:srgbClr val="F0EDE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8" name="Google Shape;408;p20"/>
            <p:cNvSpPr txBox="1"/>
            <p:nvPr/>
          </p:nvSpPr>
          <p:spPr>
            <a:xfrm>
              <a:off x="0" y="0"/>
              <a:ext cx="2829000" cy="3429000"/>
            </a:xfrm>
            <a:prstGeom prst="rect">
              <a:avLst/>
            </a:prstGeom>
            <a:noFill/>
            <a:ln>
              <a:noFill/>
            </a:ln>
          </p:spPr>
          <p:txBody>
            <a:bodyPr anchorCtr="0" anchor="t" bIns="228600" lIns="228600" spcFirstLastPara="1" rIns="228600" wrap="square" tIns="228600">
              <a:noAutofit/>
            </a:bodyPr>
            <a:lstStyle/>
            <a:p>
              <a:pPr indent="0" lvl="0" marL="0" rtl="0" algn="l">
                <a:spcBef>
                  <a:spcPts val="0"/>
                </a:spcBef>
                <a:spcAft>
                  <a:spcPts val="0"/>
                </a:spcAft>
                <a:buNone/>
              </a:pPr>
              <a:r>
                <a:rPr b="0" lang="en-GB" sz="1000">
                  <a:solidFill>
                    <a:srgbClr val="0064FF"/>
                  </a:solidFill>
                  <a:latin typeface="Outfit SemiBold"/>
                  <a:ea typeface="Outfit SemiBold"/>
                  <a:cs typeface="Outfit SemiBold"/>
                  <a:sym typeface="Outfit SemiBold"/>
                </a:rPr>
                <a:t>3 · SUPPORT</a:t>
              </a:r>
              <a:endParaRPr b="0" sz="1000">
                <a:solidFill>
                  <a:srgbClr val="0064FF"/>
                </a:solidFill>
                <a:latin typeface="Outfit SemiBold"/>
                <a:ea typeface="Outfit SemiBold"/>
                <a:cs typeface="Outfit SemiBold"/>
                <a:sym typeface="Outfit SemiBold"/>
              </a:endParaRPr>
            </a:p>
            <a:p>
              <a:pPr indent="0" lvl="0" marL="0" rtl="0" algn="l">
                <a:spcBef>
                  <a:spcPts val="600"/>
                </a:spcBef>
                <a:spcAft>
                  <a:spcPts val="0"/>
                </a:spcAft>
                <a:buNone/>
              </a:pPr>
              <a:r>
                <a:rPr lang="en-GB" sz="2400">
                  <a:solidFill>
                    <a:srgbClr val="2C2C2A"/>
                  </a:solidFill>
                  <a:latin typeface="Instrument Serif"/>
                  <a:ea typeface="Instrument Serif"/>
                  <a:cs typeface="Instrument Serif"/>
                  <a:sym typeface="Instrument Serif"/>
                </a:rPr>
                <a:t>Troubleshooting</a:t>
              </a:r>
              <a:endParaRPr b="0" sz="2400">
                <a:solidFill>
                  <a:srgbClr val="2C2C2A"/>
                </a:solidFill>
                <a:latin typeface="Instrument Serif"/>
                <a:ea typeface="Instrument Serif"/>
                <a:cs typeface="Instrument Serif"/>
                <a:sym typeface="Instrument Serif"/>
              </a:endParaRPr>
            </a:p>
            <a:p>
              <a:pPr indent="0" lvl="0" marL="0" rtl="0" algn="l">
                <a:spcBef>
                  <a:spcPts val="1000"/>
                </a:spcBef>
                <a:spcAft>
                  <a:spcPts val="0"/>
                </a:spcAft>
                <a:buNone/>
              </a:pPr>
              <a:r>
                <a:rPr b="0" lang="en-GB" sz="1050">
                  <a:solidFill>
                    <a:srgbClr val="555555"/>
                  </a:solidFill>
                  <a:latin typeface="Lora"/>
                  <a:ea typeface="Lora"/>
                  <a:cs typeface="Lora"/>
                  <a:sym typeface="Lora"/>
                </a:rPr>
                <a:t>Tech Support 16:30–17:00 UTC in #kafka — anything that will not log in, clone or push.</a:t>
              </a:r>
              <a:endParaRPr b="0" sz="1050">
                <a:solidFill>
                  <a:srgbClr val="555555"/>
                </a:solidFill>
                <a:latin typeface="Lora"/>
                <a:ea typeface="Lora"/>
                <a:cs typeface="Lora"/>
                <a:sym typeface="Lora"/>
              </a:endParaRPr>
            </a:p>
            <a:p>
              <a:pPr indent="0" lvl="0" marL="0" rtl="0" algn="l">
                <a:spcBef>
                  <a:spcPts val="1000"/>
                </a:spcBef>
                <a:spcAft>
                  <a:spcPts val="0"/>
                </a:spcAft>
                <a:buNone/>
              </a:pPr>
              <a:r>
                <a:rPr b="0" lang="en-GB" sz="1050">
                  <a:solidFill>
                    <a:srgbClr val="555555"/>
                  </a:solidFill>
                  <a:latin typeface="Lora"/>
                  <a:ea typeface="Lora"/>
                  <a:cs typeface="Lora"/>
                  <a:sym typeface="Lora"/>
                </a:rPr>
                <a:t>S2 at 20:00 UTC, and that is when you build the kit.</a:t>
              </a:r>
              <a:endParaRPr b="0" sz="1050">
                <a:solidFill>
                  <a:srgbClr val="555555"/>
                </a:solidFill>
                <a:latin typeface="Lora"/>
                <a:ea typeface="Lora"/>
                <a:cs typeface="Lora"/>
                <a:sym typeface="Lora"/>
              </a:endParaRPr>
            </a:p>
          </p:txBody>
        </p:sp>
      </p:grpSp>
      <p:grpSp>
        <p:nvGrpSpPr>
          <p:cNvPr id="409" name="Google Shape;409;p20"/>
          <p:cNvGrpSpPr/>
          <p:nvPr/>
        </p:nvGrpSpPr>
        <p:grpSpPr>
          <a:xfrm>
            <a:off x="822960" y="5667375"/>
            <a:ext cx="10353600" cy="514500"/>
            <a:chOff x="0" y="0"/>
            <a:chExt cx="10353600" cy="514500"/>
          </a:xfrm>
        </p:grpSpPr>
        <p:sp>
          <p:nvSpPr>
            <p:cNvPr id="410" name="Google Shape;410;p20"/>
            <p:cNvSpPr/>
            <p:nvPr/>
          </p:nvSpPr>
          <p:spPr>
            <a:xfrm>
              <a:off x="0" y="0"/>
              <a:ext cx="10353600" cy="514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1" name="Google Shape;411;p20"/>
            <p:cNvSpPr txBox="1"/>
            <p:nvPr/>
          </p:nvSpPr>
          <p:spPr>
            <a:xfrm>
              <a:off x="0" y="0"/>
              <a:ext cx="10353600" cy="514500"/>
            </a:xfrm>
            <a:prstGeom prst="rect">
              <a:avLst/>
            </a:prstGeom>
            <a:noFill/>
            <a:ln>
              <a:noFill/>
            </a:ln>
          </p:spPr>
          <p:txBody>
            <a:bodyPr anchorCtr="0" anchor="t" bIns="76200" lIns="0" spcFirstLastPara="1" rIns="0" wrap="square" tIns="76200">
              <a:noAutofit/>
            </a:bodyPr>
            <a:lstStyle/>
            <a:p>
              <a:pPr indent="0" lvl="0" marL="0" rtl="0" algn="l">
                <a:spcBef>
                  <a:spcPts val="0"/>
                </a:spcBef>
                <a:spcAft>
                  <a:spcPts val="0"/>
                </a:spcAft>
                <a:buNone/>
              </a:pPr>
              <a:r>
                <a:rPr b="0" lang="en-GB" sz="900">
                  <a:solidFill>
                    <a:srgbClr val="0064FF"/>
                  </a:solidFill>
                  <a:latin typeface="Outfit SemiBold"/>
                  <a:ea typeface="Outfit SemiBold"/>
                  <a:cs typeface="Outfit SemiBold"/>
                  <a:sym typeface="Outfit SemiBold"/>
                </a:rPr>
                <a:t>§ ASYNC 1</a:t>
              </a:r>
              <a:endParaRPr b="0" sz="900">
                <a:solidFill>
                  <a:srgbClr val="0064FF"/>
                </a:solidFill>
                <a:latin typeface="Outfit SemiBold"/>
                <a:ea typeface="Outfit SemiBold"/>
                <a:cs typeface="Outfit SemiBold"/>
                <a:sym typeface="Outfit SemiBold"/>
              </a:endParaRPr>
            </a:p>
            <a:p>
              <a:pPr indent="0" lvl="0" marL="0" rtl="0" algn="l">
                <a:spcBef>
                  <a:spcPts val="300"/>
                </a:spcBef>
                <a:spcAft>
                  <a:spcPts val="0"/>
                </a:spcAft>
                <a:buNone/>
              </a:pPr>
              <a:r>
                <a:rPr b="0" lang="en-GB" sz="950">
                  <a:solidFill>
                    <a:srgbClr val="666666"/>
                  </a:solidFill>
                  <a:latin typeface="Lora"/>
                  <a:ea typeface="Lora"/>
                  <a:cs typeface="Lora"/>
                  <a:sym typeface="Lora"/>
                </a:rPr>
                <a:t>Async 1 is deliberately small — set up your repository and draft the README's Job and Interface lines before Session 2.</a:t>
              </a:r>
              <a:endParaRPr b="0" sz="950">
                <a:solidFill>
                  <a:srgbClr val="666666"/>
                </a:solidFill>
                <a:latin typeface="Lora"/>
                <a:ea typeface="Lora"/>
                <a:cs typeface="Lora"/>
                <a:sym typeface="Lora"/>
              </a:endParaRPr>
            </a:p>
          </p:txBody>
        </p:sp>
      </p:grpSp>
      <p:sp>
        <p:nvSpPr>
          <p:cNvPr id="412" name="Google Shape;412;p20"/>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pic>
        <p:nvPicPr>
          <p:cNvPr id="417" name="Google Shape;417;p21"/>
          <p:cNvPicPr preferRelativeResize="0"/>
          <p:nvPr/>
        </p:nvPicPr>
        <p:blipFill rotWithShape="1">
          <a:blip r:embed="rId3">
            <a:alphaModFix/>
          </a:blip>
          <a:srcRect b="31372" l="0" r="0" t="12376"/>
          <a:stretch/>
        </p:blipFill>
        <p:spPr>
          <a:xfrm>
            <a:off x="0" y="0"/>
            <a:ext cx="12192000" cy="6858000"/>
          </a:xfrm>
          <a:prstGeom prst="rect">
            <a:avLst/>
          </a:prstGeom>
          <a:noFill/>
          <a:ln>
            <a:noFill/>
          </a:ln>
        </p:spPr>
      </p:pic>
      <p:sp>
        <p:nvSpPr>
          <p:cNvPr id="418" name="Google Shape;418;p21"/>
          <p:cNvSpPr txBox="1"/>
          <p:nvPr>
            <p:ph idx="1" type="body"/>
          </p:nvPr>
        </p:nvSpPr>
        <p:spPr>
          <a:xfrm>
            <a:off x="822960" y="2103120"/>
            <a:ext cx="7315200" cy="457200"/>
          </a:xfrm>
          <a:prstGeom prst="rect">
            <a:avLst/>
          </a:prstGeom>
          <a:noFill/>
          <a:ln>
            <a:noFill/>
          </a:ln>
        </p:spPr>
        <p:txBody>
          <a:bodyPr anchorCtr="0" anchor="b" bIns="0" lIns="0" spcFirstLastPara="1" rIns="0" wrap="square" tIns="0">
            <a:noAutofit/>
          </a:bodyPr>
          <a:lstStyle/>
          <a:p>
            <a:pPr indent="0" lvl="0" marL="0" rtl="0" algn="l">
              <a:lnSpc>
                <a:spcPct val="118000"/>
              </a:lnSpc>
              <a:spcBef>
                <a:spcPts val="0"/>
              </a:spcBef>
              <a:spcAft>
                <a:spcPts val="0"/>
              </a:spcAft>
              <a:buClr>
                <a:srgbClr val="FFFFFF"/>
              </a:buClr>
              <a:buSzPts val="1200"/>
              <a:buFont typeface="Outfit"/>
              <a:buNone/>
            </a:pPr>
            <a:r>
              <a:rPr lang="en-GB"/>
              <a:t>SESSION 2</a:t>
            </a:r>
            <a:endParaRPr/>
          </a:p>
        </p:txBody>
      </p:sp>
      <p:sp>
        <p:nvSpPr>
          <p:cNvPr id="419" name="Google Shape;419;p21"/>
          <p:cNvSpPr txBox="1"/>
          <p:nvPr>
            <p:ph type="title"/>
          </p:nvPr>
        </p:nvSpPr>
        <p:spPr>
          <a:xfrm>
            <a:off x="822960" y="2697480"/>
            <a:ext cx="10332720" cy="1920240"/>
          </a:xfrm>
          <a:prstGeom prst="rect">
            <a:avLst/>
          </a:prstGeom>
          <a:noFill/>
          <a:ln>
            <a:noFill/>
          </a:ln>
        </p:spPr>
        <p:txBody>
          <a:bodyPr anchorCtr="0" anchor="t" bIns="0" lIns="0" spcFirstLastPara="1" rIns="0" wrap="square" tIns="0">
            <a:noAutofit/>
          </a:bodyPr>
          <a:lstStyle/>
          <a:p>
            <a:pPr indent="0" lvl="0" marL="0" rtl="0" algn="l">
              <a:lnSpc>
                <a:spcPct val="94000"/>
              </a:lnSpc>
              <a:spcBef>
                <a:spcPts val="0"/>
              </a:spcBef>
              <a:spcAft>
                <a:spcPts val="0"/>
              </a:spcAft>
              <a:buClr>
                <a:srgbClr val="FFFFFF"/>
              </a:buClr>
              <a:buSzPts val="5400"/>
              <a:buFont typeface="Instrument Serif"/>
              <a:buNone/>
            </a:pPr>
            <a:r>
              <a:rPr lang="en-GB"/>
              <a:t>Factories</a:t>
            </a:r>
            <a:endParaRPr/>
          </a:p>
        </p:txBody>
      </p:sp>
      <p:sp>
        <p:nvSpPr>
          <p:cNvPr id="420" name="Google Shape;420;p21"/>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pic>
        <p:nvPicPr>
          <p:cNvPr id="425" name="Google Shape;425;g3fbabb9058b_0_1430"/>
          <p:cNvPicPr preferRelativeResize="0"/>
          <p:nvPr/>
        </p:nvPicPr>
        <p:blipFill>
          <a:blip r:embed="rId3">
            <a:alphaModFix/>
          </a:blip>
          <a:stretch>
            <a:fillRect/>
          </a:stretch>
        </p:blipFill>
        <p:spPr>
          <a:xfrm>
            <a:off x="1785503" y="0"/>
            <a:ext cx="8620995" cy="6858002"/>
          </a:xfrm>
          <a:prstGeom prst="rect">
            <a:avLst/>
          </a:prstGeom>
          <a:noFill/>
          <a:ln>
            <a:noFill/>
          </a:ln>
        </p:spPr>
      </p:pic>
      <p:sp>
        <p:nvSpPr>
          <p:cNvPr id="426" name="Google Shape;426;g3fbabb9058b_0_1430"/>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p22"/>
          <p:cNvSpPr txBox="1"/>
          <p:nvPr>
            <p:ph idx="1" type="body"/>
          </p:nvPr>
        </p:nvSpPr>
        <p:spPr>
          <a:xfrm>
            <a:off x="822960" y="457200"/>
            <a:ext cx="9144000" cy="320100"/>
          </a:xfrm>
          <a:prstGeom prst="rect">
            <a:avLst/>
          </a:prstGeom>
          <a:noFill/>
          <a:ln>
            <a:noFill/>
          </a:ln>
        </p:spPr>
        <p:txBody>
          <a:bodyPr anchorCtr="0" anchor="t" bIns="0" lIns="0" spcFirstLastPara="1" rIns="0" wrap="square" tIns="0">
            <a:noAutofit/>
          </a:bodyPr>
          <a:lstStyle/>
          <a:p>
            <a:pPr indent="0" lvl="0" marL="0" rtl="0" algn="l">
              <a:lnSpc>
                <a:spcPct val="118000"/>
              </a:lnSpc>
              <a:spcBef>
                <a:spcPts val="0"/>
              </a:spcBef>
              <a:spcAft>
                <a:spcPts val="0"/>
              </a:spcAft>
              <a:buClr>
                <a:srgbClr val="0064FF"/>
              </a:buClr>
              <a:buSzPts val="1200"/>
              <a:buFont typeface="Outfit"/>
              <a:buNone/>
            </a:pPr>
            <a:r>
              <a:rPr lang="en-GB"/>
              <a:t>SESSION 2 · FACTORIES · CONCEPTS</a:t>
            </a:r>
            <a:endParaRPr/>
          </a:p>
        </p:txBody>
      </p:sp>
      <p:sp>
        <p:nvSpPr>
          <p:cNvPr id="432" name="Google Shape;432;p22"/>
          <p:cNvSpPr txBox="1"/>
          <p:nvPr>
            <p:ph type="title"/>
          </p:nvPr>
        </p:nvSpPr>
        <p:spPr>
          <a:xfrm>
            <a:off x="822949" y="914400"/>
            <a:ext cx="10664100" cy="1371600"/>
          </a:xfrm>
          <a:prstGeom prst="rect">
            <a:avLst/>
          </a:prstGeom>
          <a:noFill/>
          <a:ln>
            <a:noFill/>
          </a:ln>
        </p:spPr>
        <p:txBody>
          <a:bodyPr anchorCtr="0" anchor="t" bIns="0" lIns="0" spcFirstLastPara="1" rIns="0" wrap="square" tIns="0">
            <a:noAutofit/>
          </a:bodyPr>
          <a:lstStyle/>
          <a:p>
            <a:pPr indent="0" lvl="0" marL="0" rtl="0" algn="l">
              <a:lnSpc>
                <a:spcPct val="96000"/>
              </a:lnSpc>
              <a:spcBef>
                <a:spcPts val="0"/>
              </a:spcBef>
              <a:spcAft>
                <a:spcPts val="0"/>
              </a:spcAft>
              <a:buClr>
                <a:srgbClr val="2C2C2A"/>
              </a:buClr>
              <a:buSzPts val="2800"/>
              <a:buFont typeface="Instrument Serif"/>
              <a:buNone/>
            </a:pPr>
            <a:r>
              <a:rPr lang="en-GB"/>
              <a:t>Kits running without their author's oversight need hard protocols to stay reliable.</a:t>
            </a:r>
            <a:endParaRPr/>
          </a:p>
        </p:txBody>
      </p:sp>
      <p:grpSp>
        <p:nvGrpSpPr>
          <p:cNvPr id="433" name="Google Shape;433;p22"/>
          <p:cNvGrpSpPr/>
          <p:nvPr/>
        </p:nvGrpSpPr>
        <p:grpSpPr>
          <a:xfrm>
            <a:off x="822960" y="1828800"/>
            <a:ext cx="3238500" cy="3524400"/>
            <a:chOff x="0" y="0"/>
            <a:chExt cx="3238500" cy="3524400"/>
          </a:xfrm>
        </p:grpSpPr>
        <p:sp>
          <p:nvSpPr>
            <p:cNvPr id="434" name="Google Shape;434;p22"/>
            <p:cNvSpPr/>
            <p:nvPr/>
          </p:nvSpPr>
          <p:spPr>
            <a:xfrm>
              <a:off x="0" y="0"/>
              <a:ext cx="3238500" cy="3524400"/>
            </a:xfrm>
            <a:prstGeom prst="roundRect">
              <a:avLst>
                <a:gd fmla="val 2352" name="adj"/>
              </a:avLst>
            </a:prstGeom>
            <a:solidFill>
              <a:srgbClr val="F0EDE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5" name="Google Shape;435;p22"/>
            <p:cNvSpPr txBox="1"/>
            <p:nvPr/>
          </p:nvSpPr>
          <p:spPr>
            <a:xfrm>
              <a:off x="0" y="0"/>
              <a:ext cx="3238500" cy="3524400"/>
            </a:xfrm>
            <a:prstGeom prst="rect">
              <a:avLst/>
            </a:prstGeom>
            <a:noFill/>
            <a:ln>
              <a:noFill/>
            </a:ln>
          </p:spPr>
          <p:txBody>
            <a:bodyPr anchorCtr="0" anchor="t" bIns="228600" lIns="228600" spcFirstLastPara="1" rIns="228600" wrap="square" tIns="228600">
              <a:noAutofit/>
            </a:bodyPr>
            <a:lstStyle/>
            <a:p>
              <a:pPr indent="0" lvl="0" marL="0" rtl="0" algn="l">
                <a:spcBef>
                  <a:spcPts val="0"/>
                </a:spcBef>
                <a:spcAft>
                  <a:spcPts val="0"/>
                </a:spcAft>
                <a:buNone/>
              </a:pPr>
              <a:r>
                <a:rPr b="0" lang="en-GB" sz="1000">
                  <a:solidFill>
                    <a:srgbClr val="0064FF"/>
                  </a:solidFill>
                  <a:latin typeface="Outfit SemiBold"/>
                  <a:ea typeface="Outfit SemiBold"/>
                  <a:cs typeface="Outfit SemiBold"/>
                  <a:sym typeface="Outfit SemiBold"/>
                </a:rPr>
                <a:t>1 · STATUS QUO</a:t>
              </a:r>
              <a:endParaRPr b="0" sz="1000">
                <a:solidFill>
                  <a:srgbClr val="0064FF"/>
                </a:solidFill>
                <a:latin typeface="Outfit SemiBold"/>
                <a:ea typeface="Outfit SemiBold"/>
                <a:cs typeface="Outfit SemiBold"/>
                <a:sym typeface="Outfit SemiBold"/>
              </a:endParaRPr>
            </a:p>
            <a:p>
              <a:pPr indent="0" lvl="0" marL="0" rtl="0" algn="l">
                <a:spcBef>
                  <a:spcPts val="600"/>
                </a:spcBef>
                <a:spcAft>
                  <a:spcPts val="0"/>
                </a:spcAft>
                <a:buNone/>
              </a:pPr>
              <a:r>
                <a:rPr b="0" lang="en-GB" sz="2200">
                  <a:solidFill>
                    <a:srgbClr val="2C2C2A"/>
                  </a:solidFill>
                  <a:latin typeface="Instrument Serif"/>
                  <a:ea typeface="Instrument Serif"/>
                  <a:cs typeface="Instrument Serif"/>
                  <a:sym typeface="Instrument Serif"/>
                </a:rPr>
                <a:t>Rules written as advice</a:t>
              </a:r>
              <a:endParaRPr b="0" sz="2200">
                <a:solidFill>
                  <a:srgbClr val="2C2C2A"/>
                </a:solidFill>
                <a:latin typeface="Instrument Serif"/>
                <a:ea typeface="Instrument Serif"/>
                <a:cs typeface="Instrument Serif"/>
                <a:sym typeface="Instrument Serif"/>
              </a:endParaRPr>
            </a:p>
            <a:p>
              <a:pPr indent="0" lvl="0" marL="0" rtl="0" algn="l">
                <a:spcBef>
                  <a:spcPts val="1200"/>
                </a:spcBef>
                <a:spcAft>
                  <a:spcPts val="0"/>
                </a:spcAft>
                <a:buNone/>
              </a:pPr>
              <a:r>
                <a:rPr b="0" lang="en-GB" sz="1100">
                  <a:solidFill>
                    <a:srgbClr val="2C2C2A"/>
                  </a:solidFill>
                  <a:latin typeface="Lora"/>
                  <a:ea typeface="Lora"/>
                  <a:cs typeface="Lora"/>
                  <a:sym typeface="Lora"/>
                </a:rPr>
                <a:t>Rules that exist only as written advice.</a:t>
              </a:r>
              <a:endParaRPr b="0" sz="1100">
                <a:solidFill>
                  <a:srgbClr val="2C2C2A"/>
                </a:solidFill>
                <a:latin typeface="Lora"/>
                <a:ea typeface="Lora"/>
                <a:cs typeface="Lora"/>
                <a:sym typeface="Lora"/>
              </a:endParaRPr>
            </a:p>
            <a:p>
              <a:pPr indent="0" lvl="0" marL="0" rtl="0" algn="l">
                <a:spcBef>
                  <a:spcPts val="1200"/>
                </a:spcBef>
                <a:spcAft>
                  <a:spcPts val="0"/>
                </a:spcAft>
                <a:buNone/>
              </a:pPr>
              <a:r>
                <a:rPr b="0" lang="en-GB" sz="1100">
                  <a:solidFill>
                    <a:srgbClr val="555555"/>
                  </a:solidFill>
                  <a:latin typeface="Lora"/>
                  <a:ea typeface="Lora"/>
                  <a:cs typeface="Lora"/>
                  <a:sym typeface="Lora"/>
                </a:rPr>
                <a:t>A kit works because its author re-bends it every single time.</a:t>
              </a:r>
              <a:endParaRPr b="0" sz="1100">
                <a:solidFill>
                  <a:srgbClr val="555555"/>
                </a:solidFill>
                <a:latin typeface="Lora"/>
                <a:ea typeface="Lora"/>
                <a:cs typeface="Lora"/>
                <a:sym typeface="Lora"/>
              </a:endParaRPr>
            </a:p>
          </p:txBody>
        </p:sp>
      </p:grpSp>
      <p:grpSp>
        <p:nvGrpSpPr>
          <p:cNvPr id="436" name="Google Shape;436;p22"/>
          <p:cNvGrpSpPr/>
          <p:nvPr/>
        </p:nvGrpSpPr>
        <p:grpSpPr>
          <a:xfrm>
            <a:off x="4251960" y="1828800"/>
            <a:ext cx="4095900" cy="3524400"/>
            <a:chOff x="0" y="0"/>
            <a:chExt cx="4095900" cy="3524400"/>
          </a:xfrm>
        </p:grpSpPr>
        <p:sp>
          <p:nvSpPr>
            <p:cNvPr id="437" name="Google Shape;437;p22"/>
            <p:cNvSpPr/>
            <p:nvPr/>
          </p:nvSpPr>
          <p:spPr>
            <a:xfrm>
              <a:off x="0" y="0"/>
              <a:ext cx="4095900" cy="3524400"/>
            </a:xfrm>
            <a:prstGeom prst="roundRect">
              <a:avLst>
                <a:gd fmla="val 2162" name="adj"/>
              </a:avLst>
            </a:prstGeom>
            <a:solidFill>
              <a:srgbClr val="E1F5E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8" name="Google Shape;438;p22"/>
            <p:cNvSpPr txBox="1"/>
            <p:nvPr/>
          </p:nvSpPr>
          <p:spPr>
            <a:xfrm>
              <a:off x="0" y="0"/>
              <a:ext cx="4095900" cy="3524400"/>
            </a:xfrm>
            <a:prstGeom prst="rect">
              <a:avLst/>
            </a:prstGeom>
            <a:noFill/>
            <a:ln>
              <a:noFill/>
            </a:ln>
          </p:spPr>
          <p:txBody>
            <a:bodyPr anchorCtr="0" anchor="t" bIns="228600" lIns="228600" spcFirstLastPara="1" rIns="228600" wrap="square" tIns="228600">
              <a:noAutofit/>
            </a:bodyPr>
            <a:lstStyle/>
            <a:p>
              <a:pPr indent="0" lvl="0" marL="0" rtl="0" algn="l">
                <a:spcBef>
                  <a:spcPts val="0"/>
                </a:spcBef>
                <a:spcAft>
                  <a:spcPts val="0"/>
                </a:spcAft>
                <a:buNone/>
              </a:pPr>
              <a:r>
                <a:rPr b="0" lang="en-GB" sz="1000">
                  <a:solidFill>
                    <a:srgbClr val="085041"/>
                  </a:solidFill>
                  <a:latin typeface="Outfit SemiBold"/>
                  <a:ea typeface="Outfit SemiBold"/>
                  <a:cs typeface="Outfit SemiBold"/>
                  <a:sym typeface="Outfit SemiBold"/>
                </a:rPr>
                <a:t>2 · TARGET STATE</a:t>
              </a:r>
              <a:endParaRPr b="0" sz="1000">
                <a:solidFill>
                  <a:srgbClr val="085041"/>
                </a:solidFill>
                <a:latin typeface="Outfit SemiBold"/>
                <a:ea typeface="Outfit SemiBold"/>
                <a:cs typeface="Outfit SemiBold"/>
                <a:sym typeface="Outfit SemiBold"/>
              </a:endParaRPr>
            </a:p>
            <a:p>
              <a:pPr indent="0" lvl="0" marL="0" rtl="0" algn="l">
                <a:spcBef>
                  <a:spcPts val="600"/>
                </a:spcBef>
                <a:spcAft>
                  <a:spcPts val="0"/>
                </a:spcAft>
                <a:buNone/>
              </a:pPr>
              <a:r>
                <a:rPr b="0" lang="en-GB" sz="2200">
                  <a:solidFill>
                    <a:srgbClr val="2C2C2A"/>
                  </a:solidFill>
                  <a:latin typeface="Instrument Serif"/>
                  <a:ea typeface="Instrument Serif"/>
                  <a:cs typeface="Instrument Serif"/>
                  <a:sym typeface="Instrument Serif"/>
                </a:rPr>
                <a:t>Rules built into process</a:t>
              </a:r>
              <a:endParaRPr b="0" sz="2200">
                <a:solidFill>
                  <a:srgbClr val="2C2C2A"/>
                </a:solidFill>
                <a:latin typeface="Instrument Serif"/>
                <a:ea typeface="Instrument Serif"/>
                <a:cs typeface="Instrument Serif"/>
                <a:sym typeface="Instrument Serif"/>
              </a:endParaRPr>
            </a:p>
            <a:p>
              <a:pPr indent="0" lvl="0" marL="0" rtl="0" algn="l">
                <a:spcBef>
                  <a:spcPts val="1200"/>
                </a:spcBef>
                <a:spcAft>
                  <a:spcPts val="0"/>
                </a:spcAft>
                <a:buNone/>
              </a:pPr>
              <a:r>
                <a:rPr b="0" lang="en-GB" sz="1100">
                  <a:solidFill>
                    <a:srgbClr val="1E4620"/>
                  </a:solidFill>
                  <a:latin typeface="Lora"/>
                  <a:ea typeface="Lora"/>
                  <a:cs typeface="Lora"/>
                  <a:sym typeface="Lora"/>
                </a:rPr>
                <a:t>Constraints promoted from advice into physics: a fixed output shape, a worked example, checks it runs on itself.</a:t>
              </a:r>
              <a:endParaRPr b="0" sz="1100">
                <a:solidFill>
                  <a:srgbClr val="1E4620"/>
                </a:solidFill>
                <a:latin typeface="Lora"/>
                <a:ea typeface="Lora"/>
                <a:cs typeface="Lora"/>
                <a:sym typeface="Lora"/>
              </a:endParaRPr>
            </a:p>
            <a:p>
              <a:pPr indent="0" lvl="0" marL="0" rtl="0" algn="l">
                <a:spcBef>
                  <a:spcPts val="1200"/>
                </a:spcBef>
                <a:spcAft>
                  <a:spcPts val="0"/>
                </a:spcAft>
                <a:buNone/>
              </a:pPr>
              <a:r>
                <a:rPr b="0" lang="en-GB" sz="1100">
                  <a:solidFill>
                    <a:srgbClr val="085041"/>
                  </a:solidFill>
                  <a:latin typeface="Lora"/>
                  <a:ea typeface="Lora"/>
                  <a:cs typeface="Lora"/>
                  <a:sym typeface="Lora"/>
                </a:rPr>
                <a:t>Tonight you remove yourself as something the kit requires. Letting a kit run more independently is only safe when its rules are built into the process rather than written as advice.</a:t>
              </a:r>
              <a:endParaRPr b="0" sz="1100">
                <a:solidFill>
                  <a:srgbClr val="085041"/>
                </a:solidFill>
                <a:latin typeface="Lora"/>
                <a:ea typeface="Lora"/>
                <a:cs typeface="Lora"/>
                <a:sym typeface="Lora"/>
              </a:endParaRPr>
            </a:p>
          </p:txBody>
        </p:sp>
      </p:grpSp>
      <p:grpSp>
        <p:nvGrpSpPr>
          <p:cNvPr id="439" name="Google Shape;439;p22"/>
          <p:cNvGrpSpPr/>
          <p:nvPr/>
        </p:nvGrpSpPr>
        <p:grpSpPr>
          <a:xfrm>
            <a:off x="8538210" y="1828800"/>
            <a:ext cx="2829000" cy="3524400"/>
            <a:chOff x="0" y="0"/>
            <a:chExt cx="2829000" cy="3524400"/>
          </a:xfrm>
        </p:grpSpPr>
        <p:sp>
          <p:nvSpPr>
            <p:cNvPr id="440" name="Google Shape;440;p22"/>
            <p:cNvSpPr/>
            <p:nvPr/>
          </p:nvSpPr>
          <p:spPr>
            <a:xfrm>
              <a:off x="0" y="0"/>
              <a:ext cx="2829000" cy="3524400"/>
            </a:xfrm>
            <a:prstGeom prst="roundRect">
              <a:avLst>
                <a:gd fmla="val 2693" name="adj"/>
              </a:avLst>
            </a:prstGeom>
            <a:solidFill>
              <a:srgbClr val="F0EDE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41" name="Google Shape;441;p22"/>
            <p:cNvSpPr txBox="1"/>
            <p:nvPr/>
          </p:nvSpPr>
          <p:spPr>
            <a:xfrm>
              <a:off x="0" y="0"/>
              <a:ext cx="2829000" cy="3524400"/>
            </a:xfrm>
            <a:prstGeom prst="rect">
              <a:avLst/>
            </a:prstGeom>
            <a:noFill/>
            <a:ln>
              <a:noFill/>
            </a:ln>
          </p:spPr>
          <p:txBody>
            <a:bodyPr anchorCtr="0" anchor="t" bIns="228600" lIns="228600" spcFirstLastPara="1" rIns="228600" wrap="square" tIns="228600">
              <a:noAutofit/>
            </a:bodyPr>
            <a:lstStyle/>
            <a:p>
              <a:pPr indent="0" lvl="0" marL="0" rtl="0" algn="l">
                <a:spcBef>
                  <a:spcPts val="0"/>
                </a:spcBef>
                <a:spcAft>
                  <a:spcPts val="0"/>
                </a:spcAft>
                <a:buNone/>
              </a:pPr>
              <a:r>
                <a:rPr b="0" lang="en-GB" sz="1000">
                  <a:solidFill>
                    <a:srgbClr val="0064FF"/>
                  </a:solidFill>
                  <a:latin typeface="Outfit SemiBold"/>
                  <a:ea typeface="Outfit SemiBold"/>
                  <a:cs typeface="Outfit SemiBold"/>
                  <a:sym typeface="Outfit SemiBold"/>
                </a:rPr>
                <a:t>3 · HOUSEKEEPING</a:t>
              </a:r>
              <a:endParaRPr b="0" sz="1000">
                <a:solidFill>
                  <a:srgbClr val="0064FF"/>
                </a:solidFill>
                <a:latin typeface="Outfit SemiBold"/>
                <a:ea typeface="Outfit SemiBold"/>
                <a:cs typeface="Outfit SemiBold"/>
                <a:sym typeface="Outfit SemiBold"/>
              </a:endParaRPr>
            </a:p>
            <a:p>
              <a:pPr indent="0" lvl="0" marL="0" rtl="0" algn="l">
                <a:spcBef>
                  <a:spcPts val="600"/>
                </a:spcBef>
                <a:spcAft>
                  <a:spcPts val="0"/>
                </a:spcAft>
                <a:buNone/>
              </a:pPr>
              <a:r>
                <a:rPr b="0" lang="en-GB" sz="2200">
                  <a:solidFill>
                    <a:srgbClr val="2C2C2A"/>
                  </a:solidFill>
                  <a:latin typeface="Instrument Serif"/>
                  <a:ea typeface="Instrument Serif"/>
                  <a:cs typeface="Instrument Serif"/>
                  <a:sym typeface="Instrument Serif"/>
                </a:rPr>
                <a:t>Before we start</a:t>
              </a:r>
              <a:endParaRPr b="0" sz="2200">
                <a:solidFill>
                  <a:srgbClr val="2C2C2A"/>
                </a:solidFill>
                <a:latin typeface="Instrument Serif"/>
                <a:ea typeface="Instrument Serif"/>
                <a:cs typeface="Instrument Serif"/>
                <a:sym typeface="Instrument Serif"/>
              </a:endParaRPr>
            </a:p>
            <a:p>
              <a:pPr indent="-295275" lvl="0" marL="457200" rtl="0" algn="l">
                <a:spcBef>
                  <a:spcPts val="1200"/>
                </a:spcBef>
                <a:spcAft>
                  <a:spcPts val="0"/>
                </a:spcAft>
                <a:buClr>
                  <a:srgbClr val="555555"/>
                </a:buClr>
                <a:buSzPts val="1050"/>
                <a:buFont typeface="Lora"/>
                <a:buChar char="●"/>
              </a:pPr>
              <a:r>
                <a:rPr b="0" lang="en-GB" sz="1050">
                  <a:solidFill>
                    <a:srgbClr val="555555"/>
                  </a:solidFill>
                  <a:latin typeface="Lora"/>
                  <a:ea typeface="Lora"/>
                  <a:cs typeface="Lora"/>
                  <a:sym typeface="Lora"/>
                </a:rPr>
                <a:t>Recording on, consent as pinned, breakouts may be recorded</a:t>
              </a:r>
              <a:endParaRPr b="0" sz="1050">
                <a:solidFill>
                  <a:srgbClr val="555555"/>
                </a:solidFill>
                <a:latin typeface="Lora"/>
                <a:ea typeface="Lora"/>
                <a:cs typeface="Lora"/>
                <a:sym typeface="Lora"/>
              </a:endParaRPr>
            </a:p>
            <a:p>
              <a:pPr indent="-295275" lvl="0" marL="457200" rtl="0" algn="l">
                <a:spcBef>
                  <a:spcPts val="800"/>
                </a:spcBef>
                <a:spcAft>
                  <a:spcPts val="0"/>
                </a:spcAft>
                <a:buClr>
                  <a:srgbClr val="555555"/>
                </a:buClr>
                <a:buSzPts val="1050"/>
                <a:buFont typeface="Lora"/>
                <a:buChar char="●"/>
              </a:pPr>
              <a:r>
                <a:rPr b="0" lang="en-GB" sz="1050">
                  <a:solidFill>
                    <a:srgbClr val="555555"/>
                  </a:solidFill>
                  <a:latin typeface="Lora"/>
                  <a:ea typeface="Lora"/>
                  <a:cs typeface="Lora"/>
                  <a:sym typeface="Lora"/>
                </a:rPr>
                <a:t>S1 awareness check is read back exactly as counted</a:t>
              </a:r>
              <a:endParaRPr b="0" sz="1050">
                <a:solidFill>
                  <a:srgbClr val="555555"/>
                </a:solidFill>
                <a:latin typeface="Lora"/>
                <a:ea typeface="Lora"/>
                <a:cs typeface="Lora"/>
                <a:sym typeface="Lora"/>
              </a:endParaRPr>
            </a:p>
            <a:p>
              <a:pPr indent="-295275" lvl="0" marL="457200" rtl="0" algn="l">
                <a:spcBef>
                  <a:spcPts val="800"/>
                </a:spcBef>
                <a:spcAft>
                  <a:spcPts val="0"/>
                </a:spcAft>
                <a:buClr>
                  <a:srgbClr val="555555"/>
                </a:buClr>
                <a:buSzPts val="1050"/>
                <a:buFont typeface="Lora"/>
                <a:buChar char="●"/>
              </a:pPr>
              <a:r>
                <a:rPr b="0" lang="en-GB" sz="1050">
                  <a:solidFill>
                    <a:srgbClr val="555555"/>
                  </a:solidFill>
                  <a:latin typeface="Lora"/>
                  <a:ea typeface="Lora"/>
                  <a:cs typeface="Lora"/>
                  <a:sym typeface="Lora"/>
                </a:rPr>
                <a:t>Kits chosen in Async 1 are counted from the repo</a:t>
              </a:r>
              <a:endParaRPr b="0" sz="1050">
                <a:solidFill>
                  <a:srgbClr val="555555"/>
                </a:solidFill>
                <a:latin typeface="Lora"/>
                <a:ea typeface="Lora"/>
                <a:cs typeface="Lora"/>
                <a:sym typeface="Lora"/>
              </a:endParaRPr>
            </a:p>
          </p:txBody>
        </p:sp>
      </p:grpSp>
      <p:sp>
        <p:nvSpPr>
          <p:cNvPr id="442" name="Google Shape;442;p22"/>
          <p:cNvSpPr txBox="1"/>
          <p:nvPr/>
        </p:nvSpPr>
        <p:spPr>
          <a:xfrm>
            <a:off x="822960" y="5638800"/>
            <a:ext cx="10544100" cy="476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900">
                <a:solidFill>
                  <a:srgbClr val="0064FF"/>
                </a:solidFill>
                <a:latin typeface="Outfit SemiBold"/>
                <a:ea typeface="Outfit SemiBold"/>
                <a:cs typeface="Outfit SemiBold"/>
                <a:sym typeface="Outfit SemiBold"/>
              </a:rPr>
              <a:t>§ HARD WORLD / HARDNESS</a:t>
            </a:r>
            <a:endParaRPr b="0" sz="900">
              <a:solidFill>
                <a:srgbClr val="0064FF"/>
              </a:solidFill>
              <a:latin typeface="Outfit SemiBold"/>
              <a:ea typeface="Outfit SemiBold"/>
              <a:cs typeface="Outfit SemiBold"/>
              <a:sym typeface="Outfit SemiBold"/>
            </a:endParaRPr>
          </a:p>
          <a:p>
            <a:pPr indent="0" lvl="0" marL="0" rtl="0" algn="l">
              <a:spcBef>
                <a:spcPts val="300"/>
              </a:spcBef>
              <a:spcAft>
                <a:spcPts val="0"/>
              </a:spcAft>
              <a:buNone/>
            </a:pPr>
            <a:r>
              <a:rPr b="0" lang="en-GB" sz="950">
                <a:solidFill>
                  <a:srgbClr val="666666"/>
                </a:solidFill>
                <a:latin typeface="Lora"/>
                <a:ea typeface="Lora"/>
                <a:cs typeface="Lora"/>
                <a:sym typeface="Lora"/>
              </a:rPr>
              <a:t>Jay Springett’s sense: rules built into the surroundings themselves, rather than left as written advice an assistant may or may not follow. Hard does not mean difficult.</a:t>
            </a:r>
            <a:endParaRPr b="0" sz="950">
              <a:solidFill>
                <a:srgbClr val="666666"/>
              </a:solidFill>
              <a:latin typeface="Lora"/>
              <a:ea typeface="Lora"/>
              <a:cs typeface="Lora"/>
              <a:sym typeface="Lora"/>
            </a:endParaRPr>
          </a:p>
        </p:txBody>
      </p:sp>
      <p:sp>
        <p:nvSpPr>
          <p:cNvPr id="443" name="Google Shape;443;p22"/>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23"/>
          <p:cNvSpPr txBox="1"/>
          <p:nvPr>
            <p:ph type="title"/>
          </p:nvPr>
        </p:nvSpPr>
        <p:spPr>
          <a:xfrm>
            <a:off x="822960" y="857250"/>
            <a:ext cx="10546200" cy="952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n-GB" sz="3200">
                <a:solidFill>
                  <a:srgbClr val="2C2C2A"/>
                </a:solidFill>
                <a:latin typeface="Instrument Serif"/>
                <a:ea typeface="Instrument Serif"/>
                <a:cs typeface="Instrument Serif"/>
                <a:sym typeface="Instrument Serif"/>
              </a:rPr>
              <a:t>In the chat, </a:t>
            </a:r>
            <a:r>
              <a:rPr lang="en-GB" sz="3200"/>
              <a:t>find</a:t>
            </a:r>
            <a:r>
              <a:rPr b="0" lang="en-GB" sz="3200">
                <a:solidFill>
                  <a:srgbClr val="2C2C2A"/>
                </a:solidFill>
                <a:latin typeface="Instrument Serif"/>
                <a:ea typeface="Instrument Serif"/>
                <a:cs typeface="Instrument Serif"/>
                <a:sym typeface="Instrument Serif"/>
              </a:rPr>
              <a:t> one thing your kit still needs you to do.</a:t>
            </a:r>
            <a:endParaRPr b="0" sz="3200">
              <a:solidFill>
                <a:srgbClr val="2C2C2A"/>
              </a:solidFill>
              <a:latin typeface="Instrument Serif"/>
              <a:ea typeface="Instrument Serif"/>
              <a:cs typeface="Instrument Serif"/>
              <a:sym typeface="Instrument Serif"/>
            </a:endParaRPr>
          </a:p>
        </p:txBody>
      </p:sp>
      <p:grpSp>
        <p:nvGrpSpPr>
          <p:cNvPr id="449" name="Google Shape;449;p23"/>
          <p:cNvGrpSpPr/>
          <p:nvPr/>
        </p:nvGrpSpPr>
        <p:grpSpPr>
          <a:xfrm>
            <a:off x="822960" y="2000250"/>
            <a:ext cx="3257700" cy="4286400"/>
            <a:chOff x="0" y="0"/>
            <a:chExt cx="3257700" cy="4286400"/>
          </a:xfrm>
        </p:grpSpPr>
        <p:sp>
          <p:nvSpPr>
            <p:cNvPr id="450" name="Google Shape;450;p23"/>
            <p:cNvSpPr/>
            <p:nvPr/>
          </p:nvSpPr>
          <p:spPr>
            <a:xfrm>
              <a:off x="0" y="0"/>
              <a:ext cx="3257700" cy="4286400"/>
            </a:xfrm>
            <a:prstGeom prst="roundRect">
              <a:avLst>
                <a:gd fmla="val 2339" name="adj"/>
              </a:avLst>
            </a:prstGeom>
            <a:solidFill>
              <a:srgbClr val="E1F5E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51" name="Google Shape;451;p23"/>
            <p:cNvSpPr txBox="1"/>
            <p:nvPr/>
          </p:nvSpPr>
          <p:spPr>
            <a:xfrm>
              <a:off x="0" y="0"/>
              <a:ext cx="3257700" cy="4286400"/>
            </a:xfrm>
            <a:prstGeom prst="rect">
              <a:avLst/>
            </a:prstGeom>
            <a:noFill/>
            <a:ln>
              <a:noFill/>
            </a:ln>
          </p:spPr>
          <p:txBody>
            <a:bodyPr anchorCtr="0" anchor="t" bIns="266700" lIns="266700" spcFirstLastPara="1" rIns="266700" wrap="square" tIns="266700">
              <a:noAutofit/>
            </a:bodyPr>
            <a:lstStyle/>
            <a:p>
              <a:pPr indent="0" lvl="0" marL="0" rtl="0" algn="l">
                <a:spcBef>
                  <a:spcPts val="0"/>
                </a:spcBef>
                <a:spcAft>
                  <a:spcPts val="0"/>
                </a:spcAft>
                <a:buNone/>
              </a:pPr>
              <a:r>
                <a:rPr b="0" lang="en-GB" sz="1000">
                  <a:solidFill>
                    <a:srgbClr val="085041"/>
                  </a:solidFill>
                  <a:latin typeface="Outfit SemiBold"/>
                  <a:ea typeface="Outfit SemiBold"/>
                  <a:cs typeface="Outfit SemiBold"/>
                  <a:sym typeface="Outfit SemiBold"/>
                </a:rPr>
                <a:t>1 · THE INSTRUCTION</a:t>
              </a:r>
              <a:endParaRPr b="0" sz="1000">
                <a:solidFill>
                  <a:srgbClr val="085041"/>
                </a:solidFill>
                <a:latin typeface="Outfit SemiBold"/>
                <a:ea typeface="Outfit SemiBold"/>
                <a:cs typeface="Outfit SemiBold"/>
                <a:sym typeface="Outfit SemiBold"/>
              </a:endParaRPr>
            </a:p>
            <a:p>
              <a:pPr indent="0" lvl="0" marL="0" rtl="0" algn="l">
                <a:spcBef>
                  <a:spcPts val="800"/>
                </a:spcBef>
                <a:spcAft>
                  <a:spcPts val="0"/>
                </a:spcAft>
                <a:buNone/>
              </a:pPr>
              <a:r>
                <a:rPr b="0" lang="en-GB" sz="2200">
                  <a:solidFill>
                    <a:srgbClr val="2C2C2A"/>
                  </a:solidFill>
                  <a:latin typeface="Instrument Serif"/>
                  <a:ea typeface="Instrument Serif"/>
                  <a:cs typeface="Instrument Serif"/>
                  <a:sym typeface="Instrument Serif"/>
                </a:rPr>
                <a:t>Post in #workshop-kitkraft</a:t>
              </a:r>
              <a:endParaRPr b="0" sz="2200">
                <a:solidFill>
                  <a:srgbClr val="2C2C2A"/>
                </a:solidFill>
                <a:latin typeface="Instrument Serif"/>
                <a:ea typeface="Instrument Serif"/>
                <a:cs typeface="Instrument Serif"/>
                <a:sym typeface="Instrument Serif"/>
              </a:endParaRPr>
            </a:p>
            <a:p>
              <a:pPr indent="0" lvl="0" marL="0" rtl="0" algn="l">
                <a:spcBef>
                  <a:spcPts val="1200"/>
                </a:spcBef>
                <a:spcAft>
                  <a:spcPts val="0"/>
                </a:spcAft>
                <a:buNone/>
              </a:pPr>
              <a:r>
                <a:rPr b="0" i="1" lang="en-GB" sz="1300">
                  <a:solidFill>
                    <a:srgbClr val="085041"/>
                  </a:solidFill>
                  <a:highlight>
                    <a:srgbClr val="FFFFFF"/>
                  </a:highlight>
                  <a:latin typeface="Lora SemiBold"/>
                  <a:ea typeface="Lora SemiBold"/>
                  <a:cs typeface="Lora SemiBold"/>
                  <a:sym typeface="Lora SemiBold"/>
                </a:rPr>
                <a:t>"My kit still needs me to ___"</a:t>
              </a:r>
              <a:endParaRPr b="0" i="1" sz="1300">
                <a:solidFill>
                  <a:srgbClr val="085041"/>
                </a:solidFill>
                <a:highlight>
                  <a:srgbClr val="FFFFFF"/>
                </a:highlight>
                <a:latin typeface="Lora SemiBold"/>
                <a:ea typeface="Lora SemiBold"/>
                <a:cs typeface="Lora SemiBold"/>
                <a:sym typeface="Lora SemiBold"/>
              </a:endParaRPr>
            </a:p>
            <a:p>
              <a:pPr indent="0" lvl="0" marL="0" rtl="0" algn="l">
                <a:spcBef>
                  <a:spcPts val="1400"/>
                </a:spcBef>
                <a:spcAft>
                  <a:spcPts val="0"/>
                </a:spcAft>
                <a:buNone/>
              </a:pPr>
              <a:r>
                <a:rPr b="0" lang="en-GB" sz="1100">
                  <a:solidFill>
                    <a:srgbClr val="1E4620"/>
                  </a:solidFill>
                  <a:latin typeface="Lora"/>
                  <a:ea typeface="Lora"/>
                  <a:cs typeface="Lora"/>
                  <a:sym typeface="Lora"/>
                </a:rPr>
                <a:t>One line, no names, no explanation.</a:t>
              </a:r>
              <a:endParaRPr b="0" sz="1100">
                <a:solidFill>
                  <a:srgbClr val="1E4620"/>
                </a:solidFill>
                <a:latin typeface="Lora"/>
                <a:ea typeface="Lora"/>
                <a:cs typeface="Lora"/>
                <a:sym typeface="Lora"/>
              </a:endParaRPr>
            </a:p>
            <a:p>
              <a:pPr indent="0" lvl="0" marL="0" rtl="0" algn="l">
                <a:spcBef>
                  <a:spcPts val="800"/>
                </a:spcBef>
                <a:spcAft>
                  <a:spcPts val="0"/>
                </a:spcAft>
                <a:buNone/>
              </a:pPr>
              <a:r>
                <a:rPr b="0" lang="en-GB" sz="1100">
                  <a:solidFill>
                    <a:srgbClr val="085041"/>
                  </a:solidFill>
                  <a:latin typeface="Lora"/>
                  <a:ea typeface="Lora"/>
                  <a:cs typeface="Lora"/>
                  <a:sym typeface="Lora"/>
                </a:rPr>
                <a:t>Don't read the others until you have posted yours.</a:t>
              </a:r>
              <a:endParaRPr b="0" sz="1100">
                <a:solidFill>
                  <a:srgbClr val="085041"/>
                </a:solidFill>
                <a:latin typeface="Lora"/>
                <a:ea typeface="Lora"/>
                <a:cs typeface="Lora"/>
                <a:sym typeface="Lora"/>
              </a:endParaRPr>
            </a:p>
          </p:txBody>
        </p:sp>
      </p:grpSp>
      <p:grpSp>
        <p:nvGrpSpPr>
          <p:cNvPr id="452" name="Google Shape;452;p23"/>
          <p:cNvGrpSpPr/>
          <p:nvPr/>
        </p:nvGrpSpPr>
        <p:grpSpPr>
          <a:xfrm>
            <a:off x="4465320" y="2000250"/>
            <a:ext cx="3257700" cy="4286400"/>
            <a:chOff x="0" y="0"/>
            <a:chExt cx="3257700" cy="4286400"/>
          </a:xfrm>
        </p:grpSpPr>
        <p:sp>
          <p:nvSpPr>
            <p:cNvPr id="453" name="Google Shape;453;p23"/>
            <p:cNvSpPr/>
            <p:nvPr/>
          </p:nvSpPr>
          <p:spPr>
            <a:xfrm>
              <a:off x="0" y="0"/>
              <a:ext cx="3257700" cy="4286400"/>
            </a:xfrm>
            <a:prstGeom prst="roundRect">
              <a:avLst>
                <a:gd fmla="val 2339" name="adj"/>
              </a:avLst>
            </a:prstGeom>
            <a:solidFill>
              <a:srgbClr val="F0EDE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54" name="Google Shape;454;p23"/>
            <p:cNvSpPr txBox="1"/>
            <p:nvPr/>
          </p:nvSpPr>
          <p:spPr>
            <a:xfrm>
              <a:off x="0" y="0"/>
              <a:ext cx="3257700" cy="4286400"/>
            </a:xfrm>
            <a:prstGeom prst="rect">
              <a:avLst/>
            </a:prstGeom>
            <a:noFill/>
            <a:ln>
              <a:noFill/>
            </a:ln>
          </p:spPr>
          <p:txBody>
            <a:bodyPr anchorCtr="0" anchor="t" bIns="266700" lIns="266700" spcFirstLastPara="1" rIns="266700" wrap="square" tIns="266700">
              <a:noAutofit/>
            </a:bodyPr>
            <a:lstStyle/>
            <a:p>
              <a:pPr indent="0" lvl="0" marL="0" rtl="0" algn="l">
                <a:spcBef>
                  <a:spcPts val="0"/>
                </a:spcBef>
                <a:spcAft>
                  <a:spcPts val="0"/>
                </a:spcAft>
                <a:buNone/>
              </a:pPr>
              <a:r>
                <a:rPr b="0" lang="en-GB" sz="1000">
                  <a:solidFill>
                    <a:srgbClr val="0064FF"/>
                  </a:solidFill>
                  <a:latin typeface="Outfit SemiBold"/>
                  <a:ea typeface="Outfit SemiBold"/>
                  <a:cs typeface="Outfit SemiBold"/>
                  <a:sym typeface="Outfit SemiBold"/>
                </a:rPr>
                <a:t>2 · EXAMPLES</a:t>
              </a:r>
              <a:endParaRPr b="0" sz="1000">
                <a:solidFill>
                  <a:srgbClr val="0064FF"/>
                </a:solidFill>
                <a:latin typeface="Outfit SemiBold"/>
                <a:ea typeface="Outfit SemiBold"/>
                <a:cs typeface="Outfit SemiBold"/>
                <a:sym typeface="Outfit SemiBold"/>
              </a:endParaRPr>
            </a:p>
            <a:p>
              <a:pPr indent="0" lvl="0" marL="0" rtl="0" algn="l">
                <a:spcBef>
                  <a:spcPts val="800"/>
                </a:spcBef>
                <a:spcAft>
                  <a:spcPts val="0"/>
                </a:spcAft>
                <a:buNone/>
              </a:pPr>
              <a:r>
                <a:rPr lang="en-GB" sz="2200">
                  <a:solidFill>
                    <a:srgbClr val="2C2C2A"/>
                  </a:solidFill>
                  <a:latin typeface="Instrument Serif"/>
                  <a:ea typeface="Instrument Serif"/>
                  <a:cs typeface="Instrument Serif"/>
                  <a:sym typeface="Instrument Serif"/>
                </a:rPr>
                <a:t>Stuck? Here are some ideas:</a:t>
              </a:r>
              <a:endParaRPr b="0" sz="2200">
                <a:solidFill>
                  <a:srgbClr val="2C2C2A"/>
                </a:solidFill>
                <a:latin typeface="Instrument Serif"/>
                <a:ea typeface="Instrument Serif"/>
                <a:cs typeface="Instrument Serif"/>
                <a:sym typeface="Instrument Serif"/>
              </a:endParaRPr>
            </a:p>
            <a:p>
              <a:pPr indent="-298450" lvl="0" marL="457200" rtl="0" algn="l">
                <a:spcBef>
                  <a:spcPts val="1200"/>
                </a:spcBef>
                <a:spcAft>
                  <a:spcPts val="0"/>
                </a:spcAft>
                <a:buClr>
                  <a:srgbClr val="444444"/>
                </a:buClr>
                <a:buSzPts val="1100"/>
                <a:buFont typeface="Lora"/>
                <a:buChar char="●"/>
              </a:pPr>
              <a:r>
                <a:rPr b="0" lang="en-GB" sz="1100">
                  <a:solidFill>
                    <a:srgbClr val="444444"/>
                  </a:solidFill>
                  <a:latin typeface="Lora"/>
                  <a:ea typeface="Lora"/>
                  <a:cs typeface="Lora"/>
                  <a:sym typeface="Lora"/>
                </a:rPr>
                <a:t>…pick which file to start from</a:t>
              </a:r>
              <a:endParaRPr b="0" sz="1100">
                <a:solidFill>
                  <a:srgbClr val="444444"/>
                </a:solidFill>
                <a:latin typeface="Lora"/>
                <a:ea typeface="Lora"/>
                <a:cs typeface="Lora"/>
                <a:sym typeface="Lora"/>
              </a:endParaRPr>
            </a:p>
            <a:p>
              <a:pPr indent="-298450" lvl="0" marL="457200" rtl="0" algn="l">
                <a:spcBef>
                  <a:spcPts val="1000"/>
                </a:spcBef>
                <a:spcAft>
                  <a:spcPts val="0"/>
                </a:spcAft>
                <a:buClr>
                  <a:srgbClr val="444444"/>
                </a:buClr>
                <a:buSzPts val="1100"/>
                <a:buFont typeface="Lora"/>
                <a:buChar char="●"/>
              </a:pPr>
              <a:r>
                <a:rPr b="0" lang="en-GB" sz="1100">
                  <a:solidFill>
                    <a:srgbClr val="444444"/>
                  </a:solidFill>
                  <a:latin typeface="Lora"/>
                  <a:ea typeface="Lora"/>
                  <a:cs typeface="Lora"/>
                  <a:sym typeface="Lora"/>
                </a:rPr>
                <a:t>…know which client this is for</a:t>
              </a:r>
              <a:endParaRPr b="0" sz="1100">
                <a:solidFill>
                  <a:srgbClr val="444444"/>
                </a:solidFill>
                <a:latin typeface="Lora"/>
                <a:ea typeface="Lora"/>
                <a:cs typeface="Lora"/>
                <a:sym typeface="Lora"/>
              </a:endParaRPr>
            </a:p>
            <a:p>
              <a:pPr indent="-298450" lvl="0" marL="457200" rtl="0" algn="l">
                <a:spcBef>
                  <a:spcPts val="1000"/>
                </a:spcBef>
                <a:spcAft>
                  <a:spcPts val="0"/>
                </a:spcAft>
                <a:buClr>
                  <a:srgbClr val="444444"/>
                </a:buClr>
                <a:buSzPts val="1100"/>
                <a:buFont typeface="Lora"/>
                <a:buChar char="●"/>
              </a:pPr>
              <a:r>
                <a:rPr b="0" lang="en-GB" sz="1100">
                  <a:solidFill>
                    <a:srgbClr val="444444"/>
                  </a:solidFill>
                  <a:latin typeface="Lora"/>
                  <a:ea typeface="Lora"/>
                  <a:cs typeface="Lora"/>
                  <a:sym typeface="Lora"/>
                </a:rPr>
                <a:t>…notice when the output is wrong</a:t>
              </a:r>
              <a:endParaRPr b="0" sz="1100">
                <a:solidFill>
                  <a:srgbClr val="444444"/>
                </a:solidFill>
                <a:latin typeface="Lora"/>
                <a:ea typeface="Lora"/>
                <a:cs typeface="Lora"/>
                <a:sym typeface="Lora"/>
              </a:endParaRPr>
            </a:p>
            <a:p>
              <a:pPr indent="-298450" lvl="0" marL="457200" rtl="0" algn="l">
                <a:spcBef>
                  <a:spcPts val="1000"/>
                </a:spcBef>
                <a:spcAft>
                  <a:spcPts val="0"/>
                </a:spcAft>
                <a:buClr>
                  <a:srgbClr val="444444"/>
                </a:buClr>
                <a:buSzPts val="1100"/>
                <a:buFont typeface="Lora"/>
                <a:buChar char="●"/>
              </a:pPr>
              <a:r>
                <a:rPr b="0" lang="en-GB" sz="1100">
                  <a:solidFill>
                    <a:srgbClr val="444444"/>
                  </a:solidFill>
                  <a:latin typeface="Lora"/>
                  <a:ea typeface="Lora"/>
                  <a:cs typeface="Lora"/>
                  <a:sym typeface="Lora"/>
                </a:rPr>
                <a:t>…remember the exception we agreed in March</a:t>
              </a:r>
              <a:endParaRPr b="0" sz="1100">
                <a:solidFill>
                  <a:srgbClr val="444444"/>
                </a:solidFill>
                <a:latin typeface="Lora"/>
                <a:ea typeface="Lora"/>
                <a:cs typeface="Lora"/>
                <a:sym typeface="Lora"/>
              </a:endParaRPr>
            </a:p>
          </p:txBody>
        </p:sp>
      </p:grpSp>
      <p:grpSp>
        <p:nvGrpSpPr>
          <p:cNvPr id="455" name="Google Shape;455;p23"/>
          <p:cNvGrpSpPr/>
          <p:nvPr/>
        </p:nvGrpSpPr>
        <p:grpSpPr>
          <a:xfrm>
            <a:off x="8107680" y="2000250"/>
            <a:ext cx="3257700" cy="4286400"/>
            <a:chOff x="0" y="0"/>
            <a:chExt cx="3257700" cy="4286400"/>
          </a:xfrm>
        </p:grpSpPr>
        <p:sp>
          <p:nvSpPr>
            <p:cNvPr id="456" name="Google Shape;456;p23"/>
            <p:cNvSpPr/>
            <p:nvPr/>
          </p:nvSpPr>
          <p:spPr>
            <a:xfrm>
              <a:off x="0" y="0"/>
              <a:ext cx="3257700" cy="4286400"/>
            </a:xfrm>
            <a:prstGeom prst="roundRect">
              <a:avLst>
                <a:gd fmla="val 2339" name="adj"/>
              </a:avLst>
            </a:prstGeom>
            <a:solidFill>
              <a:srgbClr val="F0EDE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57" name="Google Shape;457;p23"/>
            <p:cNvSpPr txBox="1"/>
            <p:nvPr/>
          </p:nvSpPr>
          <p:spPr>
            <a:xfrm>
              <a:off x="0" y="0"/>
              <a:ext cx="3257700" cy="4286400"/>
            </a:xfrm>
            <a:prstGeom prst="rect">
              <a:avLst/>
            </a:prstGeom>
            <a:noFill/>
            <a:ln>
              <a:noFill/>
            </a:ln>
          </p:spPr>
          <p:txBody>
            <a:bodyPr anchorCtr="0" anchor="t" bIns="266700" lIns="266700" spcFirstLastPara="1" rIns="266700" wrap="square" tIns="266700">
              <a:noAutofit/>
            </a:bodyPr>
            <a:lstStyle/>
            <a:p>
              <a:pPr indent="0" lvl="0" marL="0" rtl="0" algn="l">
                <a:spcBef>
                  <a:spcPts val="0"/>
                </a:spcBef>
                <a:spcAft>
                  <a:spcPts val="0"/>
                </a:spcAft>
                <a:buNone/>
              </a:pPr>
              <a:r>
                <a:rPr b="0" lang="en-GB" sz="1000">
                  <a:solidFill>
                    <a:srgbClr val="0064FF"/>
                  </a:solidFill>
                  <a:latin typeface="Outfit SemiBold"/>
                  <a:ea typeface="Outfit SemiBold"/>
                  <a:cs typeface="Outfit SemiBold"/>
                  <a:sym typeface="Outfit SemiBold"/>
                </a:rPr>
                <a:t>3 · PURPOSE &amp; GOAL</a:t>
              </a:r>
              <a:endParaRPr b="0" sz="1000">
                <a:solidFill>
                  <a:srgbClr val="0064FF"/>
                </a:solidFill>
                <a:latin typeface="Outfit SemiBold"/>
                <a:ea typeface="Outfit SemiBold"/>
                <a:cs typeface="Outfit SemiBold"/>
                <a:sym typeface="Outfit SemiBold"/>
              </a:endParaRPr>
            </a:p>
            <a:p>
              <a:pPr indent="0" lvl="0" marL="0" rtl="0" algn="l">
                <a:spcBef>
                  <a:spcPts val="800"/>
                </a:spcBef>
                <a:spcAft>
                  <a:spcPts val="0"/>
                </a:spcAft>
                <a:buNone/>
              </a:pPr>
              <a:r>
                <a:rPr b="0" lang="en-GB" sz="2200">
                  <a:solidFill>
                    <a:srgbClr val="2C2C2A"/>
                  </a:solidFill>
                  <a:latin typeface="Instrument Serif"/>
                  <a:ea typeface="Instrument Serif"/>
                  <a:cs typeface="Instrument Serif"/>
                  <a:sym typeface="Instrument Serif"/>
                </a:rPr>
                <a:t>Why we start here</a:t>
              </a:r>
              <a:endParaRPr b="0" sz="2200">
                <a:solidFill>
                  <a:srgbClr val="2C2C2A"/>
                </a:solidFill>
                <a:latin typeface="Instrument Serif"/>
                <a:ea typeface="Instrument Serif"/>
                <a:cs typeface="Instrument Serif"/>
                <a:sym typeface="Instrument Serif"/>
              </a:endParaRPr>
            </a:p>
            <a:p>
              <a:pPr indent="0" lvl="0" marL="0" rtl="0" algn="l">
                <a:spcBef>
                  <a:spcPts val="1000"/>
                </a:spcBef>
                <a:spcAft>
                  <a:spcPts val="0"/>
                </a:spcAft>
                <a:buNone/>
              </a:pPr>
              <a:r>
                <a:rPr b="0" lang="en-GB" sz="1100">
                  <a:solidFill>
                    <a:srgbClr val="555555"/>
                  </a:solidFill>
                  <a:latin typeface="Lora"/>
                  <a:ea typeface="Lora"/>
                  <a:cs typeface="Lora"/>
                  <a:sym typeface="Lora"/>
                </a:rPr>
                <a:t>Whatever you type is the thing your SKILL.md does not say out loud yet. Keep the line — you will use it in Exercise 6.</a:t>
              </a:r>
              <a:endParaRPr b="0" sz="1100">
                <a:solidFill>
                  <a:srgbClr val="555555"/>
                </a:solidFill>
                <a:latin typeface="Lora"/>
                <a:ea typeface="Lora"/>
                <a:cs typeface="Lora"/>
                <a:sym typeface="Lora"/>
              </a:endParaRPr>
            </a:p>
            <a:p>
              <a:pPr indent="0" lvl="0" marL="0" rtl="0" algn="l">
                <a:spcBef>
                  <a:spcPts val="1600"/>
                </a:spcBef>
                <a:spcAft>
                  <a:spcPts val="0"/>
                </a:spcAft>
                <a:buNone/>
              </a:pPr>
              <a:r>
                <a:rPr b="0" lang="en-GB" sz="950">
                  <a:solidFill>
                    <a:srgbClr val="0064FF"/>
                  </a:solidFill>
                  <a:latin typeface="Outfit SemiBold"/>
                  <a:ea typeface="Outfit SemiBold"/>
                  <a:cs typeface="Outfit SemiBold"/>
                  <a:sym typeface="Outfit SemiBold"/>
                </a:rPr>
                <a:t>DONE WHEN</a:t>
              </a:r>
              <a:endParaRPr b="0" sz="950">
                <a:solidFill>
                  <a:srgbClr val="0064FF"/>
                </a:solidFill>
                <a:latin typeface="Outfit SemiBold"/>
                <a:ea typeface="Outfit SemiBold"/>
                <a:cs typeface="Outfit SemiBold"/>
                <a:sym typeface="Outfit SemiBold"/>
              </a:endParaRPr>
            </a:p>
            <a:p>
              <a:pPr indent="0" lvl="0" marL="0" rtl="0" algn="l">
                <a:spcBef>
                  <a:spcPts val="400"/>
                </a:spcBef>
                <a:spcAft>
                  <a:spcPts val="0"/>
                </a:spcAft>
                <a:buNone/>
              </a:pPr>
              <a:r>
                <a:rPr b="0" lang="en-GB" sz="1050">
                  <a:solidFill>
                    <a:srgbClr val="2C2C2A"/>
                  </a:solidFill>
                  <a:latin typeface="Lora"/>
                  <a:ea typeface="Lora"/>
                  <a:cs typeface="Lora"/>
                  <a:sym typeface="Lora"/>
                </a:rPr>
                <a:t>Your line is posted in the channel before you read anyone else’s.</a:t>
              </a:r>
              <a:endParaRPr b="0" sz="1050">
                <a:solidFill>
                  <a:srgbClr val="2C2C2A"/>
                </a:solidFill>
                <a:latin typeface="Lora"/>
                <a:ea typeface="Lora"/>
                <a:cs typeface="Lora"/>
                <a:sym typeface="Lora"/>
              </a:endParaRPr>
            </a:p>
          </p:txBody>
        </p:sp>
      </p:grpSp>
      <p:sp>
        <p:nvSpPr>
          <p:cNvPr id="458" name="Google Shape;458;p23"/>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459" name="Google Shape;459;p23"/>
          <p:cNvSpPr txBox="1"/>
          <p:nvPr>
            <p:ph idx="1" type="body"/>
          </p:nvPr>
        </p:nvSpPr>
        <p:spPr>
          <a:xfrm>
            <a:off x="822960" y="457200"/>
            <a:ext cx="9144000" cy="320100"/>
          </a:xfrm>
          <a:prstGeom prst="rect">
            <a:avLst/>
          </a:prstGeom>
          <a:noFill/>
          <a:ln>
            <a:noFill/>
          </a:ln>
        </p:spPr>
        <p:txBody>
          <a:bodyPr anchorCtr="0" anchor="t" bIns="0" lIns="0" spcFirstLastPara="1" rIns="0" wrap="square" tIns="0">
            <a:noAutofit/>
          </a:bodyPr>
          <a:lstStyle/>
          <a:p>
            <a:pPr indent="0" lvl="0" marL="0" rtl="0" algn="l">
              <a:lnSpc>
                <a:spcPct val="118000"/>
              </a:lnSpc>
              <a:spcBef>
                <a:spcPts val="0"/>
              </a:spcBef>
              <a:spcAft>
                <a:spcPts val="0"/>
              </a:spcAft>
              <a:buClr>
                <a:srgbClr val="0064FF"/>
              </a:buClr>
              <a:buSzPts val="1200"/>
              <a:buFont typeface="Outfit"/>
              <a:buNone/>
            </a:pPr>
            <a:r>
              <a:rPr lang="en-GB"/>
              <a:t>SESSION 2 · FACTORIES · EXERCISE</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p24"/>
          <p:cNvSpPr txBox="1"/>
          <p:nvPr>
            <p:ph idx="1" type="body"/>
          </p:nvPr>
        </p:nvSpPr>
        <p:spPr>
          <a:xfrm>
            <a:off x="822960" y="457200"/>
            <a:ext cx="9144000" cy="320100"/>
          </a:xfrm>
          <a:prstGeom prst="rect">
            <a:avLst/>
          </a:prstGeom>
          <a:noFill/>
          <a:ln>
            <a:noFill/>
          </a:ln>
        </p:spPr>
        <p:txBody>
          <a:bodyPr anchorCtr="0" anchor="t" bIns="0" lIns="0" spcFirstLastPara="1" rIns="0" wrap="square" tIns="0">
            <a:noAutofit/>
          </a:bodyPr>
          <a:lstStyle/>
          <a:p>
            <a:pPr indent="0" lvl="0" marL="0" rtl="0" algn="l">
              <a:lnSpc>
                <a:spcPct val="118000"/>
              </a:lnSpc>
              <a:spcBef>
                <a:spcPts val="0"/>
              </a:spcBef>
              <a:spcAft>
                <a:spcPts val="0"/>
              </a:spcAft>
              <a:buClr>
                <a:srgbClr val="0064FF"/>
              </a:buClr>
              <a:buSzPts val="1200"/>
              <a:buFont typeface="Outfit"/>
              <a:buNone/>
            </a:pPr>
            <a:r>
              <a:rPr lang="en-GB"/>
              <a:t>SESSION 2 · FACTORIES · EXAMPLE</a:t>
            </a:r>
            <a:endParaRPr/>
          </a:p>
        </p:txBody>
      </p:sp>
      <p:sp>
        <p:nvSpPr>
          <p:cNvPr id="465" name="Google Shape;465;p24"/>
          <p:cNvSpPr txBox="1"/>
          <p:nvPr>
            <p:ph type="title"/>
          </p:nvPr>
        </p:nvSpPr>
        <p:spPr>
          <a:xfrm>
            <a:off x="822960" y="914400"/>
            <a:ext cx="9692700" cy="1371600"/>
          </a:xfrm>
          <a:prstGeom prst="rect">
            <a:avLst/>
          </a:prstGeom>
          <a:noFill/>
          <a:ln>
            <a:noFill/>
          </a:ln>
        </p:spPr>
        <p:txBody>
          <a:bodyPr anchorCtr="0" anchor="t" bIns="0" lIns="0" spcFirstLastPara="1" rIns="0" wrap="square" tIns="0">
            <a:noAutofit/>
          </a:bodyPr>
          <a:lstStyle/>
          <a:p>
            <a:pPr indent="0" lvl="0" marL="0" rtl="0" algn="l">
              <a:lnSpc>
                <a:spcPct val="96000"/>
              </a:lnSpc>
              <a:spcBef>
                <a:spcPts val="0"/>
              </a:spcBef>
              <a:spcAft>
                <a:spcPts val="0"/>
              </a:spcAft>
              <a:buClr>
                <a:srgbClr val="2C2C2A"/>
              </a:buClr>
              <a:buSzPts val="2800"/>
              <a:buFont typeface="Instrument Serif"/>
              <a:buNone/>
            </a:pPr>
            <a:r>
              <a:rPr lang="en-GB"/>
              <a:t>Electricity paid off only when factories rearranged around it, and AI is the same.</a:t>
            </a:r>
            <a:endParaRPr/>
          </a:p>
        </p:txBody>
      </p:sp>
      <p:grpSp>
        <p:nvGrpSpPr>
          <p:cNvPr id="466" name="Google Shape;466;p24"/>
          <p:cNvGrpSpPr/>
          <p:nvPr/>
        </p:nvGrpSpPr>
        <p:grpSpPr>
          <a:xfrm>
            <a:off x="822960" y="2000250"/>
            <a:ext cx="3257700" cy="3524400"/>
            <a:chOff x="0" y="0"/>
            <a:chExt cx="3257700" cy="3524400"/>
          </a:xfrm>
        </p:grpSpPr>
        <p:sp>
          <p:nvSpPr>
            <p:cNvPr id="467" name="Google Shape;467;p24"/>
            <p:cNvSpPr/>
            <p:nvPr/>
          </p:nvSpPr>
          <p:spPr>
            <a:xfrm>
              <a:off x="0" y="0"/>
              <a:ext cx="3257700" cy="3524400"/>
            </a:xfrm>
            <a:prstGeom prst="roundRect">
              <a:avLst>
                <a:gd fmla="val 2339" name="adj"/>
              </a:avLst>
            </a:prstGeom>
            <a:solidFill>
              <a:srgbClr val="F0EDE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68" name="Google Shape;468;p24"/>
            <p:cNvSpPr txBox="1"/>
            <p:nvPr/>
          </p:nvSpPr>
          <p:spPr>
            <a:xfrm>
              <a:off x="0" y="0"/>
              <a:ext cx="3257700" cy="3524400"/>
            </a:xfrm>
            <a:prstGeom prst="rect">
              <a:avLst/>
            </a:prstGeom>
            <a:noFill/>
            <a:ln>
              <a:noFill/>
            </a:ln>
          </p:spPr>
          <p:txBody>
            <a:bodyPr anchorCtr="0" anchor="t" bIns="228600" lIns="228600" spcFirstLastPara="1" rIns="228600" wrap="square" tIns="228600">
              <a:noAutofit/>
            </a:bodyPr>
            <a:lstStyle/>
            <a:p>
              <a:pPr indent="0" lvl="0" marL="0" rtl="0" algn="l">
                <a:spcBef>
                  <a:spcPts val="0"/>
                </a:spcBef>
                <a:spcAft>
                  <a:spcPts val="0"/>
                </a:spcAft>
                <a:buNone/>
              </a:pPr>
              <a:r>
                <a:rPr b="0" lang="en-GB" sz="1000">
                  <a:solidFill>
                    <a:srgbClr val="0064FF"/>
                  </a:solidFill>
                  <a:latin typeface="Outfit SemiBold"/>
                  <a:ea typeface="Outfit SemiBold"/>
                  <a:cs typeface="Outfit SemiBold"/>
                  <a:sym typeface="Outfit SemiBold"/>
                </a:rPr>
                <a:t>1 · 1890s GROUP DRIVE</a:t>
              </a:r>
              <a:endParaRPr b="0" sz="1000">
                <a:solidFill>
                  <a:srgbClr val="0064FF"/>
                </a:solidFill>
                <a:latin typeface="Outfit SemiBold"/>
                <a:ea typeface="Outfit SemiBold"/>
                <a:cs typeface="Outfit SemiBold"/>
                <a:sym typeface="Outfit SemiBold"/>
              </a:endParaRPr>
            </a:p>
            <a:p>
              <a:pPr indent="0" lvl="0" marL="0" rtl="0" algn="l">
                <a:spcBef>
                  <a:spcPts val="600"/>
                </a:spcBef>
                <a:spcAft>
                  <a:spcPts val="0"/>
                </a:spcAft>
                <a:buNone/>
              </a:pPr>
              <a:r>
                <a:rPr b="0" lang="en-GB" sz="2200">
                  <a:solidFill>
                    <a:srgbClr val="2C2C2A"/>
                  </a:solidFill>
                  <a:latin typeface="Instrument Serif"/>
                  <a:ea typeface="Instrument Serif"/>
                  <a:cs typeface="Instrument Serif"/>
                  <a:sym typeface="Instrument Serif"/>
                </a:rPr>
                <a:t>One big motor</a:t>
              </a:r>
              <a:endParaRPr b="0" sz="2200">
                <a:solidFill>
                  <a:srgbClr val="2C2C2A"/>
                </a:solidFill>
                <a:latin typeface="Instrument Serif"/>
                <a:ea typeface="Instrument Serif"/>
                <a:cs typeface="Instrument Serif"/>
                <a:sym typeface="Instrument Serif"/>
              </a:endParaRPr>
            </a:p>
            <a:p>
              <a:pPr indent="0" lvl="0" marL="0" rtl="0" algn="l">
                <a:spcBef>
                  <a:spcPts val="1200"/>
                </a:spcBef>
                <a:spcAft>
                  <a:spcPts val="0"/>
                </a:spcAft>
                <a:buNone/>
              </a:pPr>
              <a:r>
                <a:rPr b="0" lang="en-GB" sz="1100">
                  <a:solidFill>
                    <a:srgbClr val="2C2C2A"/>
                  </a:solidFill>
                  <a:latin typeface="Lora"/>
                  <a:ea typeface="Lora"/>
                  <a:cs typeface="Lora"/>
                  <a:sym typeface="Lora"/>
                </a:rPr>
                <a:t>One big motor on the old line shafts.</a:t>
              </a:r>
              <a:endParaRPr b="0" sz="1100">
                <a:solidFill>
                  <a:srgbClr val="2C2C2A"/>
                </a:solidFill>
                <a:latin typeface="Lora"/>
                <a:ea typeface="Lora"/>
                <a:cs typeface="Lora"/>
                <a:sym typeface="Lora"/>
              </a:endParaRPr>
            </a:p>
            <a:p>
              <a:pPr indent="0" lvl="0" marL="0" rtl="0" algn="l">
                <a:spcBef>
                  <a:spcPts val="800"/>
                </a:spcBef>
                <a:spcAft>
                  <a:spcPts val="0"/>
                </a:spcAft>
                <a:buNone/>
              </a:pPr>
              <a:r>
                <a:rPr b="0" lang="en-GB" sz="1100">
                  <a:solidFill>
                    <a:srgbClr val="555555"/>
                  </a:solidFill>
                  <a:latin typeface="Lora"/>
                  <a:ea typeface="Lora"/>
                  <a:cs typeface="Lora"/>
                  <a:sym typeface="Lora"/>
                </a:rPr>
                <a:t>Steam engine out, electric motor in, every belt and shaft exactly where it was. Almost nothing happened for years.</a:t>
              </a:r>
              <a:endParaRPr b="0" sz="1100">
                <a:solidFill>
                  <a:srgbClr val="555555"/>
                </a:solidFill>
                <a:latin typeface="Lora"/>
                <a:ea typeface="Lora"/>
                <a:cs typeface="Lora"/>
                <a:sym typeface="Lora"/>
              </a:endParaRPr>
            </a:p>
          </p:txBody>
        </p:sp>
      </p:grpSp>
      <p:grpSp>
        <p:nvGrpSpPr>
          <p:cNvPr id="469" name="Google Shape;469;p24"/>
          <p:cNvGrpSpPr/>
          <p:nvPr/>
        </p:nvGrpSpPr>
        <p:grpSpPr>
          <a:xfrm>
            <a:off x="4465320" y="2000250"/>
            <a:ext cx="3257700" cy="3524400"/>
            <a:chOff x="0" y="0"/>
            <a:chExt cx="3257700" cy="3524400"/>
          </a:xfrm>
        </p:grpSpPr>
        <p:sp>
          <p:nvSpPr>
            <p:cNvPr id="470" name="Google Shape;470;p24"/>
            <p:cNvSpPr/>
            <p:nvPr/>
          </p:nvSpPr>
          <p:spPr>
            <a:xfrm>
              <a:off x="0" y="0"/>
              <a:ext cx="3257700" cy="3524400"/>
            </a:xfrm>
            <a:prstGeom prst="roundRect">
              <a:avLst>
                <a:gd fmla="val 2339" name="adj"/>
              </a:avLst>
            </a:prstGeom>
            <a:solidFill>
              <a:srgbClr val="F0EDE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71" name="Google Shape;471;p24"/>
            <p:cNvSpPr txBox="1"/>
            <p:nvPr/>
          </p:nvSpPr>
          <p:spPr>
            <a:xfrm>
              <a:off x="0" y="0"/>
              <a:ext cx="3257700" cy="3524400"/>
            </a:xfrm>
            <a:prstGeom prst="rect">
              <a:avLst/>
            </a:prstGeom>
            <a:noFill/>
            <a:ln>
              <a:noFill/>
            </a:ln>
          </p:spPr>
          <p:txBody>
            <a:bodyPr anchorCtr="0" anchor="t" bIns="228600" lIns="228600" spcFirstLastPara="1" rIns="228600" wrap="square" tIns="228600">
              <a:noAutofit/>
            </a:bodyPr>
            <a:lstStyle/>
            <a:p>
              <a:pPr indent="0" lvl="0" marL="0" rtl="0" algn="l">
                <a:spcBef>
                  <a:spcPts val="0"/>
                </a:spcBef>
                <a:spcAft>
                  <a:spcPts val="0"/>
                </a:spcAft>
                <a:buNone/>
              </a:pPr>
              <a:r>
                <a:rPr b="0" lang="en-GB" sz="1000">
                  <a:solidFill>
                    <a:srgbClr val="0064FF"/>
                  </a:solidFill>
                  <a:latin typeface="Outfit SemiBold"/>
                  <a:ea typeface="Outfit SemiBold"/>
                  <a:cs typeface="Outfit SemiBold"/>
                  <a:sym typeface="Outfit SemiBold"/>
                </a:rPr>
                <a:t>2 · UNIT DRIVE</a:t>
              </a:r>
              <a:endParaRPr b="0" sz="1000">
                <a:solidFill>
                  <a:srgbClr val="0064FF"/>
                </a:solidFill>
                <a:latin typeface="Outfit SemiBold"/>
                <a:ea typeface="Outfit SemiBold"/>
                <a:cs typeface="Outfit SemiBold"/>
                <a:sym typeface="Outfit SemiBold"/>
              </a:endParaRPr>
            </a:p>
            <a:p>
              <a:pPr indent="0" lvl="0" marL="0" rtl="0" algn="l">
                <a:spcBef>
                  <a:spcPts val="600"/>
                </a:spcBef>
                <a:spcAft>
                  <a:spcPts val="0"/>
                </a:spcAft>
                <a:buNone/>
              </a:pPr>
              <a:r>
                <a:rPr b="0" lang="en-GB" sz="2200">
                  <a:solidFill>
                    <a:srgbClr val="2C2C2A"/>
                  </a:solidFill>
                  <a:latin typeface="Instrument Serif"/>
                  <a:ea typeface="Instrument Serif"/>
                  <a:cs typeface="Instrument Serif"/>
                  <a:sym typeface="Instrument Serif"/>
                </a:rPr>
                <a:t>The payoff</a:t>
              </a:r>
              <a:endParaRPr b="0" sz="2200">
                <a:solidFill>
                  <a:srgbClr val="2C2C2A"/>
                </a:solidFill>
                <a:latin typeface="Instrument Serif"/>
                <a:ea typeface="Instrument Serif"/>
                <a:cs typeface="Instrument Serif"/>
                <a:sym typeface="Instrument Serif"/>
              </a:endParaRPr>
            </a:p>
            <a:p>
              <a:pPr indent="0" lvl="0" marL="0" rtl="0" algn="l">
                <a:spcBef>
                  <a:spcPts val="1200"/>
                </a:spcBef>
                <a:spcAft>
                  <a:spcPts val="0"/>
                </a:spcAft>
                <a:buNone/>
              </a:pPr>
              <a:r>
                <a:rPr b="0" lang="en-GB" sz="1100">
                  <a:solidFill>
                    <a:srgbClr val="2C2C2A"/>
                  </a:solidFill>
                  <a:latin typeface="Lora"/>
                  <a:ea typeface="Lora"/>
                  <a:cs typeface="Lora"/>
                  <a:sym typeface="Lora"/>
                </a:rPr>
                <a:t>A motor on every machine.</a:t>
              </a:r>
              <a:endParaRPr b="0" sz="1100">
                <a:solidFill>
                  <a:srgbClr val="2C2C2A"/>
                </a:solidFill>
                <a:latin typeface="Lora"/>
                <a:ea typeface="Lora"/>
                <a:cs typeface="Lora"/>
                <a:sym typeface="Lora"/>
              </a:endParaRPr>
            </a:p>
            <a:p>
              <a:pPr indent="0" lvl="0" marL="0" rtl="0" algn="l">
                <a:spcBef>
                  <a:spcPts val="800"/>
                </a:spcBef>
                <a:spcAft>
                  <a:spcPts val="0"/>
                </a:spcAft>
                <a:buNone/>
              </a:pPr>
              <a:r>
                <a:rPr b="0" lang="en-GB" sz="1100">
                  <a:solidFill>
                    <a:srgbClr val="555555"/>
                  </a:solidFill>
                  <a:latin typeface="Lora"/>
                  <a:ea typeface="Lora"/>
                  <a:cs typeface="Lora"/>
                  <a:sym typeface="Lora"/>
                </a:rPr>
                <a:t>Now the floor can be laid out by the work instead of by the shafts. The gains arrived with the rearrangement.</a:t>
              </a:r>
              <a:endParaRPr b="0" sz="1100">
                <a:solidFill>
                  <a:srgbClr val="555555"/>
                </a:solidFill>
                <a:latin typeface="Lora"/>
                <a:ea typeface="Lora"/>
                <a:cs typeface="Lora"/>
                <a:sym typeface="Lora"/>
              </a:endParaRPr>
            </a:p>
          </p:txBody>
        </p:sp>
      </p:grpSp>
      <p:grpSp>
        <p:nvGrpSpPr>
          <p:cNvPr id="472" name="Google Shape;472;p24"/>
          <p:cNvGrpSpPr/>
          <p:nvPr/>
        </p:nvGrpSpPr>
        <p:grpSpPr>
          <a:xfrm>
            <a:off x="8107680" y="2000250"/>
            <a:ext cx="3257700" cy="3524400"/>
            <a:chOff x="0" y="0"/>
            <a:chExt cx="3257700" cy="3524400"/>
          </a:xfrm>
        </p:grpSpPr>
        <p:sp>
          <p:nvSpPr>
            <p:cNvPr id="473" name="Google Shape;473;p24"/>
            <p:cNvSpPr/>
            <p:nvPr/>
          </p:nvSpPr>
          <p:spPr>
            <a:xfrm>
              <a:off x="0" y="0"/>
              <a:ext cx="3257700" cy="3524400"/>
            </a:xfrm>
            <a:prstGeom prst="roundRect">
              <a:avLst>
                <a:gd fmla="val 2339" name="adj"/>
              </a:avLst>
            </a:prstGeom>
            <a:solidFill>
              <a:srgbClr val="E1F5E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74" name="Google Shape;474;p24"/>
            <p:cNvSpPr txBox="1"/>
            <p:nvPr/>
          </p:nvSpPr>
          <p:spPr>
            <a:xfrm>
              <a:off x="0" y="0"/>
              <a:ext cx="3257700" cy="3524400"/>
            </a:xfrm>
            <a:prstGeom prst="rect">
              <a:avLst/>
            </a:prstGeom>
            <a:noFill/>
            <a:ln>
              <a:noFill/>
            </a:ln>
          </p:spPr>
          <p:txBody>
            <a:bodyPr anchorCtr="0" anchor="t" bIns="228600" lIns="228600" spcFirstLastPara="1" rIns="228600" wrap="square" tIns="228600">
              <a:noAutofit/>
            </a:bodyPr>
            <a:lstStyle/>
            <a:p>
              <a:pPr indent="0" lvl="0" marL="0" rtl="0" algn="l">
                <a:spcBef>
                  <a:spcPts val="0"/>
                </a:spcBef>
                <a:spcAft>
                  <a:spcPts val="0"/>
                </a:spcAft>
                <a:buNone/>
              </a:pPr>
              <a:r>
                <a:rPr b="0" lang="en-GB" sz="1000">
                  <a:solidFill>
                    <a:srgbClr val="085041"/>
                  </a:solidFill>
                  <a:latin typeface="Outfit SemiBold"/>
                  <a:ea typeface="Outfit SemiBold"/>
                  <a:cs typeface="Outfit SemiBold"/>
                  <a:sym typeface="Outfit SemiBold"/>
                </a:rPr>
                <a:t>3 · THE AI PARALLEL</a:t>
              </a:r>
              <a:endParaRPr b="0" sz="1000">
                <a:solidFill>
                  <a:srgbClr val="085041"/>
                </a:solidFill>
                <a:latin typeface="Outfit SemiBold"/>
                <a:ea typeface="Outfit SemiBold"/>
                <a:cs typeface="Outfit SemiBold"/>
                <a:sym typeface="Outfit SemiBold"/>
              </a:endParaRPr>
            </a:p>
            <a:p>
              <a:pPr indent="0" lvl="0" marL="0" rtl="0" algn="l">
                <a:spcBef>
                  <a:spcPts val="600"/>
                </a:spcBef>
                <a:spcAft>
                  <a:spcPts val="0"/>
                </a:spcAft>
                <a:buNone/>
              </a:pPr>
              <a:r>
                <a:rPr b="0" lang="en-GB" sz="2200">
                  <a:solidFill>
                    <a:srgbClr val="2C2C2A"/>
                  </a:solidFill>
                  <a:latin typeface="Instrument Serif"/>
                  <a:ea typeface="Instrument Serif"/>
                  <a:cs typeface="Instrument Serif"/>
                  <a:sym typeface="Instrument Serif"/>
                </a:rPr>
                <a:t>Re-lay your workflow</a:t>
              </a:r>
              <a:endParaRPr b="0" sz="2200">
                <a:solidFill>
                  <a:srgbClr val="2C2C2A"/>
                </a:solidFill>
                <a:latin typeface="Instrument Serif"/>
                <a:ea typeface="Instrument Serif"/>
                <a:cs typeface="Instrument Serif"/>
                <a:sym typeface="Instrument Serif"/>
              </a:endParaRPr>
            </a:p>
            <a:p>
              <a:pPr indent="0" lvl="0" marL="0" rtl="0" algn="l">
                <a:spcBef>
                  <a:spcPts val="1200"/>
                </a:spcBef>
                <a:spcAft>
                  <a:spcPts val="0"/>
                </a:spcAft>
                <a:buNone/>
              </a:pPr>
              <a:r>
                <a:rPr b="0" lang="en-GB" sz="1100">
                  <a:solidFill>
                    <a:srgbClr val="1E4620"/>
                  </a:solidFill>
                  <a:latin typeface="Lora"/>
                  <a:ea typeface="Lora"/>
                  <a:cs typeface="Lora"/>
                  <a:sym typeface="Lora"/>
                </a:rPr>
                <a:t>Most of us have done the first thing: put AI inside the workflow we already had.</a:t>
              </a:r>
              <a:endParaRPr b="0" sz="1100">
                <a:solidFill>
                  <a:srgbClr val="1E4620"/>
                </a:solidFill>
                <a:latin typeface="Lora"/>
                <a:ea typeface="Lora"/>
                <a:cs typeface="Lora"/>
                <a:sym typeface="Lora"/>
              </a:endParaRPr>
            </a:p>
            <a:p>
              <a:pPr indent="0" lvl="0" marL="0" rtl="0" algn="l">
                <a:spcBef>
                  <a:spcPts val="800"/>
                </a:spcBef>
                <a:spcAft>
                  <a:spcPts val="0"/>
                </a:spcAft>
                <a:buNone/>
              </a:pPr>
              <a:r>
                <a:rPr b="0" lang="en-GB" sz="1100">
                  <a:solidFill>
                    <a:srgbClr val="085041"/>
                  </a:solidFill>
                  <a:latin typeface="Lora"/>
                  <a:ea typeface="Lora"/>
                  <a:cs typeface="Lora"/>
                  <a:sym typeface="Lora"/>
                </a:rPr>
                <a:t>Tonight you re-lay one small floor — at the size of one person's practice.</a:t>
              </a:r>
              <a:endParaRPr b="0" sz="1100">
                <a:solidFill>
                  <a:srgbClr val="085041"/>
                </a:solidFill>
                <a:latin typeface="Lora"/>
                <a:ea typeface="Lora"/>
                <a:cs typeface="Lora"/>
                <a:sym typeface="Lora"/>
              </a:endParaRPr>
            </a:p>
          </p:txBody>
        </p:sp>
      </p:grpSp>
      <p:sp>
        <p:nvSpPr>
          <p:cNvPr id="475" name="Google Shape;475;p24"/>
          <p:cNvSpPr txBox="1"/>
          <p:nvPr/>
        </p:nvSpPr>
        <p:spPr>
          <a:xfrm>
            <a:off x="822960" y="5715000"/>
            <a:ext cx="10544100" cy="476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900">
                <a:solidFill>
                  <a:srgbClr val="0064FF"/>
                </a:solidFill>
                <a:latin typeface="Outfit SemiBold"/>
                <a:ea typeface="Outfit SemiBold"/>
                <a:cs typeface="Outfit SemiBold"/>
                <a:sym typeface="Outfit SemiBold"/>
              </a:rPr>
              <a:t>§ WORKFLOW</a:t>
            </a:r>
            <a:endParaRPr b="0" sz="900">
              <a:solidFill>
                <a:srgbClr val="0064FF"/>
              </a:solidFill>
              <a:latin typeface="Outfit SemiBold"/>
              <a:ea typeface="Outfit SemiBold"/>
              <a:cs typeface="Outfit SemiBold"/>
              <a:sym typeface="Outfit SemiBold"/>
            </a:endParaRPr>
          </a:p>
          <a:p>
            <a:pPr indent="0" lvl="0" marL="0" rtl="0" algn="l">
              <a:spcBef>
                <a:spcPts val="300"/>
              </a:spcBef>
              <a:spcAft>
                <a:spcPts val="0"/>
              </a:spcAft>
              <a:buNone/>
            </a:pPr>
            <a:r>
              <a:rPr b="0" lang="en-GB" sz="950">
                <a:solidFill>
                  <a:srgbClr val="666666"/>
                </a:solidFill>
                <a:latin typeface="Lora"/>
                <a:ea typeface="Lora"/>
                <a:cs typeface="Lora"/>
                <a:sym typeface="Lora"/>
              </a:rPr>
              <a:t>The ordered steps by which a piece of work actually gets done. Dropping AI into an unchanged workflow is the common move, and the one that changes least.</a:t>
            </a:r>
            <a:endParaRPr b="0" sz="950">
              <a:solidFill>
                <a:srgbClr val="666666"/>
              </a:solidFill>
              <a:latin typeface="Lora"/>
              <a:ea typeface="Lora"/>
              <a:cs typeface="Lora"/>
              <a:sym typeface="Lora"/>
            </a:endParaRPr>
          </a:p>
        </p:txBody>
      </p:sp>
      <p:sp>
        <p:nvSpPr>
          <p:cNvPr id="476" name="Google Shape;476;p24"/>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sp>
        <p:nvSpPr>
          <p:cNvPr id="481" name="Google Shape;481;p25"/>
          <p:cNvSpPr txBox="1"/>
          <p:nvPr>
            <p:ph type="title"/>
          </p:nvPr>
        </p:nvSpPr>
        <p:spPr>
          <a:xfrm>
            <a:off x="822960" y="800100"/>
            <a:ext cx="10477500" cy="762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n-GB" sz="3000">
                <a:solidFill>
                  <a:srgbClr val="2C2C2A"/>
                </a:solidFill>
                <a:latin typeface="Instrument Serif"/>
                <a:ea typeface="Instrument Serif"/>
                <a:cs typeface="Instrument Serif"/>
                <a:sym typeface="Instrument Serif"/>
              </a:rPr>
              <a:t>A factory runs without you, fits whoever uses it, and hands off useful work.</a:t>
            </a:r>
            <a:endParaRPr b="0" sz="3000">
              <a:solidFill>
                <a:srgbClr val="2C2C2A"/>
              </a:solidFill>
              <a:latin typeface="Instrument Serif"/>
              <a:ea typeface="Instrument Serif"/>
              <a:cs typeface="Instrument Serif"/>
              <a:sym typeface="Instrument Serif"/>
            </a:endParaRPr>
          </a:p>
        </p:txBody>
      </p:sp>
      <p:grpSp>
        <p:nvGrpSpPr>
          <p:cNvPr id="482" name="Google Shape;482;p25"/>
          <p:cNvGrpSpPr/>
          <p:nvPr/>
        </p:nvGrpSpPr>
        <p:grpSpPr>
          <a:xfrm>
            <a:off x="822960" y="1914525"/>
            <a:ext cx="2457600" cy="3429000"/>
            <a:chOff x="0" y="0"/>
            <a:chExt cx="2457600" cy="3429000"/>
          </a:xfrm>
        </p:grpSpPr>
        <p:sp>
          <p:nvSpPr>
            <p:cNvPr id="483" name="Google Shape;483;p25"/>
            <p:cNvSpPr/>
            <p:nvPr/>
          </p:nvSpPr>
          <p:spPr>
            <a:xfrm>
              <a:off x="0" y="0"/>
              <a:ext cx="2457600" cy="3429000"/>
            </a:xfrm>
            <a:prstGeom prst="roundRect">
              <a:avLst>
                <a:gd fmla="val 3100" name="adj"/>
              </a:avLst>
            </a:prstGeom>
            <a:solidFill>
              <a:srgbClr val="F0EDE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84" name="Google Shape;484;p25"/>
            <p:cNvSpPr txBox="1"/>
            <p:nvPr/>
          </p:nvSpPr>
          <p:spPr>
            <a:xfrm>
              <a:off x="0" y="0"/>
              <a:ext cx="2457600" cy="3429000"/>
            </a:xfrm>
            <a:prstGeom prst="rect">
              <a:avLst/>
            </a:prstGeom>
            <a:solidFill>
              <a:srgbClr val="000000">
                <a:alpha val="0"/>
              </a:srgbClr>
            </a:solidFill>
            <a:ln>
              <a:noFill/>
            </a:ln>
          </p:spPr>
          <p:txBody>
            <a:bodyPr anchorCtr="0" anchor="t" bIns="228600" lIns="228600" spcFirstLastPara="1" rIns="228600" wrap="square" tIns="228600">
              <a:noAutofit/>
            </a:bodyPr>
            <a:lstStyle/>
            <a:p>
              <a:pPr indent="0" lvl="0" marL="0" rtl="0" algn="l">
                <a:spcBef>
                  <a:spcPts val="0"/>
                </a:spcBef>
                <a:spcAft>
                  <a:spcPts val="0"/>
                </a:spcAft>
                <a:buNone/>
              </a:pPr>
              <a:r>
                <a:rPr b="0" lang="en-GB" sz="1000">
                  <a:solidFill>
                    <a:srgbClr val="0064FF"/>
                  </a:solidFill>
                  <a:latin typeface="Outfit SemiBold"/>
                  <a:ea typeface="Outfit SemiBold"/>
                  <a:cs typeface="Outfit SemiBold"/>
                  <a:sym typeface="Outfit SemiBold"/>
                </a:rPr>
                <a:t>1 · FROM THE AUTHOR</a:t>
              </a:r>
              <a:endParaRPr b="0" sz="1000">
                <a:solidFill>
                  <a:srgbClr val="0064FF"/>
                </a:solidFill>
                <a:latin typeface="Outfit SemiBold"/>
                <a:ea typeface="Outfit SemiBold"/>
                <a:cs typeface="Outfit SemiBold"/>
                <a:sym typeface="Outfit SemiBold"/>
              </a:endParaRPr>
            </a:p>
            <a:p>
              <a:pPr indent="0" lvl="0" marL="0" rtl="0" algn="l">
                <a:spcBef>
                  <a:spcPts val="600"/>
                </a:spcBef>
                <a:spcAft>
                  <a:spcPts val="0"/>
                </a:spcAft>
                <a:buNone/>
              </a:pPr>
              <a:r>
                <a:rPr b="0" lang="en-GB" sz="2200">
                  <a:solidFill>
                    <a:srgbClr val="2C2C2A"/>
                  </a:solidFill>
                  <a:latin typeface="Instrument Serif"/>
                  <a:ea typeface="Instrument Serif"/>
                  <a:cs typeface="Instrument Serif"/>
                  <a:sym typeface="Instrument Serif"/>
                </a:rPr>
                <a:t>Reproduction</a:t>
              </a:r>
              <a:endParaRPr b="0" sz="1000">
                <a:solidFill>
                  <a:srgbClr val="0064FF"/>
                </a:solidFill>
                <a:latin typeface="Outfit SemiBold"/>
                <a:ea typeface="Outfit SemiBold"/>
                <a:cs typeface="Outfit SemiBold"/>
                <a:sym typeface="Outfit SemiBold"/>
              </a:endParaRPr>
            </a:p>
            <a:p>
              <a:pPr indent="0" lvl="0" marL="0" rtl="0" algn="l">
                <a:spcBef>
                  <a:spcPts val="1200"/>
                </a:spcBef>
                <a:spcAft>
                  <a:spcPts val="0"/>
                </a:spcAft>
                <a:buNone/>
              </a:pPr>
              <a:r>
                <a:rPr b="0" lang="en-GB" sz="1100">
                  <a:solidFill>
                    <a:srgbClr val="444444"/>
                  </a:solidFill>
                  <a:latin typeface="Lora"/>
                  <a:ea typeface="Lora"/>
                  <a:cs typeface="Lora"/>
                  <a:sym typeface="Lora"/>
                </a:rPr>
                <a:t>The steps, written down, so it gives (roughly) the same result each time</a:t>
              </a:r>
              <a:endParaRPr b="0" sz="1000">
                <a:solidFill>
                  <a:srgbClr val="0064FF"/>
                </a:solidFill>
                <a:latin typeface="Outfit SemiBold"/>
                <a:ea typeface="Outfit SemiBold"/>
                <a:cs typeface="Outfit SemiBold"/>
                <a:sym typeface="Outfit SemiBold"/>
              </a:endParaRPr>
            </a:p>
          </p:txBody>
        </p:sp>
      </p:grpSp>
      <p:grpSp>
        <p:nvGrpSpPr>
          <p:cNvPr id="485" name="Google Shape;485;p25"/>
          <p:cNvGrpSpPr/>
          <p:nvPr/>
        </p:nvGrpSpPr>
        <p:grpSpPr>
          <a:xfrm>
            <a:off x="3489960" y="1914525"/>
            <a:ext cx="2457600" cy="3429000"/>
            <a:chOff x="0" y="0"/>
            <a:chExt cx="2457600" cy="3429000"/>
          </a:xfrm>
        </p:grpSpPr>
        <p:sp>
          <p:nvSpPr>
            <p:cNvPr id="486" name="Google Shape;486;p25"/>
            <p:cNvSpPr/>
            <p:nvPr/>
          </p:nvSpPr>
          <p:spPr>
            <a:xfrm>
              <a:off x="0" y="0"/>
              <a:ext cx="2457600" cy="3429000"/>
            </a:xfrm>
            <a:prstGeom prst="roundRect">
              <a:avLst>
                <a:gd fmla="val 3100" name="adj"/>
              </a:avLst>
            </a:prstGeom>
            <a:solidFill>
              <a:srgbClr val="F0EDE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87" name="Google Shape;487;p25"/>
            <p:cNvSpPr txBox="1"/>
            <p:nvPr/>
          </p:nvSpPr>
          <p:spPr>
            <a:xfrm>
              <a:off x="0" y="0"/>
              <a:ext cx="2457600" cy="3429000"/>
            </a:xfrm>
            <a:prstGeom prst="rect">
              <a:avLst/>
            </a:prstGeom>
            <a:solidFill>
              <a:srgbClr val="000000">
                <a:alpha val="0"/>
              </a:srgbClr>
            </a:solidFill>
            <a:ln>
              <a:noFill/>
            </a:ln>
          </p:spPr>
          <p:txBody>
            <a:bodyPr anchorCtr="0" anchor="t" bIns="228600" lIns="228600" spcFirstLastPara="1" rIns="228600" wrap="square" tIns="228600">
              <a:noAutofit/>
            </a:bodyPr>
            <a:lstStyle/>
            <a:p>
              <a:pPr indent="0" lvl="0" marL="0" rtl="0" algn="l">
                <a:spcBef>
                  <a:spcPts val="0"/>
                </a:spcBef>
                <a:spcAft>
                  <a:spcPts val="0"/>
                </a:spcAft>
                <a:buNone/>
              </a:pPr>
              <a:r>
                <a:rPr b="0" lang="en-GB" sz="1000">
                  <a:solidFill>
                    <a:srgbClr val="0064FF"/>
                  </a:solidFill>
                  <a:latin typeface="Outfit SemiBold"/>
                  <a:ea typeface="Outfit SemiBold"/>
                  <a:cs typeface="Outfit SemiBold"/>
                  <a:sym typeface="Outfit SemiBold"/>
                </a:rPr>
                <a:t>2 · FROM THE USER</a:t>
              </a:r>
              <a:endParaRPr b="0" sz="1000">
                <a:solidFill>
                  <a:srgbClr val="0064FF"/>
                </a:solidFill>
                <a:latin typeface="Outfit SemiBold"/>
                <a:ea typeface="Outfit SemiBold"/>
                <a:cs typeface="Outfit SemiBold"/>
                <a:sym typeface="Outfit SemiBold"/>
              </a:endParaRPr>
            </a:p>
            <a:p>
              <a:pPr indent="0" lvl="0" marL="0" rtl="0" algn="l">
                <a:spcBef>
                  <a:spcPts val="600"/>
                </a:spcBef>
                <a:spcAft>
                  <a:spcPts val="0"/>
                </a:spcAft>
                <a:buNone/>
              </a:pPr>
              <a:r>
                <a:rPr b="0" lang="en-GB" sz="2200">
                  <a:solidFill>
                    <a:srgbClr val="2C2C2A"/>
                  </a:solidFill>
                  <a:latin typeface="Instrument Serif"/>
                  <a:ea typeface="Instrument Serif"/>
                  <a:cs typeface="Instrument Serif"/>
                  <a:sym typeface="Instrument Serif"/>
                </a:rPr>
                <a:t>Personalization</a:t>
              </a:r>
              <a:endParaRPr b="0" sz="1000">
                <a:solidFill>
                  <a:srgbClr val="0064FF"/>
                </a:solidFill>
                <a:latin typeface="Outfit SemiBold"/>
                <a:ea typeface="Outfit SemiBold"/>
                <a:cs typeface="Outfit SemiBold"/>
                <a:sym typeface="Outfit SemiBold"/>
              </a:endParaRPr>
            </a:p>
            <a:p>
              <a:pPr indent="0" lvl="0" marL="0" rtl="0" algn="l">
                <a:spcBef>
                  <a:spcPts val="1200"/>
                </a:spcBef>
                <a:spcAft>
                  <a:spcPts val="0"/>
                </a:spcAft>
                <a:buNone/>
              </a:pPr>
              <a:r>
                <a:rPr lang="en-GB" sz="1100">
                  <a:solidFill>
                    <a:srgbClr val="444444"/>
                  </a:solidFill>
                  <a:latin typeface="Lora"/>
                  <a:ea typeface="Lora"/>
                  <a:cs typeface="Lora"/>
                  <a:sym typeface="Lora"/>
                </a:rPr>
                <a:t>D</a:t>
              </a:r>
              <a:r>
                <a:rPr b="0" lang="en-GB" sz="1100">
                  <a:solidFill>
                    <a:srgbClr val="444444"/>
                  </a:solidFill>
                  <a:latin typeface="Lora"/>
                  <a:ea typeface="Lora"/>
                  <a:cs typeface="Lora"/>
                  <a:sym typeface="Lora"/>
                </a:rPr>
                <a:t>ata, constraints and contex</a:t>
              </a:r>
              <a:r>
                <a:rPr lang="en-GB" sz="1100">
                  <a:solidFill>
                    <a:srgbClr val="444444"/>
                  </a:solidFill>
                  <a:latin typeface="Lora"/>
                  <a:ea typeface="Lora"/>
                  <a:cs typeface="Lora"/>
                  <a:sym typeface="Lora"/>
                </a:rPr>
                <a:t>t are pulled from the factory user</a:t>
              </a:r>
              <a:endParaRPr b="0" sz="1000">
                <a:solidFill>
                  <a:srgbClr val="0064FF"/>
                </a:solidFill>
                <a:latin typeface="Outfit SemiBold"/>
                <a:ea typeface="Outfit SemiBold"/>
                <a:cs typeface="Outfit SemiBold"/>
                <a:sym typeface="Outfit SemiBold"/>
              </a:endParaRPr>
            </a:p>
          </p:txBody>
        </p:sp>
      </p:grpSp>
      <p:grpSp>
        <p:nvGrpSpPr>
          <p:cNvPr id="488" name="Google Shape;488;p25"/>
          <p:cNvGrpSpPr/>
          <p:nvPr/>
        </p:nvGrpSpPr>
        <p:grpSpPr>
          <a:xfrm>
            <a:off x="6156960" y="1914525"/>
            <a:ext cx="2457600" cy="3429000"/>
            <a:chOff x="0" y="0"/>
            <a:chExt cx="2457600" cy="3429000"/>
          </a:xfrm>
        </p:grpSpPr>
        <p:sp>
          <p:nvSpPr>
            <p:cNvPr id="489" name="Google Shape;489;p25"/>
            <p:cNvSpPr/>
            <p:nvPr/>
          </p:nvSpPr>
          <p:spPr>
            <a:xfrm>
              <a:off x="0" y="0"/>
              <a:ext cx="2457600" cy="3429000"/>
            </a:xfrm>
            <a:prstGeom prst="roundRect">
              <a:avLst>
                <a:gd fmla="val 3100" name="adj"/>
              </a:avLst>
            </a:prstGeom>
            <a:solidFill>
              <a:srgbClr val="F0EDE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90" name="Google Shape;490;p25"/>
            <p:cNvSpPr txBox="1"/>
            <p:nvPr/>
          </p:nvSpPr>
          <p:spPr>
            <a:xfrm>
              <a:off x="0" y="0"/>
              <a:ext cx="2457600" cy="3429000"/>
            </a:xfrm>
            <a:prstGeom prst="rect">
              <a:avLst/>
            </a:prstGeom>
            <a:solidFill>
              <a:srgbClr val="000000">
                <a:alpha val="0"/>
              </a:srgbClr>
            </a:solidFill>
            <a:ln>
              <a:noFill/>
            </a:ln>
          </p:spPr>
          <p:txBody>
            <a:bodyPr anchorCtr="0" anchor="t" bIns="228600" lIns="228600" spcFirstLastPara="1" rIns="228600" wrap="square" tIns="228600">
              <a:noAutofit/>
            </a:bodyPr>
            <a:lstStyle/>
            <a:p>
              <a:pPr indent="0" lvl="0" marL="0" rtl="0" algn="l">
                <a:spcBef>
                  <a:spcPts val="0"/>
                </a:spcBef>
                <a:spcAft>
                  <a:spcPts val="0"/>
                </a:spcAft>
                <a:buNone/>
              </a:pPr>
              <a:r>
                <a:rPr b="0" lang="en-GB" sz="1000">
                  <a:solidFill>
                    <a:srgbClr val="0064FF"/>
                  </a:solidFill>
                  <a:latin typeface="Outfit SemiBold"/>
                  <a:ea typeface="Outfit SemiBold"/>
                  <a:cs typeface="Outfit SemiBold"/>
                  <a:sym typeface="Outfit SemiBold"/>
                </a:rPr>
                <a:t>3 · FROM THE FACTORY</a:t>
              </a:r>
              <a:endParaRPr b="0" sz="1000">
                <a:solidFill>
                  <a:srgbClr val="0064FF"/>
                </a:solidFill>
                <a:latin typeface="Outfit SemiBold"/>
                <a:ea typeface="Outfit SemiBold"/>
                <a:cs typeface="Outfit SemiBold"/>
                <a:sym typeface="Outfit SemiBold"/>
              </a:endParaRPr>
            </a:p>
            <a:p>
              <a:pPr indent="0" lvl="0" marL="0" rtl="0" algn="l">
                <a:spcBef>
                  <a:spcPts val="600"/>
                </a:spcBef>
                <a:spcAft>
                  <a:spcPts val="0"/>
                </a:spcAft>
                <a:buNone/>
              </a:pPr>
              <a:r>
                <a:rPr b="0" lang="en-GB" sz="2200">
                  <a:solidFill>
                    <a:srgbClr val="2C2C2A"/>
                  </a:solidFill>
                  <a:latin typeface="Instrument Serif"/>
                  <a:ea typeface="Instrument Serif"/>
                  <a:cs typeface="Instrument Serif"/>
                  <a:sym typeface="Instrument Serif"/>
                </a:rPr>
                <a:t>Independence</a:t>
              </a:r>
              <a:endParaRPr b="0" sz="1000">
                <a:solidFill>
                  <a:srgbClr val="0064FF"/>
                </a:solidFill>
                <a:latin typeface="Outfit SemiBold"/>
                <a:ea typeface="Outfit SemiBold"/>
                <a:cs typeface="Outfit SemiBold"/>
                <a:sym typeface="Outfit SemiBold"/>
              </a:endParaRPr>
            </a:p>
            <a:p>
              <a:pPr indent="0" lvl="0" marL="0" rtl="0" algn="l">
                <a:spcBef>
                  <a:spcPts val="1200"/>
                </a:spcBef>
                <a:spcAft>
                  <a:spcPts val="0"/>
                </a:spcAft>
                <a:buNone/>
              </a:pPr>
              <a:r>
                <a:rPr b="0" lang="en-GB" sz="1100">
                  <a:solidFill>
                    <a:srgbClr val="444444"/>
                  </a:solidFill>
                  <a:latin typeface="Lora"/>
                  <a:ea typeface="Lora"/>
                  <a:cs typeface="Lora"/>
                  <a:sym typeface="Lora"/>
                </a:rPr>
                <a:t>It asks for what it needs, instead of you explaining</a:t>
              </a:r>
              <a:endParaRPr b="0" sz="1000">
                <a:solidFill>
                  <a:srgbClr val="0064FF"/>
                </a:solidFill>
                <a:latin typeface="Outfit SemiBold"/>
                <a:ea typeface="Outfit SemiBold"/>
                <a:cs typeface="Outfit SemiBold"/>
                <a:sym typeface="Outfit SemiBold"/>
              </a:endParaRPr>
            </a:p>
          </p:txBody>
        </p:sp>
      </p:grpSp>
      <p:grpSp>
        <p:nvGrpSpPr>
          <p:cNvPr id="491" name="Google Shape;491;p25"/>
          <p:cNvGrpSpPr/>
          <p:nvPr/>
        </p:nvGrpSpPr>
        <p:grpSpPr>
          <a:xfrm>
            <a:off x="8823960" y="1914525"/>
            <a:ext cx="2457600" cy="3429000"/>
            <a:chOff x="0" y="0"/>
            <a:chExt cx="2457600" cy="3429000"/>
          </a:xfrm>
        </p:grpSpPr>
        <p:sp>
          <p:nvSpPr>
            <p:cNvPr id="492" name="Google Shape;492;p25"/>
            <p:cNvSpPr/>
            <p:nvPr/>
          </p:nvSpPr>
          <p:spPr>
            <a:xfrm>
              <a:off x="0" y="0"/>
              <a:ext cx="2457600" cy="3429000"/>
            </a:xfrm>
            <a:prstGeom prst="roundRect">
              <a:avLst>
                <a:gd fmla="val 3100" name="adj"/>
              </a:avLst>
            </a:prstGeom>
            <a:solidFill>
              <a:srgbClr val="E1F5E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93" name="Google Shape;493;p25"/>
            <p:cNvSpPr txBox="1"/>
            <p:nvPr/>
          </p:nvSpPr>
          <p:spPr>
            <a:xfrm>
              <a:off x="0" y="0"/>
              <a:ext cx="2457600" cy="3429000"/>
            </a:xfrm>
            <a:prstGeom prst="rect">
              <a:avLst/>
            </a:prstGeom>
            <a:solidFill>
              <a:srgbClr val="000000">
                <a:alpha val="0"/>
              </a:srgbClr>
            </a:solidFill>
            <a:ln>
              <a:noFill/>
            </a:ln>
          </p:spPr>
          <p:txBody>
            <a:bodyPr anchorCtr="0" anchor="t" bIns="228600" lIns="228600" spcFirstLastPara="1" rIns="228600" wrap="square" tIns="228600">
              <a:noAutofit/>
            </a:bodyPr>
            <a:lstStyle/>
            <a:p>
              <a:pPr indent="0" lvl="0" marL="0" rtl="0" algn="l">
                <a:spcBef>
                  <a:spcPts val="0"/>
                </a:spcBef>
                <a:spcAft>
                  <a:spcPts val="0"/>
                </a:spcAft>
                <a:buNone/>
              </a:pPr>
              <a:r>
                <a:rPr b="0" lang="en-GB" sz="1000">
                  <a:solidFill>
                    <a:srgbClr val="085041"/>
                  </a:solidFill>
                  <a:latin typeface="Outfit SemiBold"/>
                  <a:ea typeface="Outfit SemiBold"/>
                  <a:cs typeface="Outfit SemiBold"/>
                  <a:sym typeface="Outfit SemiBold"/>
                </a:rPr>
                <a:t>4 · FROM THE OUTPUT</a:t>
              </a:r>
              <a:endParaRPr b="0" sz="1000">
                <a:solidFill>
                  <a:srgbClr val="085041"/>
                </a:solidFill>
                <a:latin typeface="Outfit SemiBold"/>
                <a:ea typeface="Outfit SemiBold"/>
                <a:cs typeface="Outfit SemiBold"/>
                <a:sym typeface="Outfit SemiBold"/>
              </a:endParaRPr>
            </a:p>
            <a:p>
              <a:pPr indent="0" lvl="0" marL="0" rtl="0" algn="l">
                <a:spcBef>
                  <a:spcPts val="600"/>
                </a:spcBef>
                <a:spcAft>
                  <a:spcPts val="0"/>
                </a:spcAft>
                <a:buNone/>
              </a:pPr>
              <a:r>
                <a:rPr b="0" lang="en-GB" sz="2200">
                  <a:solidFill>
                    <a:srgbClr val="2C2C2A"/>
                  </a:solidFill>
                  <a:latin typeface="Instrument Serif"/>
                  <a:ea typeface="Instrument Serif"/>
                  <a:cs typeface="Instrument Serif"/>
                  <a:sym typeface="Instrument Serif"/>
                </a:rPr>
                <a:t>Composability</a:t>
              </a:r>
              <a:endParaRPr b="0" sz="1000">
                <a:solidFill>
                  <a:srgbClr val="085041"/>
                </a:solidFill>
                <a:latin typeface="Outfit SemiBold"/>
                <a:ea typeface="Outfit SemiBold"/>
                <a:cs typeface="Outfit SemiBold"/>
                <a:sym typeface="Outfit SemiBold"/>
              </a:endParaRPr>
            </a:p>
            <a:p>
              <a:pPr indent="0" lvl="0" marL="0" rtl="0" algn="l">
                <a:spcBef>
                  <a:spcPts val="1200"/>
                </a:spcBef>
                <a:spcAft>
                  <a:spcPts val="0"/>
                </a:spcAft>
                <a:buNone/>
              </a:pPr>
              <a:r>
                <a:rPr b="0" lang="en-GB" sz="1100">
                  <a:solidFill>
                    <a:srgbClr val="085041"/>
                  </a:solidFill>
                  <a:latin typeface="Lora"/>
                  <a:ea typeface="Lora"/>
                  <a:cs typeface="Lora"/>
                  <a:sym typeface="Lora"/>
                </a:rPr>
                <a:t>Shaped so another factory can use it unchanged</a:t>
              </a:r>
              <a:endParaRPr b="0" sz="1000">
                <a:solidFill>
                  <a:srgbClr val="085041"/>
                </a:solidFill>
                <a:latin typeface="Outfit SemiBold"/>
                <a:ea typeface="Outfit SemiBold"/>
                <a:cs typeface="Outfit SemiBold"/>
                <a:sym typeface="Outfit SemiBold"/>
              </a:endParaRPr>
            </a:p>
          </p:txBody>
        </p:sp>
      </p:grpSp>
      <p:sp>
        <p:nvSpPr>
          <p:cNvPr id="494" name="Google Shape;494;p25"/>
          <p:cNvSpPr txBox="1"/>
          <p:nvPr/>
        </p:nvSpPr>
        <p:spPr>
          <a:xfrm>
            <a:off x="822960" y="5534025"/>
            <a:ext cx="10458600" cy="8097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n-GB" sz="950">
                <a:solidFill>
                  <a:srgbClr val="0064FF"/>
                </a:solidFill>
                <a:latin typeface="Outfit SemiBold"/>
                <a:ea typeface="Outfit SemiBold"/>
                <a:cs typeface="Outfit SemiBold"/>
                <a:sym typeface="Outfit SemiBold"/>
              </a:rPr>
              <a:t>§ Factory — </a:t>
            </a:r>
            <a:r>
              <a:rPr b="0" lang="en-GB" sz="950">
                <a:solidFill>
                  <a:srgbClr val="666666"/>
                </a:solidFill>
                <a:latin typeface="Lora"/>
                <a:ea typeface="Lora"/>
                <a:cs typeface="Lora"/>
                <a:sym typeface="Lora"/>
              </a:rPr>
              <a:t>A kit that runs without its author, bends to its user, and hands off something others can build on. Defined by what it does, not what it is made of.</a:t>
            </a:r>
            <a:endParaRPr b="0" sz="950">
              <a:solidFill>
                <a:srgbClr val="0064FF"/>
              </a:solidFill>
              <a:latin typeface="Outfit SemiBold"/>
              <a:ea typeface="Outfit SemiBold"/>
              <a:cs typeface="Outfit SemiBold"/>
              <a:sym typeface="Outfit SemiBold"/>
            </a:endParaRPr>
          </a:p>
        </p:txBody>
      </p:sp>
      <p:sp>
        <p:nvSpPr>
          <p:cNvPr id="495" name="Google Shape;495;p25"/>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496" name="Google Shape;496;p25"/>
          <p:cNvSpPr txBox="1"/>
          <p:nvPr>
            <p:ph idx="1" type="body"/>
          </p:nvPr>
        </p:nvSpPr>
        <p:spPr>
          <a:xfrm>
            <a:off x="822960" y="457200"/>
            <a:ext cx="9144000" cy="320100"/>
          </a:xfrm>
          <a:prstGeom prst="rect">
            <a:avLst/>
          </a:prstGeom>
          <a:noFill/>
          <a:ln>
            <a:noFill/>
          </a:ln>
        </p:spPr>
        <p:txBody>
          <a:bodyPr anchorCtr="0" anchor="t" bIns="0" lIns="0" spcFirstLastPara="1" rIns="0" wrap="square" tIns="0">
            <a:noAutofit/>
          </a:bodyPr>
          <a:lstStyle/>
          <a:p>
            <a:pPr indent="0" lvl="0" marL="0" rtl="0" algn="l">
              <a:lnSpc>
                <a:spcPct val="118000"/>
              </a:lnSpc>
              <a:spcBef>
                <a:spcPts val="0"/>
              </a:spcBef>
              <a:spcAft>
                <a:spcPts val="0"/>
              </a:spcAft>
              <a:buClr>
                <a:srgbClr val="0064FF"/>
              </a:buClr>
              <a:buSzPts val="1200"/>
              <a:buFont typeface="Outfit"/>
              <a:buNone/>
            </a:pPr>
            <a:r>
              <a:rPr lang="en-GB"/>
              <a:t>SESSION 2 · FACTORIES · CONCEPTS</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sp>
        <p:nvSpPr>
          <p:cNvPr id="501" name="Google Shape;501;p26"/>
          <p:cNvSpPr txBox="1"/>
          <p:nvPr>
            <p:ph idx="1" type="body"/>
          </p:nvPr>
        </p:nvSpPr>
        <p:spPr>
          <a:xfrm>
            <a:off x="822960" y="457200"/>
            <a:ext cx="9144000" cy="320100"/>
          </a:xfrm>
          <a:prstGeom prst="rect">
            <a:avLst/>
          </a:prstGeom>
          <a:noFill/>
          <a:ln>
            <a:noFill/>
          </a:ln>
        </p:spPr>
        <p:txBody>
          <a:bodyPr anchorCtr="0" anchor="t" bIns="0" lIns="0" spcFirstLastPara="1" rIns="0" wrap="square" tIns="0">
            <a:noAutofit/>
          </a:bodyPr>
          <a:lstStyle/>
          <a:p>
            <a:pPr indent="0" lvl="0" marL="0" rtl="0" algn="l">
              <a:lnSpc>
                <a:spcPct val="118000"/>
              </a:lnSpc>
              <a:spcBef>
                <a:spcPts val="0"/>
              </a:spcBef>
              <a:spcAft>
                <a:spcPts val="0"/>
              </a:spcAft>
              <a:buClr>
                <a:srgbClr val="0064FF"/>
              </a:buClr>
              <a:buSzPts val="1200"/>
              <a:buFont typeface="Outfit"/>
              <a:buNone/>
            </a:pPr>
            <a:r>
              <a:rPr lang="en-GB"/>
              <a:t>SESSION 2 · FACTORIES · EXAMPLES</a:t>
            </a:r>
            <a:endParaRPr/>
          </a:p>
        </p:txBody>
      </p:sp>
      <p:sp>
        <p:nvSpPr>
          <p:cNvPr id="502" name="Google Shape;502;p26"/>
          <p:cNvSpPr txBox="1"/>
          <p:nvPr>
            <p:ph type="title"/>
          </p:nvPr>
        </p:nvSpPr>
        <p:spPr>
          <a:xfrm>
            <a:off x="822960" y="914400"/>
            <a:ext cx="9692700" cy="1371600"/>
          </a:xfrm>
          <a:prstGeom prst="rect">
            <a:avLst/>
          </a:prstGeom>
          <a:noFill/>
          <a:ln>
            <a:noFill/>
          </a:ln>
        </p:spPr>
        <p:txBody>
          <a:bodyPr anchorCtr="0" anchor="t" bIns="0" lIns="0" spcFirstLastPara="1" rIns="0" wrap="square" tIns="0">
            <a:noAutofit/>
          </a:bodyPr>
          <a:lstStyle/>
          <a:p>
            <a:pPr indent="0" lvl="0" marL="0" rtl="0" algn="l">
              <a:lnSpc>
                <a:spcPct val="96000"/>
              </a:lnSpc>
              <a:spcBef>
                <a:spcPts val="0"/>
              </a:spcBef>
              <a:spcAft>
                <a:spcPts val="0"/>
              </a:spcAft>
              <a:buClr>
                <a:srgbClr val="2C2C2A"/>
              </a:buClr>
              <a:buSzPts val="2800"/>
              <a:buFont typeface="Instrument Serif"/>
              <a:buNone/>
            </a:pPr>
            <a:r>
              <a:rPr lang="en-GB"/>
              <a:t>Examples of (proto?) Factories</a:t>
            </a:r>
            <a:endParaRPr/>
          </a:p>
        </p:txBody>
      </p:sp>
      <p:grpSp>
        <p:nvGrpSpPr>
          <p:cNvPr id="503" name="Google Shape;503;p26"/>
          <p:cNvGrpSpPr/>
          <p:nvPr/>
        </p:nvGrpSpPr>
        <p:grpSpPr>
          <a:xfrm>
            <a:off x="2645972" y="1905000"/>
            <a:ext cx="3257700" cy="3524400"/>
            <a:chOff x="0" y="0"/>
            <a:chExt cx="3257700" cy="3524400"/>
          </a:xfrm>
        </p:grpSpPr>
        <p:sp>
          <p:nvSpPr>
            <p:cNvPr id="504" name="Google Shape;504;p26"/>
            <p:cNvSpPr/>
            <p:nvPr/>
          </p:nvSpPr>
          <p:spPr>
            <a:xfrm>
              <a:off x="0" y="0"/>
              <a:ext cx="3257700" cy="3524400"/>
            </a:xfrm>
            <a:prstGeom prst="roundRect">
              <a:avLst>
                <a:gd fmla="val 2339" name="adj"/>
              </a:avLst>
            </a:prstGeom>
            <a:solidFill>
              <a:srgbClr val="F0EDE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05" name="Google Shape;505;p26"/>
            <p:cNvSpPr txBox="1"/>
            <p:nvPr/>
          </p:nvSpPr>
          <p:spPr>
            <a:xfrm>
              <a:off x="0" y="0"/>
              <a:ext cx="3257700" cy="3524400"/>
            </a:xfrm>
            <a:prstGeom prst="rect">
              <a:avLst/>
            </a:prstGeom>
            <a:solidFill>
              <a:srgbClr val="000000">
                <a:alpha val="0"/>
              </a:srgbClr>
            </a:solidFill>
            <a:ln>
              <a:noFill/>
            </a:ln>
          </p:spPr>
          <p:txBody>
            <a:bodyPr anchorCtr="0" anchor="t" bIns="228600" lIns="228600" spcFirstLastPara="1" rIns="228600" wrap="square" tIns="228600">
              <a:noAutofit/>
            </a:bodyPr>
            <a:lstStyle/>
            <a:p>
              <a:pPr indent="0" lvl="0" marL="0" rtl="0" algn="l">
                <a:spcBef>
                  <a:spcPts val="0"/>
                </a:spcBef>
                <a:spcAft>
                  <a:spcPts val="0"/>
                </a:spcAft>
                <a:buNone/>
              </a:pPr>
              <a:r>
                <a:rPr b="0" lang="en-GB" sz="1000">
                  <a:solidFill>
                    <a:srgbClr val="0064FF"/>
                  </a:solidFill>
                  <a:latin typeface="Outfit SemiBold"/>
                  <a:ea typeface="Outfit SemiBold"/>
                  <a:cs typeface="Outfit SemiBold"/>
                  <a:sym typeface="Outfit SemiBold"/>
                </a:rPr>
                <a:t>1 · RAO → DIXON</a:t>
              </a:r>
              <a:endParaRPr b="0" sz="1000">
                <a:solidFill>
                  <a:srgbClr val="0064FF"/>
                </a:solidFill>
                <a:latin typeface="Outfit SemiBold"/>
                <a:ea typeface="Outfit SemiBold"/>
                <a:cs typeface="Outfit SemiBold"/>
                <a:sym typeface="Outfit SemiBold"/>
              </a:endParaRPr>
            </a:p>
            <a:p>
              <a:pPr indent="0" lvl="0" marL="0" rtl="0" algn="l">
                <a:spcBef>
                  <a:spcPts val="600"/>
                </a:spcBef>
                <a:spcAft>
                  <a:spcPts val="0"/>
                </a:spcAft>
                <a:buNone/>
              </a:pPr>
              <a:r>
                <a:rPr b="0" lang="en-GB" sz="2200">
                  <a:solidFill>
                    <a:srgbClr val="2C2C2A"/>
                  </a:solidFill>
                  <a:latin typeface="Instrument Serif"/>
                  <a:ea typeface="Instrument Serif"/>
                  <a:cs typeface="Instrument Serif"/>
                  <a:sym typeface="Instrument Serif"/>
                </a:rPr>
                <a:t>Manuscript factory</a:t>
              </a:r>
              <a:endParaRPr b="0" sz="2200">
                <a:solidFill>
                  <a:srgbClr val="2C2C2A"/>
                </a:solidFill>
                <a:latin typeface="Instrument Serif"/>
                <a:ea typeface="Instrument Serif"/>
                <a:cs typeface="Instrument Serif"/>
                <a:sym typeface="Instrument Serif"/>
              </a:endParaRPr>
            </a:p>
            <a:p>
              <a:pPr indent="0" lvl="0" marL="0" rtl="0" algn="l">
                <a:spcBef>
                  <a:spcPts val="1200"/>
                </a:spcBef>
                <a:spcAft>
                  <a:spcPts val="0"/>
                </a:spcAft>
                <a:buNone/>
              </a:pPr>
              <a:r>
                <a:rPr b="0" lang="en-GB" sz="1100">
                  <a:solidFill>
                    <a:srgbClr val="2C2C2A"/>
                  </a:solidFill>
                  <a:latin typeface="Lora"/>
                  <a:ea typeface="Lora"/>
                  <a:cs typeface="Lora"/>
                  <a:sym typeface="Lora"/>
                </a:rPr>
                <a:t>The manuscript factory never made a book. It made drafts with metadata and left them in a shared folder; Jenna Dixon's production factory picked them up with no explaining.</a:t>
              </a:r>
              <a:endParaRPr b="0" sz="1100">
                <a:solidFill>
                  <a:srgbClr val="2C2C2A"/>
                </a:solidFill>
                <a:latin typeface="Lora"/>
                <a:ea typeface="Lora"/>
                <a:cs typeface="Lora"/>
                <a:sym typeface="Lora"/>
              </a:endParaRPr>
            </a:p>
            <a:p>
              <a:pPr indent="0" lvl="0" marL="0" rtl="0" algn="l">
                <a:spcBef>
                  <a:spcPts val="1000"/>
                </a:spcBef>
                <a:spcAft>
                  <a:spcPts val="0"/>
                </a:spcAft>
                <a:buNone/>
              </a:pPr>
              <a:r>
                <a:rPr b="0" lang="en-GB" sz="1100">
                  <a:solidFill>
                    <a:srgbClr val="555555"/>
                  </a:solidFill>
                  <a:latin typeface="Lora"/>
                  <a:ea typeface="Lora"/>
                  <a:cs typeface="Lora"/>
                  <a:sym typeface="Lora"/>
                </a:rPr>
                <a:t>Connects two factories by agreeing on an output — not by making them alike. Neither is a coder.</a:t>
              </a:r>
              <a:endParaRPr b="0" sz="1100">
                <a:solidFill>
                  <a:srgbClr val="555555"/>
                </a:solidFill>
                <a:latin typeface="Lora"/>
                <a:ea typeface="Lora"/>
                <a:cs typeface="Lora"/>
                <a:sym typeface="Lora"/>
              </a:endParaRPr>
            </a:p>
          </p:txBody>
        </p:sp>
      </p:grpSp>
      <p:grpSp>
        <p:nvGrpSpPr>
          <p:cNvPr id="506" name="Google Shape;506;p26"/>
          <p:cNvGrpSpPr/>
          <p:nvPr/>
        </p:nvGrpSpPr>
        <p:grpSpPr>
          <a:xfrm>
            <a:off x="6288333" y="1905000"/>
            <a:ext cx="3257700" cy="3524400"/>
            <a:chOff x="0" y="0"/>
            <a:chExt cx="3257700" cy="3524400"/>
          </a:xfrm>
        </p:grpSpPr>
        <p:sp>
          <p:nvSpPr>
            <p:cNvPr id="507" name="Google Shape;507;p26"/>
            <p:cNvSpPr/>
            <p:nvPr/>
          </p:nvSpPr>
          <p:spPr>
            <a:xfrm>
              <a:off x="0" y="0"/>
              <a:ext cx="3257700" cy="3524400"/>
            </a:xfrm>
            <a:prstGeom prst="roundRect">
              <a:avLst>
                <a:gd fmla="val 2339" name="adj"/>
              </a:avLst>
            </a:prstGeom>
            <a:solidFill>
              <a:srgbClr val="F0EDE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08" name="Google Shape;508;p26"/>
            <p:cNvSpPr txBox="1"/>
            <p:nvPr/>
          </p:nvSpPr>
          <p:spPr>
            <a:xfrm>
              <a:off x="0" y="0"/>
              <a:ext cx="3257700" cy="3524400"/>
            </a:xfrm>
            <a:prstGeom prst="rect">
              <a:avLst/>
            </a:prstGeom>
            <a:solidFill>
              <a:srgbClr val="000000">
                <a:alpha val="0"/>
              </a:srgbClr>
            </a:solidFill>
            <a:ln>
              <a:noFill/>
            </a:ln>
          </p:spPr>
          <p:txBody>
            <a:bodyPr anchorCtr="0" anchor="t" bIns="228600" lIns="228600" spcFirstLastPara="1" rIns="228600" wrap="square" tIns="228600">
              <a:noAutofit/>
            </a:bodyPr>
            <a:lstStyle/>
            <a:p>
              <a:pPr indent="0" lvl="0" marL="0" rtl="0" algn="l">
                <a:spcBef>
                  <a:spcPts val="0"/>
                </a:spcBef>
                <a:spcAft>
                  <a:spcPts val="0"/>
                </a:spcAft>
                <a:buNone/>
              </a:pPr>
              <a:r>
                <a:rPr b="0" lang="en-GB" sz="1000">
                  <a:solidFill>
                    <a:srgbClr val="0064FF"/>
                  </a:solidFill>
                  <a:latin typeface="Outfit SemiBold"/>
                  <a:ea typeface="Outfit SemiBold"/>
                  <a:cs typeface="Outfit SemiBold"/>
                  <a:sym typeface="Outfit SemiBold"/>
                </a:rPr>
                <a:t>2 · THE PI BRAND KIT</a:t>
              </a:r>
              <a:endParaRPr b="0" sz="1000">
                <a:solidFill>
                  <a:srgbClr val="0064FF"/>
                </a:solidFill>
                <a:latin typeface="Outfit SemiBold"/>
                <a:ea typeface="Outfit SemiBold"/>
                <a:cs typeface="Outfit SemiBold"/>
                <a:sym typeface="Outfit SemiBold"/>
              </a:endParaRPr>
            </a:p>
            <a:p>
              <a:pPr indent="0" lvl="0" marL="0" rtl="0" algn="l">
                <a:spcBef>
                  <a:spcPts val="600"/>
                </a:spcBef>
                <a:spcAft>
                  <a:spcPts val="0"/>
                </a:spcAft>
                <a:buNone/>
              </a:pPr>
              <a:r>
                <a:rPr b="0" lang="en-GB" sz="2200">
                  <a:solidFill>
                    <a:srgbClr val="2C2C2A"/>
                  </a:solidFill>
                  <a:latin typeface="Instrument Serif"/>
                  <a:ea typeface="Instrument Serif"/>
                  <a:cs typeface="Instrument Serif"/>
                  <a:sym typeface="Instrument Serif"/>
                </a:rPr>
                <a:t>Forkable brand</a:t>
              </a:r>
              <a:endParaRPr b="0" sz="2200">
                <a:solidFill>
                  <a:srgbClr val="2C2C2A"/>
                </a:solidFill>
                <a:latin typeface="Instrument Serif"/>
                <a:ea typeface="Instrument Serif"/>
                <a:cs typeface="Instrument Serif"/>
                <a:sym typeface="Instrument Serif"/>
              </a:endParaRPr>
            </a:p>
            <a:p>
              <a:pPr indent="0" lvl="0" marL="0" rtl="0" algn="l">
                <a:spcBef>
                  <a:spcPts val="1200"/>
                </a:spcBef>
                <a:spcAft>
                  <a:spcPts val="0"/>
                </a:spcAft>
                <a:buNone/>
              </a:pPr>
              <a:r>
                <a:rPr b="0" lang="en-GB" sz="1100">
                  <a:solidFill>
                    <a:srgbClr val="2C2C2A"/>
                  </a:solidFill>
                  <a:latin typeface="Lora"/>
                  <a:ea typeface="Lora"/>
                  <a:cs typeface="Lora"/>
                  <a:sym typeface="Lora"/>
                </a:rPr>
                <a:t>An assistant reads brand.json through llms.txt and has the brand, with nobody in the middle.</a:t>
              </a:r>
              <a:endParaRPr b="0" sz="1100">
                <a:solidFill>
                  <a:srgbClr val="2C2C2A"/>
                </a:solidFill>
                <a:latin typeface="Lora"/>
                <a:ea typeface="Lora"/>
                <a:cs typeface="Lora"/>
                <a:sym typeface="Lora"/>
              </a:endParaRPr>
            </a:p>
            <a:p>
              <a:pPr indent="0" lvl="0" marL="0" rtl="0" algn="l">
                <a:spcBef>
                  <a:spcPts val="1000"/>
                </a:spcBef>
                <a:spcAft>
                  <a:spcPts val="0"/>
                </a:spcAft>
                <a:buNone/>
              </a:pPr>
              <a:r>
                <a:rPr b="0" lang="en-GB" sz="1100">
                  <a:solidFill>
                    <a:srgbClr val="555555"/>
                  </a:solidFill>
                  <a:latin typeface="Lora"/>
                  <a:ea typeface="Lora"/>
                  <a:cs typeface="Lora"/>
                  <a:sym typeface="Lora"/>
                </a:rPr>
                <a:t>Monstrous Times copied it and bent it to its own world — that is forking, the property the book case does not show.</a:t>
              </a:r>
              <a:endParaRPr b="0" sz="1100">
                <a:solidFill>
                  <a:srgbClr val="555555"/>
                </a:solidFill>
                <a:latin typeface="Lora"/>
                <a:ea typeface="Lora"/>
                <a:cs typeface="Lora"/>
                <a:sym typeface="Lora"/>
              </a:endParaRPr>
            </a:p>
          </p:txBody>
        </p:sp>
      </p:grpSp>
      <p:sp>
        <p:nvSpPr>
          <p:cNvPr id="509" name="Google Shape;509;p26"/>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sp>
        <p:nvSpPr>
          <p:cNvPr id="514" name="Google Shape;514;p28"/>
          <p:cNvSpPr txBox="1"/>
          <p:nvPr>
            <p:ph type="title"/>
          </p:nvPr>
        </p:nvSpPr>
        <p:spPr>
          <a:xfrm>
            <a:off x="822960" y="914400"/>
            <a:ext cx="9692700" cy="1371600"/>
          </a:xfrm>
          <a:prstGeom prst="rect">
            <a:avLst/>
          </a:prstGeom>
          <a:noFill/>
          <a:ln>
            <a:noFill/>
          </a:ln>
        </p:spPr>
        <p:txBody>
          <a:bodyPr anchorCtr="0" anchor="t" bIns="0" lIns="0" spcFirstLastPara="1" rIns="0" wrap="square" tIns="0">
            <a:noAutofit/>
          </a:bodyPr>
          <a:lstStyle/>
          <a:p>
            <a:pPr indent="0" lvl="0" marL="0" rtl="0" algn="l">
              <a:lnSpc>
                <a:spcPct val="96000"/>
              </a:lnSpc>
              <a:spcBef>
                <a:spcPts val="0"/>
              </a:spcBef>
              <a:spcAft>
                <a:spcPts val="0"/>
              </a:spcAft>
              <a:buClr>
                <a:srgbClr val="2C2C2A"/>
              </a:buClr>
              <a:buSzPts val="2800"/>
              <a:buFont typeface="Instrument Serif"/>
              <a:buNone/>
            </a:pPr>
            <a:r>
              <a:rPr lang="en-GB"/>
              <a:t>A factory can be a written guide, a script, an app, or a website.</a:t>
            </a:r>
            <a:endParaRPr/>
          </a:p>
        </p:txBody>
      </p:sp>
      <p:grpSp>
        <p:nvGrpSpPr>
          <p:cNvPr id="515" name="Google Shape;515;p28"/>
          <p:cNvGrpSpPr/>
          <p:nvPr/>
        </p:nvGrpSpPr>
        <p:grpSpPr>
          <a:xfrm>
            <a:off x="822960" y="1666875"/>
            <a:ext cx="2400300" cy="3143400"/>
            <a:chOff x="0" y="0"/>
            <a:chExt cx="2400300" cy="3143400"/>
          </a:xfrm>
        </p:grpSpPr>
        <p:sp>
          <p:nvSpPr>
            <p:cNvPr id="516" name="Google Shape;516;p28"/>
            <p:cNvSpPr/>
            <p:nvPr/>
          </p:nvSpPr>
          <p:spPr>
            <a:xfrm>
              <a:off x="0" y="0"/>
              <a:ext cx="2400300" cy="3143400"/>
            </a:xfrm>
            <a:prstGeom prst="roundRect">
              <a:avLst>
                <a:gd fmla="val 3174" name="adj"/>
              </a:avLst>
            </a:prstGeom>
            <a:solidFill>
              <a:srgbClr val="F0EDE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17" name="Google Shape;517;p28"/>
            <p:cNvSpPr txBox="1"/>
            <p:nvPr/>
          </p:nvSpPr>
          <p:spPr>
            <a:xfrm>
              <a:off x="0" y="0"/>
              <a:ext cx="2400300" cy="3143400"/>
            </a:xfrm>
            <a:prstGeom prst="rect">
              <a:avLst/>
            </a:prstGeom>
            <a:noFill/>
            <a:ln>
              <a:noFill/>
            </a:ln>
          </p:spPr>
          <p:txBody>
            <a:bodyPr anchorCtr="0" anchor="t" bIns="190500" lIns="190500" spcFirstLastPara="1" rIns="190500" wrap="square" tIns="190500">
              <a:noAutofit/>
            </a:bodyPr>
            <a:lstStyle/>
            <a:p>
              <a:pPr indent="0" lvl="0" marL="0" rtl="0" algn="l">
                <a:spcBef>
                  <a:spcPts val="0"/>
                </a:spcBef>
                <a:spcAft>
                  <a:spcPts val="0"/>
                </a:spcAft>
                <a:buNone/>
              </a:pPr>
              <a:r>
                <a:rPr b="0" lang="en-GB" sz="950">
                  <a:solidFill>
                    <a:srgbClr val="0064FF"/>
                  </a:solidFill>
                  <a:latin typeface="Outfit SemiBold"/>
                  <a:ea typeface="Outfit SemiBold"/>
                  <a:cs typeface="Outfit SemiBold"/>
                  <a:sym typeface="Outfit SemiBold"/>
                </a:rPr>
                <a:t>1 · WRITTEN GUIDE</a:t>
              </a:r>
              <a:endParaRPr b="0" sz="950">
                <a:solidFill>
                  <a:srgbClr val="0064FF"/>
                </a:solidFill>
                <a:latin typeface="Outfit SemiBold"/>
                <a:ea typeface="Outfit SemiBold"/>
                <a:cs typeface="Outfit SemiBold"/>
                <a:sym typeface="Outfit SemiBold"/>
              </a:endParaRPr>
            </a:p>
            <a:p>
              <a:pPr indent="0" lvl="0" marL="0" rtl="0" algn="l">
                <a:spcBef>
                  <a:spcPts val="600"/>
                </a:spcBef>
                <a:spcAft>
                  <a:spcPts val="0"/>
                </a:spcAft>
                <a:buNone/>
              </a:pPr>
              <a:r>
                <a:rPr lang="en-GB" sz="2200">
                  <a:solidFill>
                    <a:srgbClr val="2C2C2A"/>
                  </a:solidFill>
                  <a:latin typeface="Instrument Serif"/>
                  <a:ea typeface="Instrument Serif"/>
                  <a:cs typeface="Instrument Serif"/>
                  <a:sym typeface="Instrument Serif"/>
                </a:rPr>
                <a:t>A skill</a:t>
              </a:r>
              <a:endParaRPr sz="2200">
                <a:solidFill>
                  <a:srgbClr val="2C2C2A"/>
                </a:solidFill>
                <a:latin typeface="Instrument Serif"/>
                <a:ea typeface="Instrument Serif"/>
                <a:cs typeface="Instrument Serif"/>
                <a:sym typeface="Instrument Serif"/>
              </a:endParaRPr>
            </a:p>
            <a:p>
              <a:pPr indent="0" lvl="0" marL="0" rtl="0" algn="l">
                <a:spcBef>
                  <a:spcPts val="900"/>
                </a:spcBef>
                <a:spcAft>
                  <a:spcPts val="0"/>
                </a:spcAft>
                <a:buNone/>
              </a:pPr>
              <a:r>
                <a:rPr lang="en-GB" sz="1050">
                  <a:solidFill>
                    <a:srgbClr val="444444"/>
                  </a:solidFill>
                  <a:latin typeface="Lora"/>
                  <a:ea typeface="Lora"/>
                  <a:cs typeface="Lora"/>
                  <a:sym typeface="Lora"/>
                </a:rPr>
                <a:t>A README and SKILL.md an assistant runs, plus one example.</a:t>
              </a:r>
              <a:endParaRPr sz="1050">
                <a:solidFill>
                  <a:srgbClr val="444444"/>
                </a:solidFill>
                <a:latin typeface="Lora"/>
                <a:ea typeface="Lora"/>
                <a:cs typeface="Lora"/>
                <a:sym typeface="Lora"/>
              </a:endParaRPr>
            </a:p>
            <a:p>
              <a:pPr indent="0" lvl="0" marL="0" rtl="0" algn="l">
                <a:spcBef>
                  <a:spcPts val="1200"/>
                </a:spcBef>
                <a:spcAft>
                  <a:spcPts val="0"/>
                </a:spcAft>
                <a:buNone/>
              </a:pPr>
              <a:r>
                <a:rPr b="0" i="0" lang="en-GB" sz="900">
                  <a:solidFill>
                    <a:srgbClr val="0064FF"/>
                  </a:solidFill>
                  <a:latin typeface="Lora SemiBold"/>
                  <a:ea typeface="Lora SemiBold"/>
                  <a:cs typeface="Lora SemiBold"/>
                  <a:sym typeface="Lora SemiBold"/>
                </a:rPr>
                <a:t>Standard:</a:t>
              </a:r>
              <a:r>
                <a:rPr i="1" lang="en-GB" sz="900">
                  <a:solidFill>
                    <a:srgbClr val="666666"/>
                  </a:solidFill>
                  <a:latin typeface="Lora"/>
                  <a:ea typeface="Lora"/>
                  <a:cs typeface="Lora"/>
                  <a:sym typeface="Lora"/>
                </a:rPr>
                <a:t> SKILL.md / Agent Skills</a:t>
              </a:r>
              <a:endParaRPr i="1" sz="900">
                <a:solidFill>
                  <a:srgbClr val="666666"/>
                </a:solidFill>
                <a:latin typeface="Lora"/>
                <a:ea typeface="Lora"/>
                <a:cs typeface="Lora"/>
                <a:sym typeface="Lora"/>
              </a:endParaRPr>
            </a:p>
          </p:txBody>
        </p:sp>
      </p:grpSp>
      <p:grpSp>
        <p:nvGrpSpPr>
          <p:cNvPr id="518" name="Google Shape;518;p28"/>
          <p:cNvGrpSpPr/>
          <p:nvPr/>
        </p:nvGrpSpPr>
        <p:grpSpPr>
          <a:xfrm>
            <a:off x="3413760" y="1666875"/>
            <a:ext cx="2400300" cy="3143400"/>
            <a:chOff x="0" y="0"/>
            <a:chExt cx="2400300" cy="3143400"/>
          </a:xfrm>
        </p:grpSpPr>
        <p:sp>
          <p:nvSpPr>
            <p:cNvPr id="519" name="Google Shape;519;p28"/>
            <p:cNvSpPr/>
            <p:nvPr/>
          </p:nvSpPr>
          <p:spPr>
            <a:xfrm>
              <a:off x="0" y="0"/>
              <a:ext cx="2400300" cy="3143400"/>
            </a:xfrm>
            <a:prstGeom prst="roundRect">
              <a:avLst>
                <a:gd fmla="val 3174" name="adj"/>
              </a:avLst>
            </a:prstGeom>
            <a:solidFill>
              <a:srgbClr val="F0EDE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20" name="Google Shape;520;p28"/>
            <p:cNvSpPr txBox="1"/>
            <p:nvPr/>
          </p:nvSpPr>
          <p:spPr>
            <a:xfrm>
              <a:off x="0" y="0"/>
              <a:ext cx="2400300" cy="3143400"/>
            </a:xfrm>
            <a:prstGeom prst="rect">
              <a:avLst/>
            </a:prstGeom>
            <a:noFill/>
            <a:ln>
              <a:noFill/>
            </a:ln>
          </p:spPr>
          <p:txBody>
            <a:bodyPr anchorCtr="0" anchor="t" bIns="190500" lIns="190500" spcFirstLastPara="1" rIns="190500" wrap="square" tIns="190500">
              <a:noAutofit/>
            </a:bodyPr>
            <a:lstStyle/>
            <a:p>
              <a:pPr indent="0" lvl="0" marL="0" rtl="0" algn="l">
                <a:spcBef>
                  <a:spcPts val="0"/>
                </a:spcBef>
                <a:spcAft>
                  <a:spcPts val="0"/>
                </a:spcAft>
                <a:buNone/>
              </a:pPr>
              <a:r>
                <a:rPr b="0" lang="en-GB" sz="950">
                  <a:solidFill>
                    <a:srgbClr val="0064FF"/>
                  </a:solidFill>
                  <a:latin typeface="Outfit SemiBold"/>
                  <a:ea typeface="Outfit SemiBold"/>
                  <a:cs typeface="Outfit SemiBold"/>
                  <a:sym typeface="Outfit SemiBold"/>
                </a:rPr>
                <a:t>2 · SCRIPT</a:t>
              </a:r>
              <a:endParaRPr b="0" sz="950">
                <a:solidFill>
                  <a:srgbClr val="0064FF"/>
                </a:solidFill>
                <a:latin typeface="Outfit SemiBold"/>
                <a:ea typeface="Outfit SemiBold"/>
                <a:cs typeface="Outfit SemiBold"/>
                <a:sym typeface="Outfit SemiBold"/>
              </a:endParaRPr>
            </a:p>
            <a:p>
              <a:pPr indent="0" lvl="0" marL="0" rtl="0" algn="l">
                <a:spcBef>
                  <a:spcPts val="600"/>
                </a:spcBef>
                <a:spcAft>
                  <a:spcPts val="0"/>
                </a:spcAft>
                <a:buNone/>
              </a:pPr>
              <a:r>
                <a:rPr lang="en-GB" sz="2200">
                  <a:solidFill>
                    <a:srgbClr val="2C2C2A"/>
                  </a:solidFill>
                  <a:latin typeface="Instrument Serif"/>
                  <a:ea typeface="Instrument Serif"/>
                  <a:cs typeface="Instrument Serif"/>
                  <a:sym typeface="Instrument Serif"/>
                </a:rPr>
                <a:t>Single file</a:t>
              </a:r>
              <a:endParaRPr sz="2200">
                <a:solidFill>
                  <a:srgbClr val="2C2C2A"/>
                </a:solidFill>
                <a:latin typeface="Instrument Serif"/>
                <a:ea typeface="Instrument Serif"/>
                <a:cs typeface="Instrument Serif"/>
                <a:sym typeface="Instrument Serif"/>
              </a:endParaRPr>
            </a:p>
            <a:p>
              <a:pPr indent="0" lvl="0" marL="0" rtl="0" algn="l">
                <a:spcBef>
                  <a:spcPts val="900"/>
                </a:spcBef>
                <a:spcAft>
                  <a:spcPts val="0"/>
                </a:spcAft>
                <a:buNone/>
              </a:pPr>
              <a:r>
                <a:rPr lang="en-GB" sz="1050">
                  <a:solidFill>
                    <a:srgbClr val="444444"/>
                  </a:solidFill>
                  <a:latin typeface="Lora"/>
                  <a:ea typeface="Lora"/>
                  <a:cs typeface="Lora"/>
                  <a:sym typeface="Lora"/>
                </a:rPr>
                <a:t>A single file that calls a model through MCP or an API.</a:t>
              </a:r>
              <a:endParaRPr sz="1050">
                <a:solidFill>
                  <a:srgbClr val="444444"/>
                </a:solidFill>
                <a:latin typeface="Lora"/>
                <a:ea typeface="Lora"/>
                <a:cs typeface="Lora"/>
                <a:sym typeface="Lora"/>
              </a:endParaRPr>
            </a:p>
            <a:p>
              <a:pPr indent="0" lvl="0" marL="0" rtl="0" algn="l">
                <a:spcBef>
                  <a:spcPts val="1200"/>
                </a:spcBef>
                <a:spcAft>
                  <a:spcPts val="0"/>
                </a:spcAft>
                <a:buNone/>
              </a:pPr>
              <a:r>
                <a:rPr b="0" i="0" lang="en-GB" sz="900">
                  <a:solidFill>
                    <a:srgbClr val="0064FF"/>
                  </a:solidFill>
                  <a:latin typeface="Lora SemiBold"/>
                  <a:ea typeface="Lora SemiBold"/>
                  <a:cs typeface="Lora SemiBold"/>
                  <a:sym typeface="Lora SemiBold"/>
                </a:rPr>
                <a:t>Standard:</a:t>
              </a:r>
              <a:r>
                <a:rPr i="1" lang="en-GB" sz="900">
                  <a:solidFill>
                    <a:srgbClr val="666666"/>
                  </a:solidFill>
                  <a:latin typeface="Lora"/>
                  <a:ea typeface="Lora"/>
                  <a:cs typeface="Lora"/>
                  <a:sym typeface="Lora"/>
                </a:rPr>
                <a:t> MCP · modelcontextprotocol.io</a:t>
              </a:r>
              <a:endParaRPr i="1" sz="900">
                <a:solidFill>
                  <a:srgbClr val="666666"/>
                </a:solidFill>
                <a:latin typeface="Lora"/>
                <a:ea typeface="Lora"/>
                <a:cs typeface="Lora"/>
                <a:sym typeface="Lora"/>
              </a:endParaRPr>
            </a:p>
          </p:txBody>
        </p:sp>
      </p:grpSp>
      <p:grpSp>
        <p:nvGrpSpPr>
          <p:cNvPr id="521" name="Google Shape;521;p28"/>
          <p:cNvGrpSpPr/>
          <p:nvPr/>
        </p:nvGrpSpPr>
        <p:grpSpPr>
          <a:xfrm>
            <a:off x="6004560" y="1666875"/>
            <a:ext cx="2400300" cy="3143400"/>
            <a:chOff x="0" y="0"/>
            <a:chExt cx="2400300" cy="3143400"/>
          </a:xfrm>
        </p:grpSpPr>
        <p:sp>
          <p:nvSpPr>
            <p:cNvPr id="522" name="Google Shape;522;p28"/>
            <p:cNvSpPr/>
            <p:nvPr/>
          </p:nvSpPr>
          <p:spPr>
            <a:xfrm>
              <a:off x="0" y="0"/>
              <a:ext cx="2400300" cy="3143400"/>
            </a:xfrm>
            <a:prstGeom prst="roundRect">
              <a:avLst>
                <a:gd fmla="val 3174" name="adj"/>
              </a:avLst>
            </a:prstGeom>
            <a:solidFill>
              <a:srgbClr val="F0EDE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23" name="Google Shape;523;p28"/>
            <p:cNvSpPr txBox="1"/>
            <p:nvPr/>
          </p:nvSpPr>
          <p:spPr>
            <a:xfrm>
              <a:off x="0" y="0"/>
              <a:ext cx="2400300" cy="3143400"/>
            </a:xfrm>
            <a:prstGeom prst="rect">
              <a:avLst/>
            </a:prstGeom>
            <a:noFill/>
            <a:ln>
              <a:noFill/>
            </a:ln>
          </p:spPr>
          <p:txBody>
            <a:bodyPr anchorCtr="0" anchor="t" bIns="190500" lIns="190500" spcFirstLastPara="1" rIns="190500" wrap="square" tIns="190500">
              <a:noAutofit/>
            </a:bodyPr>
            <a:lstStyle/>
            <a:p>
              <a:pPr indent="0" lvl="0" marL="0" rtl="0" algn="l">
                <a:spcBef>
                  <a:spcPts val="0"/>
                </a:spcBef>
                <a:spcAft>
                  <a:spcPts val="0"/>
                </a:spcAft>
                <a:buNone/>
              </a:pPr>
              <a:r>
                <a:rPr b="0" lang="en-GB" sz="950">
                  <a:solidFill>
                    <a:srgbClr val="0064FF"/>
                  </a:solidFill>
                  <a:latin typeface="Outfit SemiBold"/>
                  <a:ea typeface="Outfit SemiBold"/>
                  <a:cs typeface="Outfit SemiBold"/>
                  <a:sym typeface="Outfit SemiBold"/>
                </a:rPr>
                <a:t>3 · APP</a:t>
              </a:r>
              <a:endParaRPr b="0" sz="950">
                <a:solidFill>
                  <a:srgbClr val="0064FF"/>
                </a:solidFill>
                <a:latin typeface="Outfit SemiBold"/>
                <a:ea typeface="Outfit SemiBold"/>
                <a:cs typeface="Outfit SemiBold"/>
                <a:sym typeface="Outfit SemiBold"/>
              </a:endParaRPr>
            </a:p>
            <a:p>
              <a:pPr indent="0" lvl="0" marL="0" rtl="0" algn="l">
                <a:spcBef>
                  <a:spcPts val="600"/>
                </a:spcBef>
                <a:spcAft>
                  <a:spcPts val="0"/>
                </a:spcAft>
                <a:buNone/>
              </a:pPr>
              <a:r>
                <a:rPr lang="en-GB" sz="2200">
                  <a:solidFill>
                    <a:srgbClr val="2C2C2A"/>
                  </a:solidFill>
                  <a:latin typeface="Instrument Serif"/>
                  <a:ea typeface="Instrument Serif"/>
                  <a:cs typeface="Instrument Serif"/>
                  <a:sym typeface="Instrument Serif"/>
                </a:rPr>
                <a:t>Installed app</a:t>
              </a:r>
              <a:endParaRPr sz="2200">
                <a:solidFill>
                  <a:srgbClr val="2C2C2A"/>
                </a:solidFill>
                <a:latin typeface="Instrument Serif"/>
                <a:ea typeface="Instrument Serif"/>
                <a:cs typeface="Instrument Serif"/>
                <a:sym typeface="Instrument Serif"/>
              </a:endParaRPr>
            </a:p>
            <a:p>
              <a:pPr indent="0" lvl="0" marL="0" rtl="0" algn="l">
                <a:spcBef>
                  <a:spcPts val="900"/>
                </a:spcBef>
                <a:spcAft>
                  <a:spcPts val="0"/>
                </a:spcAft>
                <a:buNone/>
              </a:pPr>
              <a:r>
                <a:rPr lang="en-GB" sz="1050">
                  <a:solidFill>
                    <a:srgbClr val="444444"/>
                  </a:solidFill>
                  <a:latin typeface="Lora"/>
                  <a:ea typeface="Lora"/>
                  <a:cs typeface="Lora"/>
                  <a:sym typeface="Lora"/>
                </a:rPr>
                <a:t>An app someone installs. More reach, more effort — not more of a factory.</a:t>
              </a:r>
              <a:endParaRPr sz="1050">
                <a:solidFill>
                  <a:srgbClr val="444444"/>
                </a:solidFill>
                <a:latin typeface="Lora"/>
                <a:ea typeface="Lora"/>
                <a:cs typeface="Lora"/>
                <a:sym typeface="Lora"/>
              </a:endParaRPr>
            </a:p>
            <a:p>
              <a:pPr indent="0" lvl="0" marL="0" rtl="0" algn="l">
                <a:spcBef>
                  <a:spcPts val="1200"/>
                </a:spcBef>
                <a:spcAft>
                  <a:spcPts val="0"/>
                </a:spcAft>
                <a:buNone/>
              </a:pPr>
              <a:r>
                <a:rPr b="0" i="0" lang="en-GB" sz="900">
                  <a:solidFill>
                    <a:srgbClr val="0064FF"/>
                  </a:solidFill>
                  <a:latin typeface="Lora SemiBold"/>
                  <a:ea typeface="Lora SemiBold"/>
                  <a:cs typeface="Lora SemiBold"/>
                  <a:sym typeface="Lora SemiBold"/>
                </a:rPr>
                <a:t>Standard:</a:t>
              </a:r>
              <a:r>
                <a:rPr i="1" lang="en-GB" sz="900">
                  <a:solidFill>
                    <a:srgbClr val="666666"/>
                  </a:solidFill>
                  <a:latin typeface="Lora"/>
                  <a:ea typeface="Lora"/>
                  <a:cs typeface="Lora"/>
                  <a:sym typeface="Lora"/>
                </a:rPr>
                <a:t> Custom client</a:t>
              </a:r>
              <a:endParaRPr i="1" sz="900">
                <a:solidFill>
                  <a:srgbClr val="666666"/>
                </a:solidFill>
                <a:latin typeface="Lora"/>
                <a:ea typeface="Lora"/>
                <a:cs typeface="Lora"/>
                <a:sym typeface="Lora"/>
              </a:endParaRPr>
            </a:p>
          </p:txBody>
        </p:sp>
      </p:grpSp>
      <p:grpSp>
        <p:nvGrpSpPr>
          <p:cNvPr id="524" name="Google Shape;524;p28"/>
          <p:cNvGrpSpPr/>
          <p:nvPr/>
        </p:nvGrpSpPr>
        <p:grpSpPr>
          <a:xfrm>
            <a:off x="8595360" y="1666875"/>
            <a:ext cx="2400300" cy="3143400"/>
            <a:chOff x="0" y="0"/>
            <a:chExt cx="2400300" cy="3143400"/>
          </a:xfrm>
        </p:grpSpPr>
        <p:sp>
          <p:nvSpPr>
            <p:cNvPr id="525" name="Google Shape;525;p28"/>
            <p:cNvSpPr/>
            <p:nvPr/>
          </p:nvSpPr>
          <p:spPr>
            <a:xfrm>
              <a:off x="0" y="0"/>
              <a:ext cx="2400300" cy="3143400"/>
            </a:xfrm>
            <a:prstGeom prst="roundRect">
              <a:avLst>
                <a:gd fmla="val 3174" name="adj"/>
              </a:avLst>
            </a:prstGeom>
            <a:solidFill>
              <a:srgbClr val="F0EDE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26" name="Google Shape;526;p28"/>
            <p:cNvSpPr txBox="1"/>
            <p:nvPr/>
          </p:nvSpPr>
          <p:spPr>
            <a:xfrm>
              <a:off x="0" y="0"/>
              <a:ext cx="2400300" cy="3143400"/>
            </a:xfrm>
            <a:prstGeom prst="rect">
              <a:avLst/>
            </a:prstGeom>
            <a:noFill/>
            <a:ln>
              <a:noFill/>
            </a:ln>
          </p:spPr>
          <p:txBody>
            <a:bodyPr anchorCtr="0" anchor="t" bIns="190500" lIns="190500" spcFirstLastPara="1" rIns="190500" wrap="square" tIns="190500">
              <a:noAutofit/>
            </a:bodyPr>
            <a:lstStyle/>
            <a:p>
              <a:pPr indent="0" lvl="0" marL="0" rtl="0" algn="l">
                <a:spcBef>
                  <a:spcPts val="0"/>
                </a:spcBef>
                <a:spcAft>
                  <a:spcPts val="0"/>
                </a:spcAft>
                <a:buNone/>
              </a:pPr>
              <a:r>
                <a:rPr b="0" lang="en-GB" sz="950">
                  <a:solidFill>
                    <a:srgbClr val="0064FF"/>
                  </a:solidFill>
                  <a:latin typeface="Outfit SemiBold"/>
                  <a:ea typeface="Outfit SemiBold"/>
                  <a:cs typeface="Outfit SemiBold"/>
                  <a:sym typeface="Outfit SemiBold"/>
                </a:rPr>
                <a:t>4 · WEBSITE</a:t>
              </a:r>
              <a:endParaRPr b="0" sz="950">
                <a:solidFill>
                  <a:srgbClr val="0064FF"/>
                </a:solidFill>
                <a:latin typeface="Outfit SemiBold"/>
                <a:ea typeface="Outfit SemiBold"/>
                <a:cs typeface="Outfit SemiBold"/>
                <a:sym typeface="Outfit SemiBold"/>
              </a:endParaRPr>
            </a:p>
            <a:p>
              <a:pPr indent="0" lvl="0" marL="0" rtl="0" algn="l">
                <a:spcBef>
                  <a:spcPts val="600"/>
                </a:spcBef>
                <a:spcAft>
                  <a:spcPts val="0"/>
                </a:spcAft>
                <a:buNone/>
              </a:pPr>
              <a:r>
                <a:rPr lang="en-GB" sz="2200">
                  <a:solidFill>
                    <a:srgbClr val="2C2C2A"/>
                  </a:solidFill>
                  <a:latin typeface="Instrument Serif"/>
                  <a:ea typeface="Instrument Serif"/>
                  <a:cs typeface="Instrument Serif"/>
                  <a:sym typeface="Instrument Serif"/>
                </a:rPr>
                <a:t>Web service</a:t>
              </a:r>
              <a:endParaRPr sz="2200">
                <a:solidFill>
                  <a:srgbClr val="2C2C2A"/>
                </a:solidFill>
                <a:latin typeface="Instrument Serif"/>
                <a:ea typeface="Instrument Serif"/>
                <a:cs typeface="Instrument Serif"/>
                <a:sym typeface="Instrument Serif"/>
              </a:endParaRPr>
            </a:p>
            <a:p>
              <a:pPr indent="0" lvl="0" marL="0" rtl="0" algn="l">
                <a:spcBef>
                  <a:spcPts val="900"/>
                </a:spcBef>
                <a:spcAft>
                  <a:spcPts val="0"/>
                </a:spcAft>
                <a:buNone/>
              </a:pPr>
              <a:r>
                <a:rPr lang="en-GB" sz="1050">
                  <a:solidFill>
                    <a:srgbClr val="444444"/>
                  </a:solidFill>
                  <a:latin typeface="Lora"/>
                  <a:ea typeface="Lora"/>
                  <a:cs typeface="Lora"/>
                  <a:sym typeface="Lora"/>
                </a:rPr>
                <a:t>A website running on a machine somewhere.</a:t>
              </a:r>
              <a:endParaRPr sz="1050">
                <a:solidFill>
                  <a:srgbClr val="444444"/>
                </a:solidFill>
                <a:latin typeface="Lora"/>
                <a:ea typeface="Lora"/>
                <a:cs typeface="Lora"/>
                <a:sym typeface="Lora"/>
              </a:endParaRPr>
            </a:p>
            <a:p>
              <a:pPr indent="0" lvl="0" marL="0" rtl="0" algn="l">
                <a:spcBef>
                  <a:spcPts val="1200"/>
                </a:spcBef>
                <a:spcAft>
                  <a:spcPts val="0"/>
                </a:spcAft>
                <a:buNone/>
              </a:pPr>
              <a:r>
                <a:rPr b="0" i="0" lang="en-GB" sz="900">
                  <a:solidFill>
                    <a:srgbClr val="0064FF"/>
                  </a:solidFill>
                  <a:latin typeface="Lora SemiBold"/>
                  <a:ea typeface="Lora SemiBold"/>
                  <a:cs typeface="Lora SemiBold"/>
                  <a:sym typeface="Lora SemiBold"/>
                </a:rPr>
                <a:t>Standard:</a:t>
              </a:r>
              <a:r>
                <a:rPr i="1" lang="en-GB" sz="900">
                  <a:solidFill>
                    <a:srgbClr val="666666"/>
                  </a:solidFill>
                  <a:latin typeface="Lora"/>
                  <a:ea typeface="Lora"/>
                  <a:cs typeface="Lora"/>
                  <a:sym typeface="Lora"/>
                </a:rPr>
                <a:t> A2A (agent to agent)</a:t>
              </a:r>
              <a:endParaRPr i="1" sz="900">
                <a:solidFill>
                  <a:srgbClr val="666666"/>
                </a:solidFill>
                <a:latin typeface="Lora"/>
                <a:ea typeface="Lora"/>
                <a:cs typeface="Lora"/>
                <a:sym typeface="Lora"/>
              </a:endParaRPr>
            </a:p>
          </p:txBody>
        </p:sp>
      </p:grpSp>
      <p:grpSp>
        <p:nvGrpSpPr>
          <p:cNvPr id="527" name="Google Shape;527;p28"/>
          <p:cNvGrpSpPr/>
          <p:nvPr/>
        </p:nvGrpSpPr>
        <p:grpSpPr>
          <a:xfrm>
            <a:off x="822960" y="5000625"/>
            <a:ext cx="10172700" cy="1381200"/>
            <a:chOff x="0" y="0"/>
            <a:chExt cx="10172700" cy="1381200"/>
          </a:xfrm>
        </p:grpSpPr>
        <p:sp>
          <p:nvSpPr>
            <p:cNvPr id="528" name="Google Shape;528;p28"/>
            <p:cNvSpPr/>
            <p:nvPr/>
          </p:nvSpPr>
          <p:spPr>
            <a:xfrm>
              <a:off x="0" y="0"/>
              <a:ext cx="10172700" cy="1381200"/>
            </a:xfrm>
            <a:prstGeom prst="roundRect">
              <a:avLst>
                <a:gd fmla="val 5517" name="adj"/>
              </a:avLst>
            </a:prstGeom>
            <a:solidFill>
              <a:srgbClr val="E1F5E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29" name="Google Shape;529;p28"/>
            <p:cNvSpPr txBox="1"/>
            <p:nvPr/>
          </p:nvSpPr>
          <p:spPr>
            <a:xfrm>
              <a:off x="0" y="0"/>
              <a:ext cx="10172700" cy="1381200"/>
            </a:xfrm>
            <a:prstGeom prst="rect">
              <a:avLst/>
            </a:prstGeom>
            <a:noFill/>
            <a:ln>
              <a:noFill/>
            </a:ln>
          </p:spPr>
          <p:txBody>
            <a:bodyPr anchorCtr="0" anchor="ctr" bIns="171450" lIns="228600" spcFirstLastPara="1" rIns="228600" wrap="square" tIns="171450">
              <a:noAutofit/>
            </a:bodyPr>
            <a:lstStyle/>
            <a:p>
              <a:pPr indent="0" lvl="0" marL="0" rtl="0" algn="l">
                <a:spcBef>
                  <a:spcPts val="0"/>
                </a:spcBef>
                <a:spcAft>
                  <a:spcPts val="0"/>
                </a:spcAft>
                <a:buNone/>
              </a:pPr>
              <a:r>
                <a:rPr lang="en-GB" sz="1100">
                  <a:solidFill>
                    <a:srgbClr val="085041"/>
                  </a:solidFill>
                  <a:latin typeface="Lora"/>
                  <a:ea typeface="Lora"/>
                  <a:cs typeface="Lora"/>
                  <a:sym typeface="Lora"/>
                </a:rPr>
                <a:t>The definition is the same on every rung. Standards that close early lock in whatever happened to be there — which is how we all ended up typing on QWERTY. Publish the smallest possible entry point, and keep everything behind it free to change.</a:t>
              </a:r>
              <a:endParaRPr sz="1100">
                <a:solidFill>
                  <a:srgbClr val="085041"/>
                </a:solidFill>
                <a:latin typeface="Lora"/>
                <a:ea typeface="Lora"/>
                <a:cs typeface="Lora"/>
                <a:sym typeface="Lora"/>
              </a:endParaRPr>
            </a:p>
            <a:p>
              <a:pPr indent="0" lvl="0" marL="0" rtl="0" algn="l">
                <a:spcBef>
                  <a:spcPts val="600"/>
                </a:spcBef>
                <a:spcAft>
                  <a:spcPts val="0"/>
                </a:spcAft>
                <a:buNone/>
              </a:pPr>
              <a:r>
                <a:rPr lang="en-GB" sz="950">
                  <a:solidFill>
                    <a:srgbClr val="085041"/>
                  </a:solidFill>
                  <a:latin typeface="Lora"/>
                  <a:ea typeface="Lora"/>
                  <a:cs typeface="Lora"/>
                  <a:sym typeface="Lora"/>
                </a:rPr>
                <a:t>§ Standard — A protocol written down and published so anyone can build against it. The ones named here get named, not taught.</a:t>
              </a:r>
              <a:endParaRPr sz="950">
                <a:solidFill>
                  <a:srgbClr val="085041"/>
                </a:solidFill>
                <a:latin typeface="Lora"/>
                <a:ea typeface="Lora"/>
                <a:cs typeface="Lora"/>
                <a:sym typeface="Lora"/>
              </a:endParaRPr>
            </a:p>
          </p:txBody>
        </p:sp>
      </p:grpSp>
      <p:sp>
        <p:nvSpPr>
          <p:cNvPr id="530" name="Google Shape;530;p28"/>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531" name="Google Shape;531;p28"/>
          <p:cNvSpPr txBox="1"/>
          <p:nvPr>
            <p:ph idx="1" type="body"/>
          </p:nvPr>
        </p:nvSpPr>
        <p:spPr>
          <a:xfrm>
            <a:off x="822960" y="457200"/>
            <a:ext cx="9144000" cy="320100"/>
          </a:xfrm>
          <a:prstGeom prst="rect">
            <a:avLst/>
          </a:prstGeom>
          <a:noFill/>
          <a:ln>
            <a:noFill/>
          </a:ln>
        </p:spPr>
        <p:txBody>
          <a:bodyPr anchorCtr="0" anchor="t" bIns="0" lIns="0" spcFirstLastPara="1" rIns="0" wrap="square" tIns="0">
            <a:noAutofit/>
          </a:bodyPr>
          <a:lstStyle/>
          <a:p>
            <a:pPr indent="0" lvl="0" marL="0" rtl="0" algn="l">
              <a:lnSpc>
                <a:spcPct val="118000"/>
              </a:lnSpc>
              <a:spcBef>
                <a:spcPts val="0"/>
              </a:spcBef>
              <a:spcAft>
                <a:spcPts val="0"/>
              </a:spcAft>
              <a:buClr>
                <a:srgbClr val="0064FF"/>
              </a:buClr>
              <a:buSzPts val="1200"/>
              <a:buFont typeface="Outfit"/>
              <a:buNone/>
            </a:pPr>
            <a:r>
              <a:rPr lang="en-GB"/>
              <a:t>SESSION 2 · FACTORIES · CONCEPTS</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5" name="Shape 535"/>
        <p:cNvGrpSpPr/>
        <p:nvPr/>
      </p:nvGrpSpPr>
      <p:grpSpPr>
        <a:xfrm>
          <a:off x="0" y="0"/>
          <a:ext cx="0" cy="0"/>
          <a:chOff x="0" y="0"/>
          <a:chExt cx="0" cy="0"/>
        </a:xfrm>
      </p:grpSpPr>
      <p:sp>
        <p:nvSpPr>
          <p:cNvPr id="536" name="Google Shape;536;p29"/>
          <p:cNvSpPr txBox="1"/>
          <p:nvPr>
            <p:ph type="title"/>
          </p:nvPr>
        </p:nvSpPr>
        <p:spPr>
          <a:xfrm>
            <a:off x="822960" y="838200"/>
            <a:ext cx="10546200" cy="6858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n-GB" sz="2600">
                <a:solidFill>
                  <a:srgbClr val="2C2C2A"/>
                </a:solidFill>
                <a:latin typeface="Instrument Serif"/>
                <a:ea typeface="Instrument Serif"/>
                <a:cs typeface="Instrument Serif"/>
                <a:sym typeface="Instrument Serif"/>
              </a:rPr>
              <a:t>Turn your kit into a factory someone else's AI assistant can run without asking you.</a:t>
            </a:r>
            <a:endParaRPr b="0" sz="2600">
              <a:solidFill>
                <a:srgbClr val="2C2C2A"/>
              </a:solidFill>
              <a:latin typeface="Instrument Serif"/>
              <a:ea typeface="Instrument Serif"/>
              <a:cs typeface="Instrument Serif"/>
              <a:sym typeface="Instrument Serif"/>
            </a:endParaRPr>
          </a:p>
        </p:txBody>
      </p:sp>
      <p:grpSp>
        <p:nvGrpSpPr>
          <p:cNvPr id="537" name="Google Shape;537;p29"/>
          <p:cNvGrpSpPr/>
          <p:nvPr/>
        </p:nvGrpSpPr>
        <p:grpSpPr>
          <a:xfrm>
            <a:off x="822960" y="1666875"/>
            <a:ext cx="5029200" cy="3095700"/>
            <a:chOff x="0" y="0"/>
            <a:chExt cx="5029200" cy="3095700"/>
          </a:xfrm>
        </p:grpSpPr>
        <p:sp>
          <p:nvSpPr>
            <p:cNvPr id="538" name="Google Shape;538;p29"/>
            <p:cNvSpPr/>
            <p:nvPr/>
          </p:nvSpPr>
          <p:spPr>
            <a:xfrm>
              <a:off x="0" y="0"/>
              <a:ext cx="5029200" cy="3095700"/>
            </a:xfrm>
            <a:prstGeom prst="roundRect">
              <a:avLst>
                <a:gd fmla="val 2461" name="adj"/>
              </a:avLst>
            </a:prstGeom>
            <a:solidFill>
              <a:srgbClr val="E1F5E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39" name="Google Shape;539;p29"/>
            <p:cNvSpPr txBox="1"/>
            <p:nvPr/>
          </p:nvSpPr>
          <p:spPr>
            <a:xfrm>
              <a:off x="0" y="0"/>
              <a:ext cx="5029200" cy="3095700"/>
            </a:xfrm>
            <a:prstGeom prst="rect">
              <a:avLst/>
            </a:prstGeom>
            <a:noFill/>
            <a:ln>
              <a:noFill/>
            </a:ln>
          </p:spPr>
          <p:txBody>
            <a:bodyPr anchorCtr="0" anchor="t" bIns="209550" lIns="228600" spcFirstLastPara="1" rIns="228600" wrap="square" tIns="209550">
              <a:noAutofit/>
            </a:bodyPr>
            <a:lstStyle/>
            <a:p>
              <a:pPr indent="0" lvl="0" marL="0" rtl="0" algn="l">
                <a:spcBef>
                  <a:spcPts val="0"/>
                </a:spcBef>
                <a:spcAft>
                  <a:spcPts val="0"/>
                </a:spcAft>
                <a:buNone/>
              </a:pPr>
              <a:r>
                <a:rPr b="0" lang="en-GB" sz="1000">
                  <a:solidFill>
                    <a:srgbClr val="085041"/>
                  </a:solidFill>
                  <a:latin typeface="Outfit SemiBold"/>
                  <a:ea typeface="Outfit SemiBold"/>
                  <a:cs typeface="Outfit SemiBold"/>
                  <a:sym typeface="Outfit SemiBold"/>
                </a:rPr>
                <a:t>PASTE THIS TO YOUR ASSISTANT</a:t>
              </a:r>
              <a:endParaRPr b="0" sz="1000">
                <a:solidFill>
                  <a:srgbClr val="085041"/>
                </a:solidFill>
                <a:latin typeface="Outfit SemiBold"/>
                <a:ea typeface="Outfit SemiBold"/>
                <a:cs typeface="Outfit SemiBold"/>
                <a:sym typeface="Outfit SemiBold"/>
              </a:endParaRPr>
            </a:p>
            <a:p>
              <a:pPr indent="0" lvl="0" marL="0" rtl="0" algn="l">
                <a:spcBef>
                  <a:spcPts val="600"/>
                </a:spcBef>
                <a:spcAft>
                  <a:spcPts val="0"/>
                </a:spcAft>
                <a:buNone/>
              </a:pPr>
              <a:r>
                <a:rPr b="0" lang="en-GB" sz="1100">
                  <a:solidFill>
                    <a:srgbClr val="085041"/>
                  </a:solidFill>
                  <a:latin typeface="Lora"/>
                  <a:ea typeface="Lora"/>
                  <a:cs typeface="Lora"/>
                  <a:sym typeface="Lora"/>
                </a:rPr>
                <a:t>Read instructions/S2-factory.md and do this. Walk me through the steps in order for the kit I chose in Async 1. Ask me for anything you need — do not invent answers. Write everything to participants/&lt;my-handle&gt;/s2-factory/ and push.</a:t>
              </a:r>
              <a:endParaRPr b="0" sz="1100">
                <a:solidFill>
                  <a:srgbClr val="085041"/>
                </a:solidFill>
                <a:latin typeface="Lora"/>
                <a:ea typeface="Lora"/>
                <a:cs typeface="Lora"/>
                <a:sym typeface="Lora"/>
              </a:endParaRPr>
            </a:p>
            <a:p>
              <a:pPr indent="0" lvl="0" marL="0" rtl="0" algn="l">
                <a:spcBef>
                  <a:spcPts val="1500"/>
                </a:spcBef>
                <a:spcAft>
                  <a:spcPts val="0"/>
                </a:spcAft>
                <a:buNone/>
              </a:pPr>
              <a:r>
                <a:rPr b="0" lang="en-GB" sz="1000">
                  <a:solidFill>
                    <a:srgbClr val="085041"/>
                  </a:solidFill>
                  <a:latin typeface="Outfit SemiBold"/>
                  <a:ea typeface="Outfit SemiBold"/>
                  <a:cs typeface="Outfit SemiBold"/>
                  <a:sym typeface="Outfit SemiBold"/>
                </a:rPr>
                <a:t>A PRACTICAL TIP</a:t>
              </a:r>
              <a:endParaRPr b="0" sz="1000">
                <a:solidFill>
                  <a:srgbClr val="085041"/>
                </a:solidFill>
                <a:latin typeface="Outfit SemiBold"/>
                <a:ea typeface="Outfit SemiBold"/>
                <a:cs typeface="Outfit SemiBold"/>
                <a:sym typeface="Outfit SemiBold"/>
              </a:endParaRPr>
            </a:p>
            <a:p>
              <a:pPr indent="0" lvl="0" marL="0" rtl="0" algn="l">
                <a:spcBef>
                  <a:spcPts val="450"/>
                </a:spcBef>
                <a:spcAft>
                  <a:spcPts val="0"/>
                </a:spcAft>
                <a:buNone/>
              </a:pPr>
              <a:r>
                <a:rPr b="0" lang="en-GB" sz="1050">
                  <a:solidFill>
                    <a:srgbClr val="085041"/>
                  </a:solidFill>
                  <a:latin typeface="Lora"/>
                  <a:ea typeface="Lora"/>
                  <a:cs typeface="Lora"/>
                  <a:sym typeface="Lora"/>
                </a:rPr>
                <a:t>Fix the output shape, not just the intent: column order, units copied never converted, a required reference.</a:t>
              </a:r>
              <a:endParaRPr b="0" sz="1050">
                <a:solidFill>
                  <a:srgbClr val="085041"/>
                </a:solidFill>
                <a:latin typeface="Lora"/>
                <a:ea typeface="Lora"/>
                <a:cs typeface="Lora"/>
                <a:sym typeface="Lora"/>
              </a:endParaRPr>
            </a:p>
          </p:txBody>
        </p:sp>
      </p:grpSp>
      <p:grpSp>
        <p:nvGrpSpPr>
          <p:cNvPr id="540" name="Google Shape;540;p29"/>
          <p:cNvGrpSpPr/>
          <p:nvPr/>
        </p:nvGrpSpPr>
        <p:grpSpPr>
          <a:xfrm>
            <a:off x="6042660" y="1666875"/>
            <a:ext cx="5326500" cy="3095700"/>
            <a:chOff x="0" y="0"/>
            <a:chExt cx="5326500" cy="3095700"/>
          </a:xfrm>
        </p:grpSpPr>
        <p:sp>
          <p:nvSpPr>
            <p:cNvPr id="541" name="Google Shape;541;p29"/>
            <p:cNvSpPr/>
            <p:nvPr/>
          </p:nvSpPr>
          <p:spPr>
            <a:xfrm>
              <a:off x="0" y="0"/>
              <a:ext cx="5326500" cy="3095700"/>
            </a:xfrm>
            <a:prstGeom prst="roundRect">
              <a:avLst>
                <a:gd fmla="val 2461" name="adj"/>
              </a:avLst>
            </a:prstGeom>
            <a:solidFill>
              <a:srgbClr val="F0EDE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42" name="Google Shape;542;p29"/>
            <p:cNvSpPr txBox="1"/>
            <p:nvPr/>
          </p:nvSpPr>
          <p:spPr>
            <a:xfrm>
              <a:off x="0" y="0"/>
              <a:ext cx="5326500" cy="3095700"/>
            </a:xfrm>
            <a:prstGeom prst="rect">
              <a:avLst/>
            </a:prstGeom>
            <a:noFill/>
            <a:ln>
              <a:noFill/>
            </a:ln>
          </p:spPr>
          <p:txBody>
            <a:bodyPr anchorCtr="0" anchor="t" bIns="209550" lIns="228600" spcFirstLastPara="1" rIns="228600" wrap="square" tIns="209550">
              <a:noAutofit/>
            </a:bodyPr>
            <a:lstStyle/>
            <a:p>
              <a:pPr indent="0" lvl="0" marL="0" rtl="0" algn="l">
                <a:spcBef>
                  <a:spcPts val="0"/>
                </a:spcBef>
                <a:spcAft>
                  <a:spcPts val="0"/>
                </a:spcAft>
                <a:buNone/>
              </a:pPr>
              <a:r>
                <a:rPr b="0" lang="en-GB" sz="1000">
                  <a:solidFill>
                    <a:srgbClr val="0064FF"/>
                  </a:solidFill>
                  <a:latin typeface="Outfit SemiBold"/>
                  <a:ea typeface="Outfit SemiBold"/>
                  <a:cs typeface="Outfit SemiBold"/>
                  <a:sym typeface="Outfit SemiBold"/>
                </a:rPr>
                <a:t>CHECKLIST · WHEN YOU CALL PUSH</a:t>
              </a:r>
              <a:endParaRPr b="0" sz="1000">
                <a:solidFill>
                  <a:srgbClr val="0064FF"/>
                </a:solidFill>
                <a:latin typeface="Outfit SemiBold"/>
                <a:ea typeface="Outfit SemiBold"/>
                <a:cs typeface="Outfit SemiBold"/>
                <a:sym typeface="Outfit SemiBold"/>
              </a:endParaRPr>
            </a:p>
            <a:p>
              <a:pPr indent="0" lvl="0" marL="0" rtl="0" algn="l">
                <a:spcBef>
                  <a:spcPts val="450"/>
                </a:spcBef>
                <a:spcAft>
                  <a:spcPts val="0"/>
                </a:spcAft>
                <a:buNone/>
              </a:pPr>
              <a:r>
                <a:rPr b="0" lang="en-GB" sz="2000">
                  <a:solidFill>
                    <a:srgbClr val="2C2C2A"/>
                  </a:solidFill>
                  <a:latin typeface="Instrument Serif"/>
                  <a:ea typeface="Instrument Serif"/>
                  <a:cs typeface="Instrument Serif"/>
                  <a:sym typeface="Instrument Serif"/>
                </a:rPr>
                <a:t>Four things must exist</a:t>
              </a:r>
              <a:endParaRPr b="0" sz="2000">
                <a:solidFill>
                  <a:srgbClr val="2C2C2A"/>
                </a:solidFill>
                <a:latin typeface="Instrument Serif"/>
                <a:ea typeface="Instrument Serif"/>
                <a:cs typeface="Instrument Serif"/>
                <a:sym typeface="Instrument Serif"/>
              </a:endParaRPr>
            </a:p>
            <a:p>
              <a:pPr indent="-295275" lvl="0" marL="457200" rtl="0" algn="l">
                <a:spcBef>
                  <a:spcPts val="900"/>
                </a:spcBef>
                <a:spcAft>
                  <a:spcPts val="0"/>
                </a:spcAft>
                <a:buClr>
                  <a:srgbClr val="2C2C2A"/>
                </a:buClr>
                <a:buSzPts val="1050"/>
                <a:buFont typeface="Lora"/>
                <a:buChar char="●"/>
              </a:pPr>
              <a:r>
                <a:rPr b="1" lang="en-GB" sz="1050">
                  <a:solidFill>
                    <a:srgbClr val="2C2C2A"/>
                  </a:solidFill>
                  <a:latin typeface="Lora"/>
                  <a:ea typeface="Lora"/>
                  <a:cs typeface="Lora"/>
                  <a:sym typeface="Lora"/>
                </a:rPr>
                <a:t>README.md</a:t>
              </a:r>
              <a:r>
                <a:rPr b="0" lang="en-GB" sz="1050">
                  <a:solidFill>
                    <a:srgbClr val="2C2C2A"/>
                  </a:solidFill>
                  <a:latin typeface="Lora"/>
                  <a:ea typeface="Lora"/>
                  <a:cs typeface="Lora"/>
                  <a:sym typeface="Lora"/>
                </a:rPr>
                <a:t> — three lines: Exports, Interface, Adapts to</a:t>
              </a:r>
              <a:endParaRPr b="0" sz="1050">
                <a:solidFill>
                  <a:srgbClr val="2C2C2A"/>
                </a:solidFill>
                <a:latin typeface="Lora"/>
                <a:ea typeface="Lora"/>
                <a:cs typeface="Lora"/>
                <a:sym typeface="Lora"/>
              </a:endParaRPr>
            </a:p>
            <a:p>
              <a:pPr indent="-295275" lvl="0" marL="457200" rtl="0" algn="l">
                <a:spcBef>
                  <a:spcPts val="450"/>
                </a:spcBef>
                <a:spcAft>
                  <a:spcPts val="0"/>
                </a:spcAft>
                <a:buClr>
                  <a:srgbClr val="2C2C2A"/>
                </a:buClr>
                <a:buSzPts val="1050"/>
                <a:buFont typeface="Lora"/>
                <a:buChar char="●"/>
              </a:pPr>
              <a:r>
                <a:rPr b="1" lang="en-GB" sz="1050">
                  <a:solidFill>
                    <a:srgbClr val="2C2C2A"/>
                  </a:solidFill>
                  <a:latin typeface="Lora"/>
                  <a:ea typeface="Lora"/>
                  <a:cs typeface="Lora"/>
                  <a:sym typeface="Lora"/>
                </a:rPr>
                <a:t>SKILL.md</a:t>
              </a:r>
              <a:r>
                <a:rPr b="0" lang="en-GB" sz="1050">
                  <a:solidFill>
                    <a:srgbClr val="2C2C2A"/>
                  </a:solidFill>
                  <a:latin typeface="Lora"/>
                  <a:ea typeface="Lora"/>
                  <a:cs typeface="Lora"/>
                  <a:sym typeface="Lora"/>
                </a:rPr>
                <a:t> — numbered workstations that ask for the user's context, not yours</a:t>
              </a:r>
              <a:endParaRPr b="0" sz="1050">
                <a:solidFill>
                  <a:srgbClr val="2C2C2A"/>
                </a:solidFill>
                <a:latin typeface="Lora"/>
                <a:ea typeface="Lora"/>
                <a:cs typeface="Lora"/>
                <a:sym typeface="Lora"/>
              </a:endParaRPr>
            </a:p>
            <a:p>
              <a:pPr indent="-295275" lvl="0" marL="457200" rtl="0" algn="l">
                <a:spcBef>
                  <a:spcPts val="450"/>
                </a:spcBef>
                <a:spcAft>
                  <a:spcPts val="0"/>
                </a:spcAft>
                <a:buClr>
                  <a:srgbClr val="2C2C2A"/>
                </a:buClr>
                <a:buSzPts val="1050"/>
                <a:buFont typeface="Lora"/>
                <a:buChar char="●"/>
              </a:pPr>
              <a:r>
                <a:rPr b="1" lang="en-GB" sz="1050">
                  <a:solidFill>
                    <a:srgbClr val="2C2C2A"/>
                  </a:solidFill>
                  <a:latin typeface="Lora"/>
                  <a:ea typeface="Lora"/>
                  <a:cs typeface="Lora"/>
                  <a:sym typeface="Lora"/>
                </a:rPr>
                <a:t>examples/</a:t>
              </a:r>
              <a:r>
                <a:rPr b="0" lang="en-GB" sz="1050">
                  <a:solidFill>
                    <a:srgbClr val="2C2C2A"/>
                  </a:solidFill>
                  <a:latin typeface="Lora"/>
                  <a:ea typeface="Lora"/>
                  <a:cs typeface="Lora"/>
                  <a:sym typeface="Lora"/>
                </a:rPr>
                <a:t> — one output your assistant produced cold from SKILL.md alone</a:t>
              </a:r>
              <a:endParaRPr b="0" sz="1050">
                <a:solidFill>
                  <a:srgbClr val="2C2C2A"/>
                </a:solidFill>
                <a:latin typeface="Lora"/>
                <a:ea typeface="Lora"/>
                <a:cs typeface="Lora"/>
                <a:sym typeface="Lora"/>
              </a:endParaRPr>
            </a:p>
            <a:p>
              <a:pPr indent="-295275" lvl="0" marL="457200" rtl="0" algn="l">
                <a:spcBef>
                  <a:spcPts val="450"/>
                </a:spcBef>
                <a:spcAft>
                  <a:spcPts val="0"/>
                </a:spcAft>
                <a:buClr>
                  <a:srgbClr val="2C2C2A"/>
                </a:buClr>
                <a:buSzPts val="1050"/>
                <a:buFont typeface="Lora"/>
                <a:buChar char="●"/>
              </a:pPr>
              <a:r>
                <a:rPr b="0" lang="en-GB" sz="1050">
                  <a:solidFill>
                    <a:srgbClr val="2C2C2A"/>
                  </a:solidFill>
                  <a:latin typeface="Lora"/>
                  <a:ea typeface="Lora"/>
                  <a:cs typeface="Lora"/>
                  <a:sym typeface="Lora"/>
                </a:rPr>
                <a:t>All of it inside </a:t>
              </a:r>
              <a:r>
                <a:rPr b="1" lang="en-GB" sz="1050">
                  <a:solidFill>
                    <a:srgbClr val="2C2C2A"/>
                  </a:solidFill>
                  <a:latin typeface="Lora"/>
                  <a:ea typeface="Lora"/>
                  <a:cs typeface="Lora"/>
                  <a:sym typeface="Lora"/>
                </a:rPr>
                <a:t>participants/&lt;you&gt;/s2-factory/</a:t>
              </a:r>
              <a:endParaRPr b="0" sz="1050">
                <a:solidFill>
                  <a:srgbClr val="2C2C2A"/>
                </a:solidFill>
                <a:latin typeface="Lora"/>
                <a:ea typeface="Lora"/>
                <a:cs typeface="Lora"/>
                <a:sym typeface="Lora"/>
              </a:endParaRPr>
            </a:p>
            <a:p>
              <a:pPr indent="0" lvl="0" marL="0" rtl="0" algn="l">
                <a:spcBef>
                  <a:spcPts val="1200"/>
                </a:spcBef>
                <a:spcAft>
                  <a:spcPts val="0"/>
                </a:spcAft>
                <a:buNone/>
              </a:pPr>
              <a:r>
                <a:rPr b="0" lang="en-GB" sz="950">
                  <a:solidFill>
                    <a:srgbClr val="0064FF"/>
                  </a:solidFill>
                  <a:latin typeface="Outfit SemiBold"/>
                  <a:ea typeface="Outfit SemiBold"/>
                  <a:cs typeface="Outfit SemiBold"/>
                  <a:sym typeface="Outfit SemiBold"/>
                </a:rPr>
                <a:t>DONE WHEN</a:t>
              </a:r>
              <a:endParaRPr b="0" sz="950">
                <a:solidFill>
                  <a:srgbClr val="0064FF"/>
                </a:solidFill>
                <a:latin typeface="Outfit SemiBold"/>
                <a:ea typeface="Outfit SemiBold"/>
                <a:cs typeface="Outfit SemiBold"/>
                <a:sym typeface="Outfit SemiBold"/>
              </a:endParaRPr>
            </a:p>
            <a:p>
              <a:pPr indent="0" lvl="0" marL="0" rtl="0" algn="l">
                <a:spcBef>
                  <a:spcPts val="300"/>
                </a:spcBef>
                <a:spcAft>
                  <a:spcPts val="0"/>
                </a:spcAft>
                <a:buNone/>
              </a:pPr>
              <a:r>
                <a:rPr b="0" lang="en-GB" sz="1000">
                  <a:solidFill>
                    <a:srgbClr val="555555"/>
                  </a:solidFill>
                  <a:latin typeface="Lora"/>
                  <a:ea typeface="Lora"/>
                  <a:cs typeface="Lora"/>
                  <a:sym typeface="Lora"/>
                </a:rPr>
                <a:t>A stranger's agent could open the folder and produce the example without messaging you.</a:t>
              </a:r>
              <a:endParaRPr b="0" sz="1000">
                <a:solidFill>
                  <a:srgbClr val="555555"/>
                </a:solidFill>
                <a:latin typeface="Lora"/>
                <a:ea typeface="Lora"/>
                <a:cs typeface="Lora"/>
                <a:sym typeface="Lora"/>
              </a:endParaRPr>
            </a:p>
          </p:txBody>
        </p:sp>
      </p:grpSp>
      <p:sp>
        <p:nvSpPr>
          <p:cNvPr id="543" name="Google Shape;543;p29"/>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544" name="Google Shape;544;p29"/>
          <p:cNvSpPr txBox="1"/>
          <p:nvPr>
            <p:ph idx="1" type="body"/>
          </p:nvPr>
        </p:nvSpPr>
        <p:spPr>
          <a:xfrm>
            <a:off x="822960" y="457200"/>
            <a:ext cx="9144000" cy="320100"/>
          </a:xfrm>
          <a:prstGeom prst="rect">
            <a:avLst/>
          </a:prstGeom>
          <a:noFill/>
          <a:ln>
            <a:noFill/>
          </a:ln>
        </p:spPr>
        <p:txBody>
          <a:bodyPr anchorCtr="0" anchor="t" bIns="0" lIns="0" spcFirstLastPara="1" rIns="0" wrap="square" tIns="0">
            <a:noAutofit/>
          </a:bodyPr>
          <a:lstStyle/>
          <a:p>
            <a:pPr indent="0" lvl="0" marL="0" rtl="0" algn="l">
              <a:lnSpc>
                <a:spcPct val="118000"/>
              </a:lnSpc>
              <a:spcBef>
                <a:spcPts val="0"/>
              </a:spcBef>
              <a:spcAft>
                <a:spcPts val="0"/>
              </a:spcAft>
              <a:buClr>
                <a:srgbClr val="0064FF"/>
              </a:buClr>
              <a:buSzPts val="1200"/>
              <a:buFont typeface="Outfit"/>
              <a:buNone/>
            </a:pPr>
            <a:r>
              <a:rPr lang="en-GB"/>
              <a:t>SESSION 2 · FACTORIES · EXERCISE</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8" name="Shape 548"/>
        <p:cNvGrpSpPr/>
        <p:nvPr/>
      </p:nvGrpSpPr>
      <p:grpSpPr>
        <a:xfrm>
          <a:off x="0" y="0"/>
          <a:ext cx="0" cy="0"/>
          <a:chOff x="0" y="0"/>
          <a:chExt cx="0" cy="0"/>
        </a:xfrm>
      </p:grpSpPr>
      <p:sp>
        <p:nvSpPr>
          <p:cNvPr id="549" name="Google Shape;549;p30"/>
          <p:cNvSpPr txBox="1"/>
          <p:nvPr>
            <p:ph type="title"/>
          </p:nvPr>
        </p:nvSpPr>
        <p:spPr>
          <a:xfrm>
            <a:off x="822960" y="838200"/>
            <a:ext cx="10546200" cy="6858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i="0" lang="en-GB" sz="2800">
                <a:solidFill>
                  <a:srgbClr val="2C2C2A"/>
                </a:solidFill>
                <a:latin typeface="Instrument Serif"/>
                <a:ea typeface="Instrument Serif"/>
                <a:cs typeface="Instrument Serif"/>
                <a:sym typeface="Instrument Serif"/>
              </a:rPr>
              <a:t>Swap with a partner and see where their assistant gets stuck or gets it wrong.</a:t>
            </a:r>
            <a:endParaRPr b="0" i="0" sz="2800">
              <a:solidFill>
                <a:srgbClr val="2C2C2A"/>
              </a:solidFill>
              <a:latin typeface="Instrument Serif"/>
              <a:ea typeface="Instrument Serif"/>
              <a:cs typeface="Instrument Serif"/>
              <a:sym typeface="Instrument Serif"/>
            </a:endParaRPr>
          </a:p>
        </p:txBody>
      </p:sp>
      <p:grpSp>
        <p:nvGrpSpPr>
          <p:cNvPr id="550" name="Google Shape;550;p30"/>
          <p:cNvGrpSpPr/>
          <p:nvPr/>
        </p:nvGrpSpPr>
        <p:grpSpPr>
          <a:xfrm>
            <a:off x="822960" y="1666875"/>
            <a:ext cx="5029200" cy="4667400"/>
            <a:chOff x="0" y="0"/>
            <a:chExt cx="5029200" cy="4667400"/>
          </a:xfrm>
        </p:grpSpPr>
        <p:sp>
          <p:nvSpPr>
            <p:cNvPr id="551" name="Google Shape;551;p30"/>
            <p:cNvSpPr/>
            <p:nvPr/>
          </p:nvSpPr>
          <p:spPr>
            <a:xfrm>
              <a:off x="0" y="0"/>
              <a:ext cx="5029200" cy="4667400"/>
            </a:xfrm>
            <a:prstGeom prst="roundRect">
              <a:avLst>
                <a:gd fmla="val 1632" name="adj"/>
              </a:avLst>
            </a:prstGeom>
            <a:solidFill>
              <a:srgbClr val="E1F5E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52" name="Google Shape;552;p30"/>
            <p:cNvSpPr txBox="1"/>
            <p:nvPr/>
          </p:nvSpPr>
          <p:spPr>
            <a:xfrm>
              <a:off x="0" y="0"/>
              <a:ext cx="5029200" cy="4667400"/>
            </a:xfrm>
            <a:prstGeom prst="rect">
              <a:avLst/>
            </a:prstGeom>
            <a:noFill/>
            <a:ln>
              <a:noFill/>
            </a:ln>
          </p:spPr>
          <p:txBody>
            <a:bodyPr anchorCtr="0" anchor="t" bIns="209550" lIns="228600" spcFirstLastPara="1" rIns="228600" wrap="square" tIns="209550">
              <a:noAutofit/>
            </a:bodyPr>
            <a:lstStyle/>
            <a:p>
              <a:pPr indent="0" lvl="0" marL="0" rtl="0" algn="l">
                <a:spcBef>
                  <a:spcPts val="0"/>
                </a:spcBef>
                <a:spcAft>
                  <a:spcPts val="0"/>
                </a:spcAft>
                <a:buNone/>
              </a:pPr>
              <a:r>
                <a:rPr b="0" lang="en-GB" sz="1000">
                  <a:solidFill>
                    <a:srgbClr val="085041"/>
                  </a:solidFill>
                  <a:latin typeface="Outfit SemiBold"/>
                  <a:ea typeface="Outfit SemiBold"/>
                  <a:cs typeface="Outfit SemiBold"/>
                  <a:sym typeface="Outfit SemiBold"/>
                </a:rPr>
                <a:t>THE TWO TESTS</a:t>
              </a:r>
              <a:endParaRPr b="0" sz="1000">
                <a:solidFill>
                  <a:srgbClr val="085041"/>
                </a:solidFill>
                <a:latin typeface="Outfit SemiBold"/>
                <a:ea typeface="Outfit SemiBold"/>
                <a:cs typeface="Outfit SemiBold"/>
                <a:sym typeface="Outfit SemiBold"/>
              </a:endParaRPr>
            </a:p>
            <a:p>
              <a:pPr indent="0" lvl="0" marL="0" rtl="0" algn="l">
                <a:spcBef>
                  <a:spcPts val="600"/>
                </a:spcBef>
                <a:spcAft>
                  <a:spcPts val="0"/>
                </a:spcAft>
                <a:buNone/>
              </a:pPr>
              <a:r>
                <a:rPr b="1" lang="en-GB" sz="1100">
                  <a:solidFill>
                    <a:srgbClr val="085041"/>
                  </a:solidFill>
                  <a:latin typeface="Lora"/>
                  <a:ea typeface="Lora"/>
                  <a:cs typeface="Lora"/>
                  <a:sym typeface="Lora"/>
                </a:rPr>
                <a:t>Test 1 · runs without its author</a:t>
              </a:r>
              <a:endParaRPr b="1" sz="1100">
                <a:solidFill>
                  <a:srgbClr val="085041"/>
                </a:solidFill>
                <a:latin typeface="Lora"/>
                <a:ea typeface="Lora"/>
                <a:cs typeface="Lora"/>
                <a:sym typeface="Lora"/>
              </a:endParaRPr>
            </a:p>
            <a:p>
              <a:pPr indent="0" lvl="0" marL="0" rtl="0" algn="l">
                <a:spcBef>
                  <a:spcPts val="150"/>
                </a:spcBef>
                <a:spcAft>
                  <a:spcPts val="0"/>
                </a:spcAft>
                <a:buNone/>
              </a:pPr>
              <a:r>
                <a:rPr b="0" lang="en-GB" sz="1000">
                  <a:solidFill>
                    <a:srgbClr val="085041"/>
                  </a:solidFill>
                  <a:latin typeface="Lora"/>
                  <a:ea typeface="Lora"/>
                  <a:cs typeface="Lora"/>
                  <a:sym typeface="Lora"/>
                </a:rPr>
                <a:t>Your assistant gets the README and SKILL.md and nothing else. Can it produce the example without asking the owner a single question?</a:t>
              </a:r>
              <a:endParaRPr b="0" sz="1000">
                <a:solidFill>
                  <a:srgbClr val="085041"/>
                </a:solidFill>
                <a:latin typeface="Lora"/>
                <a:ea typeface="Lora"/>
                <a:cs typeface="Lora"/>
                <a:sym typeface="Lora"/>
              </a:endParaRPr>
            </a:p>
            <a:p>
              <a:pPr indent="0" lvl="0" marL="0" rtl="0" algn="l">
                <a:spcBef>
                  <a:spcPts val="900"/>
                </a:spcBef>
                <a:spcAft>
                  <a:spcPts val="0"/>
                </a:spcAft>
                <a:buNone/>
              </a:pPr>
              <a:r>
                <a:rPr b="1" lang="en-GB" sz="1100">
                  <a:solidFill>
                    <a:srgbClr val="085041"/>
                  </a:solidFill>
                  <a:latin typeface="Lora"/>
                  <a:ea typeface="Lora"/>
                  <a:cs typeface="Lora"/>
                  <a:sym typeface="Lora"/>
                </a:rPr>
                <a:t>Test 2 · fits its user</a:t>
              </a:r>
              <a:endParaRPr b="1" sz="1100">
                <a:solidFill>
                  <a:srgbClr val="085041"/>
                </a:solidFill>
                <a:latin typeface="Lora"/>
                <a:ea typeface="Lora"/>
                <a:cs typeface="Lora"/>
                <a:sym typeface="Lora"/>
              </a:endParaRPr>
            </a:p>
            <a:p>
              <a:pPr indent="0" lvl="0" marL="0" rtl="0" algn="l">
                <a:spcBef>
                  <a:spcPts val="150"/>
                </a:spcBef>
                <a:spcAft>
                  <a:spcPts val="0"/>
                </a:spcAft>
                <a:buNone/>
              </a:pPr>
              <a:r>
                <a:rPr b="0" lang="en-GB" sz="1000">
                  <a:solidFill>
                    <a:srgbClr val="085041"/>
                  </a:solidFill>
                  <a:latin typeface="Lora"/>
                  <a:ea typeface="Lora"/>
                  <a:cs typeface="Lora"/>
                  <a:sym typeface="Lora"/>
                </a:rPr>
                <a:t>Give it one line about your own situation through Adapts to: — does the output suit you, or still suit the owner?</a:t>
              </a:r>
              <a:endParaRPr b="0" sz="1000">
                <a:solidFill>
                  <a:srgbClr val="085041"/>
                </a:solidFill>
                <a:latin typeface="Lora"/>
                <a:ea typeface="Lora"/>
                <a:cs typeface="Lora"/>
                <a:sym typeface="Lora"/>
              </a:endParaRPr>
            </a:p>
            <a:p>
              <a:pPr indent="0" lvl="0" marL="0" rtl="0" algn="l">
                <a:spcBef>
                  <a:spcPts val="1350"/>
                </a:spcBef>
                <a:spcAft>
                  <a:spcPts val="0"/>
                </a:spcAft>
                <a:buNone/>
              </a:pPr>
              <a:r>
                <a:rPr b="0" lang="en-GB" sz="1000">
                  <a:solidFill>
                    <a:srgbClr val="085041"/>
                  </a:solidFill>
                  <a:latin typeface="Outfit SemiBold"/>
                  <a:ea typeface="Outfit SemiBold"/>
                  <a:cs typeface="Outfit SemiBold"/>
                  <a:sym typeface="Outfit SemiBold"/>
                </a:rPr>
                <a:t>PASTE THIS TO YOUR ASSISTANT</a:t>
              </a:r>
              <a:endParaRPr b="0" sz="1000">
                <a:solidFill>
                  <a:srgbClr val="085041"/>
                </a:solidFill>
                <a:latin typeface="Outfit SemiBold"/>
                <a:ea typeface="Outfit SemiBold"/>
                <a:cs typeface="Outfit SemiBold"/>
                <a:sym typeface="Outfit SemiBold"/>
              </a:endParaRPr>
            </a:p>
            <a:p>
              <a:pPr indent="0" lvl="0" marL="0" rtl="0" algn="l">
                <a:spcBef>
                  <a:spcPts val="600"/>
                </a:spcBef>
                <a:spcAft>
                  <a:spcPts val="0"/>
                </a:spcAft>
                <a:buNone/>
              </a:pPr>
              <a:r>
                <a:rPr b="0" lang="en-GB" sz="950">
                  <a:solidFill>
                    <a:srgbClr val="085041"/>
                  </a:solidFill>
                  <a:latin typeface="Lora"/>
                  <a:ea typeface="Lora"/>
                  <a:cs typeface="Lora"/>
                  <a:sym typeface="Lora"/>
                </a:rPr>
                <a:t>Read only participants/&lt;THEIR-HANDLE&gt;/s2-factory/README.md and SKILL.md. Run the example using nothing else. Then run it again with this about me: "&lt;one line of my context&gt;". Report in three lines per test what you could not do.</a:t>
              </a:r>
              <a:endParaRPr b="0" sz="950">
                <a:solidFill>
                  <a:srgbClr val="085041"/>
                </a:solidFill>
                <a:latin typeface="Lora"/>
                <a:ea typeface="Lora"/>
                <a:cs typeface="Lora"/>
                <a:sym typeface="Lora"/>
              </a:endParaRPr>
            </a:p>
          </p:txBody>
        </p:sp>
      </p:grpSp>
      <p:grpSp>
        <p:nvGrpSpPr>
          <p:cNvPr id="553" name="Google Shape;553;p30"/>
          <p:cNvGrpSpPr/>
          <p:nvPr/>
        </p:nvGrpSpPr>
        <p:grpSpPr>
          <a:xfrm>
            <a:off x="6042660" y="1666875"/>
            <a:ext cx="5326500" cy="4667400"/>
            <a:chOff x="0" y="0"/>
            <a:chExt cx="5326500" cy="4667400"/>
          </a:xfrm>
        </p:grpSpPr>
        <p:sp>
          <p:nvSpPr>
            <p:cNvPr id="554" name="Google Shape;554;p30"/>
            <p:cNvSpPr/>
            <p:nvPr/>
          </p:nvSpPr>
          <p:spPr>
            <a:xfrm>
              <a:off x="0" y="0"/>
              <a:ext cx="5326500" cy="4667400"/>
            </a:xfrm>
            <a:prstGeom prst="roundRect">
              <a:avLst>
                <a:gd fmla="val 1632" name="adj"/>
              </a:avLst>
            </a:prstGeom>
            <a:solidFill>
              <a:srgbClr val="F0EDE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55" name="Google Shape;555;p30"/>
            <p:cNvSpPr txBox="1"/>
            <p:nvPr/>
          </p:nvSpPr>
          <p:spPr>
            <a:xfrm>
              <a:off x="0" y="0"/>
              <a:ext cx="5326500" cy="4667400"/>
            </a:xfrm>
            <a:prstGeom prst="rect">
              <a:avLst/>
            </a:prstGeom>
            <a:noFill/>
            <a:ln>
              <a:noFill/>
            </a:ln>
          </p:spPr>
          <p:txBody>
            <a:bodyPr anchorCtr="0" anchor="t" bIns="209550" lIns="228600" spcFirstLastPara="1" rIns="228600" wrap="square" tIns="209550">
              <a:noAutofit/>
            </a:bodyPr>
            <a:lstStyle/>
            <a:p>
              <a:pPr indent="0" lvl="0" marL="0" rtl="0" algn="l">
                <a:spcBef>
                  <a:spcPts val="0"/>
                </a:spcBef>
                <a:spcAft>
                  <a:spcPts val="0"/>
                </a:spcAft>
                <a:buNone/>
              </a:pPr>
              <a:r>
                <a:rPr b="0" lang="en-GB" sz="1000">
                  <a:solidFill>
                    <a:srgbClr val="0064FF"/>
                  </a:solidFill>
                  <a:latin typeface="Outfit SemiBold"/>
                  <a:ea typeface="Outfit SemiBold"/>
                  <a:cs typeface="Outfit SemiBold"/>
                  <a:sym typeface="Outfit SemiBold"/>
                </a:rPr>
                <a:t>INSTRUCTIONS</a:t>
              </a:r>
              <a:endParaRPr b="0" sz="1000">
                <a:solidFill>
                  <a:srgbClr val="0064FF"/>
                </a:solidFill>
                <a:latin typeface="Outfit SemiBold"/>
                <a:ea typeface="Outfit SemiBold"/>
                <a:cs typeface="Outfit SemiBold"/>
                <a:sym typeface="Outfit SemiBold"/>
              </a:endParaRPr>
            </a:p>
            <a:p>
              <a:pPr indent="0" lvl="0" marL="0" rtl="0" algn="l">
                <a:spcBef>
                  <a:spcPts val="300"/>
                </a:spcBef>
                <a:spcAft>
                  <a:spcPts val="0"/>
                </a:spcAft>
                <a:buNone/>
              </a:pPr>
              <a:r>
                <a:rPr b="0" lang="en-GB" sz="2200">
                  <a:solidFill>
                    <a:srgbClr val="2C2C2A"/>
                  </a:solidFill>
                  <a:latin typeface="Instrument Serif"/>
                  <a:ea typeface="Instrument Serif"/>
                  <a:cs typeface="Instrument Serif"/>
                  <a:sym typeface="Instrument Serif"/>
                </a:rPr>
                <a:t>How to run it</a:t>
              </a:r>
              <a:endParaRPr b="0" sz="2200">
                <a:solidFill>
                  <a:srgbClr val="2C2C2A"/>
                </a:solidFill>
                <a:latin typeface="Instrument Serif"/>
                <a:ea typeface="Instrument Serif"/>
                <a:cs typeface="Instrument Serif"/>
                <a:sym typeface="Instrument Serif"/>
              </a:endParaRPr>
            </a:p>
            <a:p>
              <a:pPr indent="-295275" lvl="0" marL="457200" rtl="0" algn="l">
                <a:spcBef>
                  <a:spcPts val="1200"/>
                </a:spcBef>
                <a:spcAft>
                  <a:spcPts val="0"/>
                </a:spcAft>
                <a:buClr>
                  <a:srgbClr val="2C2C2A"/>
                </a:buClr>
                <a:buSzPts val="1050"/>
                <a:buFont typeface="Lora"/>
                <a:buChar char="●"/>
              </a:pPr>
              <a:r>
                <a:rPr b="1" lang="en-GB" sz="1050">
                  <a:solidFill>
                    <a:srgbClr val="2C2C2A"/>
                  </a:solidFill>
                  <a:latin typeface="Lora"/>
                  <a:ea typeface="Lora"/>
                  <a:cs typeface="Lora"/>
                  <a:sym typeface="Lora"/>
                </a:rPr>
                <a:t>Read in a ring</a:t>
              </a:r>
              <a:r>
                <a:rPr b="0" lang="en-GB" sz="1050">
                  <a:solidFill>
                    <a:srgbClr val="2C2C2A"/>
                  </a:solidFill>
                  <a:latin typeface="Lora"/>
                  <a:ea typeface="Lora"/>
                  <a:cs typeface="Lora"/>
                  <a:sym typeface="Lora"/>
                </a:rPr>
                <a:t> — the pin says who reads whom</a:t>
              </a:r>
              <a:endParaRPr b="0" sz="1050">
                <a:solidFill>
                  <a:srgbClr val="2C2C2A"/>
                </a:solidFill>
                <a:latin typeface="Lora"/>
                <a:ea typeface="Lora"/>
                <a:cs typeface="Lora"/>
                <a:sym typeface="Lora"/>
              </a:endParaRPr>
            </a:p>
            <a:p>
              <a:pPr indent="-295275" lvl="0" marL="457200" rtl="0" algn="l">
                <a:spcBef>
                  <a:spcPts val="750"/>
                </a:spcBef>
                <a:spcAft>
                  <a:spcPts val="0"/>
                </a:spcAft>
                <a:buClr>
                  <a:srgbClr val="2C2C2A"/>
                </a:buClr>
                <a:buSzPts val="1050"/>
                <a:buFont typeface="Lora"/>
                <a:buChar char="●"/>
              </a:pPr>
              <a:r>
                <a:rPr b="1" lang="en-GB" sz="1050">
                  <a:solidFill>
                    <a:srgbClr val="2C2C2A"/>
                  </a:solidFill>
                  <a:latin typeface="Lora"/>
                  <a:ea typeface="Lora"/>
                  <a:cs typeface="Lora"/>
                  <a:sym typeface="Lora"/>
                </a:rPr>
                <a:t>Read aloud</a:t>
              </a:r>
              <a:r>
                <a:rPr b="0" lang="en-GB" sz="1050">
                  <a:solidFill>
                    <a:srgbClr val="2C2C2A"/>
                  </a:solidFill>
                  <a:latin typeface="Lora"/>
                  <a:ea typeface="Lora"/>
                  <a:cs typeface="Lora"/>
                  <a:sym typeface="Lora"/>
                </a:rPr>
                <a:t> — read your three lines aloud to the owner</a:t>
              </a:r>
              <a:endParaRPr b="0" sz="1050">
                <a:solidFill>
                  <a:srgbClr val="2C2C2A"/>
                </a:solidFill>
                <a:latin typeface="Lora"/>
                <a:ea typeface="Lora"/>
                <a:cs typeface="Lora"/>
                <a:sym typeface="Lora"/>
              </a:endParaRPr>
            </a:p>
            <a:p>
              <a:pPr indent="-295275" lvl="0" marL="457200" rtl="0" algn="l">
                <a:spcBef>
                  <a:spcPts val="750"/>
                </a:spcBef>
                <a:spcAft>
                  <a:spcPts val="0"/>
                </a:spcAft>
                <a:buClr>
                  <a:srgbClr val="2C2C2A"/>
                </a:buClr>
                <a:buSzPts val="1050"/>
                <a:buFont typeface="Lora"/>
                <a:buChar char="●"/>
              </a:pPr>
              <a:r>
                <a:rPr b="1" lang="en-GB" sz="1050">
                  <a:solidFill>
                    <a:srgbClr val="2C2C2A"/>
                  </a:solidFill>
                  <a:latin typeface="Lora"/>
                  <a:ea typeface="Lora"/>
                  <a:cs typeface="Lora"/>
                  <a:sym typeface="Lora"/>
                </a:rPr>
                <a:t>Log blockers</a:t>
              </a:r>
              <a:r>
                <a:rPr b="0" lang="en-GB" sz="1050">
                  <a:solidFill>
                    <a:srgbClr val="2C2C2A"/>
                  </a:solidFill>
                  <a:latin typeface="Lora"/>
                  <a:ea typeface="Lora"/>
                  <a:cs typeface="Lora"/>
                  <a:sym typeface="Lora"/>
                </a:rPr>
                <a:t> — the owner types nothing back except blocker lines in their LOG.md</a:t>
              </a:r>
              <a:endParaRPr b="0" sz="1050">
                <a:solidFill>
                  <a:srgbClr val="2C2C2A"/>
                </a:solidFill>
                <a:latin typeface="Lora"/>
                <a:ea typeface="Lora"/>
                <a:cs typeface="Lora"/>
                <a:sym typeface="Lora"/>
              </a:endParaRPr>
            </a:p>
            <a:p>
              <a:pPr indent="0" lvl="0" marL="0" rtl="0" algn="l">
                <a:spcBef>
                  <a:spcPts val="1800"/>
                </a:spcBef>
                <a:spcAft>
                  <a:spcPts val="0"/>
                </a:spcAft>
                <a:buNone/>
              </a:pPr>
              <a:r>
                <a:rPr b="0" lang="en-GB" sz="950">
                  <a:solidFill>
                    <a:srgbClr val="0064FF"/>
                  </a:solidFill>
                  <a:latin typeface="Outfit SemiBold"/>
                  <a:ea typeface="Outfit SemiBold"/>
                  <a:cs typeface="Outfit SemiBold"/>
                  <a:sym typeface="Outfit SemiBold"/>
                </a:rPr>
                <a:t>DONE WHEN</a:t>
              </a:r>
              <a:endParaRPr b="0" sz="950">
                <a:solidFill>
                  <a:srgbClr val="0064FF"/>
                </a:solidFill>
                <a:latin typeface="Outfit SemiBold"/>
                <a:ea typeface="Outfit SemiBold"/>
                <a:cs typeface="Outfit SemiBold"/>
                <a:sym typeface="Outfit SemiBold"/>
              </a:endParaRPr>
            </a:p>
            <a:p>
              <a:pPr indent="0" lvl="0" marL="0" rtl="0" algn="l">
                <a:spcBef>
                  <a:spcPts val="450"/>
                </a:spcBef>
                <a:spcAft>
                  <a:spcPts val="0"/>
                </a:spcAft>
                <a:buNone/>
              </a:pPr>
              <a:r>
                <a:rPr b="0" lang="en-GB" sz="1050">
                  <a:solidFill>
                    <a:srgbClr val="444444"/>
                  </a:solidFill>
                  <a:latin typeface="Lora"/>
                  <a:ea typeface="Lora"/>
                  <a:cs typeface="Lora"/>
                  <a:sym typeface="Lora"/>
                </a:rPr>
                <a:t>Your partner has three lines per test, and every failure is a blocker line in their LOG.md.</a:t>
              </a:r>
              <a:endParaRPr b="0" sz="1050">
                <a:solidFill>
                  <a:srgbClr val="444444"/>
                </a:solidFill>
                <a:latin typeface="Lora"/>
                <a:ea typeface="Lora"/>
                <a:cs typeface="Lora"/>
                <a:sym typeface="Lora"/>
              </a:endParaRPr>
            </a:p>
          </p:txBody>
        </p:sp>
      </p:grpSp>
      <p:sp>
        <p:nvSpPr>
          <p:cNvPr id="556" name="Google Shape;556;p30"/>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557" name="Google Shape;557;p30"/>
          <p:cNvSpPr txBox="1"/>
          <p:nvPr>
            <p:ph idx="1" type="body"/>
          </p:nvPr>
        </p:nvSpPr>
        <p:spPr>
          <a:xfrm>
            <a:off x="822960" y="457200"/>
            <a:ext cx="9144000" cy="320100"/>
          </a:xfrm>
          <a:prstGeom prst="rect">
            <a:avLst/>
          </a:prstGeom>
          <a:noFill/>
          <a:ln>
            <a:noFill/>
          </a:ln>
        </p:spPr>
        <p:txBody>
          <a:bodyPr anchorCtr="0" anchor="t" bIns="0" lIns="0" spcFirstLastPara="1" rIns="0" wrap="square" tIns="0">
            <a:noAutofit/>
          </a:bodyPr>
          <a:lstStyle/>
          <a:p>
            <a:pPr indent="0" lvl="0" marL="0" rtl="0" algn="l">
              <a:lnSpc>
                <a:spcPct val="118000"/>
              </a:lnSpc>
              <a:spcBef>
                <a:spcPts val="0"/>
              </a:spcBef>
              <a:spcAft>
                <a:spcPts val="0"/>
              </a:spcAft>
              <a:buClr>
                <a:srgbClr val="0064FF"/>
              </a:buClr>
              <a:buSzPts val="1200"/>
              <a:buFont typeface="Outfit"/>
              <a:buNone/>
            </a:pPr>
            <a:r>
              <a:rPr lang="en-GB"/>
              <a:t>SESSION 2 · FACTORIES · EXERCISE</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1" name="Shape 561"/>
        <p:cNvGrpSpPr/>
        <p:nvPr/>
      </p:nvGrpSpPr>
      <p:grpSpPr>
        <a:xfrm>
          <a:off x="0" y="0"/>
          <a:ext cx="0" cy="0"/>
          <a:chOff x="0" y="0"/>
          <a:chExt cx="0" cy="0"/>
        </a:xfrm>
      </p:grpSpPr>
      <p:sp>
        <p:nvSpPr>
          <p:cNvPr id="562" name="Google Shape;562;p31"/>
          <p:cNvSpPr txBox="1"/>
          <p:nvPr>
            <p:ph type="title"/>
          </p:nvPr>
        </p:nvSpPr>
        <p:spPr>
          <a:xfrm>
            <a:off x="822960" y="914400"/>
            <a:ext cx="9692700" cy="1371600"/>
          </a:xfrm>
          <a:prstGeom prst="rect">
            <a:avLst/>
          </a:prstGeom>
          <a:noFill/>
          <a:ln>
            <a:noFill/>
          </a:ln>
        </p:spPr>
        <p:txBody>
          <a:bodyPr anchorCtr="0" anchor="t" bIns="0" lIns="0" spcFirstLastPara="1" rIns="0" wrap="square" tIns="0">
            <a:noAutofit/>
          </a:bodyPr>
          <a:lstStyle/>
          <a:p>
            <a:pPr indent="0" lvl="0" marL="0" rtl="0" algn="l">
              <a:lnSpc>
                <a:spcPct val="96000"/>
              </a:lnSpc>
              <a:spcBef>
                <a:spcPts val="0"/>
              </a:spcBef>
              <a:spcAft>
                <a:spcPts val="0"/>
              </a:spcAft>
              <a:buClr>
                <a:srgbClr val="2C2C2A"/>
              </a:buClr>
              <a:buSzPts val="2800"/>
              <a:buFont typeface="Instrument Serif"/>
              <a:buNone/>
            </a:pPr>
            <a:r>
              <a:rPr lang="en-GB"/>
              <a:t>Share one thing your partner's assistant could not do without you.</a:t>
            </a:r>
            <a:endParaRPr/>
          </a:p>
        </p:txBody>
      </p:sp>
      <p:grpSp>
        <p:nvGrpSpPr>
          <p:cNvPr id="563" name="Google Shape;563;p31"/>
          <p:cNvGrpSpPr/>
          <p:nvPr/>
        </p:nvGrpSpPr>
        <p:grpSpPr>
          <a:xfrm>
            <a:off x="822960" y="1666875"/>
            <a:ext cx="5105400" cy="4572000"/>
            <a:chOff x="0" y="0"/>
            <a:chExt cx="5105400" cy="4572000"/>
          </a:xfrm>
        </p:grpSpPr>
        <p:sp>
          <p:nvSpPr>
            <p:cNvPr id="564" name="Google Shape;564;p31"/>
            <p:cNvSpPr/>
            <p:nvPr/>
          </p:nvSpPr>
          <p:spPr>
            <a:xfrm>
              <a:off x="0" y="0"/>
              <a:ext cx="5105400" cy="4572000"/>
            </a:xfrm>
            <a:prstGeom prst="roundRect">
              <a:avLst>
                <a:gd fmla="val 1666" name="adj"/>
              </a:avLst>
            </a:prstGeom>
            <a:solidFill>
              <a:srgbClr val="E1F5E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65" name="Google Shape;565;p31"/>
            <p:cNvSpPr txBox="1"/>
            <p:nvPr/>
          </p:nvSpPr>
          <p:spPr>
            <a:xfrm>
              <a:off x="0" y="0"/>
              <a:ext cx="5105400" cy="4572000"/>
            </a:xfrm>
            <a:prstGeom prst="rect">
              <a:avLst/>
            </a:prstGeom>
            <a:noFill/>
            <a:ln>
              <a:noFill/>
            </a:ln>
          </p:spPr>
          <p:txBody>
            <a:bodyPr anchorCtr="0" anchor="t" bIns="228600" lIns="228600" spcFirstLastPara="1" rIns="228600" wrap="square" tIns="228600">
              <a:noAutofit/>
            </a:bodyPr>
            <a:lstStyle/>
            <a:p>
              <a:pPr indent="0" lvl="0" marL="0" rtl="0" algn="l">
                <a:spcBef>
                  <a:spcPts val="0"/>
                </a:spcBef>
                <a:spcAft>
                  <a:spcPts val="0"/>
                </a:spcAft>
                <a:buNone/>
              </a:pPr>
              <a:r>
                <a:rPr b="0" lang="en-GB" sz="1000">
                  <a:solidFill>
                    <a:srgbClr val="085041"/>
                  </a:solidFill>
                  <a:latin typeface="Outfit SemiBold"/>
                  <a:ea typeface="Outfit SemiBold"/>
                  <a:cs typeface="Outfit SemiBold"/>
                  <a:sym typeface="Outfit SemiBold"/>
                </a:rPr>
                <a:t>FINISH THIS SENTENCE</a:t>
              </a:r>
              <a:endParaRPr b="0" sz="1000">
                <a:solidFill>
                  <a:srgbClr val="085041"/>
                </a:solidFill>
                <a:latin typeface="Outfit SemiBold"/>
                <a:ea typeface="Outfit SemiBold"/>
                <a:cs typeface="Outfit SemiBold"/>
                <a:sym typeface="Outfit SemiBold"/>
              </a:endParaRPr>
            </a:p>
            <a:p>
              <a:pPr indent="0" lvl="0" marL="0" rtl="0" algn="l">
                <a:spcBef>
                  <a:spcPts val="600"/>
                </a:spcBef>
                <a:spcAft>
                  <a:spcPts val="0"/>
                </a:spcAft>
                <a:buNone/>
              </a:pPr>
              <a:r>
                <a:rPr b="0" lang="en-GB" sz="2000">
                  <a:solidFill>
                    <a:srgbClr val="2C2C2A"/>
                  </a:solidFill>
                  <a:latin typeface="Instrument Serif"/>
                  <a:ea typeface="Instrument Serif"/>
                  <a:cs typeface="Instrument Serif"/>
                  <a:sym typeface="Instrument Serif"/>
                </a:rPr>
                <a:t>"The other agent got ___ wrong about my kit"</a:t>
              </a:r>
              <a:endParaRPr b="0" sz="2000">
                <a:solidFill>
                  <a:srgbClr val="2C2C2A"/>
                </a:solidFill>
                <a:latin typeface="Instrument Serif"/>
                <a:ea typeface="Instrument Serif"/>
                <a:cs typeface="Instrument Serif"/>
                <a:sym typeface="Instrument Serif"/>
              </a:endParaRPr>
            </a:p>
            <a:p>
              <a:pPr indent="0" lvl="0" marL="0" rtl="0" algn="l">
                <a:spcBef>
                  <a:spcPts val="2000"/>
                </a:spcBef>
                <a:spcAft>
                  <a:spcPts val="0"/>
                </a:spcAft>
                <a:buNone/>
              </a:pPr>
              <a:r>
                <a:rPr b="0" lang="en-GB" sz="1000">
                  <a:solidFill>
                    <a:srgbClr val="085041"/>
                  </a:solidFill>
                  <a:latin typeface="Outfit SemiBold"/>
                  <a:ea typeface="Outfit SemiBold"/>
                  <a:cs typeface="Outfit SemiBold"/>
                  <a:sym typeface="Outfit SemiBold"/>
                </a:rPr>
                <a:t>MOST ANSWERS WILL BE ONE OF THESE TWO</a:t>
              </a:r>
              <a:endParaRPr b="0" sz="1000">
                <a:solidFill>
                  <a:srgbClr val="085041"/>
                </a:solidFill>
                <a:latin typeface="Outfit SemiBold"/>
                <a:ea typeface="Outfit SemiBold"/>
                <a:cs typeface="Outfit SemiBold"/>
                <a:sym typeface="Outfit SemiBold"/>
              </a:endParaRPr>
            </a:p>
            <a:p>
              <a:pPr indent="0" lvl="0" marL="0" rtl="0" algn="l">
                <a:spcBef>
                  <a:spcPts val="1200"/>
                </a:spcBef>
                <a:spcAft>
                  <a:spcPts val="0"/>
                </a:spcAft>
                <a:buNone/>
              </a:pPr>
              <a:r>
                <a:rPr b="1" lang="en-GB" sz="1100">
                  <a:solidFill>
                    <a:srgbClr val="085041"/>
                  </a:solidFill>
                  <a:latin typeface="Lora"/>
                  <a:ea typeface="Lora"/>
                  <a:cs typeface="Lora"/>
                  <a:sym typeface="Lora"/>
                </a:rPr>
                <a:t>Unwritten knowledge</a:t>
              </a:r>
              <a:endParaRPr b="1" sz="1100">
                <a:solidFill>
                  <a:srgbClr val="085041"/>
                </a:solidFill>
                <a:latin typeface="Lora"/>
                <a:ea typeface="Lora"/>
                <a:cs typeface="Lora"/>
                <a:sym typeface="Lora"/>
              </a:endParaRPr>
            </a:p>
            <a:p>
              <a:pPr indent="0" lvl="0" marL="0" rtl="0" algn="l">
                <a:spcBef>
                  <a:spcPts val="300"/>
                </a:spcBef>
                <a:spcAft>
                  <a:spcPts val="0"/>
                </a:spcAft>
                <a:buNone/>
              </a:pPr>
              <a:r>
                <a:rPr b="0" lang="en-GB" sz="1050">
                  <a:solidFill>
                    <a:srgbClr val="2C2C2A"/>
                  </a:solidFill>
                  <a:latin typeface="Lora"/>
                  <a:ea typeface="Lora"/>
                  <a:cs typeface="Lora"/>
                  <a:sym typeface="Lora"/>
                </a:rPr>
                <a:t>It stalled where you know something you never wrote down</a:t>
              </a:r>
              <a:endParaRPr b="0" sz="1050">
                <a:solidFill>
                  <a:srgbClr val="2C2C2A"/>
                </a:solidFill>
                <a:latin typeface="Lora"/>
                <a:ea typeface="Lora"/>
                <a:cs typeface="Lora"/>
                <a:sym typeface="Lora"/>
              </a:endParaRPr>
            </a:p>
            <a:p>
              <a:pPr indent="0" lvl="0" marL="0" rtl="0" algn="l">
                <a:spcBef>
                  <a:spcPts val="1600"/>
                </a:spcBef>
                <a:spcAft>
                  <a:spcPts val="0"/>
                </a:spcAft>
                <a:buNone/>
              </a:pPr>
              <a:r>
                <a:rPr b="1" lang="en-GB" sz="1100">
                  <a:solidFill>
                    <a:srgbClr val="085041"/>
                  </a:solidFill>
                  <a:latin typeface="Lora"/>
                  <a:ea typeface="Lora"/>
                  <a:cs typeface="Lora"/>
                  <a:sym typeface="Lora"/>
                </a:rPr>
                <a:t>Fitted the wrong person</a:t>
              </a:r>
              <a:endParaRPr b="1" sz="1100">
                <a:solidFill>
                  <a:srgbClr val="085041"/>
                </a:solidFill>
                <a:latin typeface="Lora"/>
                <a:ea typeface="Lora"/>
                <a:cs typeface="Lora"/>
                <a:sym typeface="Lora"/>
              </a:endParaRPr>
            </a:p>
            <a:p>
              <a:pPr indent="0" lvl="0" marL="0" rtl="0" algn="l">
                <a:spcBef>
                  <a:spcPts val="300"/>
                </a:spcBef>
                <a:spcAft>
                  <a:spcPts val="0"/>
                </a:spcAft>
                <a:buNone/>
              </a:pPr>
              <a:r>
                <a:rPr b="0" lang="en-GB" sz="1050">
                  <a:solidFill>
                    <a:srgbClr val="2C2C2A"/>
                  </a:solidFill>
                  <a:latin typeface="Lora"/>
                  <a:ea typeface="Lora"/>
                  <a:cs typeface="Lora"/>
                  <a:sym typeface="Lora"/>
                </a:rPr>
                <a:t>It ran fine and produced something that suited you, not the person using it</a:t>
              </a:r>
              <a:endParaRPr b="0" sz="1050">
                <a:solidFill>
                  <a:srgbClr val="2C2C2A"/>
                </a:solidFill>
                <a:latin typeface="Lora"/>
                <a:ea typeface="Lora"/>
                <a:cs typeface="Lora"/>
                <a:sym typeface="Lora"/>
              </a:endParaRPr>
            </a:p>
          </p:txBody>
        </p:sp>
      </p:grpSp>
      <p:grpSp>
        <p:nvGrpSpPr>
          <p:cNvPr id="566" name="Google Shape;566;p31"/>
          <p:cNvGrpSpPr/>
          <p:nvPr/>
        </p:nvGrpSpPr>
        <p:grpSpPr>
          <a:xfrm>
            <a:off x="6118860" y="1666875"/>
            <a:ext cx="5250300" cy="4572000"/>
            <a:chOff x="0" y="0"/>
            <a:chExt cx="5250300" cy="4572000"/>
          </a:xfrm>
        </p:grpSpPr>
        <p:sp>
          <p:nvSpPr>
            <p:cNvPr id="567" name="Google Shape;567;p31"/>
            <p:cNvSpPr/>
            <p:nvPr/>
          </p:nvSpPr>
          <p:spPr>
            <a:xfrm>
              <a:off x="0" y="0"/>
              <a:ext cx="5250300" cy="4572000"/>
            </a:xfrm>
            <a:prstGeom prst="roundRect">
              <a:avLst>
                <a:gd fmla="val 1666" name="adj"/>
              </a:avLst>
            </a:prstGeom>
            <a:solidFill>
              <a:srgbClr val="F0EDE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68" name="Google Shape;568;p31"/>
            <p:cNvSpPr txBox="1"/>
            <p:nvPr/>
          </p:nvSpPr>
          <p:spPr>
            <a:xfrm>
              <a:off x="0" y="0"/>
              <a:ext cx="5250300" cy="4572000"/>
            </a:xfrm>
            <a:prstGeom prst="rect">
              <a:avLst/>
            </a:prstGeom>
            <a:noFill/>
            <a:ln>
              <a:noFill/>
            </a:ln>
          </p:spPr>
          <p:txBody>
            <a:bodyPr anchorCtr="0" anchor="t" bIns="228600" lIns="228600" spcFirstLastPara="1" rIns="228600" wrap="square" tIns="228600">
              <a:noAutofit/>
            </a:bodyPr>
            <a:lstStyle/>
            <a:p>
              <a:pPr indent="0" lvl="0" marL="0" rtl="0" algn="l">
                <a:spcBef>
                  <a:spcPts val="0"/>
                </a:spcBef>
                <a:spcAft>
                  <a:spcPts val="0"/>
                </a:spcAft>
                <a:buNone/>
              </a:pPr>
              <a:r>
                <a:rPr b="0" lang="en-GB" sz="1000">
                  <a:solidFill>
                    <a:srgbClr val="0064FF"/>
                  </a:solidFill>
                  <a:latin typeface="Outfit SemiBold"/>
                  <a:ea typeface="Outfit SemiBold"/>
                  <a:cs typeface="Outfit SemiBold"/>
                  <a:sym typeface="Outfit SemiBold"/>
                </a:rPr>
                <a:t>WHAT TO DO NEXT</a:t>
              </a:r>
              <a:endParaRPr b="0" sz="1000">
                <a:solidFill>
                  <a:srgbClr val="0064FF"/>
                </a:solidFill>
                <a:latin typeface="Outfit SemiBold"/>
                <a:ea typeface="Outfit SemiBold"/>
                <a:cs typeface="Outfit SemiBold"/>
                <a:sym typeface="Outfit SemiBold"/>
              </a:endParaRPr>
            </a:p>
            <a:p>
              <a:pPr indent="0" lvl="0" marL="0" rtl="0" algn="l">
                <a:spcBef>
                  <a:spcPts val="600"/>
                </a:spcBef>
                <a:spcAft>
                  <a:spcPts val="0"/>
                </a:spcAft>
                <a:buNone/>
              </a:pPr>
              <a:r>
                <a:rPr b="0" lang="en-GB" sz="2200">
                  <a:solidFill>
                    <a:srgbClr val="2C2C2A"/>
                  </a:solidFill>
                  <a:latin typeface="Instrument Serif"/>
                  <a:ea typeface="Instrument Serif"/>
                  <a:cs typeface="Instrument Serif"/>
                  <a:sym typeface="Instrument Serif"/>
                </a:rPr>
                <a:t>Both are the next line of your kit</a:t>
              </a:r>
              <a:endParaRPr b="0" sz="2200">
                <a:solidFill>
                  <a:srgbClr val="2C2C2A"/>
                </a:solidFill>
                <a:latin typeface="Instrument Serif"/>
                <a:ea typeface="Instrument Serif"/>
                <a:cs typeface="Instrument Serif"/>
                <a:sym typeface="Instrument Serif"/>
              </a:endParaRPr>
            </a:p>
            <a:p>
              <a:pPr indent="0" lvl="0" marL="0" rtl="0" algn="l">
                <a:spcBef>
                  <a:spcPts val="2400"/>
                </a:spcBef>
                <a:spcAft>
                  <a:spcPts val="0"/>
                </a:spcAft>
                <a:buNone/>
              </a:pPr>
              <a:r>
                <a:rPr b="0" lang="en-GB" sz="1000">
                  <a:solidFill>
                    <a:srgbClr val="0064FF"/>
                  </a:solidFill>
                  <a:latin typeface="Outfit SemiBold"/>
                  <a:ea typeface="Outfit SemiBold"/>
                  <a:cs typeface="Outfit SemiBold"/>
                  <a:sym typeface="Outfit SemiBold"/>
                </a:rPr>
                <a:t>DONE WHEN</a:t>
              </a:r>
              <a:endParaRPr b="0" sz="1000">
                <a:solidFill>
                  <a:srgbClr val="0064FF"/>
                </a:solidFill>
                <a:latin typeface="Outfit SemiBold"/>
                <a:ea typeface="Outfit SemiBold"/>
                <a:cs typeface="Outfit SemiBold"/>
                <a:sym typeface="Outfit SemiBold"/>
              </a:endParaRPr>
            </a:p>
            <a:p>
              <a:pPr indent="0" lvl="0" marL="0" rtl="0" algn="l">
                <a:spcBef>
                  <a:spcPts val="600"/>
                </a:spcBef>
                <a:spcAft>
                  <a:spcPts val="0"/>
                </a:spcAft>
                <a:buNone/>
              </a:pPr>
              <a:r>
                <a:rPr b="0" lang="en-GB" sz="1100">
                  <a:solidFill>
                    <a:srgbClr val="444444"/>
                  </a:solidFill>
                  <a:latin typeface="Lora"/>
                  <a:ea typeface="Lora"/>
                  <a:cs typeface="Lora"/>
                  <a:sym typeface="Lora"/>
                </a:rPr>
                <a:t>Every person has named one thing, and each owner has it written down as their next line.</a:t>
              </a:r>
              <a:endParaRPr b="0" sz="1100">
                <a:solidFill>
                  <a:srgbClr val="444444"/>
                </a:solidFill>
                <a:latin typeface="Lora"/>
                <a:ea typeface="Lora"/>
                <a:cs typeface="Lora"/>
                <a:sym typeface="Lora"/>
              </a:endParaRPr>
            </a:p>
          </p:txBody>
        </p:sp>
      </p:grpSp>
      <p:sp>
        <p:nvSpPr>
          <p:cNvPr id="569" name="Google Shape;569;p31"/>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570" name="Google Shape;570;p31"/>
          <p:cNvSpPr txBox="1"/>
          <p:nvPr>
            <p:ph idx="1" type="body"/>
          </p:nvPr>
        </p:nvSpPr>
        <p:spPr>
          <a:xfrm>
            <a:off x="822960" y="457200"/>
            <a:ext cx="9144000" cy="320100"/>
          </a:xfrm>
          <a:prstGeom prst="rect">
            <a:avLst/>
          </a:prstGeom>
          <a:noFill/>
          <a:ln>
            <a:noFill/>
          </a:ln>
        </p:spPr>
        <p:txBody>
          <a:bodyPr anchorCtr="0" anchor="t" bIns="0" lIns="0" spcFirstLastPara="1" rIns="0" wrap="square" tIns="0">
            <a:noAutofit/>
          </a:bodyPr>
          <a:lstStyle/>
          <a:p>
            <a:pPr indent="0" lvl="0" marL="0" rtl="0" algn="l">
              <a:lnSpc>
                <a:spcPct val="118000"/>
              </a:lnSpc>
              <a:spcBef>
                <a:spcPts val="0"/>
              </a:spcBef>
              <a:spcAft>
                <a:spcPts val="0"/>
              </a:spcAft>
              <a:buClr>
                <a:srgbClr val="0064FF"/>
              </a:buClr>
              <a:buSzPts val="1200"/>
              <a:buFont typeface="Outfit"/>
              <a:buNone/>
            </a:pPr>
            <a:r>
              <a:rPr lang="en-GB"/>
              <a:t>SESSION 2 · FACTORIES · EXERCISE</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4" name="Shape 574"/>
        <p:cNvGrpSpPr/>
        <p:nvPr/>
      </p:nvGrpSpPr>
      <p:grpSpPr>
        <a:xfrm>
          <a:off x="0" y="0"/>
          <a:ext cx="0" cy="0"/>
          <a:chOff x="0" y="0"/>
          <a:chExt cx="0" cy="0"/>
        </a:xfrm>
      </p:grpSpPr>
      <p:grpSp>
        <p:nvGrpSpPr>
          <p:cNvPr id="575" name="Google Shape;575;p33"/>
          <p:cNvGrpSpPr/>
          <p:nvPr/>
        </p:nvGrpSpPr>
        <p:grpSpPr>
          <a:xfrm>
            <a:off x="822960" y="838200"/>
            <a:ext cx="10544100" cy="685800"/>
            <a:chOff x="0" y="0"/>
            <a:chExt cx="10544100" cy="685800"/>
          </a:xfrm>
        </p:grpSpPr>
        <p:sp>
          <p:nvSpPr>
            <p:cNvPr id="576" name="Google Shape;576;p33"/>
            <p:cNvSpPr/>
            <p:nvPr/>
          </p:nvSpPr>
          <p:spPr>
            <a:xfrm>
              <a:off x="0" y="0"/>
              <a:ext cx="10544100" cy="685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77" name="Google Shape;577;p33"/>
            <p:cNvSpPr txBox="1"/>
            <p:nvPr/>
          </p:nvSpPr>
          <p:spPr>
            <a:xfrm>
              <a:off x="0" y="0"/>
              <a:ext cx="10544100" cy="685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2800">
                  <a:solidFill>
                    <a:srgbClr val="2C2C2A"/>
                  </a:solidFill>
                  <a:latin typeface="Instrument Serif"/>
                  <a:ea typeface="Instrument Serif"/>
                  <a:cs typeface="Instrument Serif"/>
                  <a:sym typeface="Instrument Serif"/>
                </a:rPr>
                <a:t>OPTIONAL: T</a:t>
              </a:r>
              <a:r>
                <a:rPr lang="en-GB" sz="2800">
                  <a:solidFill>
                    <a:srgbClr val="2C2C2A"/>
                  </a:solidFill>
                  <a:latin typeface="Instrument Serif"/>
                  <a:ea typeface="Instrument Serif"/>
                  <a:cs typeface="Instrument Serif"/>
                  <a:sym typeface="Instrument Serif"/>
                </a:rPr>
                <a:t>ry and f</a:t>
              </a:r>
              <a:r>
                <a:rPr b="0" lang="en-GB" sz="2800">
                  <a:solidFill>
                    <a:srgbClr val="2C2C2A"/>
                  </a:solidFill>
                  <a:latin typeface="Instrument Serif"/>
                  <a:ea typeface="Instrument Serif"/>
                  <a:cs typeface="Instrument Serif"/>
                  <a:sym typeface="Instrument Serif"/>
                </a:rPr>
                <a:t>ix what your partner found and save the new version.</a:t>
              </a:r>
              <a:endParaRPr b="0" sz="2800">
                <a:solidFill>
                  <a:srgbClr val="2C2C2A"/>
                </a:solidFill>
                <a:latin typeface="Instrument Serif"/>
                <a:ea typeface="Instrument Serif"/>
                <a:cs typeface="Instrument Serif"/>
                <a:sym typeface="Instrument Serif"/>
              </a:endParaRPr>
            </a:p>
          </p:txBody>
        </p:sp>
      </p:grpSp>
      <p:grpSp>
        <p:nvGrpSpPr>
          <p:cNvPr id="578" name="Google Shape;578;p33"/>
          <p:cNvGrpSpPr/>
          <p:nvPr/>
        </p:nvGrpSpPr>
        <p:grpSpPr>
          <a:xfrm>
            <a:off x="822960" y="1666875"/>
            <a:ext cx="5105400" cy="4667400"/>
            <a:chOff x="0" y="0"/>
            <a:chExt cx="5105400" cy="4667400"/>
          </a:xfrm>
        </p:grpSpPr>
        <p:sp>
          <p:nvSpPr>
            <p:cNvPr id="579" name="Google Shape;579;p33"/>
            <p:cNvSpPr/>
            <p:nvPr/>
          </p:nvSpPr>
          <p:spPr>
            <a:xfrm>
              <a:off x="0" y="0"/>
              <a:ext cx="5105400" cy="4667400"/>
            </a:xfrm>
            <a:prstGeom prst="roundRect">
              <a:avLst>
                <a:gd fmla="val 1632" name="adj"/>
              </a:avLst>
            </a:prstGeom>
            <a:solidFill>
              <a:srgbClr val="E1F5E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80" name="Google Shape;580;p33"/>
            <p:cNvSpPr txBox="1"/>
            <p:nvPr/>
          </p:nvSpPr>
          <p:spPr>
            <a:xfrm>
              <a:off x="0" y="0"/>
              <a:ext cx="5105400" cy="4667400"/>
            </a:xfrm>
            <a:prstGeom prst="rect">
              <a:avLst/>
            </a:prstGeom>
            <a:solidFill>
              <a:srgbClr val="000000">
                <a:alpha val="0"/>
              </a:srgbClr>
            </a:solidFill>
            <a:ln>
              <a:noFill/>
            </a:ln>
          </p:spPr>
          <p:txBody>
            <a:bodyPr anchorCtr="0" anchor="t" bIns="228600" lIns="228600" spcFirstLastPara="1" rIns="228600" wrap="square" tIns="228600">
              <a:noAutofit/>
            </a:bodyPr>
            <a:lstStyle/>
            <a:p>
              <a:pPr indent="0" lvl="0" marL="0" rtl="0" algn="l">
                <a:spcBef>
                  <a:spcPts val="0"/>
                </a:spcBef>
                <a:spcAft>
                  <a:spcPts val="0"/>
                </a:spcAft>
                <a:buNone/>
              </a:pPr>
              <a:r>
                <a:rPr b="0" lang="en-GB" sz="1000">
                  <a:solidFill>
                    <a:srgbClr val="085041"/>
                  </a:solidFill>
                  <a:latin typeface="Outfit SemiBold"/>
                  <a:ea typeface="Outfit SemiBold"/>
                  <a:cs typeface="Outfit SemiBold"/>
                  <a:sym typeface="Outfit SemiBold"/>
                </a:rPr>
                <a:t>WHAT TO DO</a:t>
              </a:r>
              <a:endParaRPr b="0" sz="1000">
                <a:solidFill>
                  <a:srgbClr val="085041"/>
                </a:solidFill>
                <a:latin typeface="Outfit SemiBold"/>
                <a:ea typeface="Outfit SemiBold"/>
                <a:cs typeface="Outfit SemiBold"/>
                <a:sym typeface="Outfit SemiBold"/>
              </a:endParaRPr>
            </a:p>
            <a:p>
              <a:pPr indent="-292100" lvl="0" marL="457200" rtl="0" algn="l">
                <a:spcBef>
                  <a:spcPts val="600"/>
                </a:spcBef>
                <a:spcAft>
                  <a:spcPts val="0"/>
                </a:spcAft>
                <a:buClr>
                  <a:srgbClr val="085041"/>
                </a:buClr>
                <a:buSzPts val="1000"/>
                <a:buFont typeface="Outfit"/>
                <a:buChar char="●"/>
              </a:pPr>
              <a:r>
                <a:rPr b="0" lang="en-GB" sz="1050">
                  <a:solidFill>
                    <a:srgbClr val="2C2C2A"/>
                  </a:solidFill>
                  <a:latin typeface="Lora"/>
                  <a:ea typeface="Lora"/>
                  <a:cs typeface="Lora"/>
                  <a:sym typeface="Lora"/>
                </a:rPr>
                <a:t>One fix per blocker line — could not run without you, or did not fit the reader</a:t>
              </a:r>
              <a:endParaRPr b="0" sz="1000">
                <a:solidFill>
                  <a:srgbClr val="085041"/>
                </a:solidFill>
                <a:latin typeface="Outfit SemiBold"/>
                <a:ea typeface="Outfit SemiBold"/>
                <a:cs typeface="Outfit SemiBold"/>
                <a:sym typeface="Outfit SemiBold"/>
              </a:endParaRPr>
            </a:p>
            <a:p>
              <a:pPr indent="-292100" lvl="0" marL="457200" rtl="0" algn="l">
                <a:spcBef>
                  <a:spcPts val="600"/>
                </a:spcBef>
                <a:spcAft>
                  <a:spcPts val="0"/>
                </a:spcAft>
                <a:buClr>
                  <a:srgbClr val="085041"/>
                </a:buClr>
                <a:buSzPts val="1000"/>
                <a:buFont typeface="Outfit"/>
                <a:buChar char="●"/>
              </a:pPr>
              <a:r>
                <a:rPr b="0" lang="en-GB" sz="1050">
                  <a:solidFill>
                    <a:srgbClr val="2C2C2A"/>
                  </a:solidFill>
                  <a:latin typeface="Lora"/>
                  <a:ea typeface="Lora"/>
                  <a:cs typeface="Lora"/>
                  <a:sym typeface="Lora"/>
                </a:rPr>
                <a:t>Re-run the example cold</a:t>
              </a:r>
              <a:endParaRPr b="0" sz="1000">
                <a:solidFill>
                  <a:srgbClr val="085041"/>
                </a:solidFill>
                <a:latin typeface="Outfit SemiBold"/>
                <a:ea typeface="Outfit SemiBold"/>
                <a:cs typeface="Outfit SemiBold"/>
                <a:sym typeface="Outfit SemiBold"/>
              </a:endParaRPr>
            </a:p>
            <a:p>
              <a:pPr indent="-292100" lvl="0" marL="457200" rtl="0" algn="l">
                <a:spcBef>
                  <a:spcPts val="600"/>
                </a:spcBef>
                <a:spcAft>
                  <a:spcPts val="0"/>
                </a:spcAft>
                <a:buClr>
                  <a:srgbClr val="085041"/>
                </a:buClr>
                <a:buSzPts val="1000"/>
                <a:buFont typeface="Outfit"/>
                <a:buChar char="●"/>
              </a:pPr>
              <a:r>
                <a:rPr b="0" lang="en-GB" sz="1050">
                  <a:solidFill>
                    <a:srgbClr val="2C2C2A"/>
                  </a:solidFill>
                  <a:latin typeface="Lora"/>
                  <a:ea typeface="Lora"/>
                  <a:cs typeface="Lora"/>
                  <a:sym typeface="Lora"/>
                </a:rPr>
                <a:t>Push v2 with one progress line saying what changed</a:t>
              </a:r>
              <a:endParaRPr b="0" sz="1000">
                <a:solidFill>
                  <a:srgbClr val="085041"/>
                </a:solidFill>
                <a:latin typeface="Outfit SemiBold"/>
                <a:ea typeface="Outfit SemiBold"/>
                <a:cs typeface="Outfit SemiBold"/>
                <a:sym typeface="Outfit SemiBold"/>
              </a:endParaRPr>
            </a:p>
            <a:p>
              <a:pPr indent="0" lvl="0" marL="0" rtl="0" algn="l">
                <a:spcBef>
                  <a:spcPts val="1800"/>
                </a:spcBef>
                <a:spcAft>
                  <a:spcPts val="0"/>
                </a:spcAft>
                <a:buNone/>
              </a:pPr>
              <a:r>
                <a:rPr b="0" lang="en-GB" sz="1000">
                  <a:solidFill>
                    <a:srgbClr val="085041"/>
                  </a:solidFill>
                  <a:latin typeface="Outfit SemiBold"/>
                  <a:ea typeface="Outfit SemiBold"/>
                  <a:cs typeface="Outfit SemiBold"/>
                  <a:sym typeface="Outfit SemiBold"/>
                </a:rPr>
                <a:t>PASTE THIS TO YOUR ASSISTANT</a:t>
              </a:r>
              <a:endParaRPr b="0" sz="1000">
                <a:solidFill>
                  <a:srgbClr val="085041"/>
                </a:solidFill>
                <a:latin typeface="Outfit SemiBold"/>
                <a:ea typeface="Outfit SemiBold"/>
                <a:cs typeface="Outfit SemiBold"/>
                <a:sym typeface="Outfit SemiBold"/>
              </a:endParaRPr>
            </a:p>
            <a:p>
              <a:pPr indent="0" lvl="0" marL="0" rtl="0" algn="l">
                <a:spcBef>
                  <a:spcPts val="600"/>
                </a:spcBef>
                <a:spcAft>
                  <a:spcPts val="0"/>
                </a:spcAft>
                <a:buNone/>
              </a:pPr>
              <a:r>
                <a:rPr b="0" lang="en-GB" sz="1000">
                  <a:solidFill>
                    <a:srgbClr val="2C2C2A"/>
                  </a:solidFill>
                  <a:latin typeface="Lora"/>
                  <a:ea typeface="Lora"/>
                  <a:cs typeface="Lora"/>
                  <a:sym typeface="Lora"/>
                </a:rPr>
                <a:t>Read instructions/async-2.md and do this. For each blocker line in my LOG.md make exactly one fix, re-run the example cold, then push v2 with a one-line progress note.</a:t>
              </a:r>
              <a:endParaRPr b="0" sz="1000">
                <a:solidFill>
                  <a:srgbClr val="2C2C2A"/>
                </a:solidFill>
                <a:latin typeface="Lora"/>
                <a:ea typeface="Lora"/>
                <a:cs typeface="Lora"/>
                <a:sym typeface="Lora"/>
              </a:endParaRPr>
            </a:p>
          </p:txBody>
        </p:sp>
      </p:grpSp>
      <p:grpSp>
        <p:nvGrpSpPr>
          <p:cNvPr id="581" name="Google Shape;581;p33"/>
          <p:cNvGrpSpPr/>
          <p:nvPr/>
        </p:nvGrpSpPr>
        <p:grpSpPr>
          <a:xfrm>
            <a:off x="6118860" y="1666875"/>
            <a:ext cx="5250300" cy="4667400"/>
            <a:chOff x="0" y="0"/>
            <a:chExt cx="5250300" cy="4667400"/>
          </a:xfrm>
        </p:grpSpPr>
        <p:sp>
          <p:nvSpPr>
            <p:cNvPr id="582" name="Google Shape;582;p33"/>
            <p:cNvSpPr/>
            <p:nvPr/>
          </p:nvSpPr>
          <p:spPr>
            <a:xfrm>
              <a:off x="0" y="0"/>
              <a:ext cx="5250300" cy="4667400"/>
            </a:xfrm>
            <a:prstGeom prst="roundRect">
              <a:avLst>
                <a:gd fmla="val 1632" name="adj"/>
              </a:avLst>
            </a:prstGeom>
            <a:solidFill>
              <a:srgbClr val="F0EDE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83" name="Google Shape;583;p33"/>
            <p:cNvSpPr txBox="1"/>
            <p:nvPr/>
          </p:nvSpPr>
          <p:spPr>
            <a:xfrm>
              <a:off x="0" y="0"/>
              <a:ext cx="5250300" cy="4667400"/>
            </a:xfrm>
            <a:prstGeom prst="rect">
              <a:avLst/>
            </a:prstGeom>
            <a:solidFill>
              <a:srgbClr val="000000">
                <a:alpha val="0"/>
              </a:srgbClr>
            </a:solidFill>
            <a:ln>
              <a:noFill/>
            </a:ln>
          </p:spPr>
          <p:txBody>
            <a:bodyPr anchorCtr="0" anchor="t" bIns="228600" lIns="228600" spcFirstLastPara="1" rIns="228600" wrap="square" tIns="228600">
              <a:noAutofit/>
            </a:bodyPr>
            <a:lstStyle/>
            <a:p>
              <a:pPr indent="0" lvl="0" marL="0" rtl="0" algn="l">
                <a:spcBef>
                  <a:spcPts val="0"/>
                </a:spcBef>
                <a:spcAft>
                  <a:spcPts val="0"/>
                </a:spcAft>
                <a:buNone/>
              </a:pPr>
              <a:r>
                <a:rPr b="0" lang="en-GB" sz="1000">
                  <a:solidFill>
                    <a:srgbClr val="0064FF"/>
                  </a:solidFill>
                  <a:latin typeface="Outfit SemiBold"/>
                  <a:ea typeface="Outfit SemiBold"/>
                  <a:cs typeface="Outfit SemiBold"/>
                  <a:sym typeface="Outfit SemiBold"/>
                </a:rPr>
                <a:t>DOING TONIGHT ASYNC?</a:t>
              </a:r>
              <a:endParaRPr b="0" sz="1000">
                <a:solidFill>
                  <a:srgbClr val="0064FF"/>
                </a:solidFill>
                <a:latin typeface="Outfit SemiBold"/>
                <a:ea typeface="Outfit SemiBold"/>
                <a:cs typeface="Outfit SemiBold"/>
                <a:sym typeface="Outfit SemiBold"/>
              </a:endParaRPr>
            </a:p>
            <a:p>
              <a:pPr indent="0" lvl="0" marL="0" rtl="0" algn="l">
                <a:spcBef>
                  <a:spcPts val="400"/>
                </a:spcBef>
                <a:spcAft>
                  <a:spcPts val="0"/>
                </a:spcAft>
                <a:buNone/>
              </a:pPr>
              <a:r>
                <a:rPr b="0" lang="en-GB" sz="1050">
                  <a:solidFill>
                    <a:srgbClr val="2C2C2A"/>
                  </a:solidFill>
                  <a:latin typeface="Lora"/>
                  <a:ea typeface="Lora"/>
                  <a:cs typeface="Lora"/>
                  <a:sym typeface="Lora"/>
                </a:rPr>
                <a:t>Push your factory anyway — your assigned reader's agent will test it and post the report in the channel for you.</a:t>
              </a:r>
              <a:endParaRPr b="0" sz="1050">
                <a:solidFill>
                  <a:srgbClr val="2C2C2A"/>
                </a:solidFill>
                <a:latin typeface="Lora"/>
                <a:ea typeface="Lora"/>
                <a:cs typeface="Lora"/>
                <a:sym typeface="Lora"/>
              </a:endParaRPr>
            </a:p>
            <a:p>
              <a:pPr indent="0" lvl="0" marL="0" rtl="0" algn="l">
                <a:spcBef>
                  <a:spcPts val="1600"/>
                </a:spcBef>
                <a:spcAft>
                  <a:spcPts val="0"/>
                </a:spcAft>
                <a:buNone/>
              </a:pPr>
              <a:r>
                <a:rPr b="0" lang="en-GB" sz="1000">
                  <a:solidFill>
                    <a:srgbClr val="0064FF"/>
                  </a:solidFill>
                  <a:latin typeface="Outfit SemiBold"/>
                  <a:ea typeface="Outfit SemiBold"/>
                  <a:cs typeface="Outfit SemiBold"/>
                  <a:sym typeface="Outfit SemiBold"/>
                </a:rPr>
                <a:t>LOOKING AHEAD</a:t>
              </a:r>
              <a:endParaRPr b="0" sz="1000">
                <a:solidFill>
                  <a:srgbClr val="0064FF"/>
                </a:solidFill>
                <a:latin typeface="Outfit SemiBold"/>
                <a:ea typeface="Outfit SemiBold"/>
                <a:cs typeface="Outfit SemiBold"/>
                <a:sym typeface="Outfit SemiBold"/>
              </a:endParaRPr>
            </a:p>
            <a:p>
              <a:pPr indent="0" lvl="0" marL="0" rtl="0" algn="l">
                <a:spcBef>
                  <a:spcPts val="400"/>
                </a:spcBef>
                <a:spcAft>
                  <a:spcPts val="0"/>
                </a:spcAft>
                <a:buNone/>
              </a:pPr>
              <a:r>
                <a:rPr b="0" lang="en-GB" sz="1050">
                  <a:solidFill>
                    <a:srgbClr val="2C2C2A"/>
                  </a:solidFill>
                  <a:latin typeface="Lora"/>
                  <a:ea typeface="Lora"/>
                  <a:cs typeface="Lora"/>
                  <a:sym typeface="Lora"/>
                </a:rPr>
                <a:t>S3 tomorrow 15:30 UTC — bridges. You will use someone's output unchanged instead of copying it. Bring the kit you did not critique in mind.</a:t>
              </a:r>
              <a:endParaRPr b="0" sz="1050">
                <a:solidFill>
                  <a:srgbClr val="2C2C2A"/>
                </a:solidFill>
                <a:latin typeface="Lora"/>
                <a:ea typeface="Lora"/>
                <a:cs typeface="Lora"/>
                <a:sym typeface="Lora"/>
              </a:endParaRPr>
            </a:p>
            <a:p>
              <a:pPr indent="0" lvl="0" marL="0" rtl="0" algn="l">
                <a:spcBef>
                  <a:spcPts val="1600"/>
                </a:spcBef>
                <a:spcAft>
                  <a:spcPts val="0"/>
                </a:spcAft>
                <a:buNone/>
              </a:pPr>
              <a:r>
                <a:rPr b="0" lang="en-GB" sz="1000">
                  <a:solidFill>
                    <a:srgbClr val="0064FF"/>
                  </a:solidFill>
                  <a:latin typeface="Outfit SemiBold"/>
                  <a:ea typeface="Outfit SemiBold"/>
                  <a:cs typeface="Outfit SemiBold"/>
                  <a:sym typeface="Outfit SemiBold"/>
                </a:rPr>
                <a:t>GLOSSARY</a:t>
              </a:r>
              <a:endParaRPr b="0" sz="1000">
                <a:solidFill>
                  <a:srgbClr val="0064FF"/>
                </a:solidFill>
                <a:latin typeface="Outfit SemiBold"/>
                <a:ea typeface="Outfit SemiBold"/>
                <a:cs typeface="Outfit SemiBold"/>
                <a:sym typeface="Outfit SemiBold"/>
              </a:endParaRPr>
            </a:p>
            <a:p>
              <a:pPr indent="0" lvl="0" marL="0" rtl="0" algn="l">
                <a:spcBef>
                  <a:spcPts val="400"/>
                </a:spcBef>
                <a:spcAft>
                  <a:spcPts val="0"/>
                </a:spcAft>
                <a:buNone/>
              </a:pPr>
              <a:r>
                <a:rPr b="1" lang="en-GB" sz="950">
                  <a:solidFill>
                    <a:srgbClr val="2C2C2A"/>
                  </a:solidFill>
                  <a:latin typeface="Lora"/>
                  <a:ea typeface="Lora"/>
                  <a:cs typeface="Lora"/>
                  <a:sym typeface="Lora"/>
                </a:rPr>
                <a:t>§ Push</a:t>
              </a:r>
              <a:r>
                <a:rPr b="0" lang="en-GB" sz="950">
                  <a:solidFill>
                    <a:srgbClr val="5F5E5A"/>
                  </a:solidFill>
                  <a:latin typeface="Lora"/>
                  <a:ea typeface="Lora"/>
                  <a:cs typeface="Lora"/>
                  <a:sym typeface="Lora"/>
                </a:rPr>
                <a:t> — Sending your commits up to GitHub, where everyone else can see them. Until you push, your work exists only on your machine.</a:t>
              </a:r>
              <a:endParaRPr b="0" sz="950">
                <a:solidFill>
                  <a:srgbClr val="5F5E5A"/>
                </a:solidFill>
                <a:latin typeface="Lora"/>
                <a:ea typeface="Lora"/>
                <a:cs typeface="Lora"/>
                <a:sym typeface="Lora"/>
              </a:endParaRPr>
            </a:p>
          </p:txBody>
        </p:sp>
      </p:grpSp>
      <p:sp>
        <p:nvSpPr>
          <p:cNvPr id="584" name="Google Shape;584;p33"/>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585" name="Google Shape;585;p33"/>
          <p:cNvSpPr txBox="1"/>
          <p:nvPr>
            <p:ph idx="1" type="body"/>
          </p:nvPr>
        </p:nvSpPr>
        <p:spPr>
          <a:xfrm>
            <a:off x="822960" y="457200"/>
            <a:ext cx="9144000" cy="320100"/>
          </a:xfrm>
          <a:prstGeom prst="rect">
            <a:avLst/>
          </a:prstGeom>
          <a:noFill/>
          <a:ln>
            <a:noFill/>
          </a:ln>
        </p:spPr>
        <p:txBody>
          <a:bodyPr anchorCtr="0" anchor="t" bIns="0" lIns="0" spcFirstLastPara="1" rIns="0" wrap="square" tIns="0">
            <a:noAutofit/>
          </a:bodyPr>
          <a:lstStyle/>
          <a:p>
            <a:pPr indent="0" lvl="0" marL="0" rtl="0" algn="l">
              <a:lnSpc>
                <a:spcPct val="118000"/>
              </a:lnSpc>
              <a:spcBef>
                <a:spcPts val="0"/>
              </a:spcBef>
              <a:spcAft>
                <a:spcPts val="0"/>
              </a:spcAft>
              <a:buClr>
                <a:srgbClr val="0064FF"/>
              </a:buClr>
              <a:buSzPts val="1200"/>
              <a:buFont typeface="Outfit"/>
              <a:buNone/>
            </a:pPr>
            <a:r>
              <a:rPr lang="en-GB" sz="1200">
                <a:solidFill>
                  <a:schemeClr val="accent1"/>
                </a:solidFill>
                <a:latin typeface="Outfit"/>
                <a:ea typeface="Outfit"/>
                <a:cs typeface="Outfit"/>
                <a:sym typeface="Outfit"/>
              </a:rPr>
              <a:t>SESSION 2 · FACTORIES · EXERCISE</a:t>
            </a:r>
            <a:endParaRPr sz="1200">
              <a:solidFill>
                <a:schemeClr val="accent1"/>
              </a:solidFill>
              <a:latin typeface="Outfit"/>
              <a:ea typeface="Outfit"/>
              <a:cs typeface="Outfit"/>
              <a:sym typeface="Outfit"/>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9" name="Shape 589"/>
        <p:cNvGrpSpPr/>
        <p:nvPr/>
      </p:nvGrpSpPr>
      <p:grpSpPr>
        <a:xfrm>
          <a:off x="0" y="0"/>
          <a:ext cx="0" cy="0"/>
          <a:chOff x="0" y="0"/>
          <a:chExt cx="0" cy="0"/>
        </a:xfrm>
      </p:grpSpPr>
      <p:pic>
        <p:nvPicPr>
          <p:cNvPr id="590" name="Google Shape;590;p34"/>
          <p:cNvPicPr preferRelativeResize="0"/>
          <p:nvPr/>
        </p:nvPicPr>
        <p:blipFill rotWithShape="1">
          <a:blip r:embed="rId3">
            <a:alphaModFix/>
          </a:blip>
          <a:srcRect b="23345" l="0" r="0" t="20926"/>
          <a:stretch/>
        </p:blipFill>
        <p:spPr>
          <a:xfrm>
            <a:off x="0" y="0"/>
            <a:ext cx="12306301" cy="6858000"/>
          </a:xfrm>
          <a:prstGeom prst="rect">
            <a:avLst/>
          </a:prstGeom>
          <a:noFill/>
          <a:ln>
            <a:noFill/>
          </a:ln>
        </p:spPr>
      </p:pic>
      <p:sp>
        <p:nvSpPr>
          <p:cNvPr id="591" name="Google Shape;591;p34"/>
          <p:cNvSpPr txBox="1"/>
          <p:nvPr>
            <p:ph idx="1" type="body"/>
          </p:nvPr>
        </p:nvSpPr>
        <p:spPr>
          <a:xfrm>
            <a:off x="822960" y="2103120"/>
            <a:ext cx="7315200" cy="457200"/>
          </a:xfrm>
          <a:prstGeom prst="rect">
            <a:avLst/>
          </a:prstGeom>
          <a:noFill/>
          <a:ln>
            <a:noFill/>
          </a:ln>
        </p:spPr>
        <p:txBody>
          <a:bodyPr anchorCtr="0" anchor="b" bIns="0" lIns="0" spcFirstLastPara="1" rIns="0" wrap="square" tIns="0">
            <a:noAutofit/>
          </a:bodyPr>
          <a:lstStyle/>
          <a:p>
            <a:pPr indent="0" lvl="0" marL="0" rtl="0" algn="l">
              <a:lnSpc>
                <a:spcPct val="118000"/>
              </a:lnSpc>
              <a:spcBef>
                <a:spcPts val="0"/>
              </a:spcBef>
              <a:spcAft>
                <a:spcPts val="0"/>
              </a:spcAft>
              <a:buClr>
                <a:srgbClr val="FFFFFF"/>
              </a:buClr>
              <a:buSzPts val="1200"/>
              <a:buFont typeface="Outfit"/>
              <a:buNone/>
            </a:pPr>
            <a:r>
              <a:rPr lang="en-GB"/>
              <a:t>SESSION 3</a:t>
            </a:r>
            <a:endParaRPr/>
          </a:p>
        </p:txBody>
      </p:sp>
      <p:sp>
        <p:nvSpPr>
          <p:cNvPr id="592" name="Google Shape;592;p34"/>
          <p:cNvSpPr txBox="1"/>
          <p:nvPr>
            <p:ph type="title"/>
          </p:nvPr>
        </p:nvSpPr>
        <p:spPr>
          <a:xfrm>
            <a:off x="822960" y="2697480"/>
            <a:ext cx="10332720" cy="1920240"/>
          </a:xfrm>
          <a:prstGeom prst="rect">
            <a:avLst/>
          </a:prstGeom>
          <a:noFill/>
          <a:ln>
            <a:noFill/>
          </a:ln>
        </p:spPr>
        <p:txBody>
          <a:bodyPr anchorCtr="0" anchor="t" bIns="0" lIns="0" spcFirstLastPara="1" rIns="0" wrap="square" tIns="0">
            <a:noAutofit/>
          </a:bodyPr>
          <a:lstStyle/>
          <a:p>
            <a:pPr indent="0" lvl="0" marL="0" rtl="0" algn="l">
              <a:lnSpc>
                <a:spcPct val="94000"/>
              </a:lnSpc>
              <a:spcBef>
                <a:spcPts val="0"/>
              </a:spcBef>
              <a:spcAft>
                <a:spcPts val="0"/>
              </a:spcAft>
              <a:buClr>
                <a:srgbClr val="FFFFFF"/>
              </a:buClr>
              <a:buSzPts val="5400"/>
              <a:buFont typeface="Instrument Serif"/>
              <a:buNone/>
            </a:pPr>
            <a:r>
              <a:rPr lang="en-GB"/>
              <a:t>Bridges</a:t>
            </a:r>
            <a:endParaRPr/>
          </a:p>
        </p:txBody>
      </p:sp>
      <p:sp>
        <p:nvSpPr>
          <p:cNvPr id="593" name="Google Shape;593;p34"/>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pic>
        <p:nvPicPr>
          <p:cNvPr id="598" name="Google Shape;598;g3fbabb9058b_0_1510"/>
          <p:cNvPicPr preferRelativeResize="0"/>
          <p:nvPr/>
        </p:nvPicPr>
        <p:blipFill>
          <a:blip r:embed="rId3">
            <a:alphaModFix/>
          </a:blip>
          <a:stretch>
            <a:fillRect/>
          </a:stretch>
        </p:blipFill>
        <p:spPr>
          <a:xfrm>
            <a:off x="381000" y="0"/>
            <a:ext cx="11430000" cy="6858000"/>
          </a:xfrm>
          <a:prstGeom prst="rect">
            <a:avLst/>
          </a:prstGeom>
          <a:noFill/>
          <a:ln>
            <a:noFill/>
          </a:ln>
        </p:spPr>
      </p:pic>
      <p:sp>
        <p:nvSpPr>
          <p:cNvPr id="599" name="Google Shape;599;g3fbabb9058b_0_1510"/>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3" name="Shape 603"/>
        <p:cNvGrpSpPr/>
        <p:nvPr/>
      </p:nvGrpSpPr>
      <p:grpSpPr>
        <a:xfrm>
          <a:off x="0" y="0"/>
          <a:ext cx="0" cy="0"/>
          <a:chOff x="0" y="0"/>
          <a:chExt cx="0" cy="0"/>
        </a:xfrm>
      </p:grpSpPr>
      <p:sp>
        <p:nvSpPr>
          <p:cNvPr id="604" name="Google Shape;604;p35"/>
          <p:cNvSpPr txBox="1"/>
          <p:nvPr>
            <p:ph idx="1" type="body"/>
          </p:nvPr>
        </p:nvSpPr>
        <p:spPr>
          <a:xfrm>
            <a:off x="822960" y="457200"/>
            <a:ext cx="9144000" cy="320100"/>
          </a:xfrm>
          <a:prstGeom prst="rect">
            <a:avLst/>
          </a:prstGeom>
          <a:noFill/>
          <a:ln>
            <a:noFill/>
          </a:ln>
        </p:spPr>
        <p:txBody>
          <a:bodyPr anchorCtr="0" anchor="t" bIns="0" lIns="0" spcFirstLastPara="1" rIns="0" wrap="square" tIns="0">
            <a:noAutofit/>
          </a:bodyPr>
          <a:lstStyle/>
          <a:p>
            <a:pPr indent="0" lvl="0" marL="0" rtl="0" algn="l">
              <a:lnSpc>
                <a:spcPct val="118000"/>
              </a:lnSpc>
              <a:spcBef>
                <a:spcPts val="0"/>
              </a:spcBef>
              <a:spcAft>
                <a:spcPts val="0"/>
              </a:spcAft>
              <a:buClr>
                <a:srgbClr val="0064FF"/>
              </a:buClr>
              <a:buSzPts val="1200"/>
              <a:buFont typeface="Outfit"/>
              <a:buNone/>
            </a:pPr>
            <a:r>
              <a:rPr lang="en-GB"/>
              <a:t>SESSION 3 · BRIDGES · OVERVIEW</a:t>
            </a:r>
            <a:endParaRPr/>
          </a:p>
        </p:txBody>
      </p:sp>
      <p:sp>
        <p:nvSpPr>
          <p:cNvPr id="605" name="Google Shape;605;p35"/>
          <p:cNvSpPr txBox="1"/>
          <p:nvPr>
            <p:ph type="title"/>
          </p:nvPr>
        </p:nvSpPr>
        <p:spPr>
          <a:xfrm>
            <a:off x="822960" y="914400"/>
            <a:ext cx="10511700" cy="10479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n-GB" sz="3200">
                <a:solidFill>
                  <a:srgbClr val="2C2C2A"/>
                </a:solidFill>
                <a:latin typeface="Instrument Serif"/>
                <a:ea typeface="Instrument Serif"/>
                <a:cs typeface="Instrument Serif"/>
                <a:sym typeface="Instrument Serif"/>
              </a:rPr>
              <a:t>Yesterday's kits and factories each work alone, but none of them has been combined yet.</a:t>
            </a:r>
            <a:endParaRPr b="0" sz="3200">
              <a:solidFill>
                <a:srgbClr val="2C2C2A"/>
              </a:solidFill>
              <a:latin typeface="Instrument Serif"/>
              <a:ea typeface="Instrument Serif"/>
              <a:cs typeface="Instrument Serif"/>
              <a:sym typeface="Instrument Serif"/>
            </a:endParaRPr>
          </a:p>
        </p:txBody>
      </p:sp>
      <p:grpSp>
        <p:nvGrpSpPr>
          <p:cNvPr id="606" name="Google Shape;606;p35"/>
          <p:cNvGrpSpPr/>
          <p:nvPr/>
        </p:nvGrpSpPr>
        <p:grpSpPr>
          <a:xfrm>
            <a:off x="822960" y="2190750"/>
            <a:ext cx="5105400" cy="2381400"/>
            <a:chOff x="0" y="0"/>
            <a:chExt cx="5105400" cy="2381400"/>
          </a:xfrm>
        </p:grpSpPr>
        <p:sp>
          <p:nvSpPr>
            <p:cNvPr id="607" name="Google Shape;607;p35"/>
            <p:cNvSpPr/>
            <p:nvPr/>
          </p:nvSpPr>
          <p:spPr>
            <a:xfrm>
              <a:off x="0" y="0"/>
              <a:ext cx="5105400" cy="2381400"/>
            </a:xfrm>
            <a:prstGeom prst="roundRect">
              <a:avLst>
                <a:gd fmla="val 320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08" name="Google Shape;608;p35"/>
            <p:cNvSpPr txBox="1"/>
            <p:nvPr/>
          </p:nvSpPr>
          <p:spPr>
            <a:xfrm>
              <a:off x="304800" y="266700"/>
              <a:ext cx="4495800" cy="1848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1300">
                  <a:solidFill>
                    <a:srgbClr val="0064FF"/>
                  </a:solidFill>
                  <a:latin typeface="Outfit SemiBold"/>
                  <a:ea typeface="Outfit SemiBold"/>
                  <a:cs typeface="Outfit SemiBold"/>
                  <a:sym typeface="Outfit SemiBold"/>
                </a:rPr>
                <a:t>In the repo now</a:t>
              </a:r>
              <a:endParaRPr b="0" sz="1300">
                <a:solidFill>
                  <a:srgbClr val="0064FF"/>
                </a:solidFill>
                <a:latin typeface="Outfit SemiBold"/>
                <a:ea typeface="Outfit SemiBold"/>
                <a:cs typeface="Outfit SemiBold"/>
                <a:sym typeface="Outfit SemiBold"/>
              </a:endParaRPr>
            </a:p>
            <a:p>
              <a:pPr indent="-311150" lvl="0" marL="457200" rtl="0" algn="l">
                <a:spcBef>
                  <a:spcPts val="900"/>
                </a:spcBef>
                <a:spcAft>
                  <a:spcPts val="0"/>
                </a:spcAft>
                <a:buClr>
                  <a:srgbClr val="334155"/>
                </a:buClr>
                <a:buSzPts val="1300"/>
                <a:buFont typeface="Lora"/>
                <a:buChar char="●"/>
              </a:pPr>
              <a:r>
                <a:rPr lang="en-GB" sz="1300">
                  <a:solidFill>
                    <a:srgbClr val="334155"/>
                  </a:solidFill>
                  <a:latin typeface="Lora"/>
                  <a:ea typeface="Lora"/>
                  <a:cs typeface="Lora"/>
                  <a:sym typeface="Lora"/>
                </a:rPr>
                <a:t>Every kit has a failure logged.</a:t>
              </a:r>
              <a:endParaRPr sz="1300">
                <a:solidFill>
                  <a:srgbClr val="334155"/>
                </a:solidFill>
                <a:latin typeface="Lora"/>
                <a:ea typeface="Lora"/>
                <a:cs typeface="Lora"/>
                <a:sym typeface="Lora"/>
              </a:endParaRPr>
            </a:p>
            <a:p>
              <a:pPr indent="-311150" lvl="0" marL="457200" rtl="0" algn="l">
                <a:spcBef>
                  <a:spcPts val="750"/>
                </a:spcBef>
                <a:spcAft>
                  <a:spcPts val="0"/>
                </a:spcAft>
                <a:buClr>
                  <a:srgbClr val="334155"/>
                </a:buClr>
                <a:buSzPts val="1300"/>
                <a:buFont typeface="Lora"/>
                <a:buChar char="●"/>
              </a:pPr>
              <a:r>
                <a:rPr lang="en-GB" sz="1300">
                  <a:solidFill>
                    <a:srgbClr val="334155"/>
                  </a:solidFill>
                  <a:latin typeface="Lora"/>
                  <a:ea typeface="Lora"/>
                  <a:cs typeface="Lora"/>
                  <a:sym typeface="Lora"/>
                </a:rPr>
                <a:t>Almost all are </a:t>
              </a:r>
              <a:r>
                <a:rPr b="1" lang="en-GB" sz="1300">
                  <a:solidFill>
                    <a:srgbClr val="334155"/>
                  </a:solidFill>
                  <a:latin typeface="Lora"/>
                  <a:ea typeface="Lora"/>
                  <a:cs typeface="Lora"/>
                  <a:sym typeface="Lora"/>
                </a:rPr>
                <a:t>description problems</a:t>
              </a:r>
              <a:r>
                <a:rPr lang="en-GB" sz="1300">
                  <a:solidFill>
                    <a:srgbClr val="334155"/>
                  </a:solidFill>
                  <a:latin typeface="Lora"/>
                  <a:ea typeface="Lora"/>
                  <a:cs typeface="Lora"/>
                  <a:sym typeface="Lora"/>
                </a:rPr>
                <a:t>, not code problems.</a:t>
              </a:r>
              <a:endParaRPr sz="1300">
                <a:solidFill>
                  <a:srgbClr val="334155"/>
                </a:solidFill>
                <a:latin typeface="Lora"/>
                <a:ea typeface="Lora"/>
                <a:cs typeface="Lora"/>
                <a:sym typeface="Lora"/>
              </a:endParaRPr>
            </a:p>
          </p:txBody>
        </p:sp>
      </p:grpSp>
      <p:grpSp>
        <p:nvGrpSpPr>
          <p:cNvPr id="609" name="Google Shape;609;p35"/>
          <p:cNvGrpSpPr/>
          <p:nvPr/>
        </p:nvGrpSpPr>
        <p:grpSpPr>
          <a:xfrm>
            <a:off x="6229350" y="2190750"/>
            <a:ext cx="5105400" cy="2381400"/>
            <a:chOff x="0" y="0"/>
            <a:chExt cx="5105400" cy="2381400"/>
          </a:xfrm>
        </p:grpSpPr>
        <p:sp>
          <p:nvSpPr>
            <p:cNvPr id="610" name="Google Shape;610;p35"/>
            <p:cNvSpPr/>
            <p:nvPr/>
          </p:nvSpPr>
          <p:spPr>
            <a:xfrm>
              <a:off x="0" y="0"/>
              <a:ext cx="5105400" cy="2381400"/>
            </a:xfrm>
            <a:prstGeom prst="roundRect">
              <a:avLst>
                <a:gd fmla="val 320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11" name="Google Shape;611;p35"/>
            <p:cNvSpPr txBox="1"/>
            <p:nvPr/>
          </p:nvSpPr>
          <p:spPr>
            <a:xfrm>
              <a:off x="304800" y="266700"/>
              <a:ext cx="4495800" cy="1848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1300">
                  <a:solidFill>
                    <a:srgbClr val="0064FF"/>
                  </a:solidFill>
                  <a:latin typeface="Outfit SemiBold"/>
                  <a:ea typeface="Outfit SemiBold"/>
                  <a:cs typeface="Outfit SemiBold"/>
                  <a:sym typeface="Outfit SemiBold"/>
                </a:rPr>
                <a:t>Which makes them useful today</a:t>
              </a:r>
              <a:endParaRPr b="0" sz="1300">
                <a:solidFill>
                  <a:srgbClr val="0064FF"/>
                </a:solidFill>
                <a:latin typeface="Outfit SemiBold"/>
                <a:ea typeface="Outfit SemiBold"/>
                <a:cs typeface="Outfit SemiBold"/>
                <a:sym typeface="Outfit SemiBold"/>
              </a:endParaRPr>
            </a:p>
            <a:p>
              <a:pPr indent="-311150" lvl="0" marL="457200" rtl="0" algn="l">
                <a:spcBef>
                  <a:spcPts val="900"/>
                </a:spcBef>
                <a:spcAft>
                  <a:spcPts val="0"/>
                </a:spcAft>
                <a:buClr>
                  <a:srgbClr val="334155"/>
                </a:buClr>
                <a:buSzPts val="1300"/>
                <a:buFont typeface="Lora"/>
                <a:buChar char="●"/>
              </a:pPr>
              <a:r>
                <a:rPr lang="en-GB" sz="1300">
                  <a:solidFill>
                    <a:srgbClr val="334155"/>
                  </a:solidFill>
                  <a:latin typeface="Lora"/>
                  <a:ea typeface="Lora"/>
                  <a:cs typeface="Lora"/>
                  <a:sym typeface="Lora"/>
                </a:rPr>
                <a:t>A failure is a trace: it tells the next agent exactly where knowledge was still in somebody's head.</a:t>
              </a:r>
              <a:endParaRPr sz="1300">
                <a:solidFill>
                  <a:srgbClr val="334155"/>
                </a:solidFill>
                <a:latin typeface="Lora"/>
                <a:ea typeface="Lora"/>
                <a:cs typeface="Lora"/>
                <a:sym typeface="Lora"/>
              </a:endParaRPr>
            </a:p>
            <a:p>
              <a:pPr indent="-311150" lvl="0" marL="457200" rtl="0" algn="l">
                <a:spcBef>
                  <a:spcPts val="750"/>
                </a:spcBef>
                <a:spcAft>
                  <a:spcPts val="0"/>
                </a:spcAft>
                <a:buClr>
                  <a:srgbClr val="334155"/>
                </a:buClr>
                <a:buSzPts val="1300"/>
                <a:buFont typeface="Lora"/>
                <a:buChar char="●"/>
              </a:pPr>
              <a:r>
                <a:rPr lang="en-GB" sz="1300">
                  <a:solidFill>
                    <a:srgbClr val="334155"/>
                  </a:solidFill>
                  <a:latin typeface="Lora"/>
                  <a:ea typeface="Lora"/>
                  <a:cs typeface="Lora"/>
                  <a:sym typeface="Lora"/>
                </a:rPr>
                <a:t>Kits that landed async overnight count — their bridger is the first cold reader.</a:t>
              </a:r>
              <a:endParaRPr sz="1300">
                <a:solidFill>
                  <a:srgbClr val="334155"/>
                </a:solidFill>
                <a:latin typeface="Lora"/>
                <a:ea typeface="Lora"/>
                <a:cs typeface="Lora"/>
                <a:sym typeface="Lora"/>
              </a:endParaRPr>
            </a:p>
          </p:txBody>
        </p:sp>
      </p:grpSp>
      <p:grpSp>
        <p:nvGrpSpPr>
          <p:cNvPr id="612" name="Google Shape;612;p35"/>
          <p:cNvGrpSpPr/>
          <p:nvPr/>
        </p:nvGrpSpPr>
        <p:grpSpPr>
          <a:xfrm>
            <a:off x="822960" y="4800600"/>
            <a:ext cx="10511700" cy="1333500"/>
            <a:chOff x="0" y="0"/>
            <a:chExt cx="10511700" cy="1333500"/>
          </a:xfrm>
        </p:grpSpPr>
        <p:sp>
          <p:nvSpPr>
            <p:cNvPr id="613" name="Google Shape;613;p35"/>
            <p:cNvSpPr/>
            <p:nvPr/>
          </p:nvSpPr>
          <p:spPr>
            <a:xfrm>
              <a:off x="0" y="0"/>
              <a:ext cx="10511700" cy="1333500"/>
            </a:xfrm>
            <a:prstGeom prst="roundRect">
              <a:avLst>
                <a:gd fmla="val 5714" name="adj"/>
              </a:avLst>
            </a:prstGeom>
            <a:solidFill>
              <a:srgbClr val="E1F5EE"/>
            </a:solidFill>
            <a:ln cap="flat" cmpd="sng" w="9525">
              <a:solidFill>
                <a:srgbClr val="9FE0C8"/>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14" name="Google Shape;614;p35"/>
            <p:cNvSpPr txBox="1"/>
            <p:nvPr/>
          </p:nvSpPr>
          <p:spPr>
            <a:xfrm>
              <a:off x="304800" y="190500"/>
              <a:ext cx="9902100" cy="952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GB" sz="1200">
                  <a:solidFill>
                    <a:srgbClr val="085041"/>
                  </a:solidFill>
                  <a:latin typeface="Outfit"/>
                  <a:ea typeface="Outfit"/>
                  <a:cs typeface="Outfit"/>
                  <a:sym typeface="Outfit"/>
                </a:rPr>
                <a:t>§ LOG DEFINITION</a:t>
              </a:r>
              <a:endParaRPr b="1" sz="1200">
                <a:solidFill>
                  <a:srgbClr val="085041"/>
                </a:solidFill>
                <a:latin typeface="Outfit"/>
                <a:ea typeface="Outfit"/>
                <a:cs typeface="Outfit"/>
                <a:sym typeface="Outfit"/>
              </a:endParaRPr>
            </a:p>
            <a:p>
              <a:pPr indent="0" lvl="0" marL="0" rtl="0" algn="l">
                <a:spcBef>
                  <a:spcPts val="450"/>
                </a:spcBef>
                <a:spcAft>
                  <a:spcPts val="0"/>
                </a:spcAft>
                <a:buNone/>
              </a:pPr>
              <a:r>
                <a:rPr lang="en-GB" sz="1300">
                  <a:solidFill>
                    <a:srgbClr val="085041"/>
                  </a:solidFill>
                  <a:latin typeface="Lora"/>
                  <a:ea typeface="Lora"/>
                  <a:cs typeface="Lora"/>
                  <a:sym typeface="Lora"/>
                </a:rPr>
                <a:t>The running list of one-line notes your assistant writes in </a:t>
              </a:r>
              <a:r>
                <a:rPr b="1" lang="en-GB" sz="1300">
                  <a:solidFill>
                    <a:srgbClr val="085041"/>
                  </a:solidFill>
                  <a:latin typeface="Lora"/>
                  <a:ea typeface="Lora"/>
                  <a:cs typeface="Lora"/>
                  <a:sym typeface="Lora"/>
                </a:rPr>
                <a:t>LOG.md</a:t>
              </a:r>
              <a:r>
                <a:rPr lang="en-GB" sz="1300">
                  <a:solidFill>
                    <a:srgbClr val="085041"/>
                  </a:solidFill>
                  <a:latin typeface="Lora"/>
                  <a:ea typeface="Lora"/>
                  <a:cs typeface="Lora"/>
                  <a:sym typeface="Lora"/>
                </a:rPr>
                <a:t> as it works. It only ever grows: earlier lines are never rewritten or deleted.</a:t>
              </a:r>
              <a:endParaRPr sz="1300">
                <a:solidFill>
                  <a:srgbClr val="085041"/>
                </a:solidFill>
                <a:latin typeface="Lora"/>
                <a:ea typeface="Lora"/>
                <a:cs typeface="Lora"/>
                <a:sym typeface="Lora"/>
              </a:endParaRPr>
            </a:p>
          </p:txBody>
        </p:sp>
      </p:grpSp>
      <p:sp>
        <p:nvSpPr>
          <p:cNvPr id="615" name="Google Shape;615;p35"/>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9" name="Shape 619"/>
        <p:cNvGrpSpPr/>
        <p:nvPr/>
      </p:nvGrpSpPr>
      <p:grpSpPr>
        <a:xfrm>
          <a:off x="0" y="0"/>
          <a:ext cx="0" cy="0"/>
          <a:chOff x="0" y="0"/>
          <a:chExt cx="0" cy="0"/>
        </a:xfrm>
      </p:grpSpPr>
      <p:sp>
        <p:nvSpPr>
          <p:cNvPr id="620" name="Google Shape;620;p36"/>
          <p:cNvSpPr txBox="1"/>
          <p:nvPr>
            <p:ph type="title"/>
          </p:nvPr>
        </p:nvSpPr>
        <p:spPr>
          <a:xfrm>
            <a:off x="822960" y="914400"/>
            <a:ext cx="9692700" cy="1371600"/>
          </a:xfrm>
          <a:prstGeom prst="rect">
            <a:avLst/>
          </a:prstGeom>
          <a:noFill/>
          <a:ln>
            <a:noFill/>
          </a:ln>
        </p:spPr>
        <p:txBody>
          <a:bodyPr anchorCtr="0" anchor="t" bIns="0" lIns="0" spcFirstLastPara="1" rIns="0" wrap="square" tIns="0">
            <a:noAutofit/>
          </a:bodyPr>
          <a:lstStyle/>
          <a:p>
            <a:pPr indent="0" lvl="0" marL="0" rtl="0" algn="l">
              <a:lnSpc>
                <a:spcPct val="96000"/>
              </a:lnSpc>
              <a:spcBef>
                <a:spcPts val="0"/>
              </a:spcBef>
              <a:spcAft>
                <a:spcPts val="0"/>
              </a:spcAft>
              <a:buClr>
                <a:srgbClr val="2C2C2A"/>
              </a:buClr>
              <a:buSzPts val="2800"/>
              <a:buFont typeface="Instrument Serif"/>
              <a:buNone/>
            </a:pPr>
            <a:r>
              <a:rPr lang="en-GB"/>
              <a:t>In the chat, name two kits in the room you would like to combine.</a:t>
            </a:r>
            <a:endParaRPr/>
          </a:p>
        </p:txBody>
      </p:sp>
      <p:grpSp>
        <p:nvGrpSpPr>
          <p:cNvPr id="621" name="Google Shape;621;p36"/>
          <p:cNvGrpSpPr/>
          <p:nvPr/>
        </p:nvGrpSpPr>
        <p:grpSpPr>
          <a:xfrm>
            <a:off x="822960" y="2047875"/>
            <a:ext cx="5105400" cy="2476500"/>
            <a:chOff x="0" y="0"/>
            <a:chExt cx="5105400" cy="2476500"/>
          </a:xfrm>
        </p:grpSpPr>
        <p:sp>
          <p:nvSpPr>
            <p:cNvPr id="622" name="Google Shape;622;p36"/>
            <p:cNvSpPr/>
            <p:nvPr/>
          </p:nvSpPr>
          <p:spPr>
            <a:xfrm>
              <a:off x="0" y="0"/>
              <a:ext cx="5105400" cy="2476500"/>
            </a:xfrm>
            <a:prstGeom prst="roundRect">
              <a:avLst>
                <a:gd fmla="val 3076"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23" name="Google Shape;623;p36"/>
            <p:cNvSpPr txBox="1"/>
            <p:nvPr/>
          </p:nvSpPr>
          <p:spPr>
            <a:xfrm>
              <a:off x="304800" y="228600"/>
              <a:ext cx="4495800" cy="2019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200">
                  <a:solidFill>
                    <a:srgbClr val="0064FF"/>
                  </a:solidFill>
                  <a:latin typeface="Outfit"/>
                  <a:ea typeface="Outfit"/>
                  <a:cs typeface="Outfit"/>
                  <a:sym typeface="Outfit"/>
                </a:rPr>
                <a:t>What to Post in #workshop-kitkraft</a:t>
              </a:r>
              <a:endParaRPr b="1" sz="1200">
                <a:solidFill>
                  <a:srgbClr val="0064FF"/>
                </a:solidFill>
                <a:latin typeface="Outfit"/>
                <a:ea typeface="Outfit"/>
                <a:cs typeface="Outfit"/>
                <a:sym typeface="Outfit"/>
              </a:endParaRPr>
            </a:p>
            <a:p>
              <a:pPr indent="0" lvl="0" marL="0" rtl="0" algn="l">
                <a:spcBef>
                  <a:spcPts val="750"/>
                </a:spcBef>
                <a:spcAft>
                  <a:spcPts val="0"/>
                </a:spcAft>
                <a:buNone/>
              </a:pPr>
              <a:r>
                <a:rPr b="0" lang="en-GB" sz="1400">
                  <a:solidFill>
                    <a:srgbClr val="1E293B"/>
                  </a:solidFill>
                  <a:highlight>
                    <a:srgbClr val="F1F5F9"/>
                  </a:highlight>
                  <a:latin typeface="Lora SemiBold"/>
                  <a:ea typeface="Lora SemiBold"/>
                  <a:cs typeface="Lora SemiBold"/>
                  <a:sym typeface="Lora SemiBold"/>
                </a:rPr>
                <a:t>"___ plus ___, so that ___"</a:t>
              </a:r>
              <a:endParaRPr b="0" sz="1400">
                <a:solidFill>
                  <a:srgbClr val="1E293B"/>
                </a:solidFill>
                <a:highlight>
                  <a:srgbClr val="F1F5F9"/>
                </a:highlight>
                <a:latin typeface="Lora SemiBold"/>
                <a:ea typeface="Lora SemiBold"/>
                <a:cs typeface="Lora SemiBold"/>
                <a:sym typeface="Lora SemiBold"/>
              </a:endParaRPr>
            </a:p>
            <a:p>
              <a:pPr indent="0" lvl="0" marL="0" rtl="0" algn="l">
                <a:spcBef>
                  <a:spcPts val="900"/>
                </a:spcBef>
                <a:spcAft>
                  <a:spcPts val="0"/>
                </a:spcAft>
                <a:buNone/>
              </a:pPr>
              <a:r>
                <a:rPr b="0" lang="en-GB" sz="1200">
                  <a:solidFill>
                    <a:srgbClr val="334155"/>
                  </a:solidFill>
                  <a:latin typeface="Lora"/>
                  <a:ea typeface="Lora"/>
                  <a:cs typeface="Lora"/>
                  <a:sym typeface="Lora"/>
                </a:rPr>
                <a:t>Include </a:t>
              </a:r>
              <a:r>
                <a:rPr b="1" lang="en-GB" sz="1200">
                  <a:solidFill>
                    <a:srgbClr val="334155"/>
                  </a:solidFill>
                  <a:latin typeface="Lora"/>
                  <a:ea typeface="Lora"/>
                  <a:cs typeface="Lora"/>
                  <a:sym typeface="Lora"/>
                </a:rPr>
                <a:t>two folder names</a:t>
              </a:r>
              <a:r>
                <a:rPr b="0" lang="en-GB" sz="1200">
                  <a:solidFill>
                    <a:srgbClr val="334155"/>
                  </a:solidFill>
                  <a:latin typeface="Lora"/>
                  <a:ea typeface="Lora"/>
                  <a:cs typeface="Lora"/>
                  <a:sym typeface="Lora"/>
                </a:rPr>
                <a:t> and </a:t>
              </a:r>
              <a:r>
                <a:rPr b="1" lang="en-GB" sz="1200">
                  <a:solidFill>
                    <a:srgbClr val="334155"/>
                  </a:solidFill>
                  <a:latin typeface="Lora"/>
                  <a:ea typeface="Lora"/>
                  <a:cs typeface="Lora"/>
                  <a:sym typeface="Lora"/>
                </a:rPr>
                <a:t>one reason</a:t>
              </a:r>
              <a:r>
                <a:rPr b="0" lang="en-GB" sz="1200">
                  <a:solidFill>
                    <a:srgbClr val="334155"/>
                  </a:solidFill>
                  <a:latin typeface="Lora"/>
                  <a:ea typeface="Lora"/>
                  <a:cs typeface="Lora"/>
                  <a:sym typeface="Lora"/>
                </a:rPr>
                <a:t>.</a:t>
              </a:r>
              <a:endParaRPr b="0" sz="1200">
                <a:solidFill>
                  <a:srgbClr val="334155"/>
                </a:solidFill>
                <a:latin typeface="Lora"/>
                <a:ea typeface="Lora"/>
                <a:cs typeface="Lora"/>
                <a:sym typeface="Lora"/>
              </a:endParaRPr>
            </a:p>
            <a:p>
              <a:pPr indent="0" lvl="0" marL="0" rtl="0" algn="l">
                <a:spcBef>
                  <a:spcPts val="600"/>
                </a:spcBef>
                <a:spcAft>
                  <a:spcPts val="0"/>
                </a:spcAft>
                <a:buNone/>
              </a:pPr>
              <a:r>
                <a:rPr b="0" lang="en-GB" sz="1100">
                  <a:solidFill>
                    <a:srgbClr val="64748B"/>
                  </a:solidFill>
                  <a:latin typeface="Lora"/>
                  <a:ea typeface="Lora"/>
                  <a:cs typeface="Lora"/>
                  <a:sym typeface="Lora"/>
                </a:rPr>
                <a:t>Browse participants/ if you need a reminder of what exists.</a:t>
              </a:r>
              <a:endParaRPr b="0" sz="1100">
                <a:solidFill>
                  <a:srgbClr val="64748B"/>
                </a:solidFill>
                <a:latin typeface="Lora"/>
                <a:ea typeface="Lora"/>
                <a:cs typeface="Lora"/>
                <a:sym typeface="Lora"/>
              </a:endParaRPr>
            </a:p>
          </p:txBody>
        </p:sp>
      </p:grpSp>
      <p:grpSp>
        <p:nvGrpSpPr>
          <p:cNvPr id="624" name="Google Shape;624;p36"/>
          <p:cNvGrpSpPr/>
          <p:nvPr/>
        </p:nvGrpSpPr>
        <p:grpSpPr>
          <a:xfrm>
            <a:off x="6229350" y="2047875"/>
            <a:ext cx="5105400" cy="2476500"/>
            <a:chOff x="0" y="0"/>
            <a:chExt cx="5105400" cy="2476500"/>
          </a:xfrm>
        </p:grpSpPr>
        <p:sp>
          <p:nvSpPr>
            <p:cNvPr id="625" name="Google Shape;625;p36"/>
            <p:cNvSpPr/>
            <p:nvPr/>
          </p:nvSpPr>
          <p:spPr>
            <a:xfrm>
              <a:off x="0" y="0"/>
              <a:ext cx="5105400" cy="2476500"/>
            </a:xfrm>
            <a:prstGeom prst="roundRect">
              <a:avLst>
                <a:gd fmla="val 3076"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26" name="Google Shape;626;p36"/>
            <p:cNvSpPr txBox="1"/>
            <p:nvPr/>
          </p:nvSpPr>
          <p:spPr>
            <a:xfrm>
              <a:off x="304800" y="228600"/>
              <a:ext cx="4495800" cy="2019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200">
                  <a:solidFill>
                    <a:srgbClr val="0064FF"/>
                  </a:solidFill>
                  <a:latin typeface="Outfit"/>
                  <a:ea typeface="Outfit"/>
                  <a:cs typeface="Outfit"/>
                  <a:sym typeface="Outfit"/>
                </a:rPr>
                <a:t>Pairing Guidelines</a:t>
              </a:r>
              <a:endParaRPr b="1" sz="1200">
                <a:solidFill>
                  <a:srgbClr val="0064FF"/>
                </a:solidFill>
                <a:latin typeface="Outfit"/>
                <a:ea typeface="Outfit"/>
                <a:cs typeface="Outfit"/>
                <a:sym typeface="Outfit"/>
              </a:endParaRPr>
            </a:p>
            <a:p>
              <a:pPr indent="0" lvl="0" marL="0" rtl="0" algn="l">
                <a:spcBef>
                  <a:spcPts val="600"/>
                </a:spcBef>
                <a:spcAft>
                  <a:spcPts val="0"/>
                </a:spcAft>
                <a:buNone/>
              </a:pPr>
              <a:r>
                <a:rPr lang="en-GB" sz="1300">
                  <a:solidFill>
                    <a:srgbClr val="0F172A"/>
                  </a:solidFill>
                  <a:latin typeface="Lora SemiBold"/>
                  <a:ea typeface="Lora SemiBold"/>
                  <a:cs typeface="Lora SemiBold"/>
                  <a:sym typeface="Lora SemiBold"/>
                </a:rPr>
                <a:t>Useful pairs are usually uneven</a:t>
              </a:r>
              <a:endParaRPr sz="1300">
                <a:solidFill>
                  <a:srgbClr val="0F172A"/>
                </a:solidFill>
                <a:latin typeface="Lora SemiBold"/>
                <a:ea typeface="Lora SemiBold"/>
                <a:cs typeface="Lora SemiBold"/>
                <a:sym typeface="Lora SemiBold"/>
              </a:endParaRPr>
            </a:p>
            <a:p>
              <a:pPr indent="-301625" lvl="0" marL="457200" rtl="0" algn="l">
                <a:spcBef>
                  <a:spcPts val="750"/>
                </a:spcBef>
                <a:spcAft>
                  <a:spcPts val="0"/>
                </a:spcAft>
                <a:buClr>
                  <a:srgbClr val="334155"/>
                </a:buClr>
                <a:buSzPts val="1150"/>
                <a:buFont typeface="Lora"/>
                <a:buChar char="●"/>
              </a:pPr>
              <a:r>
                <a:rPr lang="en-GB" sz="1150">
                  <a:solidFill>
                    <a:srgbClr val="334155"/>
                  </a:solidFill>
                  <a:latin typeface="Lora"/>
                  <a:ea typeface="Lora"/>
                  <a:cs typeface="Lora"/>
                  <a:sym typeface="Lora"/>
                </a:rPr>
                <a:t>One kit that produces something plus one that needs that thing — not two kits that do the same job.</a:t>
              </a:r>
              <a:endParaRPr sz="1150">
                <a:solidFill>
                  <a:srgbClr val="334155"/>
                </a:solidFill>
                <a:latin typeface="Lora"/>
                <a:ea typeface="Lora"/>
                <a:cs typeface="Lora"/>
                <a:sym typeface="Lora"/>
              </a:endParaRPr>
            </a:p>
            <a:p>
              <a:pPr indent="-301625" lvl="0" marL="457200" rtl="0" algn="l">
                <a:spcBef>
                  <a:spcPts val="600"/>
                </a:spcBef>
                <a:spcAft>
                  <a:spcPts val="0"/>
                </a:spcAft>
                <a:buClr>
                  <a:srgbClr val="334155"/>
                </a:buClr>
                <a:buSzPts val="1150"/>
                <a:buFont typeface="Lora"/>
                <a:buChar char="●"/>
              </a:pPr>
              <a:r>
                <a:rPr lang="en-GB" sz="1150">
                  <a:solidFill>
                    <a:srgbClr val="334155"/>
                  </a:solidFill>
                  <a:latin typeface="Lora"/>
                  <a:ea typeface="Lora"/>
                  <a:cs typeface="Lora"/>
                  <a:sym typeface="Lora"/>
                </a:rPr>
                <a:t>Nothing is assigned on the basis of this. Your target is in the pinned post — but a pairing named here can be swapped in.</a:t>
              </a:r>
              <a:endParaRPr sz="1150">
                <a:solidFill>
                  <a:srgbClr val="334155"/>
                </a:solidFill>
                <a:latin typeface="Lora"/>
                <a:ea typeface="Lora"/>
                <a:cs typeface="Lora"/>
                <a:sym typeface="Lora"/>
              </a:endParaRPr>
            </a:p>
          </p:txBody>
        </p:sp>
      </p:grpSp>
      <p:sp>
        <p:nvSpPr>
          <p:cNvPr id="627" name="Google Shape;627;p36"/>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628" name="Google Shape;628;p36"/>
          <p:cNvSpPr txBox="1"/>
          <p:nvPr>
            <p:ph idx="1" type="body"/>
          </p:nvPr>
        </p:nvSpPr>
        <p:spPr>
          <a:xfrm>
            <a:off x="822960" y="457200"/>
            <a:ext cx="9144000" cy="320100"/>
          </a:xfrm>
          <a:prstGeom prst="rect">
            <a:avLst/>
          </a:prstGeom>
          <a:noFill/>
          <a:ln>
            <a:noFill/>
          </a:ln>
        </p:spPr>
        <p:txBody>
          <a:bodyPr anchorCtr="0" anchor="t" bIns="0" lIns="0" spcFirstLastPara="1" rIns="0" wrap="square" tIns="0">
            <a:noAutofit/>
          </a:bodyPr>
          <a:lstStyle/>
          <a:p>
            <a:pPr indent="0" lvl="0" marL="0" rtl="0" algn="l">
              <a:lnSpc>
                <a:spcPct val="118000"/>
              </a:lnSpc>
              <a:spcBef>
                <a:spcPts val="0"/>
              </a:spcBef>
              <a:spcAft>
                <a:spcPts val="0"/>
              </a:spcAft>
              <a:buClr>
                <a:srgbClr val="0064FF"/>
              </a:buClr>
              <a:buSzPts val="1200"/>
              <a:buFont typeface="Outfit"/>
              <a:buNone/>
            </a:pPr>
            <a:r>
              <a:rPr lang="en-GB"/>
              <a:t>SESSION 3 · BRIDGES · EXERCISE</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2" name="Shape 632"/>
        <p:cNvGrpSpPr/>
        <p:nvPr/>
      </p:nvGrpSpPr>
      <p:grpSpPr>
        <a:xfrm>
          <a:off x="0" y="0"/>
          <a:ext cx="0" cy="0"/>
          <a:chOff x="0" y="0"/>
          <a:chExt cx="0" cy="0"/>
        </a:xfrm>
      </p:grpSpPr>
      <p:sp>
        <p:nvSpPr>
          <p:cNvPr id="633" name="Google Shape;633;p37"/>
          <p:cNvSpPr txBox="1"/>
          <p:nvPr>
            <p:ph type="title"/>
          </p:nvPr>
        </p:nvSpPr>
        <p:spPr>
          <a:xfrm>
            <a:off x="822960" y="819150"/>
            <a:ext cx="10546200" cy="6669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n-GB" sz="2800">
                <a:solidFill>
                  <a:srgbClr val="2C2C2A"/>
                </a:solidFill>
                <a:latin typeface="Instrument Serif"/>
                <a:ea typeface="Instrument Serif"/>
                <a:cs typeface="Instrument Serif"/>
                <a:sym typeface="Instrument Serif"/>
              </a:rPr>
              <a:t>A bridge is a kit between kits, running several of them as one process.</a:t>
            </a:r>
            <a:endParaRPr b="0" sz="2800">
              <a:solidFill>
                <a:srgbClr val="2C2C2A"/>
              </a:solidFill>
              <a:latin typeface="Instrument Serif"/>
              <a:ea typeface="Instrument Serif"/>
              <a:cs typeface="Instrument Serif"/>
              <a:sym typeface="Instrument Serif"/>
            </a:endParaRPr>
          </a:p>
        </p:txBody>
      </p:sp>
      <p:sp>
        <p:nvSpPr>
          <p:cNvPr id="634" name="Google Shape;634;p37"/>
          <p:cNvSpPr txBox="1"/>
          <p:nvPr/>
        </p:nvSpPr>
        <p:spPr>
          <a:xfrm>
            <a:off x="822960" y="1504950"/>
            <a:ext cx="10546200" cy="381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n-GB" sz="1300">
                <a:solidFill>
                  <a:srgbClr val="475569"/>
                </a:solidFill>
                <a:latin typeface="Lora"/>
                <a:ea typeface="Lora"/>
                <a:cs typeface="Lora"/>
                <a:sym typeface="Lora"/>
              </a:rPr>
              <a:t>A target is any kit or factory in the repo. The difference is one line: a factory declared an Interface: in S2, a kit did not.</a:t>
            </a:r>
            <a:endParaRPr b="0" sz="1300">
              <a:solidFill>
                <a:srgbClr val="475569"/>
              </a:solidFill>
              <a:latin typeface="Lora"/>
              <a:ea typeface="Lora"/>
              <a:cs typeface="Lora"/>
              <a:sym typeface="Lora"/>
            </a:endParaRPr>
          </a:p>
        </p:txBody>
      </p:sp>
      <p:grpSp>
        <p:nvGrpSpPr>
          <p:cNvPr id="635" name="Google Shape;635;p37"/>
          <p:cNvGrpSpPr/>
          <p:nvPr/>
        </p:nvGrpSpPr>
        <p:grpSpPr>
          <a:xfrm>
            <a:off x="822960" y="2047875"/>
            <a:ext cx="3381300" cy="2143200"/>
            <a:chOff x="0" y="0"/>
            <a:chExt cx="3381300" cy="2143200"/>
          </a:xfrm>
        </p:grpSpPr>
        <p:sp>
          <p:nvSpPr>
            <p:cNvPr id="636" name="Google Shape;636;p37"/>
            <p:cNvSpPr/>
            <p:nvPr/>
          </p:nvSpPr>
          <p:spPr>
            <a:xfrm>
              <a:off x="0" y="0"/>
              <a:ext cx="3381300" cy="2143200"/>
            </a:xfrm>
            <a:prstGeom prst="roundRect">
              <a:avLst>
                <a:gd fmla="val 3555"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37" name="Google Shape;637;p37"/>
            <p:cNvSpPr txBox="1"/>
            <p:nvPr/>
          </p:nvSpPr>
          <p:spPr>
            <a:xfrm>
              <a:off x="228600" y="228600"/>
              <a:ext cx="2924100" cy="1686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1600">
                  <a:solidFill>
                    <a:srgbClr val="0064FF"/>
                  </a:solidFill>
                  <a:latin typeface="Outfit"/>
                  <a:ea typeface="Outfit"/>
                  <a:cs typeface="Outfit"/>
                  <a:sym typeface="Outfit"/>
                </a:rPr>
                <a:t>Factory → factory</a:t>
              </a:r>
              <a:endParaRPr b="0" sz="1600">
                <a:solidFill>
                  <a:srgbClr val="0064FF"/>
                </a:solidFill>
                <a:latin typeface="Outfit"/>
                <a:ea typeface="Outfit"/>
                <a:cs typeface="Outfit"/>
                <a:sym typeface="Outfit"/>
              </a:endParaRPr>
            </a:p>
            <a:p>
              <a:pPr indent="0" lvl="0" marL="0" rtl="0" algn="l">
                <a:spcBef>
                  <a:spcPts val="1200"/>
                </a:spcBef>
                <a:spcAft>
                  <a:spcPts val="0"/>
                </a:spcAft>
                <a:buNone/>
              </a:pPr>
              <a:r>
                <a:rPr lang="en-GB" sz="1250">
                  <a:solidFill>
                    <a:srgbClr val="334155"/>
                  </a:solidFill>
                  <a:latin typeface="Lora"/>
                  <a:ea typeface="Lora"/>
                  <a:cs typeface="Lora"/>
                  <a:sym typeface="Lora"/>
                </a:rPr>
                <a:t>What happens when one factory uses intermediary outputs of another?</a:t>
              </a:r>
              <a:endParaRPr b="0" sz="1250">
                <a:solidFill>
                  <a:srgbClr val="334155"/>
                </a:solidFill>
                <a:latin typeface="Lora"/>
                <a:ea typeface="Lora"/>
                <a:cs typeface="Lora"/>
                <a:sym typeface="Lora"/>
              </a:endParaRPr>
            </a:p>
          </p:txBody>
        </p:sp>
      </p:grpSp>
      <p:grpSp>
        <p:nvGrpSpPr>
          <p:cNvPr id="638" name="Google Shape;638;p37"/>
          <p:cNvGrpSpPr/>
          <p:nvPr/>
        </p:nvGrpSpPr>
        <p:grpSpPr>
          <a:xfrm>
            <a:off x="4404360" y="2047875"/>
            <a:ext cx="3381300" cy="2143200"/>
            <a:chOff x="0" y="0"/>
            <a:chExt cx="3381300" cy="2143200"/>
          </a:xfrm>
        </p:grpSpPr>
        <p:sp>
          <p:nvSpPr>
            <p:cNvPr id="639" name="Google Shape;639;p37"/>
            <p:cNvSpPr/>
            <p:nvPr/>
          </p:nvSpPr>
          <p:spPr>
            <a:xfrm>
              <a:off x="0" y="0"/>
              <a:ext cx="3381300" cy="2143200"/>
            </a:xfrm>
            <a:prstGeom prst="roundRect">
              <a:avLst>
                <a:gd fmla="val 3555"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40" name="Google Shape;640;p37"/>
            <p:cNvSpPr txBox="1"/>
            <p:nvPr/>
          </p:nvSpPr>
          <p:spPr>
            <a:xfrm>
              <a:off x="228600" y="228600"/>
              <a:ext cx="2924100" cy="1686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1600">
                  <a:solidFill>
                    <a:srgbClr val="0064FF"/>
                  </a:solidFill>
                  <a:latin typeface="Outfit"/>
                  <a:ea typeface="Outfit"/>
                  <a:cs typeface="Outfit"/>
                  <a:sym typeface="Outfit"/>
                </a:rPr>
                <a:t>Kit → kit</a:t>
              </a:r>
              <a:endParaRPr b="0" sz="1600">
                <a:solidFill>
                  <a:srgbClr val="0064FF"/>
                </a:solidFill>
                <a:latin typeface="Outfit"/>
                <a:ea typeface="Outfit"/>
                <a:cs typeface="Outfit"/>
                <a:sym typeface="Outfit"/>
              </a:endParaRPr>
            </a:p>
            <a:p>
              <a:pPr indent="0" lvl="0" marL="0" rtl="0" algn="l">
                <a:spcBef>
                  <a:spcPts val="1200"/>
                </a:spcBef>
                <a:spcAft>
                  <a:spcPts val="0"/>
                </a:spcAft>
                <a:buNone/>
              </a:pPr>
              <a:r>
                <a:rPr b="0" lang="en-GB" sz="1250">
                  <a:solidFill>
                    <a:srgbClr val="334155"/>
                  </a:solidFill>
                  <a:latin typeface="Lora"/>
                  <a:ea typeface="Lora"/>
                  <a:cs typeface="Lora"/>
                  <a:sym typeface="Lora"/>
                </a:rPr>
                <a:t>The interface is the README a person hands to their agent</a:t>
              </a:r>
              <a:endParaRPr b="0" sz="1250">
                <a:solidFill>
                  <a:srgbClr val="334155"/>
                </a:solidFill>
                <a:latin typeface="Lora"/>
                <a:ea typeface="Lora"/>
                <a:cs typeface="Lora"/>
                <a:sym typeface="Lora"/>
              </a:endParaRPr>
            </a:p>
          </p:txBody>
        </p:sp>
      </p:grpSp>
      <p:grpSp>
        <p:nvGrpSpPr>
          <p:cNvPr id="641" name="Google Shape;641;p37"/>
          <p:cNvGrpSpPr/>
          <p:nvPr/>
        </p:nvGrpSpPr>
        <p:grpSpPr>
          <a:xfrm>
            <a:off x="7985760" y="2047875"/>
            <a:ext cx="3381300" cy="2143200"/>
            <a:chOff x="0" y="0"/>
            <a:chExt cx="3381300" cy="2143200"/>
          </a:xfrm>
        </p:grpSpPr>
        <p:sp>
          <p:nvSpPr>
            <p:cNvPr id="642" name="Google Shape;642;p37"/>
            <p:cNvSpPr/>
            <p:nvPr/>
          </p:nvSpPr>
          <p:spPr>
            <a:xfrm>
              <a:off x="0" y="0"/>
              <a:ext cx="3381300" cy="2143200"/>
            </a:xfrm>
            <a:prstGeom prst="roundRect">
              <a:avLst>
                <a:gd fmla="val 3555"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43" name="Google Shape;643;p37"/>
            <p:cNvSpPr txBox="1"/>
            <p:nvPr/>
          </p:nvSpPr>
          <p:spPr>
            <a:xfrm>
              <a:off x="228600" y="228600"/>
              <a:ext cx="2924100" cy="1686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1600">
                  <a:solidFill>
                    <a:srgbClr val="0064FF"/>
                  </a:solidFill>
                  <a:latin typeface="Outfit"/>
                  <a:ea typeface="Outfit"/>
                  <a:cs typeface="Outfit"/>
                  <a:sym typeface="Outfit"/>
                </a:rPr>
                <a:t>Kit ↔ factory</a:t>
              </a:r>
              <a:endParaRPr b="0" sz="1600">
                <a:solidFill>
                  <a:srgbClr val="0064FF"/>
                </a:solidFill>
                <a:latin typeface="Outfit"/>
                <a:ea typeface="Outfit"/>
                <a:cs typeface="Outfit"/>
                <a:sym typeface="Outfit"/>
              </a:endParaRPr>
            </a:p>
            <a:p>
              <a:pPr indent="0" lvl="0" marL="0" rtl="0" algn="l">
                <a:spcBef>
                  <a:spcPts val="1200"/>
                </a:spcBef>
                <a:spcAft>
                  <a:spcPts val="0"/>
                </a:spcAft>
                <a:buNone/>
              </a:pPr>
              <a:r>
                <a:rPr b="0" lang="en-GB" sz="1250">
                  <a:solidFill>
                    <a:srgbClr val="334155"/>
                  </a:solidFill>
                  <a:latin typeface="Lora"/>
                  <a:ea typeface="Lora"/>
                  <a:cs typeface="Lora"/>
                  <a:sym typeface="Lora"/>
                </a:rPr>
                <a:t>One side declared; the log records whether that way in was enough</a:t>
              </a:r>
              <a:endParaRPr b="0" sz="1250">
                <a:solidFill>
                  <a:srgbClr val="334155"/>
                </a:solidFill>
                <a:latin typeface="Lora"/>
                <a:ea typeface="Lora"/>
                <a:cs typeface="Lora"/>
                <a:sym typeface="Lora"/>
              </a:endParaRPr>
            </a:p>
          </p:txBody>
        </p:sp>
      </p:grpSp>
      <p:sp>
        <p:nvSpPr>
          <p:cNvPr id="644" name="Google Shape;644;p37"/>
          <p:cNvSpPr txBox="1"/>
          <p:nvPr/>
        </p:nvSpPr>
        <p:spPr>
          <a:xfrm>
            <a:off x="822960" y="4381500"/>
            <a:ext cx="10546200" cy="2667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i="1" lang="en-GB" sz="1100">
                <a:solidFill>
                  <a:srgbClr val="64748B"/>
                </a:solidFill>
                <a:latin typeface="Lora"/>
                <a:ea typeface="Lora"/>
                <a:cs typeface="Lora"/>
                <a:sym typeface="Lora"/>
              </a:rPr>
              <a:t>Three configurations to try, not a taxonomy — your harness works out which one you are in and writes it down.</a:t>
            </a:r>
            <a:endParaRPr i="1" sz="1100">
              <a:solidFill>
                <a:srgbClr val="64748B"/>
              </a:solidFill>
              <a:latin typeface="Lora"/>
              <a:ea typeface="Lora"/>
              <a:cs typeface="Lora"/>
              <a:sym typeface="Lora"/>
            </a:endParaRPr>
          </a:p>
        </p:txBody>
      </p:sp>
      <p:grpSp>
        <p:nvGrpSpPr>
          <p:cNvPr id="645" name="Google Shape;645;p37"/>
          <p:cNvGrpSpPr/>
          <p:nvPr/>
        </p:nvGrpSpPr>
        <p:grpSpPr>
          <a:xfrm>
            <a:off x="822960" y="4781550"/>
            <a:ext cx="10546200" cy="1352700"/>
            <a:chOff x="0" y="0"/>
            <a:chExt cx="10546200" cy="1352700"/>
          </a:xfrm>
        </p:grpSpPr>
        <p:sp>
          <p:nvSpPr>
            <p:cNvPr id="646" name="Google Shape;646;p37"/>
            <p:cNvSpPr/>
            <p:nvPr/>
          </p:nvSpPr>
          <p:spPr>
            <a:xfrm>
              <a:off x="0" y="0"/>
              <a:ext cx="10546200" cy="1352700"/>
            </a:xfrm>
            <a:prstGeom prst="roundRect">
              <a:avLst>
                <a:gd fmla="val 5633" name="adj"/>
              </a:avLst>
            </a:prstGeom>
            <a:solidFill>
              <a:srgbClr val="E1F5EE"/>
            </a:solidFill>
            <a:ln cap="flat" cmpd="sng" w="9525">
              <a:solidFill>
                <a:srgbClr val="9FE0C8"/>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47" name="Google Shape;647;p37"/>
            <p:cNvSpPr txBox="1"/>
            <p:nvPr/>
          </p:nvSpPr>
          <p:spPr>
            <a:xfrm>
              <a:off x="304800" y="190500"/>
              <a:ext cx="9936600" cy="971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GB" sz="1200">
                  <a:solidFill>
                    <a:srgbClr val="085041"/>
                  </a:solidFill>
                  <a:latin typeface="Outfit"/>
                  <a:ea typeface="Outfit"/>
                  <a:cs typeface="Outfit"/>
                  <a:sym typeface="Outfit"/>
                </a:rPr>
                <a:t>§ BRIDGE</a:t>
              </a:r>
              <a:endParaRPr b="1" sz="1200">
                <a:solidFill>
                  <a:srgbClr val="085041"/>
                </a:solidFill>
                <a:latin typeface="Outfit"/>
                <a:ea typeface="Outfit"/>
                <a:cs typeface="Outfit"/>
                <a:sym typeface="Outfit"/>
              </a:endParaRPr>
            </a:p>
            <a:p>
              <a:pPr indent="0" lvl="0" marL="0" rtl="0" algn="l">
                <a:spcBef>
                  <a:spcPts val="600"/>
                </a:spcBef>
                <a:spcAft>
                  <a:spcPts val="0"/>
                </a:spcAft>
                <a:buNone/>
              </a:pPr>
              <a:r>
                <a:rPr b="0" lang="en-GB" sz="1300">
                  <a:solidFill>
                    <a:srgbClr val="085041"/>
                  </a:solidFill>
                  <a:latin typeface="Lora"/>
                  <a:ea typeface="Lora"/>
                  <a:cs typeface="Lora"/>
                  <a:sym typeface="Lora"/>
                </a:rPr>
                <a:t>One AI assistant using several kits or factories together and making that a reliable process; a kit between kits. What crosses is usually half-finished work.</a:t>
              </a:r>
              <a:endParaRPr b="0" sz="1300">
                <a:solidFill>
                  <a:srgbClr val="085041"/>
                </a:solidFill>
                <a:latin typeface="Lora"/>
                <a:ea typeface="Lora"/>
                <a:cs typeface="Lora"/>
                <a:sym typeface="Lora"/>
              </a:endParaRPr>
            </a:p>
          </p:txBody>
        </p:sp>
      </p:grpSp>
      <p:sp>
        <p:nvSpPr>
          <p:cNvPr id="648" name="Google Shape;648;p37"/>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649" name="Google Shape;649;p37"/>
          <p:cNvSpPr txBox="1"/>
          <p:nvPr>
            <p:ph idx="1" type="body"/>
          </p:nvPr>
        </p:nvSpPr>
        <p:spPr>
          <a:xfrm>
            <a:off x="822960" y="457200"/>
            <a:ext cx="9144000" cy="320100"/>
          </a:xfrm>
          <a:prstGeom prst="rect">
            <a:avLst/>
          </a:prstGeom>
          <a:noFill/>
          <a:ln>
            <a:noFill/>
          </a:ln>
        </p:spPr>
        <p:txBody>
          <a:bodyPr anchorCtr="0" anchor="t" bIns="0" lIns="0" spcFirstLastPara="1" rIns="0" wrap="square" tIns="0">
            <a:noAutofit/>
          </a:bodyPr>
          <a:lstStyle/>
          <a:p>
            <a:pPr indent="0" lvl="0" marL="0" rtl="0" algn="l">
              <a:lnSpc>
                <a:spcPct val="118000"/>
              </a:lnSpc>
              <a:spcBef>
                <a:spcPts val="0"/>
              </a:spcBef>
              <a:spcAft>
                <a:spcPts val="0"/>
              </a:spcAft>
              <a:buClr>
                <a:srgbClr val="0064FF"/>
              </a:buClr>
              <a:buSzPts val="1200"/>
              <a:buFont typeface="Outfit"/>
              <a:buNone/>
            </a:pPr>
            <a:r>
              <a:rPr lang="en-GB"/>
              <a:t>SESSION 3 · BRIDGES · CONCEPTS</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3" name="Shape 653"/>
        <p:cNvGrpSpPr/>
        <p:nvPr/>
      </p:nvGrpSpPr>
      <p:grpSpPr>
        <a:xfrm>
          <a:off x="0" y="0"/>
          <a:ext cx="0" cy="0"/>
          <a:chOff x="0" y="0"/>
          <a:chExt cx="0" cy="0"/>
        </a:xfrm>
      </p:grpSpPr>
      <p:sp>
        <p:nvSpPr>
          <p:cNvPr id="654" name="Google Shape;654;p38"/>
          <p:cNvSpPr/>
          <p:nvPr/>
        </p:nvSpPr>
        <p:spPr>
          <a:xfrm>
            <a:off x="822960" y="457200"/>
            <a:ext cx="9144000" cy="3201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655" name="Google Shape;655;p38"/>
          <p:cNvGrpSpPr/>
          <p:nvPr/>
        </p:nvGrpSpPr>
        <p:grpSpPr>
          <a:xfrm>
            <a:off x="822960" y="819150"/>
            <a:ext cx="10546200" cy="762000"/>
            <a:chOff x="0" y="0"/>
            <a:chExt cx="10546200" cy="762000"/>
          </a:xfrm>
        </p:grpSpPr>
        <p:sp>
          <p:nvSpPr>
            <p:cNvPr id="656" name="Google Shape;656;p38"/>
            <p:cNvSpPr/>
            <p:nvPr/>
          </p:nvSpPr>
          <p:spPr>
            <a:xfrm>
              <a:off x="0" y="0"/>
              <a:ext cx="10546200" cy="762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57" name="Google Shape;657;p38"/>
            <p:cNvSpPr txBox="1"/>
            <p:nvPr/>
          </p:nvSpPr>
          <p:spPr>
            <a:xfrm>
              <a:off x="0" y="0"/>
              <a:ext cx="10546200" cy="76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2590">
                  <a:solidFill>
                    <a:srgbClr val="2C2C2A"/>
                  </a:solidFill>
                  <a:latin typeface="Instrument Serif"/>
                  <a:ea typeface="Instrument Serif"/>
                  <a:cs typeface="Instrument Serif"/>
                  <a:sym typeface="Instrument Serif"/>
                </a:rPr>
                <a:t>Passing half-finished work between </a:t>
              </a:r>
              <a:r>
                <a:rPr lang="en-GB" sz="2590">
                  <a:solidFill>
                    <a:srgbClr val="2C2C2A"/>
                  </a:solidFill>
                  <a:latin typeface="Instrument Serif"/>
                  <a:ea typeface="Instrument Serif"/>
                  <a:cs typeface="Instrument Serif"/>
                  <a:sym typeface="Instrument Serif"/>
                </a:rPr>
                <a:t>can be more useful </a:t>
              </a:r>
              <a:r>
                <a:rPr b="0" lang="en-GB" sz="2590">
                  <a:solidFill>
                    <a:srgbClr val="2C2C2A"/>
                  </a:solidFill>
                  <a:latin typeface="Instrument Serif"/>
                  <a:ea typeface="Instrument Serif"/>
                  <a:cs typeface="Instrument Serif"/>
                  <a:sym typeface="Instrument Serif"/>
                </a:rPr>
                <a:t>than passing </a:t>
              </a:r>
              <a:r>
                <a:rPr lang="en-GB" sz="2590">
                  <a:solidFill>
                    <a:srgbClr val="2C2C2A"/>
                  </a:solidFill>
                  <a:latin typeface="Instrument Serif"/>
                  <a:ea typeface="Instrument Serif"/>
                  <a:cs typeface="Instrument Serif"/>
                  <a:sym typeface="Instrument Serif"/>
                </a:rPr>
                <a:t>finished </a:t>
              </a:r>
              <a:r>
                <a:rPr b="0" lang="en-GB" sz="2590">
                  <a:solidFill>
                    <a:srgbClr val="2C2C2A"/>
                  </a:solidFill>
                  <a:latin typeface="Instrument Serif"/>
                  <a:ea typeface="Instrument Serif"/>
                  <a:cs typeface="Instrument Serif"/>
                  <a:sym typeface="Instrument Serif"/>
                </a:rPr>
                <a:t>results.</a:t>
              </a:r>
              <a:endParaRPr b="0" sz="2590">
                <a:solidFill>
                  <a:srgbClr val="2C2C2A"/>
                </a:solidFill>
                <a:latin typeface="Instrument Serif"/>
                <a:ea typeface="Instrument Serif"/>
                <a:cs typeface="Instrument Serif"/>
                <a:sym typeface="Instrument Serif"/>
              </a:endParaRPr>
            </a:p>
          </p:txBody>
        </p:sp>
      </p:grpSp>
      <p:grpSp>
        <p:nvGrpSpPr>
          <p:cNvPr id="658" name="Google Shape;658;p38"/>
          <p:cNvGrpSpPr/>
          <p:nvPr/>
        </p:nvGrpSpPr>
        <p:grpSpPr>
          <a:xfrm>
            <a:off x="822960" y="1857375"/>
            <a:ext cx="3381300" cy="2381400"/>
            <a:chOff x="0" y="0"/>
            <a:chExt cx="3381300" cy="2381400"/>
          </a:xfrm>
        </p:grpSpPr>
        <p:sp>
          <p:nvSpPr>
            <p:cNvPr id="659" name="Google Shape;659;p38"/>
            <p:cNvSpPr/>
            <p:nvPr/>
          </p:nvSpPr>
          <p:spPr>
            <a:xfrm>
              <a:off x="0" y="0"/>
              <a:ext cx="3381300" cy="2381400"/>
            </a:xfrm>
            <a:prstGeom prst="roundRect">
              <a:avLst>
                <a:gd fmla="val 320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60" name="Google Shape;660;p38"/>
            <p:cNvSpPr txBox="1"/>
            <p:nvPr/>
          </p:nvSpPr>
          <p:spPr>
            <a:xfrm>
              <a:off x="228600" y="228600"/>
              <a:ext cx="2924100" cy="1924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1500">
                  <a:solidFill>
                    <a:srgbClr val="0064FF"/>
                  </a:solidFill>
                  <a:latin typeface="Outfit SemiBold"/>
                  <a:ea typeface="Outfit SemiBold"/>
                  <a:cs typeface="Outfit SemiBold"/>
                  <a:sym typeface="Outfit SemiBold"/>
                </a:rPr>
                <a:t>The problem</a:t>
              </a:r>
              <a:endParaRPr b="0" sz="1500">
                <a:solidFill>
                  <a:srgbClr val="0064FF"/>
                </a:solidFill>
                <a:latin typeface="Outfit SemiBold"/>
                <a:ea typeface="Outfit SemiBold"/>
                <a:cs typeface="Outfit SemiBold"/>
                <a:sym typeface="Outfit SemiBold"/>
              </a:endParaRPr>
            </a:p>
            <a:p>
              <a:pPr indent="0" lvl="0" marL="0" rtl="0" algn="l">
                <a:spcBef>
                  <a:spcPts val="1000"/>
                </a:spcBef>
                <a:spcAft>
                  <a:spcPts val="0"/>
                </a:spcAft>
                <a:buNone/>
              </a:pPr>
              <a:r>
                <a:rPr b="0" lang="en-GB" sz="1200">
                  <a:solidFill>
                    <a:srgbClr val="334155"/>
                  </a:solidFill>
                  <a:latin typeface="Lora"/>
                  <a:ea typeface="Lora"/>
                  <a:cs typeface="Lora"/>
                  <a:sym typeface="Lora"/>
                </a:rPr>
                <a:t>Bespoke use makes tooling private; precommodification means we all reach the same ideas; farmsteading keeps each practice closed.</a:t>
              </a:r>
              <a:endParaRPr b="0" sz="1200">
                <a:solidFill>
                  <a:srgbClr val="334155"/>
                </a:solidFill>
                <a:latin typeface="Lora"/>
                <a:ea typeface="Lora"/>
                <a:cs typeface="Lora"/>
                <a:sym typeface="Lora"/>
              </a:endParaRPr>
            </a:p>
          </p:txBody>
        </p:sp>
      </p:grpSp>
      <p:grpSp>
        <p:nvGrpSpPr>
          <p:cNvPr id="661" name="Google Shape;661;p38"/>
          <p:cNvGrpSpPr/>
          <p:nvPr/>
        </p:nvGrpSpPr>
        <p:grpSpPr>
          <a:xfrm>
            <a:off x="4404360" y="1857375"/>
            <a:ext cx="3381300" cy="2381400"/>
            <a:chOff x="0" y="0"/>
            <a:chExt cx="3381300" cy="2381400"/>
          </a:xfrm>
        </p:grpSpPr>
        <p:sp>
          <p:nvSpPr>
            <p:cNvPr id="662" name="Google Shape;662;p38"/>
            <p:cNvSpPr/>
            <p:nvPr/>
          </p:nvSpPr>
          <p:spPr>
            <a:xfrm>
              <a:off x="0" y="0"/>
              <a:ext cx="3381300" cy="2381400"/>
            </a:xfrm>
            <a:prstGeom prst="roundRect">
              <a:avLst>
                <a:gd fmla="val 320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63" name="Google Shape;663;p38"/>
            <p:cNvSpPr txBox="1"/>
            <p:nvPr/>
          </p:nvSpPr>
          <p:spPr>
            <a:xfrm>
              <a:off x="228600" y="228600"/>
              <a:ext cx="2924100" cy="1924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1500">
                  <a:solidFill>
                    <a:srgbClr val="0064FF"/>
                  </a:solidFill>
                  <a:latin typeface="Outfit SemiBold"/>
                  <a:ea typeface="Outfit SemiBold"/>
                  <a:cs typeface="Outfit SemiBold"/>
                  <a:sym typeface="Outfit SemiBold"/>
                </a:rPr>
                <a:t>So sharing runs on</a:t>
              </a:r>
              <a:endParaRPr b="0" sz="1500">
                <a:solidFill>
                  <a:srgbClr val="0064FF"/>
                </a:solidFill>
                <a:latin typeface="Outfit SemiBold"/>
                <a:ea typeface="Outfit SemiBold"/>
                <a:cs typeface="Outfit SemiBold"/>
                <a:sym typeface="Outfit SemiBold"/>
              </a:endParaRPr>
            </a:p>
            <a:p>
              <a:pPr indent="0" lvl="0" marL="0" rtl="0" algn="l">
                <a:spcBef>
                  <a:spcPts val="800"/>
                </a:spcBef>
                <a:spcAft>
                  <a:spcPts val="0"/>
                </a:spcAft>
                <a:buNone/>
              </a:pPr>
              <a:r>
                <a:rPr b="0" lang="en-GB" sz="1150">
                  <a:solidFill>
                    <a:srgbClr val="334155"/>
                  </a:solidFill>
                  <a:latin typeface="Lora"/>
                  <a:ea typeface="Lora"/>
                  <a:cs typeface="Lora"/>
                  <a:sym typeface="Lora"/>
                </a:rPr>
                <a:t>Public records and interfaces — not on everybody adopting the same app.</a:t>
              </a:r>
              <a:endParaRPr b="0" sz="1150">
                <a:solidFill>
                  <a:srgbClr val="334155"/>
                </a:solidFill>
                <a:latin typeface="Lora"/>
                <a:ea typeface="Lora"/>
                <a:cs typeface="Lora"/>
                <a:sym typeface="Lora"/>
              </a:endParaRPr>
            </a:p>
            <a:p>
              <a:pPr indent="0" lvl="0" marL="0" rtl="0" algn="l">
                <a:spcBef>
                  <a:spcPts val="1000"/>
                </a:spcBef>
                <a:spcAft>
                  <a:spcPts val="0"/>
                </a:spcAft>
                <a:buNone/>
              </a:pPr>
              <a:r>
                <a:rPr b="0" i="1" lang="en-GB" sz="1050">
                  <a:solidFill>
                    <a:srgbClr val="64748B"/>
                  </a:solidFill>
                  <a:latin typeface="Lora"/>
                  <a:ea typeface="Lora"/>
                  <a:cs typeface="Lora"/>
                  <a:sym typeface="Lora"/>
                </a:rPr>
                <a:t>Unix made this its whole design: expect the output of every program to become the input to another, as yet unknown, program.</a:t>
              </a:r>
              <a:endParaRPr b="0" i="1" sz="1050">
                <a:solidFill>
                  <a:srgbClr val="64748B"/>
                </a:solidFill>
                <a:latin typeface="Lora"/>
                <a:ea typeface="Lora"/>
                <a:cs typeface="Lora"/>
                <a:sym typeface="Lora"/>
              </a:endParaRPr>
            </a:p>
          </p:txBody>
        </p:sp>
      </p:grpSp>
      <p:grpSp>
        <p:nvGrpSpPr>
          <p:cNvPr id="664" name="Google Shape;664;p38"/>
          <p:cNvGrpSpPr/>
          <p:nvPr/>
        </p:nvGrpSpPr>
        <p:grpSpPr>
          <a:xfrm>
            <a:off x="7985760" y="1857375"/>
            <a:ext cx="3381300" cy="2381400"/>
            <a:chOff x="0" y="0"/>
            <a:chExt cx="3381300" cy="2381400"/>
          </a:xfrm>
        </p:grpSpPr>
        <p:sp>
          <p:nvSpPr>
            <p:cNvPr id="665" name="Google Shape;665;p38"/>
            <p:cNvSpPr/>
            <p:nvPr/>
          </p:nvSpPr>
          <p:spPr>
            <a:xfrm>
              <a:off x="0" y="0"/>
              <a:ext cx="3381300" cy="2381400"/>
            </a:xfrm>
            <a:prstGeom prst="roundRect">
              <a:avLst>
                <a:gd fmla="val 320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66" name="Google Shape;666;p38"/>
            <p:cNvSpPr txBox="1"/>
            <p:nvPr/>
          </p:nvSpPr>
          <p:spPr>
            <a:xfrm>
              <a:off x="228600" y="228600"/>
              <a:ext cx="2924100" cy="1924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1500">
                  <a:solidFill>
                    <a:srgbClr val="0064FF"/>
                  </a:solidFill>
                  <a:latin typeface="Outfit SemiBold"/>
                  <a:ea typeface="Outfit SemiBold"/>
                  <a:cs typeface="Outfit SemiBold"/>
                  <a:sym typeface="Outfit SemiBold"/>
                </a:rPr>
                <a:t>Rao’s “invisible 90%”</a:t>
              </a:r>
              <a:endParaRPr b="0" sz="1500">
                <a:solidFill>
                  <a:srgbClr val="0064FF"/>
                </a:solidFill>
                <a:latin typeface="Outfit SemiBold"/>
                <a:ea typeface="Outfit SemiBold"/>
                <a:cs typeface="Outfit SemiBold"/>
                <a:sym typeface="Outfit SemiBold"/>
              </a:endParaRPr>
            </a:p>
            <a:p>
              <a:pPr indent="0" lvl="0" marL="0" rtl="0" algn="l">
                <a:spcBef>
                  <a:spcPts val="1000"/>
                </a:spcBef>
                <a:spcAft>
                  <a:spcPts val="0"/>
                </a:spcAft>
                <a:buNone/>
              </a:pPr>
              <a:r>
                <a:rPr b="0" lang="en-GB" sz="1200">
                  <a:solidFill>
                    <a:srgbClr val="334155"/>
                  </a:solidFill>
                  <a:latin typeface="Lora"/>
                  <a:ea typeface="Lora"/>
                  <a:cs typeface="Lora"/>
                  <a:sym typeface="Lora"/>
                </a:rPr>
                <a:t>High-trust links passing intermediates between bespoke setups. Skills are more </a:t>
              </a:r>
              <a:r>
                <a:rPr lang="en-GB" sz="1200">
                  <a:solidFill>
                    <a:srgbClr val="334155"/>
                  </a:solidFill>
                  <a:latin typeface="Lora"/>
                  <a:ea typeface="Lora"/>
                  <a:cs typeface="Lora"/>
                  <a:sym typeface="Lora"/>
                </a:rPr>
                <a:t>standard</a:t>
              </a:r>
              <a:r>
                <a:rPr b="0" lang="en-GB" sz="1200">
                  <a:solidFill>
                    <a:srgbClr val="334155"/>
                  </a:solidFill>
                  <a:latin typeface="Lora"/>
                  <a:ea typeface="Lora"/>
                  <a:cs typeface="Lora"/>
                  <a:sym typeface="Lora"/>
                </a:rPr>
                <a:t> intermediates</a:t>
              </a:r>
              <a:r>
                <a:rPr lang="en-GB" sz="1200">
                  <a:solidFill>
                    <a:srgbClr val="334155"/>
                  </a:solidFill>
                  <a:latin typeface="Lora"/>
                  <a:ea typeface="Lora"/>
                  <a:cs typeface="Lora"/>
                  <a:sym typeface="Lora"/>
                </a:rPr>
                <a:t>.</a:t>
              </a:r>
              <a:endParaRPr b="0" sz="1200">
                <a:solidFill>
                  <a:srgbClr val="334155"/>
                </a:solidFill>
                <a:latin typeface="Lora"/>
                <a:ea typeface="Lora"/>
                <a:cs typeface="Lora"/>
                <a:sym typeface="Lora"/>
              </a:endParaRPr>
            </a:p>
          </p:txBody>
        </p:sp>
      </p:grpSp>
      <p:grpSp>
        <p:nvGrpSpPr>
          <p:cNvPr id="667" name="Google Shape;667;p38"/>
          <p:cNvGrpSpPr/>
          <p:nvPr/>
        </p:nvGrpSpPr>
        <p:grpSpPr>
          <a:xfrm>
            <a:off x="822960" y="4524375"/>
            <a:ext cx="10546200" cy="1428900"/>
            <a:chOff x="0" y="0"/>
            <a:chExt cx="10546200" cy="1428900"/>
          </a:xfrm>
        </p:grpSpPr>
        <p:sp>
          <p:nvSpPr>
            <p:cNvPr id="668" name="Google Shape;668;p38"/>
            <p:cNvSpPr/>
            <p:nvPr/>
          </p:nvSpPr>
          <p:spPr>
            <a:xfrm>
              <a:off x="0" y="0"/>
              <a:ext cx="10546200" cy="1428900"/>
            </a:xfrm>
            <a:prstGeom prst="roundRect">
              <a:avLst>
                <a:gd fmla="val 5333" name="adj"/>
              </a:avLst>
            </a:prstGeom>
            <a:solidFill>
              <a:srgbClr val="E1F5EE"/>
            </a:solidFill>
            <a:ln cap="flat" cmpd="sng" w="9525">
              <a:solidFill>
                <a:srgbClr val="9FE0C8"/>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69" name="Google Shape;669;p38"/>
            <p:cNvSpPr txBox="1"/>
            <p:nvPr/>
          </p:nvSpPr>
          <p:spPr>
            <a:xfrm>
              <a:off x="304800" y="209550"/>
              <a:ext cx="9936600" cy="1009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GB" sz="1200">
                  <a:solidFill>
                    <a:srgbClr val="085041"/>
                  </a:solidFill>
                  <a:latin typeface="Outfit"/>
                  <a:ea typeface="Outfit"/>
                  <a:cs typeface="Outfit"/>
                  <a:sym typeface="Outfit"/>
                </a:rPr>
                <a:t>§ INTERMEDIATE</a:t>
              </a:r>
              <a:endParaRPr b="1" sz="1200">
                <a:solidFill>
                  <a:srgbClr val="085041"/>
                </a:solidFill>
                <a:latin typeface="Outfit"/>
                <a:ea typeface="Outfit"/>
                <a:cs typeface="Outfit"/>
                <a:sym typeface="Outfit"/>
              </a:endParaRPr>
            </a:p>
            <a:p>
              <a:pPr indent="0" lvl="0" marL="0" rtl="0" algn="l">
                <a:spcBef>
                  <a:spcPts val="600"/>
                </a:spcBef>
                <a:spcAft>
                  <a:spcPts val="0"/>
                </a:spcAft>
                <a:buNone/>
              </a:pPr>
              <a:r>
                <a:rPr b="0" lang="en-GB" sz="1300">
                  <a:solidFill>
                    <a:srgbClr val="085041"/>
                  </a:solidFill>
                  <a:latin typeface="Lora"/>
                  <a:ea typeface="Lora"/>
                  <a:cs typeface="Lora"/>
                  <a:sym typeface="Lora"/>
                </a:rPr>
                <a:t>The half-finished thing one kit hands to the next: a draft, a set of rows, a file with notes attached, rather than a finished product.</a:t>
              </a:r>
              <a:endParaRPr b="0" sz="1300">
                <a:solidFill>
                  <a:srgbClr val="085041"/>
                </a:solidFill>
                <a:latin typeface="Lora"/>
                <a:ea typeface="Lora"/>
                <a:cs typeface="Lora"/>
                <a:sym typeface="Lora"/>
              </a:endParaRPr>
            </a:p>
          </p:txBody>
        </p:sp>
      </p:grpSp>
      <p:sp>
        <p:nvSpPr>
          <p:cNvPr id="670" name="Google Shape;670;p38"/>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671" name="Google Shape;671;p38"/>
          <p:cNvSpPr txBox="1"/>
          <p:nvPr>
            <p:ph idx="1" type="body"/>
          </p:nvPr>
        </p:nvSpPr>
        <p:spPr>
          <a:xfrm>
            <a:off x="822960" y="457200"/>
            <a:ext cx="9144000" cy="320100"/>
          </a:xfrm>
          <a:prstGeom prst="rect">
            <a:avLst/>
          </a:prstGeom>
          <a:noFill/>
          <a:ln>
            <a:noFill/>
          </a:ln>
        </p:spPr>
        <p:txBody>
          <a:bodyPr anchorCtr="0" anchor="t" bIns="0" lIns="0" spcFirstLastPara="1" rIns="0" wrap="square" tIns="0">
            <a:noAutofit/>
          </a:bodyPr>
          <a:lstStyle/>
          <a:p>
            <a:pPr indent="0" lvl="0" marL="0" rtl="0" algn="l">
              <a:lnSpc>
                <a:spcPct val="118000"/>
              </a:lnSpc>
              <a:spcBef>
                <a:spcPts val="0"/>
              </a:spcBef>
              <a:spcAft>
                <a:spcPts val="0"/>
              </a:spcAft>
              <a:buClr>
                <a:srgbClr val="0064FF"/>
              </a:buClr>
              <a:buSzPts val="1200"/>
              <a:buFont typeface="Outfit"/>
              <a:buNone/>
            </a:pPr>
            <a:r>
              <a:rPr lang="en-GB"/>
              <a:t>SESSION 3 · BRIDGES · CONCEPTS</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5" name="Shape 675"/>
        <p:cNvGrpSpPr/>
        <p:nvPr/>
      </p:nvGrpSpPr>
      <p:grpSpPr>
        <a:xfrm>
          <a:off x="0" y="0"/>
          <a:ext cx="0" cy="0"/>
          <a:chOff x="0" y="0"/>
          <a:chExt cx="0" cy="0"/>
        </a:xfrm>
      </p:grpSpPr>
      <p:sp>
        <p:nvSpPr>
          <p:cNvPr id="676" name="Google Shape;676;p39"/>
          <p:cNvSpPr txBox="1"/>
          <p:nvPr>
            <p:ph idx="1" type="body"/>
          </p:nvPr>
        </p:nvSpPr>
        <p:spPr>
          <a:xfrm>
            <a:off x="822960" y="457200"/>
            <a:ext cx="9144000" cy="320100"/>
          </a:xfrm>
          <a:prstGeom prst="rect">
            <a:avLst/>
          </a:prstGeom>
          <a:noFill/>
          <a:ln>
            <a:noFill/>
          </a:ln>
        </p:spPr>
        <p:txBody>
          <a:bodyPr anchorCtr="0" anchor="t" bIns="0" lIns="0" spcFirstLastPara="1" rIns="0" wrap="square" tIns="0">
            <a:noAutofit/>
          </a:bodyPr>
          <a:lstStyle/>
          <a:p>
            <a:pPr indent="0" lvl="0" marL="0" rtl="0" algn="l">
              <a:lnSpc>
                <a:spcPct val="118000"/>
              </a:lnSpc>
              <a:spcBef>
                <a:spcPts val="0"/>
              </a:spcBef>
              <a:spcAft>
                <a:spcPts val="0"/>
              </a:spcAft>
              <a:buClr>
                <a:srgbClr val="0064FF"/>
              </a:buClr>
              <a:buSzPts val="1200"/>
              <a:buFont typeface="Outfit"/>
              <a:buNone/>
            </a:pPr>
            <a:r>
              <a:rPr lang="en-GB"/>
              <a:t>SESSION 3 · BRIDGES · EXAMPLE</a:t>
            </a:r>
            <a:endParaRPr/>
          </a:p>
        </p:txBody>
      </p:sp>
      <p:sp>
        <p:nvSpPr>
          <p:cNvPr id="677" name="Google Shape;677;p39"/>
          <p:cNvSpPr txBox="1"/>
          <p:nvPr>
            <p:ph type="title"/>
          </p:nvPr>
        </p:nvSpPr>
        <p:spPr>
          <a:xfrm>
            <a:off x="822960" y="819150"/>
            <a:ext cx="10546200" cy="762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i="0" lang="en-GB" sz="2600">
                <a:solidFill>
                  <a:srgbClr val="2C2C2A"/>
                </a:solidFill>
                <a:latin typeface="Instrument Serif"/>
                <a:ea typeface="Instrument Serif"/>
                <a:cs typeface="Instrument Serif"/>
                <a:sym typeface="Instrument Serif"/>
              </a:rPr>
              <a:t>Rao and Dixon linked their setups by passing drafts, not finished books.</a:t>
            </a:r>
            <a:endParaRPr b="0" i="0" sz="2600">
              <a:solidFill>
                <a:srgbClr val="2C2C2A"/>
              </a:solidFill>
              <a:latin typeface="Instrument Serif"/>
              <a:ea typeface="Instrument Serif"/>
              <a:cs typeface="Instrument Serif"/>
              <a:sym typeface="Instrument Serif"/>
            </a:endParaRPr>
          </a:p>
        </p:txBody>
      </p:sp>
      <p:grpSp>
        <p:nvGrpSpPr>
          <p:cNvPr id="678" name="Google Shape;678;p39"/>
          <p:cNvGrpSpPr/>
          <p:nvPr/>
        </p:nvGrpSpPr>
        <p:grpSpPr>
          <a:xfrm>
            <a:off x="822960" y="1857375"/>
            <a:ext cx="3381300" cy="2190900"/>
            <a:chOff x="0" y="0"/>
            <a:chExt cx="3381300" cy="2190900"/>
          </a:xfrm>
        </p:grpSpPr>
        <p:sp>
          <p:nvSpPr>
            <p:cNvPr id="679" name="Google Shape;679;p39"/>
            <p:cNvSpPr/>
            <p:nvPr/>
          </p:nvSpPr>
          <p:spPr>
            <a:xfrm>
              <a:off x="0" y="0"/>
              <a:ext cx="3381300" cy="2190900"/>
            </a:xfrm>
            <a:prstGeom prst="roundRect">
              <a:avLst>
                <a:gd fmla="val 3478"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80" name="Google Shape;680;p39"/>
            <p:cNvSpPr txBox="1"/>
            <p:nvPr/>
          </p:nvSpPr>
          <p:spPr>
            <a:xfrm>
              <a:off x="228600" y="228600"/>
              <a:ext cx="2924100" cy="17337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n-GB" sz="1500">
                  <a:solidFill>
                    <a:srgbClr val="0064FF"/>
                  </a:solidFill>
                  <a:latin typeface="Outfit SemiBold"/>
                  <a:ea typeface="Outfit SemiBold"/>
                  <a:cs typeface="Outfit SemiBold"/>
                  <a:sym typeface="Outfit SemiBold"/>
                </a:rPr>
                <a:t>Upstream</a:t>
              </a:r>
              <a:endParaRPr b="0" sz="1500">
                <a:solidFill>
                  <a:srgbClr val="0064FF"/>
                </a:solidFill>
                <a:latin typeface="Outfit SemiBold"/>
                <a:ea typeface="Outfit SemiBold"/>
                <a:cs typeface="Outfit SemiBold"/>
                <a:sym typeface="Outfit SemiBold"/>
              </a:endParaRPr>
            </a:p>
            <a:p>
              <a:pPr indent="0" lvl="0" marL="0" rtl="0" algn="l">
                <a:spcBef>
                  <a:spcPts val="800"/>
                </a:spcBef>
                <a:spcAft>
                  <a:spcPts val="0"/>
                </a:spcAft>
                <a:buNone/>
              </a:pPr>
              <a:r>
                <a:rPr b="0" lang="en-GB" sz="1300">
                  <a:solidFill>
                    <a:srgbClr val="2C2C2A"/>
                  </a:solidFill>
                  <a:latin typeface="Outfit Medium"/>
                  <a:ea typeface="Outfit Medium"/>
                  <a:cs typeface="Outfit Medium"/>
                  <a:sym typeface="Outfit Medium"/>
                </a:rPr>
                <a:t>Rao's manuscript factory</a:t>
              </a:r>
              <a:endParaRPr b="0" sz="1300">
                <a:solidFill>
                  <a:srgbClr val="2C2C2A"/>
                </a:solidFill>
                <a:latin typeface="Outfit Medium"/>
                <a:ea typeface="Outfit Medium"/>
                <a:cs typeface="Outfit Medium"/>
                <a:sym typeface="Outfit Medium"/>
              </a:endParaRPr>
            </a:p>
            <a:p>
              <a:pPr indent="0" lvl="0" marL="0" rtl="0" algn="l">
                <a:spcBef>
                  <a:spcPts val="800"/>
                </a:spcBef>
                <a:spcAft>
                  <a:spcPts val="0"/>
                </a:spcAft>
                <a:buNone/>
              </a:pPr>
              <a:r>
                <a:rPr b="0" lang="en-GB" sz="1200">
                  <a:solidFill>
                    <a:srgbClr val="475569"/>
                  </a:solidFill>
                  <a:latin typeface="Lora"/>
                  <a:ea typeface="Lora"/>
                  <a:cs typeface="Lora"/>
                  <a:sym typeface="Lora"/>
                </a:rPr>
                <a:t>Never made a book.</a:t>
              </a:r>
              <a:endParaRPr b="0" sz="1200">
                <a:solidFill>
                  <a:srgbClr val="475569"/>
                </a:solidFill>
                <a:latin typeface="Lora"/>
                <a:ea typeface="Lora"/>
                <a:cs typeface="Lora"/>
                <a:sym typeface="Lora"/>
              </a:endParaRPr>
            </a:p>
          </p:txBody>
        </p:sp>
      </p:grpSp>
      <p:grpSp>
        <p:nvGrpSpPr>
          <p:cNvPr id="681" name="Google Shape;681;p39"/>
          <p:cNvGrpSpPr/>
          <p:nvPr/>
        </p:nvGrpSpPr>
        <p:grpSpPr>
          <a:xfrm>
            <a:off x="4404360" y="1857375"/>
            <a:ext cx="3381300" cy="2190900"/>
            <a:chOff x="0" y="0"/>
            <a:chExt cx="3381300" cy="2190900"/>
          </a:xfrm>
        </p:grpSpPr>
        <p:sp>
          <p:nvSpPr>
            <p:cNvPr id="682" name="Google Shape;682;p39"/>
            <p:cNvSpPr/>
            <p:nvPr/>
          </p:nvSpPr>
          <p:spPr>
            <a:xfrm>
              <a:off x="0" y="0"/>
              <a:ext cx="3381300" cy="2190900"/>
            </a:xfrm>
            <a:prstGeom prst="roundRect">
              <a:avLst>
                <a:gd fmla="val 3478"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83" name="Google Shape;683;p39"/>
            <p:cNvSpPr txBox="1"/>
            <p:nvPr/>
          </p:nvSpPr>
          <p:spPr>
            <a:xfrm>
              <a:off x="228600" y="228600"/>
              <a:ext cx="2924100" cy="17337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n-GB" sz="1500">
                  <a:solidFill>
                    <a:srgbClr val="0064FF"/>
                  </a:solidFill>
                  <a:latin typeface="Outfit SemiBold"/>
                  <a:ea typeface="Outfit SemiBold"/>
                  <a:cs typeface="Outfit SemiBold"/>
                  <a:sym typeface="Outfit SemiBold"/>
                </a:rPr>
                <a:t>What moved · the interface</a:t>
              </a:r>
              <a:endParaRPr b="0" sz="1500">
                <a:solidFill>
                  <a:srgbClr val="0064FF"/>
                </a:solidFill>
                <a:latin typeface="Outfit SemiBold"/>
                <a:ea typeface="Outfit SemiBold"/>
                <a:cs typeface="Outfit SemiBold"/>
                <a:sym typeface="Outfit SemiBold"/>
              </a:endParaRPr>
            </a:p>
            <a:p>
              <a:pPr indent="0" lvl="0" marL="0" rtl="0" algn="l">
                <a:spcBef>
                  <a:spcPts val="800"/>
                </a:spcBef>
                <a:spcAft>
                  <a:spcPts val="0"/>
                </a:spcAft>
                <a:buNone/>
              </a:pPr>
              <a:r>
                <a:rPr b="0" lang="en-GB" sz="1300">
                  <a:solidFill>
                    <a:srgbClr val="2C2C2A"/>
                  </a:solidFill>
                  <a:latin typeface="Outfit Medium"/>
                  <a:ea typeface="Outfit Medium"/>
                  <a:cs typeface="Outfit Medium"/>
                  <a:sym typeface="Outfit Medium"/>
                </a:rPr>
                <a:t>Drafts + metadata</a:t>
              </a:r>
              <a:endParaRPr b="0" sz="1300">
                <a:solidFill>
                  <a:srgbClr val="2C2C2A"/>
                </a:solidFill>
                <a:latin typeface="Outfit Medium"/>
                <a:ea typeface="Outfit Medium"/>
                <a:cs typeface="Outfit Medium"/>
                <a:sym typeface="Outfit Medium"/>
              </a:endParaRPr>
            </a:p>
            <a:p>
              <a:pPr indent="0" lvl="0" marL="0" rtl="0" algn="l">
                <a:spcBef>
                  <a:spcPts val="800"/>
                </a:spcBef>
                <a:spcAft>
                  <a:spcPts val="0"/>
                </a:spcAft>
                <a:buNone/>
              </a:pPr>
              <a:r>
                <a:rPr b="0" lang="en-GB" sz="1200">
                  <a:solidFill>
                    <a:srgbClr val="475569"/>
                  </a:solidFill>
                  <a:latin typeface="Lora"/>
                  <a:ea typeface="Lora"/>
                  <a:cs typeface="Lora"/>
                  <a:sym typeface="Lora"/>
                </a:rPr>
                <a:t>A shared folder and a metadata server. Intermediates, not the finished thing.</a:t>
              </a:r>
              <a:endParaRPr b="0" sz="1200">
                <a:solidFill>
                  <a:srgbClr val="475569"/>
                </a:solidFill>
                <a:latin typeface="Lora"/>
                <a:ea typeface="Lora"/>
                <a:cs typeface="Lora"/>
                <a:sym typeface="Lora"/>
              </a:endParaRPr>
            </a:p>
          </p:txBody>
        </p:sp>
      </p:grpSp>
      <p:grpSp>
        <p:nvGrpSpPr>
          <p:cNvPr id="684" name="Google Shape;684;p39"/>
          <p:cNvGrpSpPr/>
          <p:nvPr/>
        </p:nvGrpSpPr>
        <p:grpSpPr>
          <a:xfrm>
            <a:off x="7985760" y="1857375"/>
            <a:ext cx="3381300" cy="2190900"/>
            <a:chOff x="0" y="0"/>
            <a:chExt cx="3381300" cy="2190900"/>
          </a:xfrm>
        </p:grpSpPr>
        <p:sp>
          <p:nvSpPr>
            <p:cNvPr id="685" name="Google Shape;685;p39"/>
            <p:cNvSpPr/>
            <p:nvPr/>
          </p:nvSpPr>
          <p:spPr>
            <a:xfrm>
              <a:off x="0" y="0"/>
              <a:ext cx="3381300" cy="2190900"/>
            </a:xfrm>
            <a:prstGeom prst="roundRect">
              <a:avLst>
                <a:gd fmla="val 3478"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86" name="Google Shape;686;p39"/>
            <p:cNvSpPr txBox="1"/>
            <p:nvPr/>
          </p:nvSpPr>
          <p:spPr>
            <a:xfrm>
              <a:off x="228600" y="228600"/>
              <a:ext cx="2924100" cy="17337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n-GB" sz="1500">
                  <a:solidFill>
                    <a:srgbClr val="0064FF"/>
                  </a:solidFill>
                  <a:latin typeface="Outfit SemiBold"/>
                  <a:ea typeface="Outfit SemiBold"/>
                  <a:cs typeface="Outfit SemiBold"/>
                  <a:sym typeface="Outfit SemiBold"/>
                </a:rPr>
                <a:t>Downstream</a:t>
              </a:r>
              <a:endParaRPr b="0" sz="1500">
                <a:solidFill>
                  <a:srgbClr val="0064FF"/>
                </a:solidFill>
                <a:latin typeface="Outfit SemiBold"/>
                <a:ea typeface="Outfit SemiBold"/>
                <a:cs typeface="Outfit SemiBold"/>
                <a:sym typeface="Outfit SemiBold"/>
              </a:endParaRPr>
            </a:p>
            <a:p>
              <a:pPr indent="0" lvl="0" marL="0" rtl="0" algn="l">
                <a:spcBef>
                  <a:spcPts val="800"/>
                </a:spcBef>
                <a:spcAft>
                  <a:spcPts val="0"/>
                </a:spcAft>
                <a:buNone/>
              </a:pPr>
              <a:r>
                <a:rPr b="0" lang="en-GB" sz="1300">
                  <a:solidFill>
                    <a:srgbClr val="2C2C2A"/>
                  </a:solidFill>
                  <a:latin typeface="Outfit Medium"/>
                  <a:ea typeface="Outfit Medium"/>
                  <a:cs typeface="Outfit Medium"/>
                  <a:sym typeface="Outfit Medium"/>
                </a:rPr>
                <a:t>Dixon's production factory</a:t>
              </a:r>
              <a:endParaRPr b="0" sz="1300">
                <a:solidFill>
                  <a:srgbClr val="2C2C2A"/>
                </a:solidFill>
                <a:latin typeface="Outfit Medium"/>
                <a:ea typeface="Outfit Medium"/>
                <a:cs typeface="Outfit Medium"/>
                <a:sym typeface="Outfit Medium"/>
              </a:endParaRPr>
            </a:p>
            <a:p>
              <a:pPr indent="0" lvl="0" marL="0" rtl="0" algn="l">
                <a:spcBef>
                  <a:spcPts val="800"/>
                </a:spcBef>
                <a:spcAft>
                  <a:spcPts val="0"/>
                </a:spcAft>
                <a:buNone/>
              </a:pPr>
              <a:r>
                <a:rPr b="0" lang="en-GB" sz="1200">
                  <a:solidFill>
                    <a:srgbClr val="475569"/>
                  </a:solidFill>
                  <a:latin typeface="Lora"/>
                  <a:ea typeface="Lora"/>
                  <a:cs typeface="Lora"/>
                  <a:sym typeface="Lora"/>
                </a:rPr>
                <a:t>Picked them up with no explaining.</a:t>
              </a:r>
              <a:endParaRPr b="0" sz="1200">
                <a:solidFill>
                  <a:srgbClr val="475569"/>
                </a:solidFill>
                <a:latin typeface="Lora"/>
                <a:ea typeface="Lora"/>
                <a:cs typeface="Lora"/>
                <a:sym typeface="Lora"/>
              </a:endParaRPr>
            </a:p>
          </p:txBody>
        </p:sp>
      </p:grpSp>
      <p:sp>
        <p:nvSpPr>
          <p:cNvPr id="687" name="Google Shape;687;p39"/>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1" name="Shape 691"/>
        <p:cNvGrpSpPr/>
        <p:nvPr/>
      </p:nvGrpSpPr>
      <p:grpSpPr>
        <a:xfrm>
          <a:off x="0" y="0"/>
          <a:ext cx="0" cy="0"/>
          <a:chOff x="0" y="0"/>
          <a:chExt cx="0" cy="0"/>
        </a:xfrm>
      </p:grpSpPr>
      <p:sp>
        <p:nvSpPr>
          <p:cNvPr id="692" name="Google Shape;692;p40"/>
          <p:cNvSpPr txBox="1"/>
          <p:nvPr>
            <p:ph idx="1" type="body"/>
          </p:nvPr>
        </p:nvSpPr>
        <p:spPr>
          <a:xfrm>
            <a:off x="822960" y="457200"/>
            <a:ext cx="9144000" cy="3201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700"/>
              </a:spcBef>
              <a:spcAft>
                <a:spcPts val="0"/>
              </a:spcAft>
              <a:buNone/>
            </a:pPr>
            <a:r>
              <a:rPr b="0" i="0" lang="en-GB" sz="1200">
                <a:solidFill>
                  <a:srgbClr val="0064FF"/>
                </a:solidFill>
                <a:latin typeface="Outfit"/>
                <a:ea typeface="Outfit"/>
                <a:cs typeface="Outfit"/>
                <a:sym typeface="Outfit"/>
              </a:rPr>
              <a:t>SESSION 3 · BRIDGES · EXAMPLE</a:t>
            </a:r>
            <a:endParaRPr b="0" i="0" sz="1200">
              <a:solidFill>
                <a:srgbClr val="0064FF"/>
              </a:solidFill>
              <a:latin typeface="Outfit"/>
              <a:ea typeface="Outfit"/>
              <a:cs typeface="Outfit"/>
              <a:sym typeface="Outfit"/>
            </a:endParaRPr>
          </a:p>
        </p:txBody>
      </p:sp>
      <p:sp>
        <p:nvSpPr>
          <p:cNvPr id="693" name="Google Shape;693;p40"/>
          <p:cNvSpPr txBox="1"/>
          <p:nvPr>
            <p:ph type="title"/>
          </p:nvPr>
        </p:nvSpPr>
        <p:spPr>
          <a:xfrm>
            <a:off x="822960" y="819150"/>
            <a:ext cx="10546200" cy="762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i="0" lang="en-GB" sz="2600">
                <a:solidFill>
                  <a:srgbClr val="2C2C2A"/>
                </a:solidFill>
                <a:latin typeface="Instrument Serif"/>
                <a:ea typeface="Instrument Serif"/>
                <a:cs typeface="Instrument Serif"/>
                <a:sym typeface="Instrument Serif"/>
              </a:rPr>
              <a:t>One assistant can chain two kits, feeding the first kit's draft into the second.</a:t>
            </a:r>
            <a:endParaRPr b="0" i="0" sz="2600">
              <a:solidFill>
                <a:srgbClr val="2C2C2A"/>
              </a:solidFill>
              <a:latin typeface="Instrument Serif"/>
              <a:ea typeface="Instrument Serif"/>
              <a:cs typeface="Instrument Serif"/>
              <a:sym typeface="Instrument Serif"/>
            </a:endParaRPr>
          </a:p>
        </p:txBody>
      </p:sp>
      <p:grpSp>
        <p:nvGrpSpPr>
          <p:cNvPr id="694" name="Google Shape;694;p40"/>
          <p:cNvGrpSpPr/>
          <p:nvPr/>
        </p:nvGrpSpPr>
        <p:grpSpPr>
          <a:xfrm>
            <a:off x="822960" y="1762125"/>
            <a:ext cx="3381300" cy="2381400"/>
            <a:chOff x="0" y="0"/>
            <a:chExt cx="3381300" cy="2381400"/>
          </a:xfrm>
        </p:grpSpPr>
        <p:sp>
          <p:nvSpPr>
            <p:cNvPr id="695" name="Google Shape;695;p40"/>
            <p:cNvSpPr/>
            <p:nvPr/>
          </p:nvSpPr>
          <p:spPr>
            <a:xfrm>
              <a:off x="0" y="0"/>
              <a:ext cx="3381300" cy="2381400"/>
            </a:xfrm>
            <a:prstGeom prst="roundRect">
              <a:avLst>
                <a:gd fmla="val 3199"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96" name="Google Shape;696;p40"/>
            <p:cNvSpPr txBox="1"/>
            <p:nvPr/>
          </p:nvSpPr>
          <p:spPr>
            <a:xfrm>
              <a:off x="228600" y="228600"/>
              <a:ext cx="2924100" cy="1924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1500">
                  <a:solidFill>
                    <a:srgbClr val="0064FF"/>
                  </a:solidFill>
                  <a:latin typeface="Outfit SemiBold"/>
                  <a:ea typeface="Outfit SemiBold"/>
                  <a:cs typeface="Outfit SemiBold"/>
                  <a:sym typeface="Outfit SemiBold"/>
                </a:rPr>
                <a:t>In</a:t>
              </a:r>
              <a:endParaRPr b="0" sz="1500">
                <a:solidFill>
                  <a:srgbClr val="0064FF"/>
                </a:solidFill>
                <a:latin typeface="Outfit SemiBold"/>
                <a:ea typeface="Outfit SemiBold"/>
                <a:cs typeface="Outfit SemiBold"/>
                <a:sym typeface="Outfit SemiBold"/>
              </a:endParaRPr>
            </a:p>
            <a:p>
              <a:pPr indent="0" lvl="0" marL="0" rtl="0" algn="l">
                <a:spcBef>
                  <a:spcPts val="800"/>
                </a:spcBef>
                <a:spcAft>
                  <a:spcPts val="0"/>
                </a:spcAft>
                <a:buNone/>
              </a:pPr>
              <a:r>
                <a:rPr b="0" lang="en-GB" sz="1300">
                  <a:solidFill>
                    <a:srgbClr val="2C2C2A"/>
                  </a:solidFill>
                  <a:latin typeface="Outfit Medium"/>
                  <a:ea typeface="Outfit Medium"/>
                  <a:cs typeface="Outfit Medium"/>
                  <a:sym typeface="Outfit Medium"/>
                </a:rPr>
                <a:t>A utility's rate schedule PDF</a:t>
              </a:r>
              <a:endParaRPr b="0" sz="1300">
                <a:solidFill>
                  <a:srgbClr val="2C2C2A"/>
                </a:solidFill>
                <a:latin typeface="Outfit Medium"/>
                <a:ea typeface="Outfit Medium"/>
                <a:cs typeface="Outfit Medium"/>
                <a:sym typeface="Outfit Medium"/>
              </a:endParaRPr>
            </a:p>
            <a:p>
              <a:pPr indent="0" lvl="0" marL="0" rtl="0" algn="l">
                <a:spcBef>
                  <a:spcPts val="800"/>
                </a:spcBef>
                <a:spcAft>
                  <a:spcPts val="0"/>
                </a:spcAft>
                <a:buNone/>
              </a:pPr>
              <a:r>
                <a:rPr b="0" lang="en-GB" sz="1150">
                  <a:solidFill>
                    <a:srgbClr val="475569"/>
                  </a:solidFill>
                  <a:latin typeface="Lora"/>
                  <a:ea typeface="Lora"/>
                  <a:cs typeface="Lora"/>
                  <a:sym typeface="Lora"/>
                </a:rPr>
                <a:t>The interface is the row shape: fixed column order · units copied, never converted · page reference required.</a:t>
              </a:r>
              <a:endParaRPr b="0" sz="1150">
                <a:solidFill>
                  <a:srgbClr val="475569"/>
                </a:solidFill>
                <a:latin typeface="Lora"/>
                <a:ea typeface="Lora"/>
                <a:cs typeface="Lora"/>
                <a:sym typeface="Lora"/>
              </a:endParaRPr>
            </a:p>
          </p:txBody>
        </p:sp>
      </p:grpSp>
      <p:grpSp>
        <p:nvGrpSpPr>
          <p:cNvPr id="697" name="Google Shape;697;p40"/>
          <p:cNvGrpSpPr/>
          <p:nvPr/>
        </p:nvGrpSpPr>
        <p:grpSpPr>
          <a:xfrm>
            <a:off x="4404360" y="1762125"/>
            <a:ext cx="3381300" cy="2381400"/>
            <a:chOff x="0" y="0"/>
            <a:chExt cx="3381300" cy="2381400"/>
          </a:xfrm>
        </p:grpSpPr>
        <p:sp>
          <p:nvSpPr>
            <p:cNvPr id="698" name="Google Shape;698;p40"/>
            <p:cNvSpPr/>
            <p:nvPr/>
          </p:nvSpPr>
          <p:spPr>
            <a:xfrm>
              <a:off x="0" y="0"/>
              <a:ext cx="3381300" cy="2381400"/>
            </a:xfrm>
            <a:prstGeom prst="roundRect">
              <a:avLst>
                <a:gd fmla="val 3199"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99" name="Google Shape;699;p40"/>
            <p:cNvSpPr txBox="1"/>
            <p:nvPr/>
          </p:nvSpPr>
          <p:spPr>
            <a:xfrm>
              <a:off x="228600" y="228600"/>
              <a:ext cx="2924100" cy="1924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1500">
                  <a:solidFill>
                    <a:srgbClr val="0064FF"/>
                  </a:solidFill>
                  <a:latin typeface="Outfit SemiBold"/>
                  <a:ea typeface="Outfit SemiBold"/>
                  <a:cs typeface="Outfit SemiBold"/>
                  <a:sym typeface="Outfit SemiBold"/>
                </a:rPr>
                <a:t>Out &amp; Downstream</a:t>
              </a:r>
              <a:endParaRPr b="0" sz="1500">
                <a:solidFill>
                  <a:srgbClr val="0064FF"/>
                </a:solidFill>
                <a:latin typeface="Outfit SemiBold"/>
                <a:ea typeface="Outfit SemiBold"/>
                <a:cs typeface="Outfit SemiBold"/>
                <a:sym typeface="Outfit SemiBold"/>
              </a:endParaRPr>
            </a:p>
            <a:p>
              <a:pPr indent="0" lvl="0" marL="0" rtl="0" algn="l">
                <a:spcBef>
                  <a:spcPts val="800"/>
                </a:spcBef>
                <a:spcAft>
                  <a:spcPts val="0"/>
                </a:spcAft>
                <a:buNone/>
              </a:pPr>
              <a:r>
                <a:rPr b="0" lang="en-GB" sz="1300">
                  <a:solidFill>
                    <a:srgbClr val="2C2C2A"/>
                  </a:solidFill>
                  <a:latin typeface="Outfit Medium"/>
                  <a:ea typeface="Outfit Medium"/>
                  <a:cs typeface="Outfit Medium"/>
                  <a:sym typeface="Outfit Medium"/>
                </a:rPr>
                <a:t>One CSV row per tier</a:t>
              </a:r>
              <a:endParaRPr b="0" sz="1300">
                <a:solidFill>
                  <a:srgbClr val="2C2C2A"/>
                </a:solidFill>
                <a:latin typeface="Outfit Medium"/>
                <a:ea typeface="Outfit Medium"/>
                <a:cs typeface="Outfit Medium"/>
                <a:sym typeface="Outfit Medium"/>
              </a:endParaRPr>
            </a:p>
            <a:p>
              <a:pPr indent="0" lvl="0" marL="0" rtl="0" algn="l">
                <a:spcBef>
                  <a:spcPts val="800"/>
                </a:spcBef>
                <a:spcAft>
                  <a:spcPts val="0"/>
                </a:spcAft>
                <a:buNone/>
              </a:pPr>
              <a:r>
                <a:rPr b="0" lang="en-GB" sz="1150">
                  <a:solidFill>
                    <a:srgbClr val="475569"/>
                  </a:solidFill>
                  <a:latin typeface="Lora"/>
                  <a:ea typeface="Lora"/>
                  <a:cs typeface="Lora"/>
                  <a:sym typeface="Lora"/>
                </a:rPr>
                <a:t>Appended to a registry. The registry feeds a public site that never reads a PDF at all — composability in practice.</a:t>
              </a:r>
              <a:endParaRPr b="0" sz="1150">
                <a:solidFill>
                  <a:srgbClr val="475569"/>
                </a:solidFill>
                <a:latin typeface="Lora"/>
                <a:ea typeface="Lora"/>
                <a:cs typeface="Lora"/>
                <a:sym typeface="Lora"/>
              </a:endParaRPr>
            </a:p>
          </p:txBody>
        </p:sp>
      </p:grpSp>
      <p:grpSp>
        <p:nvGrpSpPr>
          <p:cNvPr id="700" name="Google Shape;700;p40"/>
          <p:cNvGrpSpPr/>
          <p:nvPr/>
        </p:nvGrpSpPr>
        <p:grpSpPr>
          <a:xfrm>
            <a:off x="7985760" y="1762125"/>
            <a:ext cx="3381300" cy="2381400"/>
            <a:chOff x="0" y="0"/>
            <a:chExt cx="3381300" cy="2381400"/>
          </a:xfrm>
        </p:grpSpPr>
        <p:sp>
          <p:nvSpPr>
            <p:cNvPr id="701" name="Google Shape;701;p40"/>
            <p:cNvSpPr/>
            <p:nvPr/>
          </p:nvSpPr>
          <p:spPr>
            <a:xfrm>
              <a:off x="0" y="0"/>
              <a:ext cx="3381300" cy="2381400"/>
            </a:xfrm>
            <a:prstGeom prst="roundRect">
              <a:avLst>
                <a:gd fmla="val 3199"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02" name="Google Shape;702;p40"/>
            <p:cNvSpPr txBox="1"/>
            <p:nvPr/>
          </p:nvSpPr>
          <p:spPr>
            <a:xfrm>
              <a:off x="228600" y="228600"/>
              <a:ext cx="2924100" cy="1924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1500">
                  <a:solidFill>
                    <a:srgbClr val="0064FF"/>
                  </a:solidFill>
                  <a:latin typeface="Outfit SemiBold"/>
                  <a:ea typeface="Outfit SemiBold"/>
                  <a:cs typeface="Outfit SemiBold"/>
                  <a:sym typeface="Outfit SemiBold"/>
                </a:rPr>
                <a:t>Try it in your own domain</a:t>
              </a:r>
              <a:endParaRPr b="0" sz="1500">
                <a:solidFill>
                  <a:srgbClr val="0064FF"/>
                </a:solidFill>
                <a:latin typeface="Outfit SemiBold"/>
                <a:ea typeface="Outfit SemiBold"/>
                <a:cs typeface="Outfit SemiBold"/>
                <a:sym typeface="Outfit SemiBold"/>
              </a:endParaRPr>
            </a:p>
            <a:p>
              <a:pPr indent="0" lvl="0" marL="0" rtl="0" algn="l">
                <a:spcBef>
                  <a:spcPts val="800"/>
                </a:spcBef>
                <a:spcAft>
                  <a:spcPts val="0"/>
                </a:spcAft>
                <a:buNone/>
              </a:pPr>
              <a:r>
                <a:rPr b="0" lang="en-GB" sz="1150">
                  <a:solidFill>
                    <a:srgbClr val="475569"/>
                  </a:solidFill>
                  <a:latin typeface="Lora"/>
                  <a:ea typeface="Lora"/>
                  <a:cs typeface="Lora"/>
                  <a:sym typeface="Lora"/>
                </a:rPr>
                <a:t>Use facilitator/rafa/s2-factory/ through its README only. Give it a PDF excerpt from my field and produce one registry row.</a:t>
              </a:r>
              <a:endParaRPr b="0" sz="1150">
                <a:solidFill>
                  <a:srgbClr val="475569"/>
                </a:solidFill>
                <a:latin typeface="Lora"/>
                <a:ea typeface="Lora"/>
                <a:cs typeface="Lora"/>
                <a:sym typeface="Lora"/>
              </a:endParaRPr>
            </a:p>
          </p:txBody>
        </p:sp>
      </p:grpSp>
      <p:sp>
        <p:nvSpPr>
          <p:cNvPr id="703" name="Google Shape;703;p40"/>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7" name="Shape 707"/>
        <p:cNvGrpSpPr/>
        <p:nvPr/>
      </p:nvGrpSpPr>
      <p:grpSpPr>
        <a:xfrm>
          <a:off x="0" y="0"/>
          <a:ext cx="0" cy="0"/>
          <a:chOff x="0" y="0"/>
          <a:chExt cx="0" cy="0"/>
        </a:xfrm>
      </p:grpSpPr>
      <p:sp>
        <p:nvSpPr>
          <p:cNvPr id="708" name="Google Shape;708;p41"/>
          <p:cNvSpPr txBox="1"/>
          <p:nvPr>
            <p:ph type="title"/>
          </p:nvPr>
        </p:nvSpPr>
        <p:spPr>
          <a:xfrm>
            <a:off x="822960" y="914400"/>
            <a:ext cx="9692700" cy="1371600"/>
          </a:xfrm>
          <a:prstGeom prst="rect">
            <a:avLst/>
          </a:prstGeom>
          <a:noFill/>
          <a:ln>
            <a:noFill/>
          </a:ln>
        </p:spPr>
        <p:txBody>
          <a:bodyPr anchorCtr="0" anchor="t" bIns="0" lIns="0" spcFirstLastPara="1" rIns="0" wrap="square" tIns="0">
            <a:noAutofit/>
          </a:bodyPr>
          <a:lstStyle/>
          <a:p>
            <a:pPr indent="0" lvl="0" marL="0" rtl="0" algn="l">
              <a:lnSpc>
                <a:spcPct val="96000"/>
              </a:lnSpc>
              <a:spcBef>
                <a:spcPts val="0"/>
              </a:spcBef>
              <a:spcAft>
                <a:spcPts val="0"/>
              </a:spcAft>
              <a:buClr>
                <a:srgbClr val="2C2C2A"/>
              </a:buClr>
              <a:buSzPts val="2800"/>
              <a:buFont typeface="Instrument Serif"/>
              <a:buNone/>
            </a:pPr>
            <a:r>
              <a:rPr lang="en-GB"/>
              <a:t>A combined process is only useful if it runs the same way next week.</a:t>
            </a:r>
            <a:endParaRPr/>
          </a:p>
        </p:txBody>
      </p:sp>
      <p:sp>
        <p:nvSpPr>
          <p:cNvPr id="709" name="Google Shape;709;p41"/>
          <p:cNvSpPr txBox="1"/>
          <p:nvPr/>
        </p:nvSpPr>
        <p:spPr>
          <a:xfrm>
            <a:off x="822960" y="1428750"/>
            <a:ext cx="10546200" cy="457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350">
                <a:solidFill>
                  <a:srgbClr val="475569"/>
                </a:solidFill>
                <a:latin typeface="Lora"/>
                <a:ea typeface="Lora"/>
                <a:cs typeface="Lora"/>
                <a:sym typeface="Lora"/>
              </a:rPr>
              <a:t>The paragraph you write at the end of the breakout is the data. Tomorrow we read all of them before anyone says anything. While you work, watch for four things:</a:t>
            </a:r>
            <a:endParaRPr sz="1350">
              <a:solidFill>
                <a:srgbClr val="475569"/>
              </a:solidFill>
              <a:latin typeface="Lora"/>
              <a:ea typeface="Lora"/>
              <a:cs typeface="Lora"/>
              <a:sym typeface="Lora"/>
            </a:endParaRPr>
          </a:p>
        </p:txBody>
      </p:sp>
      <p:grpSp>
        <p:nvGrpSpPr>
          <p:cNvPr id="710" name="Google Shape;710;p41"/>
          <p:cNvGrpSpPr/>
          <p:nvPr/>
        </p:nvGrpSpPr>
        <p:grpSpPr>
          <a:xfrm>
            <a:off x="822960" y="2076450"/>
            <a:ext cx="2476500" cy="2047800"/>
            <a:chOff x="0" y="0"/>
            <a:chExt cx="2476500" cy="2047800"/>
          </a:xfrm>
        </p:grpSpPr>
        <p:sp>
          <p:nvSpPr>
            <p:cNvPr id="711" name="Google Shape;711;p41"/>
            <p:cNvSpPr/>
            <p:nvPr/>
          </p:nvSpPr>
          <p:spPr>
            <a:xfrm>
              <a:off x="0" y="0"/>
              <a:ext cx="2476500" cy="2047800"/>
            </a:xfrm>
            <a:prstGeom prst="roundRect">
              <a:avLst>
                <a:gd fmla="val 372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12" name="Google Shape;712;p41"/>
            <p:cNvSpPr txBox="1"/>
            <p:nvPr/>
          </p:nvSpPr>
          <p:spPr>
            <a:xfrm>
              <a:off x="228600" y="228600"/>
              <a:ext cx="2019300" cy="1590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2200">
                  <a:solidFill>
                    <a:srgbClr val="0064FF"/>
                  </a:solidFill>
                  <a:latin typeface="Outfit SemiBold"/>
                  <a:ea typeface="Outfit SemiBold"/>
                  <a:cs typeface="Outfit SemiBold"/>
                  <a:sym typeface="Outfit SemiBold"/>
                </a:rPr>
                <a:t>01</a:t>
              </a:r>
              <a:endParaRPr b="0" sz="2200">
                <a:solidFill>
                  <a:srgbClr val="0064FF"/>
                </a:solidFill>
                <a:latin typeface="Outfit SemiBold"/>
                <a:ea typeface="Outfit SemiBold"/>
                <a:cs typeface="Outfit SemiBold"/>
                <a:sym typeface="Outfit SemiBold"/>
              </a:endParaRPr>
            </a:p>
            <a:p>
              <a:pPr indent="0" lvl="0" marL="0" rtl="0" algn="l">
                <a:spcBef>
                  <a:spcPts val="900"/>
                </a:spcBef>
                <a:spcAft>
                  <a:spcPts val="0"/>
                </a:spcAft>
                <a:buNone/>
              </a:pPr>
              <a:r>
                <a:rPr lang="en-GB" sz="1300">
                  <a:solidFill>
                    <a:srgbClr val="2C2C2A"/>
                  </a:solidFill>
                  <a:latin typeface="Lora"/>
                  <a:ea typeface="Lora"/>
                  <a:cs typeface="Lora"/>
                  <a:sym typeface="Lora"/>
                </a:rPr>
                <a:t>What did your agent need from the target?</a:t>
              </a:r>
              <a:endParaRPr sz="1300">
                <a:solidFill>
                  <a:srgbClr val="2C2C2A"/>
                </a:solidFill>
                <a:latin typeface="Lora"/>
                <a:ea typeface="Lora"/>
                <a:cs typeface="Lora"/>
                <a:sym typeface="Lora"/>
              </a:endParaRPr>
            </a:p>
          </p:txBody>
        </p:sp>
      </p:grpSp>
      <p:grpSp>
        <p:nvGrpSpPr>
          <p:cNvPr id="713" name="Google Shape;713;p41"/>
          <p:cNvGrpSpPr/>
          <p:nvPr/>
        </p:nvGrpSpPr>
        <p:grpSpPr>
          <a:xfrm>
            <a:off x="3512820" y="2076450"/>
            <a:ext cx="2476500" cy="2047800"/>
            <a:chOff x="0" y="0"/>
            <a:chExt cx="2476500" cy="2047800"/>
          </a:xfrm>
        </p:grpSpPr>
        <p:sp>
          <p:nvSpPr>
            <p:cNvPr id="714" name="Google Shape;714;p41"/>
            <p:cNvSpPr/>
            <p:nvPr/>
          </p:nvSpPr>
          <p:spPr>
            <a:xfrm>
              <a:off x="0" y="0"/>
              <a:ext cx="2476500" cy="2047800"/>
            </a:xfrm>
            <a:prstGeom prst="roundRect">
              <a:avLst>
                <a:gd fmla="val 372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15" name="Google Shape;715;p41"/>
            <p:cNvSpPr txBox="1"/>
            <p:nvPr/>
          </p:nvSpPr>
          <p:spPr>
            <a:xfrm>
              <a:off x="228600" y="228600"/>
              <a:ext cx="2019300" cy="1590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2200">
                  <a:solidFill>
                    <a:srgbClr val="0064FF"/>
                  </a:solidFill>
                  <a:latin typeface="Outfit SemiBold"/>
                  <a:ea typeface="Outfit SemiBold"/>
                  <a:cs typeface="Outfit SemiBold"/>
                  <a:sym typeface="Outfit SemiBold"/>
                </a:rPr>
                <a:t>02</a:t>
              </a:r>
              <a:endParaRPr b="0" sz="2200">
                <a:solidFill>
                  <a:srgbClr val="0064FF"/>
                </a:solidFill>
                <a:latin typeface="Outfit SemiBold"/>
                <a:ea typeface="Outfit SemiBold"/>
                <a:cs typeface="Outfit SemiBold"/>
                <a:sym typeface="Outfit SemiBold"/>
              </a:endParaRPr>
            </a:p>
            <a:p>
              <a:pPr indent="0" lvl="0" marL="0" rtl="0" algn="l">
                <a:spcBef>
                  <a:spcPts val="900"/>
                </a:spcBef>
                <a:spcAft>
                  <a:spcPts val="0"/>
                </a:spcAft>
                <a:buNone/>
              </a:pPr>
              <a:r>
                <a:rPr lang="en-GB" sz="1300">
                  <a:solidFill>
                    <a:srgbClr val="2C2C2A"/>
                  </a:solidFill>
                  <a:latin typeface="Lora"/>
                  <a:ea typeface="Lora"/>
                  <a:cs typeface="Lora"/>
                  <a:sym typeface="Lora"/>
                </a:rPr>
                <a:t>What did it find on its own?</a:t>
              </a:r>
              <a:endParaRPr sz="1300">
                <a:solidFill>
                  <a:srgbClr val="2C2C2A"/>
                </a:solidFill>
                <a:latin typeface="Lora"/>
                <a:ea typeface="Lora"/>
                <a:cs typeface="Lora"/>
                <a:sym typeface="Lora"/>
              </a:endParaRPr>
            </a:p>
          </p:txBody>
        </p:sp>
      </p:grpSp>
      <p:grpSp>
        <p:nvGrpSpPr>
          <p:cNvPr id="716" name="Google Shape;716;p41"/>
          <p:cNvGrpSpPr/>
          <p:nvPr/>
        </p:nvGrpSpPr>
        <p:grpSpPr>
          <a:xfrm>
            <a:off x="6202680" y="2076450"/>
            <a:ext cx="2476500" cy="2047800"/>
            <a:chOff x="0" y="0"/>
            <a:chExt cx="2476500" cy="2047800"/>
          </a:xfrm>
        </p:grpSpPr>
        <p:sp>
          <p:nvSpPr>
            <p:cNvPr id="717" name="Google Shape;717;p41"/>
            <p:cNvSpPr/>
            <p:nvPr/>
          </p:nvSpPr>
          <p:spPr>
            <a:xfrm>
              <a:off x="0" y="0"/>
              <a:ext cx="2476500" cy="2047800"/>
            </a:xfrm>
            <a:prstGeom prst="roundRect">
              <a:avLst>
                <a:gd fmla="val 372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18" name="Google Shape;718;p41"/>
            <p:cNvSpPr txBox="1"/>
            <p:nvPr/>
          </p:nvSpPr>
          <p:spPr>
            <a:xfrm>
              <a:off x="228600" y="228600"/>
              <a:ext cx="2019300" cy="1590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2200">
                  <a:solidFill>
                    <a:srgbClr val="0064FF"/>
                  </a:solidFill>
                  <a:latin typeface="Outfit SemiBold"/>
                  <a:ea typeface="Outfit SemiBold"/>
                  <a:cs typeface="Outfit SemiBold"/>
                  <a:sym typeface="Outfit SemiBold"/>
                </a:rPr>
                <a:t>03</a:t>
              </a:r>
              <a:endParaRPr b="0" sz="2200">
                <a:solidFill>
                  <a:srgbClr val="0064FF"/>
                </a:solidFill>
                <a:latin typeface="Outfit SemiBold"/>
                <a:ea typeface="Outfit SemiBold"/>
                <a:cs typeface="Outfit SemiBold"/>
                <a:sym typeface="Outfit SemiBold"/>
              </a:endParaRPr>
            </a:p>
            <a:p>
              <a:pPr indent="0" lvl="0" marL="0" rtl="0" algn="l">
                <a:spcBef>
                  <a:spcPts val="900"/>
                </a:spcBef>
                <a:spcAft>
                  <a:spcPts val="0"/>
                </a:spcAft>
                <a:buNone/>
              </a:pPr>
              <a:r>
                <a:rPr lang="en-GB" sz="1300">
                  <a:solidFill>
                    <a:srgbClr val="2C2C2A"/>
                  </a:solidFill>
                  <a:latin typeface="Lora"/>
                  <a:ea typeface="Lora"/>
                  <a:cs typeface="Lora"/>
                  <a:sym typeface="Lora"/>
                </a:rPr>
                <a:t>What did a human have to supply?</a:t>
              </a:r>
              <a:endParaRPr sz="1300">
                <a:solidFill>
                  <a:srgbClr val="2C2C2A"/>
                </a:solidFill>
                <a:latin typeface="Lora"/>
                <a:ea typeface="Lora"/>
                <a:cs typeface="Lora"/>
                <a:sym typeface="Lora"/>
              </a:endParaRPr>
            </a:p>
          </p:txBody>
        </p:sp>
      </p:grpSp>
      <p:grpSp>
        <p:nvGrpSpPr>
          <p:cNvPr id="719" name="Google Shape;719;p41"/>
          <p:cNvGrpSpPr/>
          <p:nvPr/>
        </p:nvGrpSpPr>
        <p:grpSpPr>
          <a:xfrm>
            <a:off x="8892540" y="2076450"/>
            <a:ext cx="2476500" cy="2047800"/>
            <a:chOff x="0" y="0"/>
            <a:chExt cx="2476500" cy="2047800"/>
          </a:xfrm>
        </p:grpSpPr>
        <p:sp>
          <p:nvSpPr>
            <p:cNvPr id="720" name="Google Shape;720;p41"/>
            <p:cNvSpPr/>
            <p:nvPr/>
          </p:nvSpPr>
          <p:spPr>
            <a:xfrm>
              <a:off x="0" y="0"/>
              <a:ext cx="2476500" cy="2047800"/>
            </a:xfrm>
            <a:prstGeom prst="roundRect">
              <a:avLst>
                <a:gd fmla="val 372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21" name="Google Shape;721;p41"/>
            <p:cNvSpPr txBox="1"/>
            <p:nvPr/>
          </p:nvSpPr>
          <p:spPr>
            <a:xfrm>
              <a:off x="228600" y="228600"/>
              <a:ext cx="2019300" cy="1590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2200">
                  <a:solidFill>
                    <a:srgbClr val="0064FF"/>
                  </a:solidFill>
                  <a:latin typeface="Outfit SemiBold"/>
                  <a:ea typeface="Outfit SemiBold"/>
                  <a:cs typeface="Outfit SemiBold"/>
                  <a:sym typeface="Outfit SemiBold"/>
                </a:rPr>
                <a:t>04</a:t>
              </a:r>
              <a:endParaRPr b="0" sz="2200">
                <a:solidFill>
                  <a:srgbClr val="0064FF"/>
                </a:solidFill>
                <a:latin typeface="Outfit SemiBold"/>
                <a:ea typeface="Outfit SemiBold"/>
                <a:cs typeface="Outfit SemiBold"/>
                <a:sym typeface="Outfit SemiBold"/>
              </a:endParaRPr>
            </a:p>
            <a:p>
              <a:pPr indent="0" lvl="0" marL="0" rtl="0" algn="l">
                <a:spcBef>
                  <a:spcPts val="900"/>
                </a:spcBef>
                <a:spcAft>
                  <a:spcPts val="0"/>
                </a:spcAft>
                <a:buNone/>
              </a:pPr>
              <a:r>
                <a:rPr lang="en-GB" sz="1300">
                  <a:solidFill>
                    <a:srgbClr val="2C2C2A"/>
                  </a:solidFill>
                  <a:latin typeface="Lora"/>
                  <a:ea typeface="Lora"/>
                  <a:cs typeface="Lora"/>
                  <a:sym typeface="Lora"/>
                </a:rPr>
                <a:t>What stayed fixed between the two sides?</a:t>
              </a:r>
              <a:endParaRPr sz="1300">
                <a:solidFill>
                  <a:srgbClr val="2C2C2A"/>
                </a:solidFill>
                <a:latin typeface="Lora"/>
                <a:ea typeface="Lora"/>
                <a:cs typeface="Lora"/>
                <a:sym typeface="Lora"/>
              </a:endParaRPr>
            </a:p>
          </p:txBody>
        </p:sp>
      </p:grpSp>
      <p:sp>
        <p:nvSpPr>
          <p:cNvPr id="722" name="Google Shape;722;p41"/>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723" name="Google Shape;723;p41"/>
          <p:cNvSpPr txBox="1"/>
          <p:nvPr>
            <p:ph idx="1" type="body"/>
          </p:nvPr>
        </p:nvSpPr>
        <p:spPr>
          <a:xfrm>
            <a:off x="822960" y="457200"/>
            <a:ext cx="9144000" cy="320100"/>
          </a:xfrm>
          <a:prstGeom prst="rect">
            <a:avLst/>
          </a:prstGeom>
          <a:noFill/>
          <a:ln>
            <a:noFill/>
          </a:ln>
        </p:spPr>
        <p:txBody>
          <a:bodyPr anchorCtr="0" anchor="t" bIns="0" lIns="0" spcFirstLastPara="1" rIns="0" wrap="square" tIns="0">
            <a:noAutofit/>
          </a:bodyPr>
          <a:lstStyle/>
          <a:p>
            <a:pPr indent="0" lvl="0" marL="0" rtl="0" algn="l">
              <a:lnSpc>
                <a:spcPct val="118000"/>
              </a:lnSpc>
              <a:spcBef>
                <a:spcPts val="0"/>
              </a:spcBef>
              <a:spcAft>
                <a:spcPts val="0"/>
              </a:spcAft>
              <a:buClr>
                <a:srgbClr val="0064FF"/>
              </a:buClr>
              <a:buSzPts val="1200"/>
              <a:buFont typeface="Outfit"/>
              <a:buNone/>
            </a:pPr>
            <a:r>
              <a:rPr lang="en-GB"/>
              <a:t>SESSION 3 · BRIDGES · CONCEPTS</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7" name="Shape 727"/>
        <p:cNvGrpSpPr/>
        <p:nvPr/>
      </p:nvGrpSpPr>
      <p:grpSpPr>
        <a:xfrm>
          <a:off x="0" y="0"/>
          <a:ext cx="0" cy="0"/>
          <a:chOff x="0" y="0"/>
          <a:chExt cx="0" cy="0"/>
        </a:xfrm>
      </p:grpSpPr>
      <p:sp>
        <p:nvSpPr>
          <p:cNvPr id="728" name="Google Shape;728;p42"/>
          <p:cNvSpPr txBox="1"/>
          <p:nvPr>
            <p:ph type="title"/>
          </p:nvPr>
        </p:nvSpPr>
        <p:spPr>
          <a:xfrm>
            <a:off x="822960" y="819150"/>
            <a:ext cx="10546200" cy="762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n-GB" sz="2600">
                <a:solidFill>
                  <a:srgbClr val="2C2C2A"/>
                </a:solidFill>
                <a:latin typeface="Instrument Serif"/>
                <a:ea typeface="Instrument Serif"/>
                <a:cs typeface="Instrument Serif"/>
                <a:sym typeface="Instrument Serif"/>
              </a:rPr>
              <a:t>Using someone's instructions means trusting them, so check them before you rely on them.</a:t>
            </a:r>
            <a:endParaRPr b="0" sz="2600">
              <a:solidFill>
                <a:srgbClr val="2C2C2A"/>
              </a:solidFill>
              <a:latin typeface="Instrument Serif"/>
              <a:ea typeface="Instrument Serif"/>
              <a:cs typeface="Instrument Serif"/>
              <a:sym typeface="Instrument Serif"/>
            </a:endParaRPr>
          </a:p>
        </p:txBody>
      </p:sp>
      <p:grpSp>
        <p:nvGrpSpPr>
          <p:cNvPr id="729" name="Google Shape;729;p42"/>
          <p:cNvGrpSpPr/>
          <p:nvPr/>
        </p:nvGrpSpPr>
        <p:grpSpPr>
          <a:xfrm>
            <a:off x="822960" y="1857375"/>
            <a:ext cx="3381300" cy="4381500"/>
            <a:chOff x="0" y="0"/>
            <a:chExt cx="3381300" cy="4381500"/>
          </a:xfrm>
        </p:grpSpPr>
        <p:sp>
          <p:nvSpPr>
            <p:cNvPr id="730" name="Google Shape;730;p42"/>
            <p:cNvSpPr/>
            <p:nvPr/>
          </p:nvSpPr>
          <p:spPr>
            <a:xfrm>
              <a:off x="0" y="0"/>
              <a:ext cx="3381300" cy="4381500"/>
            </a:xfrm>
            <a:prstGeom prst="roundRect">
              <a:avLst>
                <a:gd fmla="val 2253"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31" name="Google Shape;731;p42"/>
            <p:cNvSpPr txBox="1"/>
            <p:nvPr/>
          </p:nvSpPr>
          <p:spPr>
            <a:xfrm>
              <a:off x="266700" y="266700"/>
              <a:ext cx="2847900" cy="3848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1500">
                  <a:solidFill>
                    <a:srgbClr val="0064FF"/>
                  </a:solidFill>
                  <a:latin typeface="Outfit SemiBold"/>
                  <a:ea typeface="Outfit SemiBold"/>
                  <a:cs typeface="Outfit SemiBold"/>
                  <a:sym typeface="Outfit SemiBold"/>
                </a:rPr>
                <a:t>Why this happens</a:t>
              </a:r>
              <a:endParaRPr b="0" sz="1500">
                <a:solidFill>
                  <a:srgbClr val="0064FF"/>
                </a:solidFill>
                <a:latin typeface="Outfit SemiBold"/>
                <a:ea typeface="Outfit SemiBold"/>
                <a:cs typeface="Outfit SemiBold"/>
                <a:sym typeface="Outfit SemiBold"/>
              </a:endParaRPr>
            </a:p>
            <a:p>
              <a:pPr indent="0" lvl="0" marL="0" rtl="0" algn="l">
                <a:spcBef>
                  <a:spcPts val="900"/>
                </a:spcBef>
                <a:spcAft>
                  <a:spcPts val="0"/>
                </a:spcAft>
                <a:buNone/>
              </a:pPr>
              <a:r>
                <a:rPr b="0" lang="en-GB" sz="1250">
                  <a:solidFill>
                    <a:srgbClr val="2C2C2A"/>
                  </a:solidFill>
                  <a:latin typeface="Lora"/>
                  <a:ea typeface="Lora"/>
                  <a:cs typeface="Lora"/>
                  <a:sym typeface="Lora"/>
                </a:rPr>
                <a:t>A loaded SKILL.md arrives as instructions, not documentation — and the agent cannot reliably tell a third party's instructions from yours.</a:t>
              </a:r>
              <a:endParaRPr b="0" sz="1250">
                <a:solidFill>
                  <a:srgbClr val="2C2C2A"/>
                </a:solidFill>
                <a:latin typeface="Lora"/>
                <a:ea typeface="Lora"/>
                <a:cs typeface="Lora"/>
                <a:sym typeface="Lora"/>
              </a:endParaRPr>
            </a:p>
          </p:txBody>
        </p:sp>
      </p:grpSp>
      <p:grpSp>
        <p:nvGrpSpPr>
          <p:cNvPr id="732" name="Google Shape;732;p42"/>
          <p:cNvGrpSpPr/>
          <p:nvPr/>
        </p:nvGrpSpPr>
        <p:grpSpPr>
          <a:xfrm>
            <a:off x="4404360" y="1857375"/>
            <a:ext cx="3381300" cy="4381500"/>
            <a:chOff x="0" y="0"/>
            <a:chExt cx="3381300" cy="4381500"/>
          </a:xfrm>
        </p:grpSpPr>
        <p:sp>
          <p:nvSpPr>
            <p:cNvPr id="733" name="Google Shape;733;p42"/>
            <p:cNvSpPr/>
            <p:nvPr/>
          </p:nvSpPr>
          <p:spPr>
            <a:xfrm>
              <a:off x="0" y="0"/>
              <a:ext cx="3381300" cy="4381500"/>
            </a:xfrm>
            <a:prstGeom prst="roundRect">
              <a:avLst>
                <a:gd fmla="val 2253"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34" name="Google Shape;734;p42"/>
            <p:cNvSpPr txBox="1"/>
            <p:nvPr/>
          </p:nvSpPr>
          <p:spPr>
            <a:xfrm>
              <a:off x="266700" y="266700"/>
              <a:ext cx="2847900" cy="3848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1500">
                  <a:solidFill>
                    <a:srgbClr val="0064FF"/>
                  </a:solidFill>
                  <a:latin typeface="Outfit SemiBold"/>
                  <a:ea typeface="Outfit SemiBold"/>
                  <a:cs typeface="Outfit SemiBold"/>
                  <a:sym typeface="Outfit SemiBold"/>
                </a:rPr>
                <a:t>What the research now says</a:t>
              </a:r>
              <a:endParaRPr b="0" sz="1500">
                <a:solidFill>
                  <a:srgbClr val="0064FF"/>
                </a:solidFill>
                <a:latin typeface="Outfit SemiBold"/>
                <a:ea typeface="Outfit SemiBold"/>
                <a:cs typeface="Outfit SemiBold"/>
                <a:sym typeface="Outfit SemiBold"/>
              </a:endParaRPr>
            </a:p>
            <a:p>
              <a:pPr indent="0" lvl="0" marL="0" rtl="0" algn="l">
                <a:spcBef>
                  <a:spcPts val="900"/>
                </a:spcBef>
                <a:spcAft>
                  <a:spcPts val="0"/>
                </a:spcAft>
                <a:buNone/>
              </a:pPr>
              <a:r>
                <a:rPr b="0" lang="en-GB" sz="1150">
                  <a:solidFill>
                    <a:srgbClr val="475569"/>
                  </a:solidFill>
                  <a:latin typeface="Lora"/>
                  <a:ea typeface="Lora"/>
                  <a:cs typeface="Lora"/>
                  <a:sym typeface="Lora"/>
                </a:rPr>
                <a:t>Skills are dependencies; treat them as untrusted by default. That is the formal statement of why bridges are high-trust.</a:t>
              </a:r>
              <a:endParaRPr b="0" sz="1150">
                <a:solidFill>
                  <a:srgbClr val="475569"/>
                </a:solidFill>
                <a:latin typeface="Lora"/>
                <a:ea typeface="Lora"/>
                <a:cs typeface="Lora"/>
                <a:sym typeface="Lora"/>
              </a:endParaRPr>
            </a:p>
            <a:p>
              <a:pPr indent="0" lvl="0" marL="0" rtl="0" algn="l">
                <a:spcBef>
                  <a:spcPts val="1200"/>
                </a:spcBef>
                <a:spcAft>
                  <a:spcPts val="0"/>
                </a:spcAft>
                <a:buNone/>
              </a:pPr>
              <a:r>
                <a:rPr b="1" lang="en-GB" sz="3600">
                  <a:solidFill>
                    <a:srgbClr val="0064FF"/>
                  </a:solidFill>
                  <a:highlight>
                    <a:srgbClr val="F8FAFC"/>
                  </a:highlight>
                  <a:latin typeface="Outfit"/>
                  <a:ea typeface="Outfit"/>
                  <a:cs typeface="Outfit"/>
                  <a:sym typeface="Outfit"/>
                </a:rPr>
                <a:t>26.1%</a:t>
              </a:r>
              <a:endParaRPr b="1" sz="3600">
                <a:solidFill>
                  <a:srgbClr val="0064FF"/>
                </a:solidFill>
                <a:highlight>
                  <a:srgbClr val="F8FAFC"/>
                </a:highlight>
                <a:latin typeface="Outfit"/>
                <a:ea typeface="Outfit"/>
                <a:cs typeface="Outfit"/>
                <a:sym typeface="Outfit"/>
              </a:endParaRPr>
            </a:p>
            <a:p>
              <a:pPr indent="0" lvl="0" marL="0" rtl="0" algn="l">
                <a:spcBef>
                  <a:spcPts val="300"/>
                </a:spcBef>
                <a:spcAft>
                  <a:spcPts val="0"/>
                </a:spcAft>
                <a:buNone/>
              </a:pPr>
              <a:r>
                <a:rPr b="0" lang="en-GB" sz="1100">
                  <a:solidFill>
                    <a:srgbClr val="2C2C2A"/>
                  </a:solidFill>
                  <a:highlight>
                    <a:srgbClr val="F8FAFC"/>
                  </a:highlight>
                  <a:latin typeface="Lora"/>
                  <a:ea typeface="Lora"/>
                  <a:cs typeface="Lora"/>
                  <a:sym typeface="Lora"/>
                </a:rPr>
                <a:t>of 31,132 public skills analysed carried at least one vulnerability.</a:t>
              </a:r>
              <a:endParaRPr b="0" sz="1100">
                <a:solidFill>
                  <a:srgbClr val="2C2C2A"/>
                </a:solidFill>
                <a:highlight>
                  <a:srgbClr val="F8FAFC"/>
                </a:highlight>
                <a:latin typeface="Lora"/>
                <a:ea typeface="Lora"/>
                <a:cs typeface="Lora"/>
                <a:sym typeface="Lora"/>
              </a:endParaRPr>
            </a:p>
            <a:p>
              <a:pPr indent="0" lvl="0" marL="0" rtl="0" algn="l">
                <a:spcBef>
                  <a:spcPts val="600"/>
                </a:spcBef>
                <a:spcAft>
                  <a:spcPts val="0"/>
                </a:spcAft>
                <a:buNone/>
              </a:pPr>
              <a:r>
                <a:rPr b="0" lang="en-GB" sz="950">
                  <a:solidFill>
                    <a:srgbClr val="64748B"/>
                  </a:solidFill>
                  <a:latin typeface="Outfit"/>
                  <a:ea typeface="Outfit"/>
                  <a:cs typeface="Outfit"/>
                  <a:sym typeface="Outfit"/>
                </a:rPr>
                <a:t>Agent Skills in the Wild, 2026 · CSA research note, May 2026</a:t>
              </a:r>
              <a:endParaRPr b="0" sz="950">
                <a:solidFill>
                  <a:srgbClr val="64748B"/>
                </a:solidFill>
                <a:latin typeface="Outfit"/>
                <a:ea typeface="Outfit"/>
                <a:cs typeface="Outfit"/>
                <a:sym typeface="Outfit"/>
              </a:endParaRPr>
            </a:p>
          </p:txBody>
        </p:sp>
      </p:grpSp>
      <p:grpSp>
        <p:nvGrpSpPr>
          <p:cNvPr id="735" name="Google Shape;735;p42"/>
          <p:cNvGrpSpPr/>
          <p:nvPr/>
        </p:nvGrpSpPr>
        <p:grpSpPr>
          <a:xfrm>
            <a:off x="7985760" y="1857375"/>
            <a:ext cx="3381300" cy="4381500"/>
            <a:chOff x="0" y="0"/>
            <a:chExt cx="3381300" cy="4381500"/>
          </a:xfrm>
        </p:grpSpPr>
        <p:sp>
          <p:nvSpPr>
            <p:cNvPr id="736" name="Google Shape;736;p42"/>
            <p:cNvSpPr/>
            <p:nvPr/>
          </p:nvSpPr>
          <p:spPr>
            <a:xfrm>
              <a:off x="0" y="0"/>
              <a:ext cx="3381300" cy="4381500"/>
            </a:xfrm>
            <a:prstGeom prst="roundRect">
              <a:avLst>
                <a:gd fmla="val 2253"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37" name="Google Shape;737;p42"/>
            <p:cNvSpPr txBox="1"/>
            <p:nvPr/>
          </p:nvSpPr>
          <p:spPr>
            <a:xfrm>
              <a:off x="266700" y="266700"/>
              <a:ext cx="2847900" cy="3848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1500">
                  <a:solidFill>
                    <a:srgbClr val="0064FF"/>
                  </a:solidFill>
                  <a:latin typeface="Outfit SemiBold"/>
                  <a:ea typeface="Outfit SemiBold"/>
                  <a:cs typeface="Outfit SemiBold"/>
                  <a:sym typeface="Outfit SemiBold"/>
                </a:rPr>
                <a:t>Today's Context</a:t>
              </a:r>
              <a:endParaRPr b="0" sz="1500">
                <a:solidFill>
                  <a:srgbClr val="0064FF"/>
                </a:solidFill>
                <a:latin typeface="Outfit SemiBold"/>
                <a:ea typeface="Outfit SemiBold"/>
                <a:cs typeface="Outfit SemiBold"/>
                <a:sym typeface="Outfit SemiBold"/>
              </a:endParaRPr>
            </a:p>
            <a:p>
              <a:pPr indent="0" lvl="0" marL="0" rtl="0" algn="l">
                <a:spcBef>
                  <a:spcPts val="900"/>
                </a:spcBef>
                <a:spcAft>
                  <a:spcPts val="0"/>
                </a:spcAft>
                <a:buNone/>
              </a:pPr>
              <a:r>
                <a:rPr b="0" lang="en-GB" sz="1250">
                  <a:solidFill>
                    <a:srgbClr val="2C2C2A"/>
                  </a:solidFill>
                  <a:latin typeface="Lora"/>
                  <a:ea typeface="Lora"/>
                  <a:cs typeface="Lora"/>
                  <a:sym typeface="Lora"/>
                </a:rPr>
                <a:t>This room runs on trust, so no read-before-load rule is imposed today. That is a property of this room, not of the world — which is why identity and trust standards are being built at all.</a:t>
              </a:r>
              <a:endParaRPr b="0" sz="1250">
                <a:solidFill>
                  <a:srgbClr val="2C2C2A"/>
                </a:solidFill>
                <a:latin typeface="Lora"/>
                <a:ea typeface="Lora"/>
                <a:cs typeface="Lora"/>
                <a:sym typeface="Lora"/>
              </a:endParaRPr>
            </a:p>
          </p:txBody>
        </p:sp>
      </p:grpSp>
      <p:sp>
        <p:nvSpPr>
          <p:cNvPr id="738" name="Google Shape;738;p42"/>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739" name="Google Shape;739;p42"/>
          <p:cNvSpPr txBox="1"/>
          <p:nvPr>
            <p:ph idx="1" type="body"/>
          </p:nvPr>
        </p:nvSpPr>
        <p:spPr>
          <a:xfrm>
            <a:off x="822960" y="457200"/>
            <a:ext cx="9144000" cy="320100"/>
          </a:xfrm>
          <a:prstGeom prst="rect">
            <a:avLst/>
          </a:prstGeom>
          <a:noFill/>
          <a:ln>
            <a:noFill/>
          </a:ln>
        </p:spPr>
        <p:txBody>
          <a:bodyPr anchorCtr="0" anchor="t" bIns="0" lIns="0" spcFirstLastPara="1" rIns="0" wrap="square" tIns="0">
            <a:noAutofit/>
          </a:bodyPr>
          <a:lstStyle/>
          <a:p>
            <a:pPr indent="0" lvl="0" marL="0" rtl="0" algn="l">
              <a:lnSpc>
                <a:spcPct val="118000"/>
              </a:lnSpc>
              <a:spcBef>
                <a:spcPts val="0"/>
              </a:spcBef>
              <a:spcAft>
                <a:spcPts val="0"/>
              </a:spcAft>
              <a:buClr>
                <a:srgbClr val="0064FF"/>
              </a:buClr>
              <a:buSzPts val="1200"/>
              <a:buFont typeface="Outfit"/>
              <a:buNone/>
            </a:pPr>
            <a:r>
              <a:rPr lang="en-GB"/>
              <a:t>SESSION 3 · BRIDGES · CONCEPTS</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3" name="Shape 743"/>
        <p:cNvGrpSpPr/>
        <p:nvPr/>
      </p:nvGrpSpPr>
      <p:grpSpPr>
        <a:xfrm>
          <a:off x="0" y="0"/>
          <a:ext cx="0" cy="0"/>
          <a:chOff x="0" y="0"/>
          <a:chExt cx="0" cy="0"/>
        </a:xfrm>
      </p:grpSpPr>
      <p:sp>
        <p:nvSpPr>
          <p:cNvPr id="744" name="Google Shape;744;p43"/>
          <p:cNvSpPr txBox="1"/>
          <p:nvPr>
            <p:ph type="title"/>
          </p:nvPr>
        </p:nvSpPr>
        <p:spPr>
          <a:xfrm>
            <a:off x="822960" y="914400"/>
            <a:ext cx="9692700" cy="1371600"/>
          </a:xfrm>
          <a:prstGeom prst="rect">
            <a:avLst/>
          </a:prstGeom>
          <a:noFill/>
          <a:ln>
            <a:noFill/>
          </a:ln>
        </p:spPr>
        <p:txBody>
          <a:bodyPr anchorCtr="0" anchor="t" bIns="0" lIns="0" spcFirstLastPara="1" rIns="0" wrap="square" tIns="0">
            <a:noAutofit/>
          </a:bodyPr>
          <a:lstStyle/>
          <a:p>
            <a:pPr indent="0" lvl="0" marL="0" rtl="0" algn="l">
              <a:lnSpc>
                <a:spcPct val="96000"/>
              </a:lnSpc>
              <a:spcBef>
                <a:spcPts val="0"/>
              </a:spcBef>
              <a:spcAft>
                <a:spcPts val="0"/>
              </a:spcAft>
              <a:buClr>
                <a:srgbClr val="2C2C2A"/>
              </a:buClr>
              <a:buSzPts val="2800"/>
              <a:buFont typeface="Instrument Serif"/>
              <a:buNone/>
            </a:pPr>
            <a:r>
              <a:rPr lang="en-GB"/>
              <a:t>Ask your assistant to combine two or more kits into one repeatable process.</a:t>
            </a:r>
            <a:endParaRPr/>
          </a:p>
        </p:txBody>
      </p:sp>
      <p:grpSp>
        <p:nvGrpSpPr>
          <p:cNvPr id="745" name="Google Shape;745;p43"/>
          <p:cNvGrpSpPr/>
          <p:nvPr/>
        </p:nvGrpSpPr>
        <p:grpSpPr>
          <a:xfrm>
            <a:off x="822960" y="1666875"/>
            <a:ext cx="5143500" cy="2143200"/>
            <a:chOff x="0" y="0"/>
            <a:chExt cx="5143500" cy="2143200"/>
          </a:xfrm>
        </p:grpSpPr>
        <p:sp>
          <p:nvSpPr>
            <p:cNvPr id="746" name="Google Shape;746;p43"/>
            <p:cNvSpPr/>
            <p:nvPr/>
          </p:nvSpPr>
          <p:spPr>
            <a:xfrm>
              <a:off x="0" y="0"/>
              <a:ext cx="5143500" cy="2143200"/>
            </a:xfrm>
            <a:prstGeom prst="roundRect">
              <a:avLst>
                <a:gd fmla="val 3555"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47" name="Google Shape;747;p43"/>
            <p:cNvSpPr txBox="1"/>
            <p:nvPr/>
          </p:nvSpPr>
          <p:spPr>
            <a:xfrm>
              <a:off x="0" y="0"/>
              <a:ext cx="5143500" cy="2143200"/>
            </a:xfrm>
            <a:prstGeom prst="rect">
              <a:avLst/>
            </a:prstGeom>
            <a:noFill/>
            <a:ln>
              <a:noFill/>
            </a:ln>
          </p:spPr>
          <p:txBody>
            <a:bodyPr anchorCtr="0" anchor="t" bIns="190500" lIns="190500" spcFirstLastPara="1" rIns="190500" wrap="square" tIns="190500">
              <a:noAutofit/>
            </a:bodyPr>
            <a:lstStyle/>
            <a:p>
              <a:pPr indent="0" lvl="0" marL="0" rtl="0" algn="l">
                <a:spcBef>
                  <a:spcPts val="0"/>
                </a:spcBef>
                <a:spcAft>
                  <a:spcPts val="0"/>
                </a:spcAft>
                <a:buNone/>
              </a:pPr>
              <a:r>
                <a:rPr b="0" lang="en-GB" sz="1100">
                  <a:solidFill>
                    <a:srgbClr val="0064FF"/>
                  </a:solidFill>
                  <a:latin typeface="Outfit SemiBold"/>
                  <a:ea typeface="Outfit SemiBold"/>
                  <a:cs typeface="Outfit SemiBold"/>
                  <a:sym typeface="Outfit SemiBold"/>
                </a:rPr>
                <a:t>Paste this to your assistant</a:t>
              </a:r>
              <a:endParaRPr b="0" sz="1100">
                <a:solidFill>
                  <a:srgbClr val="0064FF"/>
                </a:solidFill>
                <a:latin typeface="Outfit SemiBold"/>
                <a:ea typeface="Outfit SemiBold"/>
                <a:cs typeface="Outfit SemiBold"/>
                <a:sym typeface="Outfit SemiBold"/>
              </a:endParaRPr>
            </a:p>
            <a:p>
              <a:pPr indent="0" lvl="0" marL="0" rtl="0" algn="l">
                <a:spcBef>
                  <a:spcPts val="750"/>
                </a:spcBef>
                <a:spcAft>
                  <a:spcPts val="0"/>
                </a:spcAft>
                <a:buNone/>
              </a:pPr>
              <a:r>
                <a:rPr lang="en-GB" sz="1050">
                  <a:solidFill>
                    <a:srgbClr val="1E293B"/>
                  </a:solidFill>
                  <a:latin typeface="Outfit"/>
                  <a:ea typeface="Outfit"/>
                  <a:cs typeface="Outfit"/>
                  <a:sym typeface="Outfit"/>
                </a:rPr>
                <a:t>Read instructions/S3-bridge.md and do this. TARGET: participants/&lt;their-handle&gt;/s2-factory/ MY KIT CANNOT: &lt;the one thing&gt;</a:t>
              </a:r>
              <a:endParaRPr sz="1050">
                <a:solidFill>
                  <a:srgbClr val="1E293B"/>
                </a:solidFill>
                <a:latin typeface="Outfit"/>
                <a:ea typeface="Outfit"/>
                <a:cs typeface="Outfit"/>
                <a:sym typeface="Outfit"/>
              </a:endParaRPr>
            </a:p>
            <a:p>
              <a:pPr indent="0" lvl="0" marL="0" rtl="0" algn="l">
                <a:spcBef>
                  <a:spcPts val="450"/>
                </a:spcBef>
                <a:spcAft>
                  <a:spcPts val="0"/>
                </a:spcAft>
                <a:buNone/>
              </a:pPr>
              <a:r>
                <a:rPr lang="en-GB" sz="1050">
                  <a:solidFill>
                    <a:srgbClr val="475569"/>
                  </a:solidFill>
                  <a:latin typeface="Outfit"/>
                  <a:ea typeface="Outfit"/>
                  <a:cs typeface="Outfit"/>
                  <a:sym typeface="Outfit"/>
                </a:rPr>
                <a:t>Use the target only through its declared interface. Log every human unblock as one line.</a:t>
              </a:r>
              <a:endParaRPr sz="1050">
                <a:solidFill>
                  <a:srgbClr val="475569"/>
                </a:solidFill>
                <a:latin typeface="Outfit"/>
                <a:ea typeface="Outfit"/>
                <a:cs typeface="Outfit"/>
                <a:sym typeface="Outfit"/>
              </a:endParaRPr>
            </a:p>
          </p:txBody>
        </p:sp>
      </p:grpSp>
      <p:grpSp>
        <p:nvGrpSpPr>
          <p:cNvPr id="748" name="Google Shape;748;p43"/>
          <p:cNvGrpSpPr/>
          <p:nvPr/>
        </p:nvGrpSpPr>
        <p:grpSpPr>
          <a:xfrm>
            <a:off x="6156960" y="1666875"/>
            <a:ext cx="5210100" cy="2143200"/>
            <a:chOff x="0" y="0"/>
            <a:chExt cx="5210100" cy="2143200"/>
          </a:xfrm>
        </p:grpSpPr>
        <p:sp>
          <p:nvSpPr>
            <p:cNvPr id="749" name="Google Shape;749;p43"/>
            <p:cNvSpPr/>
            <p:nvPr/>
          </p:nvSpPr>
          <p:spPr>
            <a:xfrm>
              <a:off x="0" y="0"/>
              <a:ext cx="5210100" cy="2143200"/>
            </a:xfrm>
            <a:prstGeom prst="roundRect">
              <a:avLst>
                <a:gd fmla="val 3555"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50" name="Google Shape;750;p43"/>
            <p:cNvSpPr txBox="1"/>
            <p:nvPr/>
          </p:nvSpPr>
          <p:spPr>
            <a:xfrm>
              <a:off x="0" y="0"/>
              <a:ext cx="5210100" cy="2143200"/>
            </a:xfrm>
            <a:prstGeom prst="rect">
              <a:avLst/>
            </a:prstGeom>
            <a:noFill/>
            <a:ln>
              <a:noFill/>
            </a:ln>
          </p:spPr>
          <p:txBody>
            <a:bodyPr anchorCtr="0" anchor="t" bIns="190500" lIns="190500" spcFirstLastPara="1" rIns="190500" wrap="square" tIns="190500">
              <a:noAutofit/>
            </a:bodyPr>
            <a:lstStyle/>
            <a:p>
              <a:pPr indent="0" lvl="0" marL="0" rtl="0" algn="l">
                <a:spcBef>
                  <a:spcPts val="0"/>
                </a:spcBef>
                <a:spcAft>
                  <a:spcPts val="0"/>
                </a:spcAft>
                <a:buNone/>
              </a:pPr>
              <a:r>
                <a:rPr b="0" lang="en-GB" sz="1100">
                  <a:solidFill>
                    <a:srgbClr val="0064FF"/>
                  </a:solidFill>
                  <a:latin typeface="Outfit SemiBold"/>
                  <a:ea typeface="Outfit SemiBold"/>
                  <a:cs typeface="Outfit SemiBold"/>
                  <a:sym typeface="Outfit SemiBold"/>
                </a:rPr>
                <a:t>How to work during this exercise</a:t>
              </a:r>
              <a:endParaRPr b="0" sz="1100">
                <a:solidFill>
                  <a:srgbClr val="0064FF"/>
                </a:solidFill>
                <a:latin typeface="Outfit SemiBold"/>
                <a:ea typeface="Outfit SemiBold"/>
                <a:cs typeface="Outfit SemiBold"/>
                <a:sym typeface="Outfit SemiBold"/>
              </a:endParaRPr>
            </a:p>
            <a:p>
              <a:pPr indent="0" lvl="0" marL="0" rtl="0" algn="l">
                <a:spcBef>
                  <a:spcPts val="750"/>
                </a:spcBef>
                <a:spcAft>
                  <a:spcPts val="0"/>
                </a:spcAft>
                <a:buNone/>
              </a:pPr>
              <a:r>
                <a:rPr b="0" lang="en-GB" sz="1300">
                  <a:solidFill>
                    <a:srgbClr val="0064FF"/>
                  </a:solidFill>
                  <a:latin typeface="Outfit SemiBold"/>
                  <a:ea typeface="Outfit SemiBold"/>
                  <a:cs typeface="Outfit SemiBold"/>
                  <a:sym typeface="Outfit SemiBold"/>
                </a:rPr>
                <a:t>agent repo agent</a:t>
              </a:r>
              <a:endParaRPr b="0" sz="1300">
                <a:solidFill>
                  <a:srgbClr val="0064FF"/>
                </a:solidFill>
                <a:latin typeface="Outfit SemiBold"/>
                <a:ea typeface="Outfit SemiBold"/>
                <a:cs typeface="Outfit SemiBold"/>
                <a:sym typeface="Outfit SemiBold"/>
              </a:endParaRPr>
            </a:p>
            <a:p>
              <a:pPr indent="0" lvl="0" marL="0" rtl="0" algn="l">
                <a:spcBef>
                  <a:spcPts val="900"/>
                </a:spcBef>
                <a:spcAft>
                  <a:spcPts val="0"/>
                </a:spcAft>
                <a:buNone/>
              </a:pPr>
              <a:r>
                <a:rPr lang="en-GB" sz="1150">
                  <a:solidFill>
                    <a:srgbClr val="2C2C2A"/>
                  </a:solidFill>
                  <a:latin typeface="Lora"/>
                  <a:ea typeface="Lora"/>
                  <a:cs typeface="Lora"/>
                  <a:sym typeface="Lora"/>
                </a:rPr>
                <a:t>Talk to a human only to unblock, and every unblock becomes one line in your log. The block refuses to invent the task that part is yours.</a:t>
              </a:r>
              <a:endParaRPr sz="1150">
                <a:solidFill>
                  <a:srgbClr val="2C2C2A"/>
                </a:solidFill>
                <a:latin typeface="Lora"/>
                <a:ea typeface="Lora"/>
                <a:cs typeface="Lora"/>
                <a:sym typeface="Lora"/>
              </a:endParaRPr>
            </a:p>
          </p:txBody>
        </p:sp>
      </p:grpSp>
      <p:grpSp>
        <p:nvGrpSpPr>
          <p:cNvPr id="751" name="Google Shape;751;p43"/>
          <p:cNvGrpSpPr/>
          <p:nvPr/>
        </p:nvGrpSpPr>
        <p:grpSpPr>
          <a:xfrm>
            <a:off x="822960" y="4000500"/>
            <a:ext cx="3333900" cy="2286000"/>
            <a:chOff x="0" y="0"/>
            <a:chExt cx="3333900" cy="2286000"/>
          </a:xfrm>
        </p:grpSpPr>
        <p:sp>
          <p:nvSpPr>
            <p:cNvPr id="752" name="Google Shape;752;p43"/>
            <p:cNvSpPr/>
            <p:nvPr/>
          </p:nvSpPr>
          <p:spPr>
            <a:xfrm>
              <a:off x="0" y="0"/>
              <a:ext cx="3333900" cy="2286000"/>
            </a:xfrm>
            <a:prstGeom prst="roundRect">
              <a:avLst>
                <a:gd fmla="val 3333"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53" name="Google Shape;753;p43"/>
            <p:cNvSpPr txBox="1"/>
            <p:nvPr/>
          </p:nvSpPr>
          <p:spPr>
            <a:xfrm>
              <a:off x="0" y="0"/>
              <a:ext cx="3333900" cy="2286000"/>
            </a:xfrm>
            <a:prstGeom prst="rect">
              <a:avLst/>
            </a:prstGeom>
            <a:noFill/>
            <a:ln>
              <a:noFill/>
            </a:ln>
          </p:spPr>
          <p:txBody>
            <a:bodyPr anchorCtr="0" anchor="ctr" bIns="190500" lIns="190500" spcFirstLastPara="1" rIns="190500" wrap="square" tIns="190500">
              <a:noAutofit/>
            </a:bodyPr>
            <a:lstStyle/>
            <a:p>
              <a:pPr indent="0" lvl="0" marL="0" rtl="0" algn="l">
                <a:spcBef>
                  <a:spcPts val="0"/>
                </a:spcBef>
                <a:spcAft>
                  <a:spcPts val="0"/>
                </a:spcAft>
                <a:buNone/>
              </a:pPr>
              <a:r>
                <a:rPr b="0" lang="en-GB" sz="1100">
                  <a:solidFill>
                    <a:srgbClr val="0064FF"/>
                  </a:solidFill>
                  <a:latin typeface="Outfit SemiBold"/>
                  <a:ea typeface="Outfit SemiBold"/>
                  <a:cs typeface="Outfit SemiBold"/>
                  <a:sym typeface="Outfit SemiBold"/>
                </a:rPr>
                <a:t>Your target</a:t>
              </a:r>
              <a:endParaRPr b="0" sz="1100">
                <a:solidFill>
                  <a:srgbClr val="0064FF"/>
                </a:solidFill>
                <a:latin typeface="Outfit SemiBold"/>
                <a:ea typeface="Outfit SemiBold"/>
                <a:cs typeface="Outfit SemiBold"/>
                <a:sym typeface="Outfit SemiBold"/>
              </a:endParaRPr>
            </a:p>
            <a:p>
              <a:pPr indent="0" lvl="0" marL="0" rtl="0" algn="l">
                <a:spcBef>
                  <a:spcPts val="300"/>
                </a:spcBef>
                <a:spcAft>
                  <a:spcPts val="0"/>
                </a:spcAft>
                <a:buNone/>
              </a:pPr>
              <a:r>
                <a:rPr lang="en-GB" sz="1100">
                  <a:solidFill>
                    <a:srgbClr val="2C2C2A"/>
                  </a:solidFill>
                  <a:latin typeface="Lora"/>
                  <a:ea typeface="Lora"/>
                  <a:cs typeface="Lora"/>
                  <a:sym typeface="Lora"/>
                </a:rPr>
                <a:t>The kit you did not critique or swap to a facilitator kit</a:t>
              </a:r>
              <a:endParaRPr sz="1100">
                <a:solidFill>
                  <a:srgbClr val="2C2C2A"/>
                </a:solidFill>
                <a:latin typeface="Lora"/>
                <a:ea typeface="Lora"/>
                <a:cs typeface="Lora"/>
                <a:sym typeface="Lora"/>
              </a:endParaRPr>
            </a:p>
            <a:p>
              <a:pPr indent="0" lvl="0" marL="0" rtl="0" algn="l">
                <a:spcBef>
                  <a:spcPts val="1200"/>
                </a:spcBef>
                <a:spcAft>
                  <a:spcPts val="0"/>
                </a:spcAft>
                <a:buNone/>
              </a:pPr>
              <a:r>
                <a:rPr b="0" lang="en-GB" sz="1100">
                  <a:solidFill>
                    <a:srgbClr val="0064FF"/>
                  </a:solidFill>
                  <a:latin typeface="Outfit SemiBold"/>
                  <a:ea typeface="Outfit SemiBold"/>
                  <a:cs typeface="Outfit SemiBold"/>
                  <a:sym typeface="Outfit SemiBold"/>
                </a:rPr>
                <a:t>At minute 30</a:t>
              </a:r>
              <a:endParaRPr b="0" sz="1100">
                <a:solidFill>
                  <a:srgbClr val="0064FF"/>
                </a:solidFill>
                <a:latin typeface="Outfit SemiBold"/>
                <a:ea typeface="Outfit SemiBold"/>
                <a:cs typeface="Outfit SemiBold"/>
                <a:sym typeface="Outfit SemiBold"/>
              </a:endParaRPr>
            </a:p>
            <a:p>
              <a:pPr indent="0" lvl="0" marL="0" rtl="0" algn="l">
                <a:spcBef>
                  <a:spcPts val="300"/>
                </a:spcBef>
                <a:spcAft>
                  <a:spcPts val="0"/>
                </a:spcAft>
                <a:buNone/>
              </a:pPr>
              <a:r>
                <a:rPr lang="en-GB" sz="1100">
                  <a:solidFill>
                    <a:srgbClr val="2C2C2A"/>
                  </a:solidFill>
                  <a:latin typeface="Lora"/>
                  <a:ea typeface="Lora"/>
                  <a:cs typeface="Lora"/>
                  <a:sym typeface="Lora"/>
                </a:rPr>
                <a:t>Stop building. Write the two paragraphs, even if it half-worked</a:t>
              </a:r>
              <a:endParaRPr sz="1100">
                <a:solidFill>
                  <a:srgbClr val="2C2C2A"/>
                </a:solidFill>
                <a:latin typeface="Lora"/>
                <a:ea typeface="Lora"/>
                <a:cs typeface="Lora"/>
                <a:sym typeface="Lora"/>
              </a:endParaRPr>
            </a:p>
          </p:txBody>
        </p:sp>
      </p:grpSp>
      <p:grpSp>
        <p:nvGrpSpPr>
          <p:cNvPr id="754" name="Google Shape;754;p43"/>
          <p:cNvGrpSpPr/>
          <p:nvPr/>
        </p:nvGrpSpPr>
        <p:grpSpPr>
          <a:xfrm>
            <a:off x="4347210" y="4000500"/>
            <a:ext cx="3333900" cy="2286000"/>
            <a:chOff x="0" y="0"/>
            <a:chExt cx="3333900" cy="2286000"/>
          </a:xfrm>
        </p:grpSpPr>
        <p:sp>
          <p:nvSpPr>
            <p:cNvPr id="755" name="Google Shape;755;p43"/>
            <p:cNvSpPr/>
            <p:nvPr/>
          </p:nvSpPr>
          <p:spPr>
            <a:xfrm>
              <a:off x="0" y="0"/>
              <a:ext cx="3333900" cy="2286000"/>
            </a:xfrm>
            <a:prstGeom prst="roundRect">
              <a:avLst>
                <a:gd fmla="val 3333"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56" name="Google Shape;756;p43"/>
            <p:cNvSpPr txBox="1"/>
            <p:nvPr/>
          </p:nvSpPr>
          <p:spPr>
            <a:xfrm>
              <a:off x="0" y="0"/>
              <a:ext cx="3333900" cy="2286000"/>
            </a:xfrm>
            <a:prstGeom prst="rect">
              <a:avLst/>
            </a:prstGeom>
            <a:noFill/>
            <a:ln>
              <a:noFill/>
            </a:ln>
          </p:spPr>
          <p:txBody>
            <a:bodyPr anchorCtr="0" anchor="ctr" bIns="190500" lIns="190500" spcFirstLastPara="1" rIns="190500" wrap="square" tIns="190500">
              <a:noAutofit/>
            </a:bodyPr>
            <a:lstStyle/>
            <a:p>
              <a:pPr indent="0" lvl="0" marL="0" rtl="0" algn="l">
                <a:spcBef>
                  <a:spcPts val="0"/>
                </a:spcBef>
                <a:spcAft>
                  <a:spcPts val="0"/>
                </a:spcAft>
                <a:buNone/>
              </a:pPr>
              <a:r>
                <a:rPr b="0" lang="en-GB" sz="1100">
                  <a:solidFill>
                    <a:srgbClr val="0064FF"/>
                  </a:solidFill>
                  <a:latin typeface="Outfit SemiBold"/>
                  <a:ea typeface="Outfit SemiBold"/>
                  <a:cs typeface="Outfit SemiBold"/>
                  <a:sym typeface="Outfit SemiBold"/>
                </a:rPr>
                <a:t>Done when</a:t>
              </a:r>
              <a:endParaRPr b="0" sz="1100">
                <a:solidFill>
                  <a:srgbClr val="0064FF"/>
                </a:solidFill>
                <a:latin typeface="Outfit SemiBold"/>
                <a:ea typeface="Outfit SemiBold"/>
                <a:cs typeface="Outfit SemiBold"/>
                <a:sym typeface="Outfit SemiBold"/>
              </a:endParaRPr>
            </a:p>
            <a:p>
              <a:pPr indent="0" lvl="0" marL="0" rtl="0" algn="l">
                <a:spcBef>
                  <a:spcPts val="600"/>
                </a:spcBef>
                <a:spcAft>
                  <a:spcPts val="0"/>
                </a:spcAft>
                <a:buNone/>
              </a:pPr>
              <a:r>
                <a:rPr lang="en-GB" sz="1150">
                  <a:solidFill>
                    <a:srgbClr val="2C2C2A"/>
                  </a:solidFill>
                  <a:latin typeface="Lora"/>
                  <a:ea typeface="Lora"/>
                  <a:cs typeface="Lora"/>
                  <a:sym typeface="Lora"/>
                </a:rPr>
                <a:t>A bridge log is pushed, ending with "what a bridge turned out to be"</a:t>
              </a:r>
              <a:endParaRPr sz="1150">
                <a:solidFill>
                  <a:srgbClr val="2C2C2A"/>
                </a:solidFill>
                <a:latin typeface="Lora"/>
                <a:ea typeface="Lora"/>
                <a:cs typeface="Lora"/>
                <a:sym typeface="Lora"/>
              </a:endParaRPr>
            </a:p>
          </p:txBody>
        </p:sp>
      </p:grpSp>
      <p:grpSp>
        <p:nvGrpSpPr>
          <p:cNvPr id="757" name="Google Shape;757;p43"/>
          <p:cNvGrpSpPr/>
          <p:nvPr/>
        </p:nvGrpSpPr>
        <p:grpSpPr>
          <a:xfrm>
            <a:off x="7871460" y="4000500"/>
            <a:ext cx="3495600" cy="2286000"/>
            <a:chOff x="0" y="0"/>
            <a:chExt cx="3495600" cy="2286000"/>
          </a:xfrm>
        </p:grpSpPr>
        <p:sp>
          <p:nvSpPr>
            <p:cNvPr id="758" name="Google Shape;758;p43"/>
            <p:cNvSpPr/>
            <p:nvPr/>
          </p:nvSpPr>
          <p:spPr>
            <a:xfrm>
              <a:off x="0" y="0"/>
              <a:ext cx="3495600" cy="2286000"/>
            </a:xfrm>
            <a:prstGeom prst="roundRect">
              <a:avLst>
                <a:gd fmla="val 3333"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59" name="Google Shape;759;p43"/>
            <p:cNvSpPr txBox="1"/>
            <p:nvPr/>
          </p:nvSpPr>
          <p:spPr>
            <a:xfrm>
              <a:off x="0" y="0"/>
              <a:ext cx="3495600" cy="2286000"/>
            </a:xfrm>
            <a:prstGeom prst="rect">
              <a:avLst/>
            </a:prstGeom>
            <a:noFill/>
            <a:ln>
              <a:noFill/>
            </a:ln>
          </p:spPr>
          <p:txBody>
            <a:bodyPr anchorCtr="0" anchor="ctr" bIns="190500" lIns="190500" spcFirstLastPara="1" rIns="190500" wrap="square" tIns="190500">
              <a:noAutofit/>
            </a:bodyPr>
            <a:lstStyle/>
            <a:p>
              <a:pPr indent="0" lvl="0" marL="0" rtl="0" algn="l">
                <a:spcBef>
                  <a:spcPts val="0"/>
                </a:spcBef>
                <a:spcAft>
                  <a:spcPts val="0"/>
                </a:spcAft>
                <a:buNone/>
              </a:pPr>
              <a:r>
                <a:rPr b="0" lang="en-GB" sz="1100">
                  <a:solidFill>
                    <a:srgbClr val="475569"/>
                  </a:solidFill>
                  <a:latin typeface="Outfit SemiBold"/>
                  <a:ea typeface="Outfit SemiBold"/>
                  <a:cs typeface="Outfit SemiBold"/>
                  <a:sym typeface="Outfit SemiBold"/>
                </a:rPr>
                <a:t>Graph</a:t>
              </a:r>
              <a:endParaRPr b="0" sz="1100">
                <a:solidFill>
                  <a:srgbClr val="475569"/>
                </a:solidFill>
                <a:latin typeface="Outfit SemiBold"/>
                <a:ea typeface="Outfit SemiBold"/>
                <a:cs typeface="Outfit SemiBold"/>
                <a:sym typeface="Outfit SemiBold"/>
              </a:endParaRPr>
            </a:p>
            <a:p>
              <a:pPr indent="0" lvl="0" marL="0" rtl="0" algn="l">
                <a:spcBef>
                  <a:spcPts val="600"/>
                </a:spcBef>
                <a:spcAft>
                  <a:spcPts val="0"/>
                </a:spcAft>
                <a:buNone/>
              </a:pPr>
              <a:r>
                <a:rPr lang="en-GB" sz="1050">
                  <a:solidFill>
                    <a:srgbClr val="334155"/>
                  </a:solidFill>
                  <a:latin typeface="Lora"/>
                  <a:ea typeface="Lora"/>
                  <a:cs typeface="Lora"/>
                  <a:sym typeface="Lora"/>
                </a:rPr>
                <a:t>Several steps laid out in a fixed order, saying which runs next and what it hands on.</a:t>
              </a:r>
              <a:endParaRPr sz="1050">
                <a:solidFill>
                  <a:srgbClr val="334155"/>
                </a:solidFill>
                <a:latin typeface="Lora"/>
                <a:ea typeface="Lora"/>
                <a:cs typeface="Lora"/>
                <a:sym typeface="Lora"/>
              </a:endParaRPr>
            </a:p>
            <a:p>
              <a:pPr indent="0" lvl="0" marL="0" rtl="0" algn="l">
                <a:spcBef>
                  <a:spcPts val="750"/>
                </a:spcBef>
                <a:spcAft>
                  <a:spcPts val="0"/>
                </a:spcAft>
                <a:buNone/>
              </a:pPr>
              <a:r>
                <a:rPr lang="en-GB" sz="1050">
                  <a:solidFill>
                    <a:srgbClr val="334155"/>
                  </a:solidFill>
                  <a:latin typeface="Lora"/>
                  <a:ea typeface="Lora"/>
                  <a:cs typeface="Lora"/>
                  <a:sym typeface="Lora"/>
                </a:rPr>
                <a:t>A bridge is a small graph; a loop walks each step of it.</a:t>
              </a:r>
              <a:endParaRPr sz="1050">
                <a:solidFill>
                  <a:srgbClr val="334155"/>
                </a:solidFill>
                <a:latin typeface="Lora"/>
                <a:ea typeface="Lora"/>
                <a:cs typeface="Lora"/>
                <a:sym typeface="Lora"/>
              </a:endParaRPr>
            </a:p>
          </p:txBody>
        </p:sp>
      </p:grpSp>
      <p:sp>
        <p:nvSpPr>
          <p:cNvPr id="760" name="Google Shape;760;p43"/>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761" name="Google Shape;761;p43"/>
          <p:cNvSpPr txBox="1"/>
          <p:nvPr>
            <p:ph idx="1" type="body"/>
          </p:nvPr>
        </p:nvSpPr>
        <p:spPr>
          <a:xfrm>
            <a:off x="822960" y="457200"/>
            <a:ext cx="9144000" cy="320100"/>
          </a:xfrm>
          <a:prstGeom prst="rect">
            <a:avLst/>
          </a:prstGeom>
          <a:noFill/>
          <a:ln>
            <a:noFill/>
          </a:ln>
        </p:spPr>
        <p:txBody>
          <a:bodyPr anchorCtr="0" anchor="t" bIns="0" lIns="0" spcFirstLastPara="1" rIns="0" wrap="square" tIns="0">
            <a:noAutofit/>
          </a:bodyPr>
          <a:lstStyle/>
          <a:p>
            <a:pPr indent="0" lvl="0" marL="0" rtl="0" algn="l">
              <a:lnSpc>
                <a:spcPct val="118000"/>
              </a:lnSpc>
              <a:spcBef>
                <a:spcPts val="0"/>
              </a:spcBef>
              <a:spcAft>
                <a:spcPts val="0"/>
              </a:spcAft>
              <a:buClr>
                <a:srgbClr val="0064FF"/>
              </a:buClr>
              <a:buSzPts val="1200"/>
              <a:buFont typeface="Outfit"/>
              <a:buNone/>
            </a:pPr>
            <a:r>
              <a:rPr lang="en-GB"/>
              <a:t>SESSION 3 · BRIDGES · EXERCISE</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5" name="Shape 765"/>
        <p:cNvGrpSpPr/>
        <p:nvPr/>
      </p:nvGrpSpPr>
      <p:grpSpPr>
        <a:xfrm>
          <a:off x="0" y="0"/>
          <a:ext cx="0" cy="0"/>
          <a:chOff x="0" y="0"/>
          <a:chExt cx="0" cy="0"/>
        </a:xfrm>
      </p:grpSpPr>
      <p:sp>
        <p:nvSpPr>
          <p:cNvPr id="766" name="Google Shape;766;p44"/>
          <p:cNvSpPr txBox="1"/>
          <p:nvPr>
            <p:ph type="title"/>
          </p:nvPr>
        </p:nvSpPr>
        <p:spPr>
          <a:xfrm>
            <a:off x="822960" y="914400"/>
            <a:ext cx="9692700" cy="1371600"/>
          </a:xfrm>
          <a:prstGeom prst="rect">
            <a:avLst/>
          </a:prstGeom>
          <a:noFill/>
          <a:ln>
            <a:noFill/>
          </a:ln>
        </p:spPr>
        <p:txBody>
          <a:bodyPr anchorCtr="0" anchor="t" bIns="0" lIns="0" spcFirstLastPara="1" rIns="0" wrap="square" tIns="0">
            <a:noAutofit/>
          </a:bodyPr>
          <a:lstStyle/>
          <a:p>
            <a:pPr indent="0" lvl="0" marL="0" rtl="0" algn="l">
              <a:lnSpc>
                <a:spcPct val="96000"/>
              </a:lnSpc>
              <a:spcBef>
                <a:spcPts val="0"/>
              </a:spcBef>
              <a:spcAft>
                <a:spcPts val="0"/>
              </a:spcAft>
              <a:buClr>
                <a:srgbClr val="2C2C2A"/>
              </a:buClr>
              <a:buSzPts val="2800"/>
              <a:buFont typeface="Instrument Serif"/>
              <a:buNone/>
            </a:pPr>
            <a:r>
              <a:rPr lang="en-GB"/>
              <a:t>Share what broke when kits were combined and what made the process repeatable.</a:t>
            </a:r>
            <a:endParaRPr/>
          </a:p>
        </p:txBody>
      </p:sp>
      <p:sp>
        <p:nvSpPr>
          <p:cNvPr id="767" name="Google Shape;767;p44"/>
          <p:cNvSpPr txBox="1"/>
          <p:nvPr>
            <p:ph idx="2" type="body"/>
          </p:nvPr>
        </p:nvSpPr>
        <p:spPr>
          <a:xfrm>
            <a:off x="822960" y="2286000"/>
            <a:ext cx="10546200" cy="1714500"/>
          </a:xfrm>
          <a:prstGeom prst="rect">
            <a:avLst/>
          </a:prstGeom>
          <a:solidFill>
            <a:srgbClr val="E1F5EE"/>
          </a:solidFill>
          <a:ln cap="flat" cmpd="sng" w="9525">
            <a:solidFill>
              <a:srgbClr val="6EE7B7"/>
            </a:solidFill>
            <a:prstDash val="solid"/>
            <a:round/>
            <a:headEnd len="sm" w="sm" type="none"/>
            <a:tailEnd len="sm" w="sm" type="none"/>
          </a:ln>
        </p:spPr>
        <p:txBody>
          <a:bodyPr anchorCtr="0" anchor="ctr" bIns="266700" lIns="342900" spcFirstLastPara="1" rIns="342900" wrap="square" tIns="266700">
            <a:noAutofit/>
          </a:bodyPr>
          <a:lstStyle/>
          <a:p>
            <a:pPr indent="0" lvl="0" marL="0" rtl="0" algn="l">
              <a:spcBef>
                <a:spcPts val="700"/>
              </a:spcBef>
              <a:spcAft>
                <a:spcPts val="0"/>
              </a:spcAft>
              <a:buNone/>
            </a:pPr>
            <a:r>
              <a:rPr b="0" lang="en-GB" sz="1200">
                <a:solidFill>
                  <a:srgbClr val="085041"/>
                </a:solidFill>
                <a:latin typeface="Outfit SemiBold"/>
                <a:ea typeface="Outfit SemiBold"/>
                <a:cs typeface="Outfit SemiBold"/>
                <a:sym typeface="Outfit SemiBold"/>
              </a:rPr>
              <a:t>Fill in the sentence</a:t>
            </a:r>
            <a:endParaRPr b="0" sz="1200">
              <a:solidFill>
                <a:srgbClr val="085041"/>
              </a:solidFill>
              <a:latin typeface="Outfit SemiBold"/>
              <a:ea typeface="Outfit SemiBold"/>
              <a:cs typeface="Outfit SemiBold"/>
              <a:sym typeface="Outfit SemiBold"/>
            </a:endParaRPr>
          </a:p>
          <a:p>
            <a:pPr indent="0" lvl="0" marL="0" rtl="0" algn="l">
              <a:spcBef>
                <a:spcPts val="750"/>
              </a:spcBef>
              <a:spcAft>
                <a:spcPts val="0"/>
              </a:spcAft>
              <a:buNone/>
            </a:pPr>
            <a:r>
              <a:rPr b="0" i="1" lang="en-GB" sz="2000">
                <a:solidFill>
                  <a:srgbClr val="064E3B"/>
                </a:solidFill>
                <a:latin typeface="Lora Medium"/>
                <a:ea typeface="Lora Medium"/>
                <a:cs typeface="Lora Medium"/>
                <a:sym typeface="Lora Medium"/>
              </a:rPr>
              <a:t>"My </a:t>
            </a:r>
            <a:r>
              <a:rPr i="1" lang="en-GB" sz="2000">
                <a:solidFill>
                  <a:srgbClr val="064E3B"/>
                </a:solidFill>
                <a:latin typeface="Lora Medium"/>
                <a:ea typeface="Lora Medium"/>
                <a:cs typeface="Lora Medium"/>
                <a:sym typeface="Lora Medium"/>
              </a:rPr>
              <a:t>assistant</a:t>
            </a:r>
            <a:r>
              <a:rPr b="0" i="1" lang="en-GB" sz="2000">
                <a:solidFill>
                  <a:srgbClr val="064E3B"/>
                </a:solidFill>
                <a:latin typeface="Lora Medium"/>
                <a:ea typeface="Lora Medium"/>
                <a:cs typeface="Lora Medium"/>
                <a:sym typeface="Lora Medium"/>
              </a:rPr>
              <a:t> needed </a:t>
            </a:r>
            <a:r>
              <a:rPr b="1" i="1" lang="en-GB" sz="2000" u="sng">
                <a:solidFill>
                  <a:srgbClr val="064E3B"/>
                </a:solidFill>
                <a:latin typeface="Lora"/>
                <a:ea typeface="Lora"/>
                <a:cs typeface="Lora"/>
                <a:sym typeface="Lora"/>
              </a:rPr>
              <a:t>            </a:t>
            </a:r>
            <a:r>
              <a:rPr b="0" i="1" lang="en-GB" sz="2000">
                <a:solidFill>
                  <a:srgbClr val="064E3B"/>
                </a:solidFill>
                <a:latin typeface="Lora Medium"/>
                <a:ea typeface="Lora Medium"/>
                <a:cs typeface="Lora Medium"/>
                <a:sym typeface="Lora Medium"/>
              </a:rPr>
              <a:t> from the target and found </a:t>
            </a:r>
            <a:r>
              <a:rPr b="1" i="1" lang="en-GB" sz="2000" u="sng">
                <a:solidFill>
                  <a:srgbClr val="064E3B"/>
                </a:solidFill>
                <a:latin typeface="Lora"/>
                <a:ea typeface="Lora"/>
                <a:cs typeface="Lora"/>
                <a:sym typeface="Lora"/>
              </a:rPr>
              <a:t>            </a:t>
            </a:r>
            <a:r>
              <a:rPr b="0" i="1" lang="en-GB" sz="2000">
                <a:solidFill>
                  <a:srgbClr val="064E3B"/>
                </a:solidFill>
                <a:latin typeface="Lora Medium"/>
                <a:ea typeface="Lora Medium"/>
                <a:cs typeface="Lora Medium"/>
                <a:sym typeface="Lora Medium"/>
              </a:rPr>
              <a:t> on its own"</a:t>
            </a:r>
            <a:endParaRPr b="0" i="1" sz="2000">
              <a:solidFill>
                <a:srgbClr val="064E3B"/>
              </a:solidFill>
              <a:latin typeface="Lora Medium"/>
              <a:ea typeface="Lora Medium"/>
              <a:cs typeface="Lora Medium"/>
              <a:sym typeface="Lora Medium"/>
            </a:endParaRPr>
          </a:p>
          <a:p>
            <a:pPr indent="0" lvl="0" marL="0" rtl="0" algn="l">
              <a:spcBef>
                <a:spcPts val="900"/>
              </a:spcBef>
              <a:spcAft>
                <a:spcPts val="0"/>
              </a:spcAft>
              <a:buNone/>
            </a:pPr>
            <a:r>
              <a:rPr lang="en-GB" sz="1100">
                <a:solidFill>
                  <a:srgbClr val="047857"/>
                </a:solidFill>
                <a:latin typeface="Lora"/>
                <a:ea typeface="Lora"/>
                <a:cs typeface="Lora"/>
                <a:sym typeface="Lora"/>
              </a:rPr>
              <a:t>The long version is already in your log — this is the headline only.</a:t>
            </a:r>
            <a:endParaRPr sz="1100">
              <a:solidFill>
                <a:srgbClr val="047857"/>
              </a:solidFill>
              <a:latin typeface="Lora"/>
              <a:ea typeface="Lora"/>
              <a:cs typeface="Lora"/>
              <a:sym typeface="Lora"/>
            </a:endParaRPr>
          </a:p>
        </p:txBody>
      </p:sp>
      <p:grpSp>
        <p:nvGrpSpPr>
          <p:cNvPr id="768" name="Google Shape;768;p44"/>
          <p:cNvGrpSpPr/>
          <p:nvPr/>
        </p:nvGrpSpPr>
        <p:grpSpPr>
          <a:xfrm>
            <a:off x="822960" y="4229100"/>
            <a:ext cx="5139600" cy="2000100"/>
            <a:chOff x="0" y="0"/>
            <a:chExt cx="5139600" cy="2000100"/>
          </a:xfrm>
        </p:grpSpPr>
        <p:sp>
          <p:nvSpPr>
            <p:cNvPr id="769" name="Google Shape;769;p44"/>
            <p:cNvSpPr/>
            <p:nvPr/>
          </p:nvSpPr>
          <p:spPr>
            <a:xfrm>
              <a:off x="0" y="0"/>
              <a:ext cx="5139600" cy="2000100"/>
            </a:xfrm>
            <a:prstGeom prst="roundRect">
              <a:avLst>
                <a:gd fmla="val 5714"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70" name="Google Shape;770;p44"/>
            <p:cNvSpPr txBox="1"/>
            <p:nvPr/>
          </p:nvSpPr>
          <p:spPr>
            <a:xfrm>
              <a:off x="0" y="0"/>
              <a:ext cx="5139600" cy="2000100"/>
            </a:xfrm>
            <a:prstGeom prst="rect">
              <a:avLst/>
            </a:prstGeom>
            <a:noFill/>
            <a:ln>
              <a:noFill/>
            </a:ln>
          </p:spPr>
          <p:txBody>
            <a:bodyPr anchorCtr="0" anchor="t" bIns="266700" lIns="304800" spcFirstLastPara="1" rIns="304800" wrap="square" tIns="266700">
              <a:noAutofit/>
            </a:bodyPr>
            <a:lstStyle/>
            <a:p>
              <a:pPr indent="0" lvl="0" marL="0" rtl="0" algn="l">
                <a:spcBef>
                  <a:spcPts val="0"/>
                </a:spcBef>
                <a:spcAft>
                  <a:spcPts val="0"/>
                </a:spcAft>
                <a:buNone/>
              </a:pPr>
              <a:r>
                <a:rPr b="0" lang="en-GB" sz="1400">
                  <a:solidFill>
                    <a:srgbClr val="0064FF"/>
                  </a:solidFill>
                  <a:latin typeface="Outfit SemiBold"/>
                  <a:ea typeface="Outfit SemiBold"/>
                  <a:cs typeface="Outfit SemiBold"/>
                  <a:sym typeface="Outfit SemiBold"/>
                </a:rPr>
                <a:t>Exercise Notes</a:t>
              </a:r>
              <a:endParaRPr b="0" sz="1400">
                <a:solidFill>
                  <a:srgbClr val="0064FF"/>
                </a:solidFill>
                <a:latin typeface="Outfit SemiBold"/>
                <a:ea typeface="Outfit SemiBold"/>
                <a:cs typeface="Outfit SemiBold"/>
                <a:sym typeface="Outfit SemiBold"/>
              </a:endParaRPr>
            </a:p>
            <a:p>
              <a:pPr indent="-304800" lvl="0" marL="457200" rtl="0" algn="l">
                <a:spcBef>
                  <a:spcPts val="1050"/>
                </a:spcBef>
                <a:spcAft>
                  <a:spcPts val="0"/>
                </a:spcAft>
                <a:buClr>
                  <a:srgbClr val="2C2C2A"/>
                </a:buClr>
                <a:buSzPts val="1200"/>
                <a:buFont typeface="Lora"/>
                <a:buChar char="●"/>
              </a:pPr>
              <a:r>
                <a:rPr lang="en-GB" sz="1200">
                  <a:solidFill>
                    <a:srgbClr val="2C2C2A"/>
                  </a:solidFill>
                  <a:latin typeface="Lora"/>
                  <a:ea typeface="Lora"/>
                  <a:cs typeface="Lora"/>
                  <a:sym typeface="Lora"/>
                </a:rPr>
                <a:t>Order is posted in </a:t>
              </a:r>
              <a:r>
                <a:rPr b="1" lang="en-GB" sz="1200">
                  <a:solidFill>
                    <a:srgbClr val="2C2C2A"/>
                  </a:solidFill>
                  <a:latin typeface="Lora"/>
                  <a:ea typeface="Lora"/>
                  <a:cs typeface="Lora"/>
                  <a:sym typeface="Lora"/>
                </a:rPr>
                <a:t>#workshop-kitkraft</a:t>
              </a:r>
              <a:r>
                <a:rPr lang="en-GB" sz="1200">
                  <a:solidFill>
                    <a:srgbClr val="2C2C2A"/>
                  </a:solidFill>
                  <a:latin typeface="Lora"/>
                  <a:ea typeface="Lora"/>
                  <a:cs typeface="Lora"/>
                  <a:sym typeface="Lora"/>
                </a:rPr>
                <a:t>.</a:t>
              </a:r>
              <a:endParaRPr sz="1200">
                <a:solidFill>
                  <a:srgbClr val="2C2C2A"/>
                </a:solidFill>
                <a:latin typeface="Lora"/>
                <a:ea typeface="Lora"/>
                <a:cs typeface="Lora"/>
                <a:sym typeface="Lora"/>
              </a:endParaRPr>
            </a:p>
            <a:p>
              <a:pPr indent="-304800" lvl="0" marL="457200" rtl="0" algn="l">
                <a:spcBef>
                  <a:spcPts val="750"/>
                </a:spcBef>
                <a:spcAft>
                  <a:spcPts val="0"/>
                </a:spcAft>
                <a:buClr>
                  <a:srgbClr val="2C2C2A"/>
                </a:buClr>
                <a:buSzPts val="1200"/>
                <a:buFont typeface="Lora"/>
                <a:buChar char="●"/>
              </a:pPr>
              <a:r>
                <a:rPr lang="en-GB" sz="1200">
                  <a:solidFill>
                    <a:srgbClr val="2C2C2A"/>
                  </a:solidFill>
                  <a:latin typeface="Lora"/>
                  <a:ea typeface="Lora"/>
                  <a:cs typeface="Lora"/>
                  <a:sym typeface="Lora"/>
                </a:rPr>
                <a:t>A half-worked bridge is a real answer.</a:t>
              </a:r>
              <a:endParaRPr sz="1200">
                <a:solidFill>
                  <a:srgbClr val="2C2C2A"/>
                </a:solidFill>
                <a:latin typeface="Lora"/>
                <a:ea typeface="Lora"/>
                <a:cs typeface="Lora"/>
                <a:sym typeface="Lora"/>
              </a:endParaRPr>
            </a:p>
          </p:txBody>
        </p:sp>
      </p:grpSp>
      <p:grpSp>
        <p:nvGrpSpPr>
          <p:cNvPr id="771" name="Google Shape;771;p44"/>
          <p:cNvGrpSpPr/>
          <p:nvPr/>
        </p:nvGrpSpPr>
        <p:grpSpPr>
          <a:xfrm>
            <a:off x="6229350" y="4229100"/>
            <a:ext cx="5139600" cy="2000100"/>
            <a:chOff x="0" y="0"/>
            <a:chExt cx="5139600" cy="2000100"/>
          </a:xfrm>
        </p:grpSpPr>
        <p:sp>
          <p:nvSpPr>
            <p:cNvPr id="772" name="Google Shape;772;p44"/>
            <p:cNvSpPr/>
            <p:nvPr/>
          </p:nvSpPr>
          <p:spPr>
            <a:xfrm>
              <a:off x="0" y="0"/>
              <a:ext cx="5139600" cy="2000100"/>
            </a:xfrm>
            <a:prstGeom prst="roundRect">
              <a:avLst>
                <a:gd fmla="val 5714"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73" name="Google Shape;773;p44"/>
            <p:cNvSpPr txBox="1"/>
            <p:nvPr/>
          </p:nvSpPr>
          <p:spPr>
            <a:xfrm>
              <a:off x="0" y="0"/>
              <a:ext cx="5139600" cy="2000100"/>
            </a:xfrm>
            <a:prstGeom prst="rect">
              <a:avLst/>
            </a:prstGeom>
            <a:noFill/>
            <a:ln>
              <a:noFill/>
            </a:ln>
          </p:spPr>
          <p:txBody>
            <a:bodyPr anchorCtr="0" anchor="t" bIns="266700" lIns="304800" spcFirstLastPara="1" rIns="304800" wrap="square" tIns="266700">
              <a:noAutofit/>
            </a:bodyPr>
            <a:lstStyle/>
            <a:p>
              <a:pPr indent="0" lvl="0" marL="0" rtl="0" algn="l">
                <a:spcBef>
                  <a:spcPts val="0"/>
                </a:spcBef>
                <a:spcAft>
                  <a:spcPts val="0"/>
                </a:spcAft>
                <a:buNone/>
              </a:pPr>
              <a:r>
                <a:rPr b="0" lang="en-GB" sz="1400">
                  <a:solidFill>
                    <a:srgbClr val="0064FF"/>
                  </a:solidFill>
                  <a:latin typeface="Outfit SemiBold"/>
                  <a:ea typeface="Outfit SemiBold"/>
                  <a:cs typeface="Outfit SemiBold"/>
                  <a:sym typeface="Outfit SemiBold"/>
                </a:rPr>
                <a:t>Done when</a:t>
              </a:r>
              <a:endParaRPr b="0" sz="1400">
                <a:solidFill>
                  <a:srgbClr val="0064FF"/>
                </a:solidFill>
                <a:latin typeface="Outfit SemiBold"/>
                <a:ea typeface="Outfit SemiBold"/>
                <a:cs typeface="Outfit SemiBold"/>
                <a:sym typeface="Outfit SemiBold"/>
              </a:endParaRPr>
            </a:p>
            <a:p>
              <a:pPr indent="0" lvl="0" marL="0" rtl="0" algn="l">
                <a:spcBef>
                  <a:spcPts val="1050"/>
                </a:spcBef>
                <a:spcAft>
                  <a:spcPts val="0"/>
                </a:spcAft>
                <a:buNone/>
              </a:pPr>
              <a:r>
                <a:rPr lang="en-GB" sz="1250">
                  <a:solidFill>
                    <a:srgbClr val="2C2C2A"/>
                  </a:solidFill>
                  <a:latin typeface="Lora"/>
                  <a:ea typeface="Lora"/>
                  <a:cs typeface="Lora"/>
                  <a:sym typeface="Lora"/>
                </a:rPr>
                <a:t>Every person has given one line, and the sentence is filled in.</a:t>
              </a:r>
              <a:endParaRPr sz="1250">
                <a:solidFill>
                  <a:srgbClr val="2C2C2A"/>
                </a:solidFill>
                <a:latin typeface="Lora"/>
                <a:ea typeface="Lora"/>
                <a:cs typeface="Lora"/>
                <a:sym typeface="Lora"/>
              </a:endParaRPr>
            </a:p>
          </p:txBody>
        </p:sp>
      </p:grpSp>
      <p:sp>
        <p:nvSpPr>
          <p:cNvPr id="774" name="Google Shape;774;p44"/>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775" name="Google Shape;775;p44"/>
          <p:cNvSpPr txBox="1"/>
          <p:nvPr>
            <p:ph idx="1" type="body"/>
          </p:nvPr>
        </p:nvSpPr>
        <p:spPr>
          <a:xfrm>
            <a:off x="822960" y="457200"/>
            <a:ext cx="9144000" cy="320100"/>
          </a:xfrm>
          <a:prstGeom prst="rect">
            <a:avLst/>
          </a:prstGeom>
          <a:noFill/>
          <a:ln>
            <a:noFill/>
          </a:ln>
        </p:spPr>
        <p:txBody>
          <a:bodyPr anchorCtr="0" anchor="t" bIns="0" lIns="0" spcFirstLastPara="1" rIns="0" wrap="square" tIns="0">
            <a:noAutofit/>
          </a:bodyPr>
          <a:lstStyle/>
          <a:p>
            <a:pPr indent="0" lvl="0" marL="0" rtl="0" algn="l">
              <a:lnSpc>
                <a:spcPct val="118000"/>
              </a:lnSpc>
              <a:spcBef>
                <a:spcPts val="0"/>
              </a:spcBef>
              <a:spcAft>
                <a:spcPts val="0"/>
              </a:spcAft>
              <a:buClr>
                <a:srgbClr val="0064FF"/>
              </a:buClr>
              <a:buSzPts val="1200"/>
              <a:buFont typeface="Outfit"/>
              <a:buNone/>
            </a:pPr>
            <a:r>
              <a:rPr lang="en-GB"/>
              <a:t>SESSION 3 · BRIDGES · EXERCISE</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9" name="Shape 779"/>
        <p:cNvGrpSpPr/>
        <p:nvPr/>
      </p:nvGrpSpPr>
      <p:grpSpPr>
        <a:xfrm>
          <a:off x="0" y="0"/>
          <a:ext cx="0" cy="0"/>
          <a:chOff x="0" y="0"/>
          <a:chExt cx="0" cy="0"/>
        </a:xfrm>
      </p:grpSpPr>
      <p:grpSp>
        <p:nvGrpSpPr>
          <p:cNvPr id="780" name="Google Shape;780;p46"/>
          <p:cNvGrpSpPr/>
          <p:nvPr/>
        </p:nvGrpSpPr>
        <p:grpSpPr>
          <a:xfrm>
            <a:off x="822960" y="1638300"/>
            <a:ext cx="10546200" cy="1905000"/>
            <a:chOff x="0" y="0"/>
            <a:chExt cx="10546200" cy="1905000"/>
          </a:xfrm>
        </p:grpSpPr>
        <p:sp>
          <p:nvSpPr>
            <p:cNvPr id="781" name="Google Shape;781;p46"/>
            <p:cNvSpPr/>
            <p:nvPr/>
          </p:nvSpPr>
          <p:spPr>
            <a:xfrm>
              <a:off x="0" y="0"/>
              <a:ext cx="10546200" cy="1905000"/>
            </a:xfrm>
            <a:prstGeom prst="roundRect">
              <a:avLst>
                <a:gd fmla="val 600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600"/>
            </a:p>
          </p:txBody>
        </p:sp>
        <p:sp>
          <p:nvSpPr>
            <p:cNvPr id="782" name="Google Shape;782;p46"/>
            <p:cNvSpPr txBox="1"/>
            <p:nvPr/>
          </p:nvSpPr>
          <p:spPr>
            <a:xfrm>
              <a:off x="0" y="0"/>
              <a:ext cx="10546200" cy="1905000"/>
            </a:xfrm>
            <a:prstGeom prst="rect">
              <a:avLst/>
            </a:prstGeom>
            <a:solidFill>
              <a:srgbClr val="000000">
                <a:alpha val="0"/>
              </a:srgbClr>
            </a:solidFill>
            <a:ln>
              <a:noFill/>
            </a:ln>
          </p:spPr>
          <p:txBody>
            <a:bodyPr anchorCtr="0" anchor="ctr" bIns="266700" lIns="342900" spcFirstLastPara="1" rIns="342900" wrap="square" tIns="266700">
              <a:noAutofit/>
            </a:bodyPr>
            <a:lstStyle/>
            <a:p>
              <a:pPr indent="0" lvl="0" marL="0" rtl="0" algn="l">
                <a:spcBef>
                  <a:spcPts val="0"/>
                </a:spcBef>
                <a:spcAft>
                  <a:spcPts val="0"/>
                </a:spcAft>
                <a:buNone/>
              </a:pPr>
              <a:r>
                <a:rPr b="0" lang="en-GB" sz="1300">
                  <a:solidFill>
                    <a:srgbClr val="0064FF"/>
                  </a:solidFill>
                  <a:latin typeface="Outfit SemiBold"/>
                  <a:ea typeface="Outfit SemiBold"/>
                  <a:cs typeface="Outfit SemiBold"/>
                  <a:sym typeface="Outfit SemiBold"/>
                </a:rPr>
                <a:t>Hypothesis</a:t>
              </a:r>
              <a:endParaRPr b="0" sz="1300">
                <a:solidFill>
                  <a:srgbClr val="0064FF"/>
                </a:solidFill>
                <a:latin typeface="Outfit SemiBold"/>
                <a:ea typeface="Outfit SemiBold"/>
                <a:cs typeface="Outfit SemiBold"/>
                <a:sym typeface="Outfit SemiBold"/>
              </a:endParaRPr>
            </a:p>
            <a:p>
              <a:pPr indent="0" lvl="0" marL="0" rtl="0" algn="l">
                <a:spcBef>
                  <a:spcPts val="750"/>
                </a:spcBef>
                <a:spcAft>
                  <a:spcPts val="0"/>
                </a:spcAft>
                <a:buNone/>
              </a:pPr>
              <a:r>
                <a:rPr b="0" lang="en-GB" sz="2000">
                  <a:solidFill>
                    <a:srgbClr val="2C2C2A"/>
                  </a:solidFill>
                  <a:latin typeface="Lora"/>
                  <a:ea typeface="Lora"/>
                  <a:cs typeface="Lora"/>
                  <a:sym typeface="Lora"/>
                </a:rPr>
                <a:t>"A bridge is a protocol between two factories — the smallest thing both sides agree not to change."</a:t>
              </a:r>
              <a:endParaRPr b="0" sz="2000">
                <a:solidFill>
                  <a:srgbClr val="2C2C2A"/>
                </a:solidFill>
                <a:latin typeface="Lora"/>
                <a:ea typeface="Lora"/>
                <a:cs typeface="Lora"/>
                <a:sym typeface="Lora"/>
              </a:endParaRPr>
            </a:p>
          </p:txBody>
        </p:sp>
      </p:grpSp>
      <p:grpSp>
        <p:nvGrpSpPr>
          <p:cNvPr id="783" name="Google Shape;783;p46"/>
          <p:cNvGrpSpPr/>
          <p:nvPr/>
        </p:nvGrpSpPr>
        <p:grpSpPr>
          <a:xfrm>
            <a:off x="822900" y="4286250"/>
            <a:ext cx="10546082" cy="1276297"/>
            <a:chOff x="0" y="0"/>
            <a:chExt cx="5120700" cy="2362200"/>
          </a:xfrm>
        </p:grpSpPr>
        <p:sp>
          <p:nvSpPr>
            <p:cNvPr id="784" name="Google Shape;784;p46"/>
            <p:cNvSpPr/>
            <p:nvPr/>
          </p:nvSpPr>
          <p:spPr>
            <a:xfrm>
              <a:off x="0" y="0"/>
              <a:ext cx="5120700" cy="2362200"/>
            </a:xfrm>
            <a:prstGeom prst="roundRect">
              <a:avLst>
                <a:gd fmla="val 4838"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600"/>
            </a:p>
          </p:txBody>
        </p:sp>
        <p:sp>
          <p:nvSpPr>
            <p:cNvPr id="785" name="Google Shape;785;p46"/>
            <p:cNvSpPr txBox="1"/>
            <p:nvPr/>
          </p:nvSpPr>
          <p:spPr>
            <a:xfrm>
              <a:off x="0" y="0"/>
              <a:ext cx="5120700" cy="2362200"/>
            </a:xfrm>
            <a:prstGeom prst="rect">
              <a:avLst/>
            </a:prstGeom>
            <a:solidFill>
              <a:srgbClr val="000000">
                <a:alpha val="0"/>
              </a:srgbClr>
            </a:solidFill>
            <a:ln>
              <a:noFill/>
            </a:ln>
          </p:spPr>
          <p:txBody>
            <a:bodyPr anchorCtr="0" anchor="ctr" bIns="266700" lIns="304800" spcFirstLastPara="1" rIns="304800" wrap="square" tIns="266700">
              <a:noAutofit/>
            </a:bodyPr>
            <a:lstStyle/>
            <a:p>
              <a:pPr indent="0" lvl="0" marL="0" rtl="0" algn="l">
                <a:spcBef>
                  <a:spcPts val="0"/>
                </a:spcBef>
                <a:spcAft>
                  <a:spcPts val="0"/>
                </a:spcAft>
                <a:buNone/>
              </a:pPr>
              <a:r>
                <a:rPr b="0" lang="en-GB" sz="1300">
                  <a:solidFill>
                    <a:srgbClr val="0064FF"/>
                  </a:solidFill>
                  <a:latin typeface="Outfit SemiBold"/>
                  <a:ea typeface="Outfit SemiBold"/>
                  <a:cs typeface="Outfit SemiBold"/>
                  <a:sym typeface="Outfit SemiBold"/>
                </a:rPr>
                <a:t>§ Protocol</a:t>
              </a:r>
              <a:endParaRPr b="0" sz="1300">
                <a:solidFill>
                  <a:srgbClr val="0064FF"/>
                </a:solidFill>
                <a:latin typeface="Outfit SemiBold"/>
                <a:ea typeface="Outfit SemiBold"/>
                <a:cs typeface="Outfit SemiBold"/>
                <a:sym typeface="Outfit SemiBold"/>
              </a:endParaRPr>
            </a:p>
            <a:p>
              <a:pPr indent="0" lvl="0" marL="0" rtl="0" algn="l">
                <a:spcBef>
                  <a:spcPts val="900"/>
                </a:spcBef>
                <a:spcAft>
                  <a:spcPts val="0"/>
                </a:spcAft>
                <a:buNone/>
              </a:pPr>
              <a:r>
                <a:rPr b="0" lang="en-GB" sz="1550">
                  <a:solidFill>
                    <a:srgbClr val="334155"/>
                  </a:solidFill>
                  <a:latin typeface="Lora"/>
                  <a:ea typeface="Lora"/>
                  <a:cs typeface="Lora"/>
                  <a:sym typeface="Lora"/>
                </a:rPr>
                <a:t>An agreed, reusable way of coordinating that people or programs can rely on without renegotiating it each time. It can be technical, like a file format, or social.</a:t>
              </a:r>
              <a:endParaRPr b="0" sz="1550">
                <a:solidFill>
                  <a:srgbClr val="334155"/>
                </a:solidFill>
                <a:latin typeface="Lora"/>
                <a:ea typeface="Lora"/>
                <a:cs typeface="Lora"/>
                <a:sym typeface="Lora"/>
              </a:endParaRPr>
            </a:p>
          </p:txBody>
        </p:sp>
      </p:grpSp>
      <p:grpSp>
        <p:nvGrpSpPr>
          <p:cNvPr id="786" name="Google Shape;786;p46"/>
          <p:cNvGrpSpPr/>
          <p:nvPr/>
        </p:nvGrpSpPr>
        <p:grpSpPr>
          <a:xfrm>
            <a:off x="822950" y="699300"/>
            <a:ext cx="10546200" cy="748550"/>
            <a:chOff x="-10" y="204000"/>
            <a:chExt cx="10546200" cy="748550"/>
          </a:xfrm>
        </p:grpSpPr>
        <p:sp>
          <p:nvSpPr>
            <p:cNvPr id="787" name="Google Shape;787;p46"/>
            <p:cNvSpPr/>
            <p:nvPr/>
          </p:nvSpPr>
          <p:spPr>
            <a:xfrm>
              <a:off x="-10" y="302150"/>
              <a:ext cx="10546200" cy="6504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88" name="Google Shape;788;p46"/>
            <p:cNvSpPr txBox="1"/>
            <p:nvPr/>
          </p:nvSpPr>
          <p:spPr>
            <a:xfrm>
              <a:off x="-10" y="204000"/>
              <a:ext cx="10546200" cy="748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GB" sz="2960">
                  <a:solidFill>
                    <a:srgbClr val="2C2C2A"/>
                  </a:solidFill>
                  <a:latin typeface="Instrument Serif"/>
                  <a:ea typeface="Instrument Serif"/>
                  <a:cs typeface="Instrument Serif"/>
                  <a:sym typeface="Instrument Serif"/>
                </a:rPr>
                <a:t>Tomorrow's open question: what actually makes a combined process reliable?</a:t>
              </a:r>
              <a:endParaRPr b="0" sz="2960">
                <a:solidFill>
                  <a:srgbClr val="2C2C2A"/>
                </a:solidFill>
                <a:latin typeface="Instrument Serif"/>
                <a:ea typeface="Instrument Serif"/>
                <a:cs typeface="Instrument Serif"/>
                <a:sym typeface="Instrument Serif"/>
              </a:endParaRPr>
            </a:p>
          </p:txBody>
        </p:sp>
      </p:grpSp>
      <p:sp>
        <p:nvSpPr>
          <p:cNvPr id="789" name="Google Shape;789;p46"/>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790" name="Google Shape;790;p46"/>
          <p:cNvSpPr txBox="1"/>
          <p:nvPr>
            <p:ph idx="1" type="body"/>
          </p:nvPr>
        </p:nvSpPr>
        <p:spPr>
          <a:xfrm>
            <a:off x="822960" y="457200"/>
            <a:ext cx="9144000" cy="320100"/>
          </a:xfrm>
          <a:prstGeom prst="rect">
            <a:avLst/>
          </a:prstGeom>
          <a:noFill/>
          <a:ln>
            <a:noFill/>
          </a:ln>
        </p:spPr>
        <p:txBody>
          <a:bodyPr anchorCtr="0" anchor="t" bIns="0" lIns="0" spcFirstLastPara="1" rIns="0" wrap="square" tIns="0">
            <a:noAutofit/>
          </a:bodyPr>
          <a:lstStyle/>
          <a:p>
            <a:pPr indent="0" lvl="0" marL="0" rtl="0" algn="l">
              <a:lnSpc>
                <a:spcPct val="118000"/>
              </a:lnSpc>
              <a:spcBef>
                <a:spcPts val="0"/>
              </a:spcBef>
              <a:spcAft>
                <a:spcPts val="0"/>
              </a:spcAft>
              <a:buClr>
                <a:srgbClr val="0064FF"/>
              </a:buClr>
              <a:buSzPts val="1200"/>
              <a:buFont typeface="Outfit"/>
              <a:buNone/>
            </a:pPr>
            <a:r>
              <a:rPr lang="en-GB" sz="1200">
                <a:solidFill>
                  <a:schemeClr val="accent1"/>
                </a:solidFill>
                <a:latin typeface="Outfit"/>
                <a:ea typeface="Outfit"/>
                <a:cs typeface="Outfit"/>
                <a:sym typeface="Outfit"/>
              </a:rPr>
              <a:t>SESSION 3 · BRIDGES · EXERCISE</a:t>
            </a:r>
            <a:endParaRPr sz="1200">
              <a:solidFill>
                <a:schemeClr val="accent1"/>
              </a:solidFill>
              <a:latin typeface="Outfit"/>
              <a:ea typeface="Outfit"/>
              <a:cs typeface="Outfit"/>
              <a:sym typeface="Outfit"/>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4" name="Shape 794"/>
        <p:cNvGrpSpPr/>
        <p:nvPr/>
      </p:nvGrpSpPr>
      <p:grpSpPr>
        <a:xfrm>
          <a:off x="0" y="0"/>
          <a:ext cx="0" cy="0"/>
          <a:chOff x="0" y="0"/>
          <a:chExt cx="0" cy="0"/>
        </a:xfrm>
      </p:grpSpPr>
      <p:sp>
        <p:nvSpPr>
          <p:cNvPr id="795" name="Google Shape;795;p47"/>
          <p:cNvSpPr/>
          <p:nvPr/>
        </p:nvSpPr>
        <p:spPr>
          <a:xfrm>
            <a:off x="822960" y="457200"/>
            <a:ext cx="91440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796" name="Google Shape;796;p47"/>
          <p:cNvGrpSpPr/>
          <p:nvPr/>
        </p:nvGrpSpPr>
        <p:grpSpPr>
          <a:xfrm>
            <a:off x="822960" y="781050"/>
            <a:ext cx="10544100" cy="762000"/>
            <a:chOff x="0" y="0"/>
            <a:chExt cx="10544100" cy="762000"/>
          </a:xfrm>
        </p:grpSpPr>
        <p:sp>
          <p:nvSpPr>
            <p:cNvPr id="797" name="Google Shape;797;p47"/>
            <p:cNvSpPr/>
            <p:nvPr/>
          </p:nvSpPr>
          <p:spPr>
            <a:xfrm>
              <a:off x="0" y="0"/>
              <a:ext cx="10544100" cy="762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98" name="Google Shape;798;p47"/>
            <p:cNvSpPr txBox="1"/>
            <p:nvPr/>
          </p:nvSpPr>
          <p:spPr>
            <a:xfrm>
              <a:off x="0" y="0"/>
              <a:ext cx="10544100" cy="76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GB" sz="2800">
                  <a:solidFill>
                    <a:srgbClr val="2C2C2A"/>
                  </a:solidFill>
                  <a:latin typeface="Instrument Serif"/>
                  <a:ea typeface="Instrument Serif"/>
                  <a:cs typeface="Instrument Serif"/>
                  <a:sym typeface="Instrument Serif"/>
                </a:rPr>
                <a:t>Before </a:t>
              </a:r>
              <a:r>
                <a:rPr lang="en-GB" sz="2800">
                  <a:solidFill>
                    <a:srgbClr val="2C2C2A"/>
                  </a:solidFill>
                  <a:latin typeface="Instrument Serif"/>
                  <a:ea typeface="Instrument Serif"/>
                  <a:cs typeface="Instrument Serif"/>
                  <a:sym typeface="Instrument Serif"/>
                </a:rPr>
                <a:t>the next session</a:t>
              </a:r>
              <a:r>
                <a:rPr b="0" lang="en-GB" sz="2800">
                  <a:solidFill>
                    <a:srgbClr val="2C2C2A"/>
                  </a:solidFill>
                  <a:latin typeface="Instrument Serif"/>
                  <a:ea typeface="Instrument Serif"/>
                  <a:cs typeface="Instrument Serif"/>
                  <a:sym typeface="Instrument Serif"/>
                </a:rPr>
                <a:t>, save your bridge notes and prepare your short show-and-tell.</a:t>
              </a:r>
              <a:endParaRPr b="0" sz="2800">
                <a:solidFill>
                  <a:srgbClr val="2C2C2A"/>
                </a:solidFill>
                <a:latin typeface="Instrument Serif"/>
                <a:ea typeface="Instrument Serif"/>
                <a:cs typeface="Instrument Serif"/>
                <a:sym typeface="Instrument Serif"/>
              </a:endParaRPr>
            </a:p>
          </p:txBody>
        </p:sp>
      </p:grpSp>
      <p:grpSp>
        <p:nvGrpSpPr>
          <p:cNvPr id="799" name="Google Shape;799;p47"/>
          <p:cNvGrpSpPr/>
          <p:nvPr/>
        </p:nvGrpSpPr>
        <p:grpSpPr>
          <a:xfrm>
            <a:off x="822960" y="1714500"/>
            <a:ext cx="5048400" cy="2190900"/>
            <a:chOff x="0" y="0"/>
            <a:chExt cx="5048400" cy="2190900"/>
          </a:xfrm>
        </p:grpSpPr>
        <p:sp>
          <p:nvSpPr>
            <p:cNvPr id="800" name="Google Shape;800;p47"/>
            <p:cNvSpPr/>
            <p:nvPr/>
          </p:nvSpPr>
          <p:spPr>
            <a:xfrm>
              <a:off x="0" y="0"/>
              <a:ext cx="5048400" cy="2190900"/>
            </a:xfrm>
            <a:prstGeom prst="roundRect">
              <a:avLst>
                <a:gd fmla="val 5217"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01" name="Google Shape;801;p47"/>
            <p:cNvSpPr txBox="1"/>
            <p:nvPr/>
          </p:nvSpPr>
          <p:spPr>
            <a:xfrm>
              <a:off x="0" y="0"/>
              <a:ext cx="5048400" cy="2190900"/>
            </a:xfrm>
            <a:prstGeom prst="rect">
              <a:avLst/>
            </a:prstGeom>
            <a:noFill/>
            <a:ln>
              <a:noFill/>
            </a:ln>
          </p:spPr>
          <p:txBody>
            <a:bodyPr anchorCtr="0" anchor="t" bIns="228600" lIns="228600" spcFirstLastPara="1" rIns="228600" wrap="square" tIns="228600">
              <a:noAutofit/>
            </a:bodyPr>
            <a:lstStyle/>
            <a:p>
              <a:pPr indent="0" lvl="0" marL="0" rtl="0" algn="l">
                <a:spcBef>
                  <a:spcPts val="0"/>
                </a:spcBef>
                <a:spcAft>
                  <a:spcPts val="0"/>
                </a:spcAft>
                <a:buNone/>
              </a:pPr>
              <a:r>
                <a:rPr b="0" lang="en-GB" sz="1400">
                  <a:solidFill>
                    <a:srgbClr val="0064FF"/>
                  </a:solidFill>
                  <a:latin typeface="Outfit SemiBold"/>
                  <a:ea typeface="Outfit SemiBold"/>
                  <a:cs typeface="Outfit SemiBold"/>
                  <a:sym typeface="Outfit SemiBold"/>
                </a:rPr>
                <a:t>Two </a:t>
              </a:r>
              <a:r>
                <a:rPr lang="en-GB">
                  <a:solidFill>
                    <a:srgbClr val="0064FF"/>
                  </a:solidFill>
                  <a:latin typeface="Outfit SemiBold"/>
                  <a:ea typeface="Outfit SemiBold"/>
                  <a:cs typeface="Outfit SemiBold"/>
                  <a:sym typeface="Outfit SemiBold"/>
                </a:rPr>
                <a:t>tasks</a:t>
              </a:r>
              <a:endParaRPr b="0" sz="1400">
                <a:solidFill>
                  <a:srgbClr val="0064FF"/>
                </a:solidFill>
                <a:latin typeface="Outfit SemiBold"/>
                <a:ea typeface="Outfit SemiBold"/>
                <a:cs typeface="Outfit SemiBold"/>
                <a:sym typeface="Outfit SemiBold"/>
              </a:endParaRPr>
            </a:p>
            <a:p>
              <a:pPr indent="-304800" lvl="0" marL="457200" rtl="0" algn="l">
                <a:spcBef>
                  <a:spcPts val="900"/>
                </a:spcBef>
                <a:spcAft>
                  <a:spcPts val="0"/>
                </a:spcAft>
                <a:buClr>
                  <a:srgbClr val="2C2C2A"/>
                </a:buClr>
                <a:buSzPts val="1200"/>
                <a:buFont typeface="Lora"/>
                <a:buChar char="●"/>
              </a:pPr>
              <a:r>
                <a:rPr b="0" lang="en-GB" sz="1200">
                  <a:solidFill>
                    <a:srgbClr val="2C2C2A"/>
                  </a:solidFill>
                  <a:latin typeface="Lora"/>
                  <a:ea typeface="Lora"/>
                  <a:cs typeface="Lora"/>
                  <a:sym typeface="Lora"/>
                </a:rPr>
                <a:t>Finish the bridge log — including the "what a bridge turned out to be" paragraph</a:t>
              </a:r>
              <a:endParaRPr b="0" sz="1200">
                <a:solidFill>
                  <a:srgbClr val="2C2C2A"/>
                </a:solidFill>
                <a:latin typeface="Lora"/>
                <a:ea typeface="Lora"/>
                <a:cs typeface="Lora"/>
                <a:sym typeface="Lora"/>
              </a:endParaRPr>
            </a:p>
            <a:p>
              <a:pPr indent="-304800" lvl="0" marL="457200" rtl="0" algn="l">
                <a:spcBef>
                  <a:spcPts val="750"/>
                </a:spcBef>
                <a:spcAft>
                  <a:spcPts val="0"/>
                </a:spcAft>
                <a:buClr>
                  <a:srgbClr val="2C2C2A"/>
                </a:buClr>
                <a:buSzPts val="1200"/>
                <a:buFont typeface="Lora"/>
                <a:buChar char="●"/>
              </a:pPr>
              <a:r>
                <a:rPr b="0" lang="en-GB" sz="1200">
                  <a:solidFill>
                    <a:srgbClr val="2C2C2A"/>
                  </a:solidFill>
                  <a:latin typeface="Lora"/>
                  <a:ea typeface="Lora"/>
                  <a:cs typeface="Lora"/>
                  <a:sym typeface="Lora"/>
                </a:rPr>
                <a:t>Have your harness prepare your ninety seconds for S4</a:t>
              </a:r>
              <a:endParaRPr b="0" sz="1200">
                <a:solidFill>
                  <a:srgbClr val="2C2C2A"/>
                </a:solidFill>
                <a:latin typeface="Lora"/>
                <a:ea typeface="Lora"/>
                <a:cs typeface="Lora"/>
                <a:sym typeface="Lora"/>
              </a:endParaRPr>
            </a:p>
            <a:p>
              <a:pPr indent="0" lvl="0" marL="0" rtl="0" algn="l">
                <a:spcBef>
                  <a:spcPts val="750"/>
                </a:spcBef>
                <a:spcAft>
                  <a:spcPts val="0"/>
                </a:spcAft>
                <a:buNone/>
              </a:pPr>
              <a:r>
                <a:t/>
              </a:r>
              <a:endParaRPr i="1" sz="1100">
                <a:solidFill>
                  <a:srgbClr val="5F5E5A"/>
                </a:solidFill>
                <a:latin typeface="Lora"/>
                <a:ea typeface="Lora"/>
                <a:cs typeface="Lora"/>
                <a:sym typeface="Lora"/>
              </a:endParaRPr>
            </a:p>
            <a:p>
              <a:pPr indent="0" lvl="0" marL="0" rtl="0" algn="l">
                <a:spcBef>
                  <a:spcPts val="450"/>
                </a:spcBef>
                <a:spcAft>
                  <a:spcPts val="0"/>
                </a:spcAft>
                <a:buNone/>
              </a:pPr>
              <a:r>
                <a:rPr b="0" i="1" lang="en-GB" sz="1100">
                  <a:solidFill>
                    <a:srgbClr val="5F5E5A"/>
                  </a:solidFill>
                  <a:latin typeface="Lora"/>
                  <a:ea typeface="Lora"/>
                  <a:cs typeface="Lora"/>
                  <a:sym typeface="Lora"/>
                </a:rPr>
                <a:t>Note: The hard-mode rerun is optional and goes in the same file.</a:t>
              </a:r>
              <a:endParaRPr b="0" i="1" sz="1100">
                <a:solidFill>
                  <a:srgbClr val="5F5E5A"/>
                </a:solidFill>
                <a:latin typeface="Lora"/>
                <a:ea typeface="Lora"/>
                <a:cs typeface="Lora"/>
                <a:sym typeface="Lora"/>
              </a:endParaRPr>
            </a:p>
          </p:txBody>
        </p:sp>
      </p:grpSp>
      <p:grpSp>
        <p:nvGrpSpPr>
          <p:cNvPr id="802" name="Google Shape;802;p47"/>
          <p:cNvGrpSpPr/>
          <p:nvPr/>
        </p:nvGrpSpPr>
        <p:grpSpPr>
          <a:xfrm>
            <a:off x="6096000" y="1714500"/>
            <a:ext cx="5267400" cy="2190995"/>
            <a:chOff x="0" y="0"/>
            <a:chExt cx="5267400" cy="4476900"/>
          </a:xfrm>
        </p:grpSpPr>
        <p:sp>
          <p:nvSpPr>
            <p:cNvPr id="803" name="Google Shape;803;p47"/>
            <p:cNvSpPr/>
            <p:nvPr/>
          </p:nvSpPr>
          <p:spPr>
            <a:xfrm>
              <a:off x="0" y="0"/>
              <a:ext cx="5267400" cy="4476900"/>
            </a:xfrm>
            <a:prstGeom prst="roundRect">
              <a:avLst>
                <a:gd fmla="val 2553" name="adj"/>
              </a:avLst>
            </a:prstGeom>
            <a:solidFill>
              <a:srgbClr val="E1F5EE"/>
            </a:solidFill>
            <a:ln cap="flat" cmpd="sng" w="9525">
              <a:solidFill>
                <a:srgbClr val="6EE7B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04" name="Google Shape;804;p47"/>
            <p:cNvSpPr txBox="1"/>
            <p:nvPr/>
          </p:nvSpPr>
          <p:spPr>
            <a:xfrm>
              <a:off x="0" y="0"/>
              <a:ext cx="5267400" cy="4476900"/>
            </a:xfrm>
            <a:prstGeom prst="rect">
              <a:avLst/>
            </a:prstGeom>
            <a:noFill/>
            <a:ln>
              <a:noFill/>
            </a:ln>
          </p:spPr>
          <p:txBody>
            <a:bodyPr anchorCtr="0" anchor="t" bIns="266700" lIns="266700" spcFirstLastPara="1" rIns="266700" wrap="square" tIns="266700">
              <a:noAutofit/>
            </a:bodyPr>
            <a:lstStyle/>
            <a:p>
              <a:pPr indent="0" lvl="0" marL="0" rtl="0" algn="l">
                <a:spcBef>
                  <a:spcPts val="0"/>
                </a:spcBef>
                <a:spcAft>
                  <a:spcPts val="0"/>
                </a:spcAft>
                <a:buNone/>
              </a:pPr>
              <a:r>
                <a:rPr b="0" lang="en-GB" sz="1300">
                  <a:solidFill>
                    <a:srgbClr val="085041"/>
                  </a:solidFill>
                  <a:latin typeface="Outfit SemiBold"/>
                  <a:ea typeface="Outfit SemiBold"/>
                  <a:cs typeface="Outfit SemiBold"/>
                  <a:sym typeface="Outfit SemiBold"/>
                </a:rPr>
                <a:t>Paste this to your assistant</a:t>
              </a:r>
              <a:endParaRPr b="0" sz="1300">
                <a:solidFill>
                  <a:srgbClr val="085041"/>
                </a:solidFill>
                <a:latin typeface="Outfit SemiBold"/>
                <a:ea typeface="Outfit SemiBold"/>
                <a:cs typeface="Outfit SemiBold"/>
                <a:sym typeface="Outfit SemiBold"/>
              </a:endParaRPr>
            </a:p>
            <a:p>
              <a:pPr indent="0" lvl="0" marL="0" rtl="0" algn="l">
                <a:spcBef>
                  <a:spcPts val="1200"/>
                </a:spcBef>
                <a:spcAft>
                  <a:spcPts val="0"/>
                </a:spcAft>
                <a:buNone/>
              </a:pPr>
              <a:r>
                <a:rPr b="0" i="1" lang="en-GB" sz="1300">
                  <a:solidFill>
                    <a:srgbClr val="064E3B"/>
                  </a:solidFill>
                  <a:highlight>
                    <a:srgbClr val="FFFFFF"/>
                  </a:highlight>
                  <a:latin typeface="Lora"/>
                  <a:ea typeface="Lora"/>
                  <a:cs typeface="Lora"/>
                  <a:sym typeface="Lora"/>
                </a:rPr>
                <a:t>"Read instructions/S4-show-and-tell.md and do this.</a:t>
              </a:r>
              <a:endParaRPr b="0" i="1" sz="1300">
                <a:solidFill>
                  <a:srgbClr val="064E3B"/>
                </a:solidFill>
                <a:highlight>
                  <a:srgbClr val="FFFFFF"/>
                </a:highlight>
                <a:latin typeface="Lora"/>
                <a:ea typeface="Lora"/>
                <a:cs typeface="Lora"/>
                <a:sym typeface="Lora"/>
              </a:endParaRPr>
            </a:p>
            <a:p>
              <a:pPr indent="0" lvl="0" marL="0" rtl="0" algn="l">
                <a:spcBef>
                  <a:spcPts val="900"/>
                </a:spcBef>
                <a:spcAft>
                  <a:spcPts val="0"/>
                </a:spcAft>
                <a:buNone/>
              </a:pPr>
              <a:r>
                <a:rPr b="0" i="1" lang="en-GB" sz="1300">
                  <a:solidFill>
                    <a:srgbClr val="064E3B"/>
                  </a:solidFill>
                  <a:highlight>
                    <a:srgbClr val="FFFFFF"/>
                  </a:highlight>
                  <a:latin typeface="Lora"/>
                  <a:ea typeface="Lora"/>
                  <a:cs typeface="Lora"/>
                  <a:sym typeface="Lora"/>
                </a:rPr>
                <a:t>From my bridge log, draft show-and-tell.md: target, the one thing, what a human supplied, whether it worked. Ninety seconds spoken. Push it."</a:t>
              </a:r>
              <a:endParaRPr b="0" i="1" sz="1300">
                <a:solidFill>
                  <a:srgbClr val="064E3B"/>
                </a:solidFill>
                <a:highlight>
                  <a:srgbClr val="FFFFFF"/>
                </a:highlight>
                <a:latin typeface="Lora"/>
                <a:ea typeface="Lora"/>
                <a:cs typeface="Lora"/>
                <a:sym typeface="Lora"/>
              </a:endParaRPr>
            </a:p>
          </p:txBody>
        </p:sp>
      </p:grpSp>
      <p:sp>
        <p:nvSpPr>
          <p:cNvPr id="805" name="Google Shape;805;p47"/>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806" name="Google Shape;806;p47"/>
          <p:cNvSpPr txBox="1"/>
          <p:nvPr>
            <p:ph idx="1" type="body"/>
          </p:nvPr>
        </p:nvSpPr>
        <p:spPr>
          <a:xfrm>
            <a:off x="822960" y="457200"/>
            <a:ext cx="9144000" cy="320100"/>
          </a:xfrm>
          <a:prstGeom prst="rect">
            <a:avLst/>
          </a:prstGeom>
          <a:noFill/>
          <a:ln>
            <a:noFill/>
          </a:ln>
        </p:spPr>
        <p:txBody>
          <a:bodyPr anchorCtr="0" anchor="t" bIns="0" lIns="0" spcFirstLastPara="1" rIns="0" wrap="square" tIns="0">
            <a:noAutofit/>
          </a:bodyPr>
          <a:lstStyle/>
          <a:p>
            <a:pPr indent="0" lvl="0" marL="0" rtl="0" algn="l">
              <a:lnSpc>
                <a:spcPct val="118000"/>
              </a:lnSpc>
              <a:spcBef>
                <a:spcPts val="0"/>
              </a:spcBef>
              <a:spcAft>
                <a:spcPts val="0"/>
              </a:spcAft>
              <a:buClr>
                <a:srgbClr val="0064FF"/>
              </a:buClr>
              <a:buSzPts val="1200"/>
              <a:buFont typeface="Outfit"/>
              <a:buNone/>
            </a:pPr>
            <a:r>
              <a:rPr lang="en-GB" sz="1200">
                <a:solidFill>
                  <a:schemeClr val="accent1"/>
                </a:solidFill>
                <a:latin typeface="Outfit"/>
                <a:ea typeface="Outfit"/>
                <a:cs typeface="Outfit"/>
                <a:sym typeface="Outfit"/>
              </a:rPr>
              <a:t>ASYNC 3 · EXERCISE</a:t>
            </a:r>
            <a:endParaRPr sz="1200">
              <a:solidFill>
                <a:schemeClr val="accent1"/>
              </a:solidFill>
              <a:latin typeface="Outfit"/>
              <a:ea typeface="Outfit"/>
              <a:cs typeface="Outfit"/>
              <a:sym typeface="Outfit"/>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0" name="Shape 810"/>
        <p:cNvGrpSpPr/>
        <p:nvPr/>
      </p:nvGrpSpPr>
      <p:grpSpPr>
        <a:xfrm>
          <a:off x="0" y="0"/>
          <a:ext cx="0" cy="0"/>
          <a:chOff x="0" y="0"/>
          <a:chExt cx="0" cy="0"/>
        </a:xfrm>
      </p:grpSpPr>
      <p:pic>
        <p:nvPicPr>
          <p:cNvPr id="811" name="Google Shape;811;p48"/>
          <p:cNvPicPr preferRelativeResize="0"/>
          <p:nvPr/>
        </p:nvPicPr>
        <p:blipFill rotWithShape="1">
          <a:blip r:embed="rId3">
            <a:alphaModFix/>
          </a:blip>
          <a:srcRect b="29926" l="0" r="0" t="13821"/>
          <a:stretch/>
        </p:blipFill>
        <p:spPr>
          <a:xfrm>
            <a:off x="0" y="0"/>
            <a:ext cx="12192000" cy="6858000"/>
          </a:xfrm>
          <a:prstGeom prst="rect">
            <a:avLst/>
          </a:prstGeom>
          <a:noFill/>
          <a:ln>
            <a:noFill/>
          </a:ln>
        </p:spPr>
      </p:pic>
      <p:sp>
        <p:nvSpPr>
          <p:cNvPr id="812" name="Google Shape;812;p48"/>
          <p:cNvSpPr txBox="1"/>
          <p:nvPr>
            <p:ph idx="1" type="body"/>
          </p:nvPr>
        </p:nvSpPr>
        <p:spPr>
          <a:xfrm>
            <a:off x="822960" y="2103120"/>
            <a:ext cx="7315200" cy="457200"/>
          </a:xfrm>
          <a:prstGeom prst="rect">
            <a:avLst/>
          </a:prstGeom>
          <a:noFill/>
          <a:ln>
            <a:noFill/>
          </a:ln>
        </p:spPr>
        <p:txBody>
          <a:bodyPr anchorCtr="0" anchor="b" bIns="0" lIns="0" spcFirstLastPara="1" rIns="0" wrap="square" tIns="0">
            <a:noAutofit/>
          </a:bodyPr>
          <a:lstStyle/>
          <a:p>
            <a:pPr indent="0" lvl="0" marL="0" rtl="0" algn="l">
              <a:lnSpc>
                <a:spcPct val="118000"/>
              </a:lnSpc>
              <a:spcBef>
                <a:spcPts val="0"/>
              </a:spcBef>
              <a:spcAft>
                <a:spcPts val="0"/>
              </a:spcAft>
              <a:buClr>
                <a:srgbClr val="FFFFFF"/>
              </a:buClr>
              <a:buSzPts val="1200"/>
              <a:buFont typeface="Outfit"/>
              <a:buNone/>
            </a:pPr>
            <a:r>
              <a:rPr lang="en-GB"/>
              <a:t>SESSION 4</a:t>
            </a:r>
            <a:endParaRPr/>
          </a:p>
        </p:txBody>
      </p:sp>
      <p:sp>
        <p:nvSpPr>
          <p:cNvPr id="813" name="Google Shape;813;p48"/>
          <p:cNvSpPr txBox="1"/>
          <p:nvPr>
            <p:ph type="title"/>
          </p:nvPr>
        </p:nvSpPr>
        <p:spPr>
          <a:xfrm>
            <a:off x="822960" y="2697480"/>
            <a:ext cx="10332720" cy="1920240"/>
          </a:xfrm>
          <a:prstGeom prst="rect">
            <a:avLst/>
          </a:prstGeom>
          <a:noFill/>
          <a:ln>
            <a:noFill/>
          </a:ln>
        </p:spPr>
        <p:txBody>
          <a:bodyPr anchorCtr="0" anchor="t" bIns="0" lIns="0" spcFirstLastPara="1" rIns="0" wrap="square" tIns="0">
            <a:noAutofit/>
          </a:bodyPr>
          <a:lstStyle/>
          <a:p>
            <a:pPr indent="0" lvl="0" marL="0" rtl="0" algn="l">
              <a:lnSpc>
                <a:spcPct val="94000"/>
              </a:lnSpc>
              <a:spcBef>
                <a:spcPts val="0"/>
              </a:spcBef>
              <a:spcAft>
                <a:spcPts val="0"/>
              </a:spcAft>
              <a:buClr>
                <a:srgbClr val="FFFFFF"/>
              </a:buClr>
              <a:buSzPts val="5400"/>
              <a:buFont typeface="Instrument Serif"/>
              <a:buNone/>
            </a:pPr>
            <a:r>
              <a:rPr lang="en-GB"/>
              <a:t>Show and tell</a:t>
            </a:r>
            <a:endParaRPr/>
          </a:p>
        </p:txBody>
      </p:sp>
      <p:sp>
        <p:nvSpPr>
          <p:cNvPr id="814" name="Google Shape;814;p48"/>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8" name="Shape 818"/>
        <p:cNvGrpSpPr/>
        <p:nvPr/>
      </p:nvGrpSpPr>
      <p:grpSpPr>
        <a:xfrm>
          <a:off x="0" y="0"/>
          <a:ext cx="0" cy="0"/>
          <a:chOff x="0" y="0"/>
          <a:chExt cx="0" cy="0"/>
        </a:xfrm>
      </p:grpSpPr>
      <p:sp>
        <p:nvSpPr>
          <p:cNvPr id="819" name="Google Shape;819;p49"/>
          <p:cNvSpPr txBox="1"/>
          <p:nvPr>
            <p:ph type="title"/>
          </p:nvPr>
        </p:nvSpPr>
        <p:spPr>
          <a:xfrm>
            <a:off x="822960" y="781050"/>
            <a:ext cx="10544100" cy="762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lang="en-GB"/>
              <a:t>What we’ve explored so far…</a:t>
            </a:r>
            <a:endParaRPr b="0" i="0" sz="2800">
              <a:solidFill>
                <a:srgbClr val="2C2C2A"/>
              </a:solidFill>
              <a:latin typeface="Instrument Serif"/>
              <a:ea typeface="Instrument Serif"/>
              <a:cs typeface="Instrument Serif"/>
              <a:sym typeface="Instrument Serif"/>
            </a:endParaRPr>
          </a:p>
        </p:txBody>
      </p:sp>
      <p:grpSp>
        <p:nvGrpSpPr>
          <p:cNvPr id="820" name="Google Shape;820;p49"/>
          <p:cNvGrpSpPr/>
          <p:nvPr/>
        </p:nvGrpSpPr>
        <p:grpSpPr>
          <a:xfrm>
            <a:off x="822960" y="1714500"/>
            <a:ext cx="5048400" cy="4476900"/>
            <a:chOff x="0" y="0"/>
            <a:chExt cx="5048400" cy="4476900"/>
          </a:xfrm>
        </p:grpSpPr>
        <p:sp>
          <p:nvSpPr>
            <p:cNvPr id="821" name="Google Shape;821;p49"/>
            <p:cNvSpPr/>
            <p:nvPr/>
          </p:nvSpPr>
          <p:spPr>
            <a:xfrm>
              <a:off x="0" y="0"/>
              <a:ext cx="5048400" cy="4476900"/>
            </a:xfrm>
            <a:prstGeom prst="roundRect">
              <a:avLst>
                <a:gd fmla="val 2553"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22" name="Google Shape;822;p49"/>
            <p:cNvSpPr txBox="1"/>
            <p:nvPr/>
          </p:nvSpPr>
          <p:spPr>
            <a:xfrm>
              <a:off x="0" y="0"/>
              <a:ext cx="5048400" cy="4476900"/>
            </a:xfrm>
            <a:prstGeom prst="rect">
              <a:avLst/>
            </a:prstGeom>
            <a:noFill/>
            <a:ln>
              <a:noFill/>
            </a:ln>
          </p:spPr>
          <p:txBody>
            <a:bodyPr anchorCtr="0" anchor="t" bIns="266700" lIns="266700" spcFirstLastPara="1" rIns="266700" wrap="square" tIns="266700">
              <a:noAutofit/>
            </a:bodyPr>
            <a:lstStyle/>
            <a:p>
              <a:pPr indent="0" lvl="0" marL="0" rtl="0" algn="l">
                <a:spcBef>
                  <a:spcPts val="0"/>
                </a:spcBef>
                <a:spcAft>
                  <a:spcPts val="0"/>
                </a:spcAft>
                <a:buNone/>
              </a:pPr>
              <a:r>
                <a:rPr b="0" i="0" lang="en-GB" sz="1500">
                  <a:solidFill>
                    <a:srgbClr val="0064FF"/>
                  </a:solidFill>
                  <a:latin typeface="Outfit SemiBold"/>
                  <a:ea typeface="Outfit SemiBold"/>
                  <a:cs typeface="Outfit SemiBold"/>
                  <a:sym typeface="Outfit SemiBold"/>
                </a:rPr>
                <a:t>Created artifacts</a:t>
              </a:r>
              <a:endParaRPr b="0" i="0" sz="1500">
                <a:solidFill>
                  <a:srgbClr val="0064FF"/>
                </a:solidFill>
                <a:latin typeface="Outfit SemiBold"/>
                <a:ea typeface="Outfit SemiBold"/>
                <a:cs typeface="Outfit SemiBold"/>
                <a:sym typeface="Outfit SemiBold"/>
              </a:endParaRPr>
            </a:p>
            <a:p>
              <a:pPr indent="-317500" lvl="0" marL="457200" rtl="0" algn="l">
                <a:spcBef>
                  <a:spcPts val="1200"/>
                </a:spcBef>
                <a:spcAft>
                  <a:spcPts val="0"/>
                </a:spcAft>
                <a:buClr>
                  <a:srgbClr val="0064FF"/>
                </a:buClr>
                <a:buSzPts val="1400"/>
                <a:buFont typeface="Outfit"/>
                <a:buChar char="●"/>
              </a:pPr>
              <a:r>
                <a:rPr b="0" i="0" lang="en-GB" sz="1300">
                  <a:solidFill>
                    <a:srgbClr val="2C2C2A"/>
                  </a:solidFill>
                  <a:latin typeface="Lora"/>
                  <a:ea typeface="Lora"/>
                  <a:cs typeface="Lora"/>
                  <a:sym typeface="Lora"/>
                </a:rPr>
                <a:t>Inventories</a:t>
              </a:r>
              <a:endParaRPr b="0" i="0" sz="1400">
                <a:solidFill>
                  <a:srgbClr val="0064FF"/>
                </a:solidFill>
                <a:latin typeface="Outfit SemiBold"/>
                <a:ea typeface="Outfit SemiBold"/>
                <a:cs typeface="Outfit SemiBold"/>
                <a:sym typeface="Outfit SemiBold"/>
              </a:endParaRPr>
            </a:p>
            <a:p>
              <a:pPr indent="-317500" lvl="0" marL="457200" rtl="0" algn="l">
                <a:spcBef>
                  <a:spcPts val="800"/>
                </a:spcBef>
                <a:spcAft>
                  <a:spcPts val="0"/>
                </a:spcAft>
                <a:buClr>
                  <a:srgbClr val="0064FF"/>
                </a:buClr>
                <a:buSzPts val="1400"/>
                <a:buFont typeface="Outfit"/>
                <a:buChar char="●"/>
              </a:pPr>
              <a:r>
                <a:rPr b="0" i="0" lang="en-GB" sz="1300">
                  <a:solidFill>
                    <a:srgbClr val="2C2C2A"/>
                  </a:solidFill>
                  <a:latin typeface="Lora"/>
                  <a:ea typeface="Lora"/>
                  <a:cs typeface="Lora"/>
                  <a:sym typeface="Lora"/>
                </a:rPr>
                <a:t>Kits turned factory</a:t>
              </a:r>
              <a:endParaRPr b="0" i="0" sz="1400">
                <a:solidFill>
                  <a:srgbClr val="0064FF"/>
                </a:solidFill>
                <a:latin typeface="Outfit SemiBold"/>
                <a:ea typeface="Outfit SemiBold"/>
                <a:cs typeface="Outfit SemiBold"/>
                <a:sym typeface="Outfit SemiBold"/>
              </a:endParaRPr>
            </a:p>
            <a:p>
              <a:pPr indent="-317500" lvl="0" marL="457200" rtl="0" algn="l">
                <a:spcBef>
                  <a:spcPts val="800"/>
                </a:spcBef>
                <a:spcAft>
                  <a:spcPts val="0"/>
                </a:spcAft>
                <a:buClr>
                  <a:srgbClr val="0064FF"/>
                </a:buClr>
                <a:buSzPts val="1400"/>
                <a:buFont typeface="Outfit"/>
                <a:buChar char="●"/>
              </a:pPr>
              <a:r>
                <a:rPr b="0" i="0" lang="en-GB" sz="1300">
                  <a:solidFill>
                    <a:srgbClr val="2C2C2A"/>
                  </a:solidFill>
                  <a:latin typeface="Lora"/>
                  <a:ea typeface="Lora"/>
                  <a:cs typeface="Lora"/>
                  <a:sym typeface="Lora"/>
                </a:rPr>
                <a:t>Bridge logs</a:t>
              </a:r>
              <a:endParaRPr b="0" i="0" sz="1400">
                <a:solidFill>
                  <a:srgbClr val="0064FF"/>
                </a:solidFill>
                <a:latin typeface="Outfit SemiBold"/>
                <a:ea typeface="Outfit SemiBold"/>
                <a:cs typeface="Outfit SemiBold"/>
                <a:sym typeface="Outfit SemiBold"/>
              </a:endParaRPr>
            </a:p>
            <a:p>
              <a:pPr indent="-317500" lvl="0" marL="457200" rtl="0" algn="l">
                <a:spcBef>
                  <a:spcPts val="800"/>
                </a:spcBef>
                <a:spcAft>
                  <a:spcPts val="800"/>
                </a:spcAft>
                <a:buClr>
                  <a:srgbClr val="0064FF"/>
                </a:buClr>
                <a:buSzPts val="1400"/>
                <a:buFont typeface="Outfit"/>
                <a:buChar char="●"/>
              </a:pPr>
              <a:r>
                <a:rPr b="0" i="0" lang="en-GB" sz="1300">
                  <a:solidFill>
                    <a:srgbClr val="2C2C2A"/>
                  </a:solidFill>
                  <a:latin typeface="Lora"/>
                  <a:ea typeface="Lora"/>
                  <a:cs typeface="Lora"/>
                  <a:sym typeface="Lora"/>
                </a:rPr>
                <a:t>3 public transcripts</a:t>
              </a:r>
              <a:endParaRPr b="0" i="1" sz="1200">
                <a:solidFill>
                  <a:srgbClr val="5F5E5A"/>
                </a:solidFill>
                <a:latin typeface="Lora"/>
                <a:ea typeface="Lora"/>
                <a:cs typeface="Lora"/>
                <a:sym typeface="Lora"/>
              </a:endParaRPr>
            </a:p>
          </p:txBody>
        </p:sp>
      </p:grpSp>
      <p:grpSp>
        <p:nvGrpSpPr>
          <p:cNvPr id="823" name="Google Shape;823;p49"/>
          <p:cNvGrpSpPr/>
          <p:nvPr/>
        </p:nvGrpSpPr>
        <p:grpSpPr>
          <a:xfrm>
            <a:off x="6096000" y="1714500"/>
            <a:ext cx="5267400" cy="4476900"/>
            <a:chOff x="0" y="0"/>
            <a:chExt cx="5267400" cy="4476900"/>
          </a:xfrm>
        </p:grpSpPr>
        <p:sp>
          <p:nvSpPr>
            <p:cNvPr id="824" name="Google Shape;824;p49"/>
            <p:cNvSpPr/>
            <p:nvPr/>
          </p:nvSpPr>
          <p:spPr>
            <a:xfrm>
              <a:off x="0" y="0"/>
              <a:ext cx="5267400" cy="4476900"/>
            </a:xfrm>
            <a:prstGeom prst="roundRect">
              <a:avLst>
                <a:gd fmla="val 2553" name="adj"/>
              </a:avLst>
            </a:prstGeom>
            <a:solidFill>
              <a:srgbClr val="E1F5EE"/>
            </a:solidFill>
            <a:ln cap="flat" cmpd="sng" w="9525">
              <a:solidFill>
                <a:srgbClr val="6EE7B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25" name="Google Shape;825;p49"/>
            <p:cNvSpPr txBox="1"/>
            <p:nvPr/>
          </p:nvSpPr>
          <p:spPr>
            <a:xfrm>
              <a:off x="0" y="0"/>
              <a:ext cx="5267400" cy="4476900"/>
            </a:xfrm>
            <a:prstGeom prst="rect">
              <a:avLst/>
            </a:prstGeom>
            <a:noFill/>
            <a:ln>
              <a:noFill/>
            </a:ln>
          </p:spPr>
          <p:txBody>
            <a:bodyPr anchorCtr="0" anchor="t" bIns="266700" lIns="266700" spcFirstLastPara="1" rIns="266700" wrap="square" tIns="266700">
              <a:noAutofit/>
            </a:bodyPr>
            <a:lstStyle/>
            <a:p>
              <a:pPr indent="0" lvl="0" marL="0" rtl="0" algn="l">
                <a:spcBef>
                  <a:spcPts val="0"/>
                </a:spcBef>
                <a:spcAft>
                  <a:spcPts val="0"/>
                </a:spcAft>
                <a:buNone/>
              </a:pPr>
              <a:r>
                <a:rPr b="0" i="0" lang="en-GB" sz="1500">
                  <a:solidFill>
                    <a:srgbClr val="085041"/>
                  </a:solidFill>
                  <a:latin typeface="Outfit SemiBold"/>
                  <a:ea typeface="Outfit SemiBold"/>
                  <a:cs typeface="Outfit SemiBold"/>
                  <a:sym typeface="Outfit SemiBold"/>
                </a:rPr>
                <a:t>Session format &amp; Repository</a:t>
              </a:r>
              <a:endParaRPr b="0" i="0" sz="1500">
                <a:solidFill>
                  <a:srgbClr val="085041"/>
                </a:solidFill>
                <a:latin typeface="Outfit SemiBold"/>
                <a:ea typeface="Outfit SemiBold"/>
                <a:cs typeface="Outfit SemiBold"/>
                <a:sym typeface="Outfit SemiBold"/>
              </a:endParaRPr>
            </a:p>
            <a:p>
              <a:pPr indent="0" lvl="0" marL="0" rtl="0" algn="l">
                <a:spcBef>
                  <a:spcPts val="1200"/>
                </a:spcBef>
                <a:spcAft>
                  <a:spcPts val="0"/>
                </a:spcAft>
                <a:buNone/>
              </a:pPr>
              <a:r>
                <a:rPr lang="en-GB" sz="1200">
                  <a:solidFill>
                    <a:srgbClr val="064E3B"/>
                  </a:solidFill>
                  <a:latin typeface="Lora"/>
                  <a:ea typeface="Lora"/>
                  <a:cs typeface="Lora"/>
                  <a:sym typeface="Lora"/>
                </a:rPr>
                <a:t>Show and tell</a:t>
              </a:r>
              <a:endParaRPr b="0" i="0" sz="1200">
                <a:solidFill>
                  <a:srgbClr val="064E3B"/>
                </a:solidFill>
                <a:latin typeface="Lora"/>
                <a:ea typeface="Lora"/>
                <a:cs typeface="Lora"/>
                <a:sym typeface="Lora"/>
              </a:endParaRPr>
            </a:p>
            <a:p>
              <a:pPr indent="0" lvl="0" marL="0" rtl="0" algn="l">
                <a:spcBef>
                  <a:spcPts val="1000"/>
                </a:spcBef>
                <a:spcAft>
                  <a:spcPts val="1400"/>
                </a:spcAft>
                <a:buNone/>
              </a:pPr>
              <a:r>
                <a:rPr lang="en-GB" sz="1200">
                  <a:solidFill>
                    <a:srgbClr val="064E3B"/>
                  </a:solidFill>
                  <a:latin typeface="Lora"/>
                  <a:ea typeface="Lora"/>
                  <a:cs typeface="Lora"/>
                  <a:sym typeface="Lora"/>
                </a:rPr>
                <a:t>FYI: </a:t>
              </a:r>
              <a:r>
                <a:rPr b="0" i="0" lang="en-GB" sz="1200">
                  <a:solidFill>
                    <a:srgbClr val="064E3B"/>
                  </a:solidFill>
                  <a:latin typeface="Lora"/>
                  <a:ea typeface="Lora"/>
                  <a:cs typeface="Lora"/>
                  <a:sym typeface="Lora"/>
                </a:rPr>
                <a:t>Recording on</a:t>
              </a:r>
              <a:endParaRPr b="0" i="0" sz="1100">
                <a:solidFill>
                  <a:srgbClr val="064E3B"/>
                </a:solidFill>
                <a:highlight>
                  <a:srgbClr val="FFFFFF"/>
                </a:highlight>
                <a:latin typeface="Lora"/>
                <a:ea typeface="Lora"/>
                <a:cs typeface="Lora"/>
                <a:sym typeface="Lora"/>
              </a:endParaRPr>
            </a:p>
          </p:txBody>
        </p:sp>
      </p:grpSp>
      <p:sp>
        <p:nvSpPr>
          <p:cNvPr id="826" name="Google Shape;826;p49"/>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827" name="Google Shape;827;p49"/>
          <p:cNvSpPr txBox="1"/>
          <p:nvPr>
            <p:ph idx="1" type="body"/>
          </p:nvPr>
        </p:nvSpPr>
        <p:spPr>
          <a:xfrm>
            <a:off x="822960" y="457200"/>
            <a:ext cx="9144000" cy="320100"/>
          </a:xfrm>
          <a:prstGeom prst="rect">
            <a:avLst/>
          </a:prstGeom>
          <a:noFill/>
          <a:ln>
            <a:noFill/>
          </a:ln>
        </p:spPr>
        <p:txBody>
          <a:bodyPr anchorCtr="0" anchor="t" bIns="0" lIns="0" spcFirstLastPara="1" rIns="0" wrap="square" tIns="0">
            <a:noAutofit/>
          </a:bodyPr>
          <a:lstStyle/>
          <a:p>
            <a:pPr indent="0" lvl="0" marL="0" rtl="0" algn="l">
              <a:lnSpc>
                <a:spcPct val="118000"/>
              </a:lnSpc>
              <a:spcBef>
                <a:spcPts val="0"/>
              </a:spcBef>
              <a:spcAft>
                <a:spcPts val="0"/>
              </a:spcAft>
              <a:buClr>
                <a:srgbClr val="0064FF"/>
              </a:buClr>
              <a:buSzPts val="1200"/>
              <a:buFont typeface="Outfit"/>
              <a:buNone/>
            </a:pPr>
            <a:r>
              <a:rPr lang="en-GB"/>
              <a:t>SESSION 4 · SHOW+TELL · OVERVIEW</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1" name="Shape 831"/>
        <p:cNvGrpSpPr/>
        <p:nvPr/>
      </p:nvGrpSpPr>
      <p:grpSpPr>
        <a:xfrm>
          <a:off x="0" y="0"/>
          <a:ext cx="0" cy="0"/>
          <a:chOff x="0" y="0"/>
          <a:chExt cx="0" cy="0"/>
        </a:xfrm>
      </p:grpSpPr>
      <p:sp>
        <p:nvSpPr>
          <p:cNvPr id="832" name="Google Shape;832;p50"/>
          <p:cNvSpPr txBox="1"/>
          <p:nvPr>
            <p:ph type="title"/>
          </p:nvPr>
        </p:nvSpPr>
        <p:spPr>
          <a:xfrm>
            <a:off x="822960" y="876300"/>
            <a:ext cx="9692700" cy="952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n-GB" sz="3200">
                <a:solidFill>
                  <a:srgbClr val="2C2C2A"/>
                </a:solidFill>
                <a:latin typeface="Instrument Serif"/>
                <a:ea typeface="Instrument Serif"/>
                <a:cs typeface="Instrument Serif"/>
                <a:sym typeface="Instrument Serif"/>
              </a:rPr>
              <a:t>In the chat, describe how your bridge went in one word.</a:t>
            </a:r>
            <a:endParaRPr b="0" sz="3200">
              <a:solidFill>
                <a:srgbClr val="2C2C2A"/>
              </a:solidFill>
              <a:latin typeface="Instrument Serif"/>
              <a:ea typeface="Instrument Serif"/>
              <a:cs typeface="Instrument Serif"/>
              <a:sym typeface="Instrument Serif"/>
            </a:endParaRPr>
          </a:p>
        </p:txBody>
      </p:sp>
      <p:grpSp>
        <p:nvGrpSpPr>
          <p:cNvPr id="833" name="Google Shape;833;p50"/>
          <p:cNvGrpSpPr/>
          <p:nvPr/>
        </p:nvGrpSpPr>
        <p:grpSpPr>
          <a:xfrm>
            <a:off x="2638435" y="1927800"/>
            <a:ext cx="3314700" cy="4000500"/>
            <a:chOff x="0" y="0"/>
            <a:chExt cx="3314700" cy="4000500"/>
          </a:xfrm>
        </p:grpSpPr>
        <p:sp>
          <p:nvSpPr>
            <p:cNvPr id="834" name="Google Shape;834;p50"/>
            <p:cNvSpPr/>
            <p:nvPr/>
          </p:nvSpPr>
          <p:spPr>
            <a:xfrm>
              <a:off x="0" y="0"/>
              <a:ext cx="3314700" cy="4000500"/>
            </a:xfrm>
            <a:prstGeom prst="roundRect">
              <a:avLst>
                <a:gd fmla="val 3448"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35" name="Google Shape;835;p50"/>
            <p:cNvSpPr txBox="1"/>
            <p:nvPr/>
          </p:nvSpPr>
          <p:spPr>
            <a:xfrm>
              <a:off x="0" y="0"/>
              <a:ext cx="3314700" cy="4000500"/>
            </a:xfrm>
            <a:prstGeom prst="rect">
              <a:avLst/>
            </a:prstGeom>
            <a:noFill/>
            <a:ln>
              <a:noFill/>
            </a:ln>
          </p:spPr>
          <p:txBody>
            <a:bodyPr anchorCtr="0" anchor="t" bIns="304800" lIns="304800" spcFirstLastPara="1" rIns="304800" wrap="square" tIns="304800">
              <a:noAutofit/>
            </a:bodyPr>
            <a:lstStyle/>
            <a:p>
              <a:pPr indent="0" lvl="0" marL="0" rtl="0" algn="l">
                <a:spcBef>
                  <a:spcPts val="0"/>
                </a:spcBef>
                <a:spcAft>
                  <a:spcPts val="0"/>
                </a:spcAft>
                <a:buNone/>
              </a:pPr>
              <a:r>
                <a:rPr b="0" lang="en-GB" sz="1100">
                  <a:solidFill>
                    <a:srgbClr val="0064FF"/>
                  </a:solidFill>
                  <a:latin typeface="Outfit SemiBold"/>
                  <a:ea typeface="Outfit SemiBold"/>
                  <a:cs typeface="Outfit SemiBold"/>
                  <a:sym typeface="Outfit SemiBold"/>
                </a:rPr>
                <a:t>01 / Channel</a:t>
              </a:r>
              <a:endParaRPr b="0" sz="1100">
                <a:solidFill>
                  <a:srgbClr val="0064FF"/>
                </a:solidFill>
                <a:latin typeface="Outfit SemiBold"/>
                <a:ea typeface="Outfit SemiBold"/>
                <a:cs typeface="Outfit SemiBold"/>
                <a:sym typeface="Outfit SemiBold"/>
              </a:endParaRPr>
            </a:p>
            <a:p>
              <a:pPr indent="0" lvl="0" marL="0" rtl="0" algn="l">
                <a:spcBef>
                  <a:spcPts val="900"/>
                </a:spcBef>
                <a:spcAft>
                  <a:spcPts val="0"/>
                </a:spcAft>
                <a:buNone/>
              </a:pPr>
              <a:r>
                <a:rPr b="0" lang="en-GB" sz="1800">
                  <a:solidFill>
                    <a:srgbClr val="2C2C2A"/>
                  </a:solidFill>
                  <a:latin typeface="Outfit SemiBold"/>
                  <a:ea typeface="Outfit SemiBold"/>
                  <a:cs typeface="Outfit SemiBold"/>
                  <a:sym typeface="Outfit SemiBold"/>
                </a:rPr>
                <a:t>One word in #workshop-kitkraft</a:t>
              </a:r>
              <a:endParaRPr b="0" sz="1800">
                <a:solidFill>
                  <a:srgbClr val="2C2C2A"/>
                </a:solidFill>
                <a:latin typeface="Outfit SemiBold"/>
                <a:ea typeface="Outfit SemiBold"/>
                <a:cs typeface="Outfit SemiBold"/>
                <a:sym typeface="Outfit SemiBold"/>
              </a:endParaRPr>
            </a:p>
            <a:p>
              <a:pPr indent="0" lvl="0" marL="0" rtl="0" algn="l">
                <a:spcBef>
                  <a:spcPts val="1200"/>
                </a:spcBef>
                <a:spcAft>
                  <a:spcPts val="0"/>
                </a:spcAft>
                <a:buNone/>
              </a:pPr>
              <a:r>
                <a:rPr lang="en-GB" sz="1300">
                  <a:solidFill>
                    <a:srgbClr val="4A5568"/>
                  </a:solidFill>
                  <a:latin typeface="Lora"/>
                  <a:ea typeface="Lora"/>
                  <a:cs typeface="Lora"/>
                  <a:sym typeface="Lora"/>
                </a:rPr>
                <a:t>No sentence, no caveat, no explanation. The nine hundred words are already in your log — this is a quick sense of how it went.</a:t>
              </a:r>
              <a:endParaRPr sz="1300">
                <a:solidFill>
                  <a:srgbClr val="4A5568"/>
                </a:solidFill>
                <a:latin typeface="Lora"/>
                <a:ea typeface="Lora"/>
                <a:cs typeface="Lora"/>
                <a:sym typeface="Lora"/>
              </a:endParaRPr>
            </a:p>
          </p:txBody>
        </p:sp>
      </p:grpSp>
      <p:grpSp>
        <p:nvGrpSpPr>
          <p:cNvPr id="836" name="Google Shape;836;p50"/>
          <p:cNvGrpSpPr/>
          <p:nvPr/>
        </p:nvGrpSpPr>
        <p:grpSpPr>
          <a:xfrm>
            <a:off x="6238885" y="1927800"/>
            <a:ext cx="3314700" cy="4000500"/>
            <a:chOff x="0" y="0"/>
            <a:chExt cx="3314700" cy="4000500"/>
          </a:xfrm>
        </p:grpSpPr>
        <p:sp>
          <p:nvSpPr>
            <p:cNvPr id="837" name="Google Shape;837;p50"/>
            <p:cNvSpPr/>
            <p:nvPr/>
          </p:nvSpPr>
          <p:spPr>
            <a:xfrm>
              <a:off x="0" y="0"/>
              <a:ext cx="3314700" cy="4000500"/>
            </a:xfrm>
            <a:prstGeom prst="roundRect">
              <a:avLst>
                <a:gd fmla="val 3448"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38" name="Google Shape;838;p50"/>
            <p:cNvSpPr txBox="1"/>
            <p:nvPr/>
          </p:nvSpPr>
          <p:spPr>
            <a:xfrm>
              <a:off x="0" y="0"/>
              <a:ext cx="3314700" cy="4000500"/>
            </a:xfrm>
            <a:prstGeom prst="rect">
              <a:avLst/>
            </a:prstGeom>
            <a:noFill/>
            <a:ln>
              <a:noFill/>
            </a:ln>
          </p:spPr>
          <p:txBody>
            <a:bodyPr anchorCtr="0" anchor="t" bIns="304800" lIns="304800" spcFirstLastPara="1" rIns="304800" wrap="square" tIns="304800">
              <a:noAutofit/>
            </a:bodyPr>
            <a:lstStyle/>
            <a:p>
              <a:pPr indent="0" lvl="0" marL="0" rtl="0" algn="l">
                <a:spcBef>
                  <a:spcPts val="0"/>
                </a:spcBef>
                <a:spcAft>
                  <a:spcPts val="0"/>
                </a:spcAft>
                <a:buNone/>
              </a:pPr>
              <a:r>
                <a:rPr b="0" lang="en-GB" sz="1100">
                  <a:solidFill>
                    <a:srgbClr val="0064FF"/>
                  </a:solidFill>
                  <a:latin typeface="Outfit SemiBold"/>
                  <a:ea typeface="Outfit SemiBold"/>
                  <a:cs typeface="Outfit SemiBold"/>
                  <a:sym typeface="Outfit SemiBold"/>
                </a:rPr>
                <a:t>02 / Guidance</a:t>
              </a:r>
              <a:endParaRPr b="0" sz="1100">
                <a:solidFill>
                  <a:srgbClr val="0064FF"/>
                </a:solidFill>
                <a:latin typeface="Outfit SemiBold"/>
                <a:ea typeface="Outfit SemiBold"/>
                <a:cs typeface="Outfit SemiBold"/>
                <a:sym typeface="Outfit SemiBold"/>
              </a:endParaRPr>
            </a:p>
            <a:p>
              <a:pPr indent="0" lvl="0" marL="0" rtl="0" algn="l">
                <a:spcBef>
                  <a:spcPts val="900"/>
                </a:spcBef>
                <a:spcAft>
                  <a:spcPts val="0"/>
                </a:spcAft>
                <a:buNone/>
              </a:pPr>
              <a:r>
                <a:rPr b="0" lang="en-GB" sz="1800">
                  <a:solidFill>
                    <a:srgbClr val="2C2C2A"/>
                  </a:solidFill>
                  <a:latin typeface="Outfit SemiBold"/>
                  <a:ea typeface="Outfit SemiBold"/>
                  <a:cs typeface="Outfit SemiBold"/>
                  <a:sym typeface="Outfit SemiBold"/>
                </a:rPr>
                <a:t>Direct answers are welcome</a:t>
              </a:r>
              <a:endParaRPr b="0" sz="1800">
                <a:solidFill>
                  <a:srgbClr val="2C2C2A"/>
                </a:solidFill>
                <a:latin typeface="Outfit SemiBold"/>
                <a:ea typeface="Outfit SemiBold"/>
                <a:cs typeface="Outfit SemiBold"/>
                <a:sym typeface="Outfit SemiBold"/>
              </a:endParaRPr>
            </a:p>
            <a:p>
              <a:pPr indent="0" lvl="0" marL="0" rtl="0" algn="l">
                <a:spcBef>
                  <a:spcPts val="1200"/>
                </a:spcBef>
                <a:spcAft>
                  <a:spcPts val="0"/>
                </a:spcAft>
                <a:buNone/>
              </a:pPr>
              <a:r>
                <a:rPr lang="en-GB" sz="1300">
                  <a:solidFill>
                    <a:srgbClr val="4A5568"/>
                  </a:solidFill>
                  <a:latin typeface="Lora"/>
                  <a:ea typeface="Lora"/>
                  <a:cs typeface="Lora"/>
                  <a:sym typeface="Lora"/>
                </a:rPr>
                <a:t>"Broke", "surprising", "tedious", "nearly" are all useful answers.</a:t>
              </a:r>
              <a:endParaRPr sz="1300">
                <a:solidFill>
                  <a:srgbClr val="4A5568"/>
                </a:solidFill>
                <a:latin typeface="Lora"/>
                <a:ea typeface="Lora"/>
                <a:cs typeface="Lora"/>
                <a:sym typeface="Lora"/>
              </a:endParaRPr>
            </a:p>
            <a:p>
              <a:pPr indent="0" lvl="0" marL="0" rtl="0" algn="l">
                <a:spcBef>
                  <a:spcPts val="1200"/>
                </a:spcBef>
                <a:spcAft>
                  <a:spcPts val="0"/>
                </a:spcAft>
                <a:buNone/>
              </a:pPr>
              <a:r>
                <a:rPr b="0" lang="en-GB" sz="1200">
                  <a:solidFill>
                    <a:srgbClr val="085041"/>
                  </a:solidFill>
                  <a:highlight>
                    <a:srgbClr val="E1F5EE"/>
                  </a:highlight>
                  <a:latin typeface="Lora Medium"/>
                  <a:ea typeface="Lora Medium"/>
                  <a:cs typeface="Lora Medium"/>
                  <a:sym typeface="Lora Medium"/>
                </a:rPr>
                <a:t>The bridge that failed is the most useful file in the repo tonight.</a:t>
              </a:r>
              <a:endParaRPr b="0" sz="1200">
                <a:solidFill>
                  <a:srgbClr val="085041"/>
                </a:solidFill>
                <a:highlight>
                  <a:srgbClr val="E1F5EE"/>
                </a:highlight>
                <a:latin typeface="Lora Medium"/>
                <a:ea typeface="Lora Medium"/>
                <a:cs typeface="Lora Medium"/>
                <a:sym typeface="Lora Medium"/>
              </a:endParaRPr>
            </a:p>
          </p:txBody>
        </p:sp>
      </p:grpSp>
      <p:sp>
        <p:nvSpPr>
          <p:cNvPr id="839" name="Google Shape;839;p50"/>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840" name="Google Shape;840;p50"/>
          <p:cNvSpPr txBox="1"/>
          <p:nvPr>
            <p:ph idx="1" type="body"/>
          </p:nvPr>
        </p:nvSpPr>
        <p:spPr>
          <a:xfrm>
            <a:off x="822960" y="457200"/>
            <a:ext cx="9144000" cy="320100"/>
          </a:xfrm>
          <a:prstGeom prst="rect">
            <a:avLst/>
          </a:prstGeom>
          <a:noFill/>
          <a:ln>
            <a:noFill/>
          </a:ln>
        </p:spPr>
        <p:txBody>
          <a:bodyPr anchorCtr="0" anchor="t" bIns="0" lIns="0" spcFirstLastPara="1" rIns="0" wrap="square" tIns="0">
            <a:noAutofit/>
          </a:bodyPr>
          <a:lstStyle/>
          <a:p>
            <a:pPr indent="0" lvl="0" marL="0" rtl="0" algn="l">
              <a:lnSpc>
                <a:spcPct val="118000"/>
              </a:lnSpc>
              <a:spcBef>
                <a:spcPts val="0"/>
              </a:spcBef>
              <a:spcAft>
                <a:spcPts val="0"/>
              </a:spcAft>
              <a:buClr>
                <a:srgbClr val="0064FF"/>
              </a:buClr>
              <a:buSzPts val="1200"/>
              <a:buFont typeface="Outfit"/>
              <a:buNone/>
            </a:pPr>
            <a:r>
              <a:rPr lang="en-GB"/>
              <a:t>SESSION 4 · SHOW+TELL · EXERCISE</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4" name="Shape 844"/>
        <p:cNvGrpSpPr/>
        <p:nvPr/>
      </p:nvGrpSpPr>
      <p:grpSpPr>
        <a:xfrm>
          <a:off x="0" y="0"/>
          <a:ext cx="0" cy="0"/>
          <a:chOff x="0" y="0"/>
          <a:chExt cx="0" cy="0"/>
        </a:xfrm>
      </p:grpSpPr>
      <p:sp>
        <p:nvSpPr>
          <p:cNvPr id="845" name="Google Shape;845;p52"/>
          <p:cNvSpPr txBox="1"/>
          <p:nvPr>
            <p:ph type="title"/>
          </p:nvPr>
        </p:nvSpPr>
        <p:spPr>
          <a:xfrm>
            <a:off x="822960" y="838200"/>
            <a:ext cx="9692700" cy="6669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n-GB" sz="3200">
                <a:solidFill>
                  <a:srgbClr val="2C2C2A"/>
                </a:solidFill>
                <a:latin typeface="Instrument Serif"/>
                <a:ea typeface="Instrument Serif"/>
                <a:cs typeface="Instrument Serif"/>
                <a:sym typeface="Instrument Serif"/>
              </a:rPr>
              <a:t>Each person gets a chance to share their show-and-tell.</a:t>
            </a:r>
            <a:endParaRPr b="0" sz="3200">
              <a:solidFill>
                <a:srgbClr val="2C2C2A"/>
              </a:solidFill>
              <a:latin typeface="Instrument Serif"/>
              <a:ea typeface="Instrument Serif"/>
              <a:cs typeface="Instrument Serif"/>
              <a:sym typeface="Instrument Serif"/>
            </a:endParaRPr>
          </a:p>
        </p:txBody>
      </p:sp>
      <p:grpSp>
        <p:nvGrpSpPr>
          <p:cNvPr id="846" name="Google Shape;846;p52"/>
          <p:cNvGrpSpPr/>
          <p:nvPr/>
        </p:nvGrpSpPr>
        <p:grpSpPr>
          <a:xfrm>
            <a:off x="2630810" y="1724100"/>
            <a:ext cx="3314700" cy="4000500"/>
            <a:chOff x="0" y="0"/>
            <a:chExt cx="3314700" cy="4000500"/>
          </a:xfrm>
        </p:grpSpPr>
        <p:sp>
          <p:nvSpPr>
            <p:cNvPr id="847" name="Google Shape;847;p52"/>
            <p:cNvSpPr/>
            <p:nvPr/>
          </p:nvSpPr>
          <p:spPr>
            <a:xfrm>
              <a:off x="0" y="0"/>
              <a:ext cx="3314700" cy="4000500"/>
            </a:xfrm>
            <a:prstGeom prst="roundRect">
              <a:avLst>
                <a:gd fmla="val 3448"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48" name="Google Shape;848;p52"/>
            <p:cNvSpPr txBox="1"/>
            <p:nvPr/>
          </p:nvSpPr>
          <p:spPr>
            <a:xfrm>
              <a:off x="0" y="0"/>
              <a:ext cx="3314700" cy="4000500"/>
            </a:xfrm>
            <a:prstGeom prst="rect">
              <a:avLst/>
            </a:prstGeom>
            <a:noFill/>
            <a:ln>
              <a:noFill/>
            </a:ln>
          </p:spPr>
          <p:txBody>
            <a:bodyPr anchorCtr="0" anchor="t" bIns="266700" lIns="266700" spcFirstLastPara="1" rIns="266700" wrap="square" tIns="266700">
              <a:noAutofit/>
            </a:bodyPr>
            <a:lstStyle/>
            <a:p>
              <a:pPr indent="0" lvl="0" marL="0" rtl="0" algn="l">
                <a:spcBef>
                  <a:spcPts val="0"/>
                </a:spcBef>
                <a:spcAft>
                  <a:spcPts val="0"/>
                </a:spcAft>
                <a:buNone/>
              </a:pPr>
              <a:r>
                <a:rPr b="0" lang="en-GB" sz="1100">
                  <a:solidFill>
                    <a:srgbClr val="0064FF"/>
                  </a:solidFill>
                  <a:latin typeface="Outfit SemiBold"/>
                  <a:ea typeface="Outfit SemiBold"/>
                  <a:cs typeface="Outfit SemiBold"/>
                  <a:sym typeface="Outfit SemiBold"/>
                </a:rPr>
                <a:t>01 / Structure</a:t>
              </a:r>
              <a:endParaRPr b="0" sz="1100">
                <a:solidFill>
                  <a:srgbClr val="0064FF"/>
                </a:solidFill>
                <a:latin typeface="Outfit SemiBold"/>
                <a:ea typeface="Outfit SemiBold"/>
                <a:cs typeface="Outfit SemiBold"/>
                <a:sym typeface="Outfit SemiBold"/>
              </a:endParaRPr>
            </a:p>
            <a:p>
              <a:pPr indent="0" lvl="0" marL="0" rtl="0" algn="l">
                <a:spcBef>
                  <a:spcPts val="600"/>
                </a:spcBef>
                <a:spcAft>
                  <a:spcPts val="0"/>
                </a:spcAft>
                <a:buNone/>
              </a:pPr>
              <a:r>
                <a:rPr lang="en-GB" sz="1800">
                  <a:solidFill>
                    <a:srgbClr val="2C2C2A"/>
                  </a:solidFill>
                  <a:latin typeface="Outfit SemiBold"/>
                  <a:ea typeface="Outfit SemiBold"/>
                  <a:cs typeface="Outfit SemiBold"/>
                  <a:sym typeface="Outfit SemiBold"/>
                </a:rPr>
                <a:t>Overview</a:t>
              </a:r>
              <a:endParaRPr b="0" sz="1800">
                <a:solidFill>
                  <a:srgbClr val="2C2C2A"/>
                </a:solidFill>
                <a:latin typeface="Outfit SemiBold"/>
                <a:ea typeface="Outfit SemiBold"/>
                <a:cs typeface="Outfit SemiBold"/>
                <a:sym typeface="Outfit SemiBold"/>
              </a:endParaRPr>
            </a:p>
            <a:p>
              <a:pPr indent="-304800" lvl="0" marL="457200" rtl="0" algn="l">
                <a:spcBef>
                  <a:spcPts val="1200"/>
                </a:spcBef>
                <a:spcAft>
                  <a:spcPts val="0"/>
                </a:spcAft>
                <a:buClr>
                  <a:srgbClr val="4A5568"/>
                </a:buClr>
                <a:buSzPts val="1200"/>
                <a:buFont typeface="Lora"/>
                <a:buAutoNum type="arabicPeriod"/>
              </a:pPr>
              <a:r>
                <a:rPr lang="en-GB" sz="1200">
                  <a:solidFill>
                    <a:srgbClr val="4A5568"/>
                  </a:solidFill>
                  <a:latin typeface="Lora"/>
                  <a:ea typeface="Lora"/>
                  <a:cs typeface="Lora"/>
                  <a:sym typeface="Lora"/>
                </a:rPr>
                <a:t>Your objective</a:t>
              </a:r>
              <a:endParaRPr b="0" sz="1200">
                <a:solidFill>
                  <a:srgbClr val="4A5568"/>
                </a:solidFill>
                <a:latin typeface="Lora"/>
                <a:ea typeface="Lora"/>
                <a:cs typeface="Lora"/>
                <a:sym typeface="Lora"/>
              </a:endParaRPr>
            </a:p>
            <a:p>
              <a:pPr indent="-304800" lvl="0" marL="457200" rtl="0" algn="l">
                <a:spcBef>
                  <a:spcPts val="600"/>
                </a:spcBef>
                <a:spcAft>
                  <a:spcPts val="0"/>
                </a:spcAft>
                <a:buClr>
                  <a:srgbClr val="4A5568"/>
                </a:buClr>
                <a:buSzPts val="1200"/>
                <a:buFont typeface="Lora"/>
                <a:buAutoNum type="arabicPeriod"/>
              </a:pPr>
              <a:r>
                <a:rPr lang="en-GB" sz="1200">
                  <a:solidFill>
                    <a:srgbClr val="4A5568"/>
                  </a:solidFill>
                  <a:latin typeface="Lora"/>
                  <a:ea typeface="Lora"/>
                  <a:cs typeface="Lora"/>
                  <a:sym typeface="Lora"/>
                </a:rPr>
                <a:t>What your assistant did</a:t>
              </a:r>
              <a:endParaRPr b="0" sz="1200">
                <a:solidFill>
                  <a:srgbClr val="4A5568"/>
                </a:solidFill>
                <a:latin typeface="Lora"/>
                <a:ea typeface="Lora"/>
                <a:cs typeface="Lora"/>
                <a:sym typeface="Lora"/>
              </a:endParaRPr>
            </a:p>
            <a:p>
              <a:pPr indent="-304800" lvl="0" marL="457200" rtl="0" algn="l">
                <a:spcBef>
                  <a:spcPts val="600"/>
                </a:spcBef>
                <a:spcAft>
                  <a:spcPts val="0"/>
                </a:spcAft>
                <a:buClr>
                  <a:srgbClr val="4A5568"/>
                </a:buClr>
                <a:buSzPts val="1200"/>
                <a:buFont typeface="Lora"/>
                <a:buAutoNum type="arabicPeriod"/>
              </a:pPr>
              <a:r>
                <a:rPr lang="en-GB" sz="1200">
                  <a:solidFill>
                    <a:srgbClr val="4A5568"/>
                  </a:solidFill>
                  <a:latin typeface="Lora"/>
                  <a:ea typeface="Lora"/>
                  <a:cs typeface="Lora"/>
                  <a:sym typeface="Lora"/>
                </a:rPr>
                <a:t>Where you had to get involved</a:t>
              </a:r>
              <a:endParaRPr b="0" sz="1200">
                <a:solidFill>
                  <a:srgbClr val="4A5568"/>
                </a:solidFill>
                <a:latin typeface="Lora"/>
                <a:ea typeface="Lora"/>
                <a:cs typeface="Lora"/>
                <a:sym typeface="Lora"/>
              </a:endParaRPr>
            </a:p>
            <a:p>
              <a:pPr indent="-304800" lvl="0" marL="457200" rtl="0" algn="l">
                <a:spcBef>
                  <a:spcPts val="600"/>
                </a:spcBef>
                <a:spcAft>
                  <a:spcPts val="600"/>
                </a:spcAft>
                <a:buClr>
                  <a:srgbClr val="4A5568"/>
                </a:buClr>
                <a:buSzPts val="1200"/>
                <a:buFont typeface="Lora"/>
                <a:buAutoNum type="arabicPeriod"/>
              </a:pPr>
              <a:r>
                <a:rPr b="0" lang="en-GB" sz="1200">
                  <a:solidFill>
                    <a:srgbClr val="4A5568"/>
                  </a:solidFill>
                  <a:latin typeface="Lora"/>
                  <a:ea typeface="Lora"/>
                  <a:cs typeface="Lora"/>
                  <a:sym typeface="Lora"/>
                </a:rPr>
                <a:t>Did it work?</a:t>
              </a:r>
              <a:endParaRPr b="0" sz="1200">
                <a:solidFill>
                  <a:srgbClr val="4A5568"/>
                </a:solidFill>
                <a:latin typeface="Lora"/>
                <a:ea typeface="Lora"/>
                <a:cs typeface="Lora"/>
                <a:sym typeface="Lora"/>
              </a:endParaRPr>
            </a:p>
          </p:txBody>
        </p:sp>
      </p:grpSp>
      <p:grpSp>
        <p:nvGrpSpPr>
          <p:cNvPr id="849" name="Google Shape;849;p52"/>
          <p:cNvGrpSpPr/>
          <p:nvPr/>
        </p:nvGrpSpPr>
        <p:grpSpPr>
          <a:xfrm>
            <a:off x="6246500" y="1724100"/>
            <a:ext cx="3314700" cy="4000500"/>
            <a:chOff x="0" y="0"/>
            <a:chExt cx="3314700" cy="4000500"/>
          </a:xfrm>
        </p:grpSpPr>
        <p:sp>
          <p:nvSpPr>
            <p:cNvPr id="850" name="Google Shape;850;p52"/>
            <p:cNvSpPr/>
            <p:nvPr/>
          </p:nvSpPr>
          <p:spPr>
            <a:xfrm>
              <a:off x="0" y="0"/>
              <a:ext cx="3314700" cy="4000500"/>
            </a:xfrm>
            <a:prstGeom prst="roundRect">
              <a:avLst>
                <a:gd fmla="val 3448"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51" name="Google Shape;851;p52"/>
            <p:cNvSpPr txBox="1"/>
            <p:nvPr/>
          </p:nvSpPr>
          <p:spPr>
            <a:xfrm>
              <a:off x="0" y="0"/>
              <a:ext cx="3314700" cy="4000500"/>
            </a:xfrm>
            <a:prstGeom prst="rect">
              <a:avLst/>
            </a:prstGeom>
            <a:noFill/>
            <a:ln>
              <a:noFill/>
            </a:ln>
          </p:spPr>
          <p:txBody>
            <a:bodyPr anchorCtr="0" anchor="t" bIns="266700" lIns="266700" spcFirstLastPara="1" rIns="266700" wrap="square" tIns="266700">
              <a:noAutofit/>
            </a:bodyPr>
            <a:lstStyle/>
            <a:p>
              <a:pPr indent="0" lvl="0" marL="0" rtl="0" algn="l">
                <a:spcBef>
                  <a:spcPts val="0"/>
                </a:spcBef>
                <a:spcAft>
                  <a:spcPts val="0"/>
                </a:spcAft>
                <a:buNone/>
              </a:pPr>
              <a:r>
                <a:rPr b="0" lang="en-GB" sz="1100">
                  <a:solidFill>
                    <a:srgbClr val="0064FF"/>
                  </a:solidFill>
                  <a:latin typeface="Outfit SemiBold"/>
                  <a:ea typeface="Outfit SemiBold"/>
                  <a:cs typeface="Outfit SemiBold"/>
                  <a:sym typeface="Outfit SemiBold"/>
                </a:rPr>
                <a:t>02 / On Screen</a:t>
              </a:r>
              <a:endParaRPr b="0" sz="1100">
                <a:solidFill>
                  <a:srgbClr val="0064FF"/>
                </a:solidFill>
                <a:latin typeface="Outfit SemiBold"/>
                <a:ea typeface="Outfit SemiBold"/>
                <a:cs typeface="Outfit SemiBold"/>
                <a:sym typeface="Outfit SemiBold"/>
              </a:endParaRPr>
            </a:p>
            <a:p>
              <a:pPr indent="0" lvl="0" marL="0" rtl="0" algn="l">
                <a:spcBef>
                  <a:spcPts val="600"/>
                </a:spcBef>
                <a:spcAft>
                  <a:spcPts val="0"/>
                </a:spcAft>
                <a:buNone/>
              </a:pPr>
              <a:r>
                <a:rPr lang="en-GB" sz="1800">
                  <a:solidFill>
                    <a:srgbClr val="2C2C2A"/>
                  </a:solidFill>
                  <a:latin typeface="Outfit SemiBold"/>
                  <a:ea typeface="Outfit SemiBold"/>
                  <a:cs typeface="Outfit SemiBold"/>
                  <a:sym typeface="Outfit SemiBold"/>
                </a:rPr>
                <a:t>Share on-screen (if applicable)</a:t>
              </a:r>
              <a:endParaRPr b="0" sz="1800">
                <a:solidFill>
                  <a:srgbClr val="2C2C2A"/>
                </a:solidFill>
                <a:latin typeface="Outfit SemiBold"/>
                <a:ea typeface="Outfit SemiBold"/>
                <a:cs typeface="Outfit SemiBold"/>
                <a:sym typeface="Outfit SemiBold"/>
              </a:endParaRPr>
            </a:p>
            <a:p>
              <a:pPr indent="0" lvl="0" marL="0" rtl="0" algn="l">
                <a:spcBef>
                  <a:spcPts val="1200"/>
                </a:spcBef>
                <a:spcAft>
                  <a:spcPts val="1200"/>
                </a:spcAft>
                <a:buNone/>
              </a:pPr>
              <a:r>
                <a:rPr lang="en-GB" sz="1200">
                  <a:solidFill>
                    <a:srgbClr val="4A5568"/>
                  </a:solidFill>
                  <a:latin typeface="Lora"/>
                  <a:ea typeface="Lora"/>
                  <a:cs typeface="Lora"/>
                  <a:sym typeface="Lora"/>
                </a:rPr>
                <a:t>Remember to push your files / log / summary to the repository.</a:t>
              </a:r>
              <a:endParaRPr b="0" sz="1100">
                <a:solidFill>
                  <a:srgbClr val="4A5568"/>
                </a:solidFill>
                <a:highlight>
                  <a:srgbClr val="F8FAFC"/>
                </a:highlight>
                <a:latin typeface="Lora"/>
                <a:ea typeface="Lora"/>
                <a:cs typeface="Lora"/>
                <a:sym typeface="Lora"/>
              </a:endParaRPr>
            </a:p>
          </p:txBody>
        </p:sp>
      </p:grpSp>
      <p:sp>
        <p:nvSpPr>
          <p:cNvPr id="852" name="Google Shape;852;p52"/>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853" name="Google Shape;853;p52"/>
          <p:cNvSpPr txBox="1"/>
          <p:nvPr>
            <p:ph idx="1" type="body"/>
          </p:nvPr>
        </p:nvSpPr>
        <p:spPr>
          <a:xfrm>
            <a:off x="822960" y="457200"/>
            <a:ext cx="9144000" cy="320100"/>
          </a:xfrm>
          <a:prstGeom prst="rect">
            <a:avLst/>
          </a:prstGeom>
          <a:noFill/>
          <a:ln>
            <a:noFill/>
          </a:ln>
        </p:spPr>
        <p:txBody>
          <a:bodyPr anchorCtr="0" anchor="t" bIns="0" lIns="0" spcFirstLastPara="1" rIns="0" wrap="square" tIns="0">
            <a:noAutofit/>
          </a:bodyPr>
          <a:lstStyle/>
          <a:p>
            <a:pPr indent="0" lvl="0" marL="0" rtl="0" algn="l">
              <a:lnSpc>
                <a:spcPct val="118000"/>
              </a:lnSpc>
              <a:spcBef>
                <a:spcPts val="0"/>
              </a:spcBef>
              <a:spcAft>
                <a:spcPts val="0"/>
              </a:spcAft>
              <a:buClr>
                <a:srgbClr val="0064FF"/>
              </a:buClr>
              <a:buSzPts val="1200"/>
              <a:buFont typeface="Outfit"/>
              <a:buNone/>
            </a:pPr>
            <a:r>
              <a:rPr lang="en-GB"/>
              <a:t>SESSION 4 · SHOW+TELL · EXERCISE</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7" name="Shape 857"/>
        <p:cNvGrpSpPr/>
        <p:nvPr/>
      </p:nvGrpSpPr>
      <p:grpSpPr>
        <a:xfrm>
          <a:off x="0" y="0"/>
          <a:ext cx="0" cy="0"/>
          <a:chOff x="0" y="0"/>
          <a:chExt cx="0" cy="0"/>
        </a:xfrm>
      </p:grpSpPr>
      <p:sp>
        <p:nvSpPr>
          <p:cNvPr id="858" name="Google Shape;858;p57"/>
          <p:cNvSpPr txBox="1"/>
          <p:nvPr>
            <p:ph type="title"/>
          </p:nvPr>
        </p:nvSpPr>
        <p:spPr>
          <a:xfrm>
            <a:off x="822960" y="838200"/>
            <a:ext cx="10058400" cy="6669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lang="en-GB" sz="3000"/>
              <a:t>What’s next?</a:t>
            </a:r>
            <a:endParaRPr b="0" i="0" sz="3000">
              <a:solidFill>
                <a:srgbClr val="2C2C2A"/>
              </a:solidFill>
              <a:latin typeface="Instrument Serif"/>
              <a:ea typeface="Instrument Serif"/>
              <a:cs typeface="Instrument Serif"/>
              <a:sym typeface="Instrument Serif"/>
            </a:endParaRPr>
          </a:p>
        </p:txBody>
      </p:sp>
      <p:grpSp>
        <p:nvGrpSpPr>
          <p:cNvPr id="859" name="Google Shape;859;p57"/>
          <p:cNvGrpSpPr/>
          <p:nvPr/>
        </p:nvGrpSpPr>
        <p:grpSpPr>
          <a:xfrm>
            <a:off x="822960" y="1714500"/>
            <a:ext cx="3314700" cy="4000500"/>
            <a:chOff x="0" y="0"/>
            <a:chExt cx="3314700" cy="4000500"/>
          </a:xfrm>
        </p:grpSpPr>
        <p:sp>
          <p:nvSpPr>
            <p:cNvPr id="860" name="Google Shape;860;p57"/>
            <p:cNvSpPr/>
            <p:nvPr/>
          </p:nvSpPr>
          <p:spPr>
            <a:xfrm>
              <a:off x="0" y="0"/>
              <a:ext cx="3314700" cy="4000500"/>
            </a:xfrm>
            <a:prstGeom prst="roundRect">
              <a:avLst>
                <a:gd fmla="val 3448"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61" name="Google Shape;861;p57"/>
            <p:cNvSpPr txBox="1"/>
            <p:nvPr/>
          </p:nvSpPr>
          <p:spPr>
            <a:xfrm>
              <a:off x="0" y="0"/>
              <a:ext cx="3314700" cy="4000500"/>
            </a:xfrm>
            <a:prstGeom prst="rect">
              <a:avLst/>
            </a:prstGeom>
            <a:solidFill>
              <a:srgbClr val="000000">
                <a:alpha val="0"/>
              </a:srgbClr>
            </a:solidFill>
            <a:ln>
              <a:noFill/>
            </a:ln>
          </p:spPr>
          <p:txBody>
            <a:bodyPr anchorCtr="0" anchor="t" bIns="266700" lIns="266700" spcFirstLastPara="1" rIns="266700" wrap="square" tIns="266700">
              <a:noAutofit/>
            </a:bodyPr>
            <a:lstStyle/>
            <a:p>
              <a:pPr indent="0" lvl="0" marL="0" rtl="0" algn="l">
                <a:spcBef>
                  <a:spcPts val="0"/>
                </a:spcBef>
                <a:spcAft>
                  <a:spcPts val="0"/>
                </a:spcAft>
                <a:buNone/>
              </a:pPr>
              <a:r>
                <a:rPr b="0" lang="en-GB" sz="1100">
                  <a:solidFill>
                    <a:srgbClr val="0064FF"/>
                  </a:solidFill>
                  <a:latin typeface="Outfit SemiBold"/>
                  <a:ea typeface="Outfit SemiBold"/>
                  <a:cs typeface="Outfit SemiBold"/>
                  <a:sym typeface="Outfit SemiBold"/>
                </a:rPr>
                <a:t>01 / Repository &amp; Summary</a:t>
              </a:r>
              <a:endParaRPr b="0" sz="1100">
                <a:solidFill>
                  <a:srgbClr val="0064FF"/>
                </a:solidFill>
                <a:latin typeface="Outfit SemiBold"/>
                <a:ea typeface="Outfit SemiBold"/>
                <a:cs typeface="Outfit SemiBold"/>
                <a:sym typeface="Outfit SemiBold"/>
              </a:endParaRPr>
            </a:p>
            <a:p>
              <a:pPr indent="0" lvl="0" marL="0" rtl="0" algn="l">
                <a:spcBef>
                  <a:spcPts val="600"/>
                </a:spcBef>
                <a:spcAft>
                  <a:spcPts val="0"/>
                </a:spcAft>
                <a:buNone/>
              </a:pPr>
              <a:r>
                <a:rPr b="0" lang="en-GB" sz="1800">
                  <a:solidFill>
                    <a:srgbClr val="2C2C2A"/>
                  </a:solidFill>
                  <a:latin typeface="Outfit SemiBold"/>
                  <a:ea typeface="Outfit SemiBold"/>
                  <a:cs typeface="Outfit SemiBold"/>
                  <a:sym typeface="Outfit SemiBold"/>
                </a:rPr>
                <a:t>Public repo &amp; synthesis</a:t>
              </a:r>
              <a:endParaRPr b="0" sz="1800">
                <a:solidFill>
                  <a:srgbClr val="2C2C2A"/>
                </a:solidFill>
                <a:latin typeface="Outfit SemiBold"/>
                <a:ea typeface="Outfit SemiBold"/>
                <a:cs typeface="Outfit SemiBold"/>
                <a:sym typeface="Outfit SemiBold"/>
              </a:endParaRPr>
            </a:p>
            <a:p>
              <a:pPr indent="0" lvl="0" marL="0" rtl="0" algn="l">
                <a:spcBef>
                  <a:spcPts val="1200"/>
                </a:spcBef>
                <a:spcAft>
                  <a:spcPts val="0"/>
                </a:spcAft>
                <a:buNone/>
              </a:pPr>
              <a:r>
                <a:rPr b="0" lang="en-GB" sz="1100">
                  <a:solidFill>
                    <a:srgbClr val="2C2C2A"/>
                  </a:solidFill>
                  <a:latin typeface="Outfit SemiBold"/>
                  <a:ea typeface="Outfit SemiBold"/>
                  <a:cs typeface="Outfit SemiBold"/>
                  <a:sym typeface="Outfit SemiBold"/>
                </a:rPr>
                <a:t>The repository</a:t>
              </a:r>
              <a:endParaRPr b="0" sz="1100">
                <a:solidFill>
                  <a:srgbClr val="2C2C2A"/>
                </a:solidFill>
                <a:latin typeface="Outfit SemiBold"/>
                <a:ea typeface="Outfit SemiBold"/>
                <a:cs typeface="Outfit SemiBold"/>
                <a:sym typeface="Outfit SemiBold"/>
              </a:endParaRPr>
            </a:p>
            <a:p>
              <a:pPr indent="0" lvl="0" marL="0" rtl="0" algn="l">
                <a:spcBef>
                  <a:spcPts val="400"/>
                </a:spcBef>
                <a:spcAft>
                  <a:spcPts val="0"/>
                </a:spcAft>
                <a:buNone/>
              </a:pPr>
              <a:r>
                <a:rPr b="0" lang="en-GB" sz="1200">
                  <a:solidFill>
                    <a:srgbClr val="4A5568"/>
                  </a:solidFill>
                  <a:latin typeface="Lora"/>
                  <a:ea typeface="Lora"/>
                  <a:cs typeface="Lora"/>
                  <a:sym typeface="Lora"/>
                </a:rPr>
                <a:t>The repo stays public and yours.</a:t>
              </a:r>
              <a:endParaRPr b="0" sz="1200">
                <a:solidFill>
                  <a:srgbClr val="4A5568"/>
                </a:solidFill>
                <a:latin typeface="Lora"/>
                <a:ea typeface="Lora"/>
                <a:cs typeface="Lora"/>
                <a:sym typeface="Lora"/>
              </a:endParaRPr>
            </a:p>
            <a:p>
              <a:pPr indent="0" lvl="0" marL="0" rtl="0" algn="l">
                <a:spcBef>
                  <a:spcPts val="1200"/>
                </a:spcBef>
                <a:spcAft>
                  <a:spcPts val="0"/>
                </a:spcAft>
                <a:buNone/>
              </a:pPr>
              <a:r>
                <a:rPr b="0" lang="en-GB" sz="1100">
                  <a:solidFill>
                    <a:srgbClr val="2C2C2A"/>
                  </a:solidFill>
                  <a:latin typeface="Outfit SemiBold"/>
                  <a:ea typeface="Outfit SemiBold"/>
                  <a:cs typeface="Outfit SemiBold"/>
                  <a:sym typeface="Outfit SemiBold"/>
                </a:rPr>
                <a:t>Within 48 hours</a:t>
              </a:r>
              <a:endParaRPr b="0" sz="1100">
                <a:solidFill>
                  <a:srgbClr val="2C2C2A"/>
                </a:solidFill>
                <a:latin typeface="Outfit SemiBold"/>
                <a:ea typeface="Outfit SemiBold"/>
                <a:cs typeface="Outfit SemiBold"/>
                <a:sym typeface="Outfit SemiBold"/>
              </a:endParaRPr>
            </a:p>
            <a:p>
              <a:pPr indent="0" lvl="0" marL="0" rtl="0" algn="l">
                <a:spcBef>
                  <a:spcPts val="400"/>
                </a:spcBef>
                <a:spcAft>
                  <a:spcPts val="0"/>
                </a:spcAft>
                <a:buNone/>
              </a:pPr>
              <a:r>
                <a:rPr b="0" lang="en-GB" sz="1200">
                  <a:solidFill>
                    <a:srgbClr val="4A5568"/>
                  </a:solidFill>
                  <a:latin typeface="Lora"/>
                  <a:ea typeface="Lora"/>
                  <a:cs typeface="Lora"/>
                  <a:sym typeface="Lora"/>
                </a:rPr>
                <a:t>SYNTHESIS.md v2, updated with </a:t>
              </a:r>
              <a:r>
                <a:rPr lang="en-GB" sz="1200">
                  <a:solidFill>
                    <a:srgbClr val="4A5568"/>
                  </a:solidFill>
                  <a:latin typeface="Lora"/>
                  <a:ea typeface="Lora"/>
                  <a:cs typeface="Lora"/>
                  <a:sym typeface="Lora"/>
                </a:rPr>
                <a:t>today’s</a:t>
              </a:r>
              <a:r>
                <a:rPr b="0" lang="en-GB" sz="1200">
                  <a:solidFill>
                    <a:srgbClr val="4A5568"/>
                  </a:solidFill>
                  <a:latin typeface="Lora"/>
                  <a:ea typeface="Lora"/>
                  <a:cs typeface="Lora"/>
                  <a:sym typeface="Lora"/>
                </a:rPr>
                <a:t> transcript.</a:t>
              </a:r>
              <a:endParaRPr b="0" sz="1200">
                <a:solidFill>
                  <a:srgbClr val="4A5568"/>
                </a:solidFill>
                <a:latin typeface="Lora"/>
                <a:ea typeface="Lora"/>
                <a:cs typeface="Lora"/>
                <a:sym typeface="Lora"/>
              </a:endParaRPr>
            </a:p>
          </p:txBody>
        </p:sp>
      </p:grpSp>
      <p:grpSp>
        <p:nvGrpSpPr>
          <p:cNvPr id="862" name="Google Shape;862;p57"/>
          <p:cNvGrpSpPr/>
          <p:nvPr/>
        </p:nvGrpSpPr>
        <p:grpSpPr>
          <a:xfrm>
            <a:off x="4434840" y="1714500"/>
            <a:ext cx="3314700" cy="4000500"/>
            <a:chOff x="0" y="0"/>
            <a:chExt cx="3314700" cy="4000500"/>
          </a:xfrm>
        </p:grpSpPr>
        <p:sp>
          <p:nvSpPr>
            <p:cNvPr id="863" name="Google Shape;863;p57"/>
            <p:cNvSpPr/>
            <p:nvPr/>
          </p:nvSpPr>
          <p:spPr>
            <a:xfrm>
              <a:off x="0" y="0"/>
              <a:ext cx="3314700" cy="4000500"/>
            </a:xfrm>
            <a:prstGeom prst="roundRect">
              <a:avLst>
                <a:gd fmla="val 3448"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64" name="Google Shape;864;p57"/>
            <p:cNvSpPr txBox="1"/>
            <p:nvPr/>
          </p:nvSpPr>
          <p:spPr>
            <a:xfrm>
              <a:off x="0" y="0"/>
              <a:ext cx="3314700" cy="4000500"/>
            </a:xfrm>
            <a:prstGeom prst="rect">
              <a:avLst/>
            </a:prstGeom>
            <a:solidFill>
              <a:srgbClr val="000000">
                <a:alpha val="0"/>
              </a:srgbClr>
            </a:solidFill>
            <a:ln>
              <a:noFill/>
            </a:ln>
          </p:spPr>
          <p:txBody>
            <a:bodyPr anchorCtr="0" anchor="t" bIns="266700" lIns="266700" spcFirstLastPara="1" rIns="266700" wrap="square" tIns="266700">
              <a:noAutofit/>
            </a:bodyPr>
            <a:lstStyle/>
            <a:p>
              <a:pPr indent="0" lvl="0" marL="0" rtl="0" algn="l">
                <a:spcBef>
                  <a:spcPts val="0"/>
                </a:spcBef>
                <a:spcAft>
                  <a:spcPts val="0"/>
                </a:spcAft>
                <a:buNone/>
              </a:pPr>
              <a:r>
                <a:rPr b="0" lang="en-GB" sz="1100">
                  <a:solidFill>
                    <a:srgbClr val="0064FF"/>
                  </a:solidFill>
                  <a:latin typeface="Outfit SemiBold"/>
                  <a:ea typeface="Outfit SemiBold"/>
                  <a:cs typeface="Outfit SemiBold"/>
                  <a:sym typeface="Outfit SemiBold"/>
                </a:rPr>
                <a:t>02 / Optional</a:t>
              </a:r>
              <a:endParaRPr b="0" sz="1100">
                <a:solidFill>
                  <a:srgbClr val="0064FF"/>
                </a:solidFill>
                <a:latin typeface="Outfit SemiBold"/>
                <a:ea typeface="Outfit SemiBold"/>
                <a:cs typeface="Outfit SemiBold"/>
                <a:sym typeface="Outfit SemiBold"/>
              </a:endParaRPr>
            </a:p>
            <a:p>
              <a:pPr indent="0" lvl="0" marL="0" rtl="0" algn="l">
                <a:spcBef>
                  <a:spcPts val="600"/>
                </a:spcBef>
                <a:spcAft>
                  <a:spcPts val="0"/>
                </a:spcAft>
                <a:buNone/>
              </a:pPr>
              <a:r>
                <a:rPr b="0" lang="en-GB" sz="1800">
                  <a:solidFill>
                    <a:srgbClr val="2C2C2A"/>
                  </a:solidFill>
                  <a:latin typeface="Outfit SemiBold"/>
                  <a:ea typeface="Outfit SemiBold"/>
                  <a:cs typeface="Outfit SemiBold"/>
                  <a:sym typeface="Outfit SemiBold"/>
                </a:rPr>
                <a:t>Hard mode challenge</a:t>
              </a:r>
              <a:endParaRPr b="0" sz="1800">
                <a:solidFill>
                  <a:srgbClr val="2C2C2A"/>
                </a:solidFill>
                <a:latin typeface="Outfit SemiBold"/>
                <a:ea typeface="Outfit SemiBold"/>
                <a:cs typeface="Outfit SemiBold"/>
                <a:sym typeface="Outfit SemiBold"/>
              </a:endParaRPr>
            </a:p>
            <a:p>
              <a:pPr indent="0" lvl="0" marL="0" rtl="0" algn="l">
                <a:spcBef>
                  <a:spcPts val="1200"/>
                </a:spcBef>
                <a:spcAft>
                  <a:spcPts val="0"/>
                </a:spcAft>
                <a:buNone/>
              </a:pPr>
              <a:r>
                <a:rPr b="0" lang="en-GB" sz="1200">
                  <a:solidFill>
                    <a:srgbClr val="4A5568"/>
                  </a:solidFill>
                  <a:latin typeface="Lora"/>
                  <a:ea typeface="Lora"/>
                  <a:cs typeface="Lora"/>
                  <a:sym typeface="Lora"/>
                </a:rPr>
                <a:t>Rerun your bridge with no human chat at all.</a:t>
              </a:r>
              <a:endParaRPr b="0" sz="1200">
                <a:solidFill>
                  <a:srgbClr val="4A5568"/>
                </a:solidFill>
                <a:latin typeface="Lora"/>
                <a:ea typeface="Lora"/>
                <a:cs typeface="Lora"/>
                <a:sym typeface="Lora"/>
              </a:endParaRPr>
            </a:p>
            <a:p>
              <a:pPr indent="0" lvl="0" marL="0" rtl="0" algn="l">
                <a:spcBef>
                  <a:spcPts val="1200"/>
                </a:spcBef>
                <a:spcAft>
                  <a:spcPts val="0"/>
                </a:spcAft>
                <a:buNone/>
              </a:pPr>
              <a:r>
                <a:rPr b="0" lang="en-GB" sz="1100">
                  <a:solidFill>
                    <a:srgbClr val="085041"/>
                  </a:solidFill>
                  <a:highlight>
                    <a:srgbClr val="E1F5EE"/>
                  </a:highlight>
                  <a:latin typeface="Lora Medium"/>
                  <a:ea typeface="Lora Medium"/>
                  <a:cs typeface="Lora Medium"/>
                  <a:sym typeface="Lora Medium"/>
                </a:rPr>
                <a:t>Test if your automated assistant can execute fully end-to-end without manual guidance.</a:t>
              </a:r>
              <a:endParaRPr b="0" sz="1100">
                <a:solidFill>
                  <a:srgbClr val="085041"/>
                </a:solidFill>
                <a:highlight>
                  <a:srgbClr val="E1F5EE"/>
                </a:highlight>
                <a:latin typeface="Lora Medium"/>
                <a:ea typeface="Lora Medium"/>
                <a:cs typeface="Lora Medium"/>
                <a:sym typeface="Lora Medium"/>
              </a:endParaRPr>
            </a:p>
          </p:txBody>
        </p:sp>
      </p:grpSp>
      <p:grpSp>
        <p:nvGrpSpPr>
          <p:cNvPr id="865" name="Google Shape;865;p57"/>
          <p:cNvGrpSpPr/>
          <p:nvPr/>
        </p:nvGrpSpPr>
        <p:grpSpPr>
          <a:xfrm>
            <a:off x="8046720" y="1714500"/>
            <a:ext cx="3314700" cy="4000500"/>
            <a:chOff x="0" y="0"/>
            <a:chExt cx="3314700" cy="4000500"/>
          </a:xfrm>
        </p:grpSpPr>
        <p:sp>
          <p:nvSpPr>
            <p:cNvPr id="866" name="Google Shape;866;p57"/>
            <p:cNvSpPr/>
            <p:nvPr/>
          </p:nvSpPr>
          <p:spPr>
            <a:xfrm>
              <a:off x="0" y="0"/>
              <a:ext cx="3314700" cy="4000500"/>
            </a:xfrm>
            <a:prstGeom prst="roundRect">
              <a:avLst>
                <a:gd fmla="val 3448"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67" name="Google Shape;867;p57"/>
            <p:cNvSpPr txBox="1"/>
            <p:nvPr/>
          </p:nvSpPr>
          <p:spPr>
            <a:xfrm>
              <a:off x="0" y="0"/>
              <a:ext cx="3314700" cy="4000500"/>
            </a:xfrm>
            <a:prstGeom prst="rect">
              <a:avLst/>
            </a:prstGeom>
            <a:solidFill>
              <a:srgbClr val="000000">
                <a:alpha val="0"/>
              </a:srgbClr>
            </a:solidFill>
            <a:ln>
              <a:noFill/>
            </a:ln>
          </p:spPr>
          <p:txBody>
            <a:bodyPr anchorCtr="0" anchor="t" bIns="266700" lIns="266700" spcFirstLastPara="1" rIns="266700" wrap="square" tIns="266700">
              <a:noAutofit/>
            </a:bodyPr>
            <a:lstStyle/>
            <a:p>
              <a:pPr indent="0" lvl="0" marL="0" rtl="0" algn="l">
                <a:spcBef>
                  <a:spcPts val="0"/>
                </a:spcBef>
                <a:spcAft>
                  <a:spcPts val="0"/>
                </a:spcAft>
                <a:buNone/>
              </a:pPr>
              <a:r>
                <a:rPr b="0" lang="en-GB" sz="1100">
                  <a:solidFill>
                    <a:srgbClr val="0064FF"/>
                  </a:solidFill>
                  <a:latin typeface="Outfit SemiBold"/>
                  <a:ea typeface="Outfit SemiBold"/>
                  <a:cs typeface="Outfit SemiBold"/>
                  <a:sym typeface="Outfit SemiBold"/>
                </a:rPr>
                <a:t>03 / Continuing</a:t>
              </a:r>
              <a:endParaRPr b="0" sz="1100">
                <a:solidFill>
                  <a:srgbClr val="0064FF"/>
                </a:solidFill>
                <a:latin typeface="Outfit SemiBold"/>
                <a:ea typeface="Outfit SemiBold"/>
                <a:cs typeface="Outfit SemiBold"/>
                <a:sym typeface="Outfit SemiBold"/>
              </a:endParaRPr>
            </a:p>
            <a:p>
              <a:pPr indent="0" lvl="0" marL="0" rtl="0" algn="l">
                <a:spcBef>
                  <a:spcPts val="600"/>
                </a:spcBef>
                <a:spcAft>
                  <a:spcPts val="0"/>
                </a:spcAft>
                <a:buNone/>
              </a:pPr>
              <a:r>
                <a:rPr b="0" lang="en-GB" sz="1800">
                  <a:solidFill>
                    <a:srgbClr val="2C2C2A"/>
                  </a:solidFill>
                  <a:latin typeface="Outfit SemiBold"/>
                  <a:ea typeface="Outfit SemiBold"/>
                  <a:cs typeface="Outfit SemiBold"/>
                  <a:sym typeface="Outfit SemiBold"/>
                </a:rPr>
                <a:t>Afterwards</a:t>
              </a:r>
              <a:endParaRPr b="0" sz="1100">
                <a:solidFill>
                  <a:srgbClr val="2C2C2A"/>
                </a:solidFill>
                <a:latin typeface="Outfit SemiBold"/>
                <a:ea typeface="Outfit SemiBold"/>
                <a:cs typeface="Outfit SemiBold"/>
                <a:sym typeface="Outfit SemiBold"/>
              </a:endParaRPr>
            </a:p>
            <a:p>
              <a:pPr indent="0" lvl="0" marL="0" rtl="0" algn="l">
                <a:spcBef>
                  <a:spcPts val="1200"/>
                </a:spcBef>
                <a:spcAft>
                  <a:spcPts val="0"/>
                </a:spcAft>
                <a:buNone/>
              </a:pPr>
              <a:r>
                <a:rPr lang="en-GB" sz="1200">
                  <a:solidFill>
                    <a:srgbClr val="4A5568"/>
                  </a:solidFill>
                  <a:latin typeface="Lora"/>
                  <a:ea typeface="Lora"/>
                  <a:cs typeface="Lora"/>
                  <a:sym typeface="Lora"/>
                </a:rPr>
                <a:t>Join Sachin’s presentation on “Achival Memory”</a:t>
              </a:r>
              <a:endParaRPr sz="1200">
                <a:solidFill>
                  <a:srgbClr val="4A5568"/>
                </a:solidFill>
                <a:latin typeface="Lora"/>
                <a:ea typeface="Lora"/>
                <a:cs typeface="Lora"/>
                <a:sym typeface="Lora"/>
              </a:endParaRPr>
            </a:p>
            <a:p>
              <a:pPr indent="0" lvl="0" marL="0" rtl="0" algn="l">
                <a:spcBef>
                  <a:spcPts val="1200"/>
                </a:spcBef>
                <a:spcAft>
                  <a:spcPts val="1200"/>
                </a:spcAft>
                <a:buNone/>
              </a:pPr>
              <a:r>
                <a:rPr lang="en-GB" sz="1200">
                  <a:solidFill>
                    <a:srgbClr val="4A5568"/>
                  </a:solidFill>
                  <a:latin typeface="Lora"/>
                  <a:ea typeface="Lora"/>
                  <a:cs typeface="Lora"/>
                  <a:sym typeface="Lora"/>
                </a:rPr>
                <a:t>Join our research group to continue exploring emerging business protocols.</a:t>
              </a:r>
              <a:endParaRPr b="0" sz="1200">
                <a:solidFill>
                  <a:srgbClr val="4A5568"/>
                </a:solidFill>
                <a:latin typeface="Lora"/>
                <a:ea typeface="Lora"/>
                <a:cs typeface="Lora"/>
                <a:sym typeface="Lora"/>
              </a:endParaRPr>
            </a:p>
          </p:txBody>
        </p:sp>
      </p:grpSp>
      <p:sp>
        <p:nvSpPr>
          <p:cNvPr id="868" name="Google Shape;868;p57"/>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869" name="Google Shape;869;p57"/>
          <p:cNvSpPr txBox="1"/>
          <p:nvPr>
            <p:ph idx="1" type="body"/>
          </p:nvPr>
        </p:nvSpPr>
        <p:spPr>
          <a:xfrm>
            <a:off x="822960" y="457200"/>
            <a:ext cx="9144000" cy="320100"/>
          </a:xfrm>
          <a:prstGeom prst="rect">
            <a:avLst/>
          </a:prstGeom>
          <a:noFill/>
          <a:ln>
            <a:noFill/>
          </a:ln>
        </p:spPr>
        <p:txBody>
          <a:bodyPr anchorCtr="0" anchor="t" bIns="0" lIns="0" spcFirstLastPara="1" rIns="0" wrap="square" tIns="0">
            <a:noAutofit/>
          </a:bodyPr>
          <a:lstStyle/>
          <a:p>
            <a:pPr indent="0" lvl="0" marL="0" rtl="0" algn="l">
              <a:lnSpc>
                <a:spcPct val="118000"/>
              </a:lnSpc>
              <a:spcBef>
                <a:spcPts val="0"/>
              </a:spcBef>
              <a:spcAft>
                <a:spcPts val="0"/>
              </a:spcAft>
              <a:buClr>
                <a:srgbClr val="0064FF"/>
              </a:buClr>
              <a:buSzPts val="1200"/>
              <a:buFont typeface="Outfit"/>
              <a:buNone/>
            </a:pPr>
            <a:r>
              <a:rPr lang="en-GB" sz="1200">
                <a:solidFill>
                  <a:schemeClr val="accent1"/>
                </a:solidFill>
                <a:latin typeface="Outfit"/>
                <a:ea typeface="Outfit"/>
                <a:cs typeface="Outfit"/>
                <a:sym typeface="Outfit"/>
              </a:rPr>
              <a:t>SESSION 4 · SHOW+TELL · NEXT STEPS</a:t>
            </a:r>
            <a:endParaRPr sz="1200">
              <a:solidFill>
                <a:schemeClr val="accent1"/>
              </a:solidFill>
              <a:latin typeface="Outfit"/>
              <a:ea typeface="Outfit"/>
              <a:cs typeface="Outfit"/>
              <a:sym typeface="Outfit"/>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3" name="Shape 873"/>
        <p:cNvGrpSpPr/>
        <p:nvPr/>
      </p:nvGrpSpPr>
      <p:grpSpPr>
        <a:xfrm>
          <a:off x="0" y="0"/>
          <a:ext cx="0" cy="0"/>
          <a:chOff x="0" y="0"/>
          <a:chExt cx="0" cy="0"/>
        </a:xfrm>
      </p:grpSpPr>
      <p:pic>
        <p:nvPicPr>
          <p:cNvPr id="874" name="Google Shape;874;g3fbb3796125_0_89"/>
          <p:cNvPicPr preferRelativeResize="0"/>
          <p:nvPr/>
        </p:nvPicPr>
        <p:blipFill rotWithShape="1">
          <a:blip r:embed="rId3">
            <a:alphaModFix/>
          </a:blip>
          <a:srcRect b="0" l="17799" r="26194" t="0"/>
          <a:stretch/>
        </p:blipFill>
        <p:spPr>
          <a:xfrm rot="-5400000">
            <a:off x="2686162" y="-2688912"/>
            <a:ext cx="6863500" cy="12254874"/>
          </a:xfrm>
          <a:prstGeom prst="rect">
            <a:avLst/>
          </a:prstGeom>
          <a:noFill/>
          <a:ln>
            <a:noFill/>
          </a:ln>
        </p:spPr>
      </p:pic>
      <p:sp>
        <p:nvSpPr>
          <p:cNvPr id="875" name="Google Shape;875;g3fbb3796125_0_89"/>
          <p:cNvSpPr txBox="1"/>
          <p:nvPr>
            <p:ph type="title"/>
          </p:nvPr>
        </p:nvSpPr>
        <p:spPr>
          <a:xfrm>
            <a:off x="822960" y="1908810"/>
            <a:ext cx="10332600" cy="2377500"/>
          </a:xfrm>
          <a:prstGeom prst="rect">
            <a:avLst/>
          </a:prstGeom>
          <a:noFill/>
          <a:ln>
            <a:noFill/>
          </a:ln>
        </p:spPr>
        <p:txBody>
          <a:bodyPr anchorCtr="0" anchor="b" bIns="0" lIns="0" spcFirstLastPara="1" rIns="0" wrap="square" tIns="0">
            <a:noAutofit/>
          </a:bodyPr>
          <a:lstStyle/>
          <a:p>
            <a:pPr indent="0" lvl="0" marL="0" rtl="0" algn="l">
              <a:lnSpc>
                <a:spcPct val="94000"/>
              </a:lnSpc>
              <a:spcBef>
                <a:spcPts val="0"/>
              </a:spcBef>
              <a:spcAft>
                <a:spcPts val="0"/>
              </a:spcAft>
              <a:buClr>
                <a:srgbClr val="2C2C2A"/>
              </a:buClr>
              <a:buSzPts val="4600"/>
              <a:buFont typeface="Instrument Serif"/>
              <a:buNone/>
            </a:pPr>
            <a:r>
              <a:t/>
            </a:r>
            <a:endParaRPr b="1" sz="5400">
              <a:solidFill>
                <a:schemeClr val="lt1"/>
              </a:solidFill>
            </a:endParaRPr>
          </a:p>
          <a:p>
            <a:pPr indent="0" lvl="0" marL="0" rtl="0" algn="l">
              <a:lnSpc>
                <a:spcPct val="94000"/>
              </a:lnSpc>
              <a:spcBef>
                <a:spcPts val="0"/>
              </a:spcBef>
              <a:spcAft>
                <a:spcPts val="0"/>
              </a:spcAft>
              <a:buClr>
                <a:srgbClr val="2C2C2A"/>
              </a:buClr>
              <a:buSzPts val="4600"/>
              <a:buFont typeface="Instrument Serif"/>
              <a:buNone/>
            </a:pPr>
            <a:r>
              <a:t/>
            </a:r>
            <a:endParaRPr b="1" sz="5400">
              <a:solidFill>
                <a:schemeClr val="lt1"/>
              </a:solidFill>
            </a:endParaRPr>
          </a:p>
          <a:p>
            <a:pPr indent="0" lvl="0" marL="0" rtl="0" algn="l">
              <a:lnSpc>
                <a:spcPct val="94000"/>
              </a:lnSpc>
              <a:spcBef>
                <a:spcPts val="0"/>
              </a:spcBef>
              <a:spcAft>
                <a:spcPts val="0"/>
              </a:spcAft>
              <a:buClr>
                <a:srgbClr val="2C2C2A"/>
              </a:buClr>
              <a:buSzPts val="4600"/>
              <a:buFont typeface="Instrument Serif"/>
              <a:buNone/>
            </a:pPr>
            <a:r>
              <a:rPr b="1" lang="en-GB" sz="5400">
                <a:solidFill>
                  <a:schemeClr val="lt1"/>
                </a:solidFill>
              </a:rPr>
              <a:t>Thank you</a:t>
            </a:r>
            <a:endParaRPr b="1" sz="5400">
              <a:solidFill>
                <a:schemeClr val="lt1"/>
              </a:solidFill>
            </a:endParaRPr>
          </a:p>
          <a:p>
            <a:pPr indent="0" lvl="0" marL="0" rtl="0" algn="l">
              <a:lnSpc>
                <a:spcPct val="118000"/>
              </a:lnSpc>
              <a:spcBef>
                <a:spcPts val="0"/>
              </a:spcBef>
              <a:spcAft>
                <a:spcPts val="0"/>
              </a:spcAft>
              <a:buClr>
                <a:schemeClr val="accent3"/>
              </a:buClr>
              <a:buSzPts val="1800"/>
              <a:buFont typeface="Lora"/>
              <a:buNone/>
            </a:pPr>
            <a:r>
              <a:rPr i="1" lang="en-GB" sz="2600">
                <a:solidFill>
                  <a:schemeClr val="lt1"/>
                </a:solidFill>
                <a:latin typeface="Lora"/>
                <a:ea typeface="Lora"/>
                <a:cs typeface="Lora"/>
                <a:sym typeface="Lora"/>
              </a:rPr>
              <a:t>Join the adventure today at the Protocol Institute</a:t>
            </a:r>
            <a:endParaRPr i="1" sz="2600">
              <a:solidFill>
                <a:schemeClr val="lt1"/>
              </a:solidFill>
              <a:latin typeface="Lora"/>
              <a:ea typeface="Lora"/>
              <a:cs typeface="Lora"/>
              <a:sym typeface="Lora"/>
            </a:endParaRPr>
          </a:p>
          <a:p>
            <a:pPr indent="0" lvl="0" marL="0" rtl="0" algn="l">
              <a:lnSpc>
                <a:spcPct val="94000"/>
              </a:lnSpc>
              <a:spcBef>
                <a:spcPts val="0"/>
              </a:spcBef>
              <a:spcAft>
                <a:spcPts val="0"/>
              </a:spcAft>
              <a:buClr>
                <a:srgbClr val="2C2C2A"/>
              </a:buClr>
              <a:buSzPts val="4600"/>
              <a:buFont typeface="Instrument Serif"/>
              <a:buNone/>
            </a:pPr>
            <a:r>
              <a:t/>
            </a:r>
            <a:endParaRPr b="1" sz="5400">
              <a:solidFill>
                <a:schemeClr val="lt1"/>
              </a:solidFill>
            </a:endParaRPr>
          </a:p>
        </p:txBody>
      </p:sp>
      <p:sp>
        <p:nvSpPr>
          <p:cNvPr id="876" name="Google Shape;876;g3fbb3796125_0_89"/>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Protocol Institute">
  <a:themeElements>
    <a:clrScheme name="Protocol Institute">
      <a:dk1>
        <a:srgbClr val="2C2C2A"/>
      </a:dk1>
      <a:lt1>
        <a:srgbClr val="F9F8F5"/>
      </a:lt1>
      <a:dk2>
        <a:srgbClr val="085041"/>
      </a:dk2>
      <a:lt2>
        <a:srgbClr val="E1F5EE"/>
      </a:lt2>
      <a:accent1>
        <a:srgbClr val="0064FF"/>
      </a:accent1>
      <a:accent2>
        <a:srgbClr val="085041"/>
      </a:accent2>
      <a:accent3>
        <a:srgbClr val="5F5E5A"/>
      </a:accent3>
      <a:accent4>
        <a:srgbClr val="E1F5EE"/>
      </a:accent4>
      <a:accent5>
        <a:srgbClr val="2C2C2A"/>
      </a:accent5>
      <a:accent6>
        <a:srgbClr val="FFFFFF"/>
      </a:accent6>
      <a:hlink>
        <a:srgbClr val="0064FF"/>
      </a:hlink>
      <a:folHlink>
        <a:srgbClr val="5F5E5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rotocol Institute">
  <a:themeElements>
    <a:clrScheme name="Protocol Institute">
      <a:dk1>
        <a:srgbClr val="2C2C2A"/>
      </a:dk1>
      <a:lt1>
        <a:srgbClr val="F9F8F5"/>
      </a:lt1>
      <a:dk2>
        <a:srgbClr val="085041"/>
      </a:dk2>
      <a:lt2>
        <a:srgbClr val="E1F5EE"/>
      </a:lt2>
      <a:accent1>
        <a:srgbClr val="0064FF"/>
      </a:accent1>
      <a:accent2>
        <a:srgbClr val="085041"/>
      </a:accent2>
      <a:accent3>
        <a:srgbClr val="5F5E5A"/>
      </a:accent3>
      <a:accent4>
        <a:srgbClr val="E1F5EE"/>
      </a:accent4>
      <a:accent5>
        <a:srgbClr val="2C2C2A"/>
      </a:accent5>
      <a:accent6>
        <a:srgbClr val="FFFFFF"/>
      </a:accent6>
      <a:hlink>
        <a:srgbClr val="0064FF"/>
      </a:hlink>
      <a:folHlink>
        <a:srgbClr val="5F5E5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2026-09-17T00:00:00Z</dcterms:created>
  <dc:creator>Protocol Institute</dc:creator>
</cp:coreProperties>
</file>