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 id="270" r:id="rId115"/>
    <p:sldId id="271" r:id="rId116"/>
    <p:sldId id="272" r:id="rId117"/>
    <p:sldId id="273" r:id="rId118"/>
    <p:sldId id="274" r:id="rId119"/>
    <p:sldId id="275" r:id="rId120"/>
    <p:sldId id="276" r:id="rId121"/>
    <p:sldId id="277" r:id="rId122"/>
    <p:sldId id="278" r:id="rId123"/>
    <p:sldId id="279" r:id="rId124"/>
    <p:sldId id="280" r:id="rId125"/>
    <p:sldId id="281" r:id="rId126"/>
    <p:sldId id="282" r:id="rId127"/>
    <p:sldId id="283" r:id="rId128"/>
    <p:sldId id="284" r:id="rId129"/>
    <p:sldId id="285" r:id="rId130"/>
    <p:sldId id="286" r:id="rId131"/>
    <p:sldId id="287" r:id="rId132"/>
    <p:sldId id="288" r:id="rId133"/>
    <p:sldId id="289" r:id="rId134"/>
    <p:sldId id="290" r:id="rId135"/>
    <p:sldId id="291" r:id="rId136"/>
    <p:sldId id="292" r:id="rId137"/>
    <p:sldId id="293" r:id="rId138"/>
    <p:sldId id="294" r:id="rId139"/>
    <p:sldId id="295" r:id="rId140"/>
    <p:sldId id="296" r:id="rId141"/>
    <p:sldId id="297" r:id="rId142"/>
    <p:sldId id="298" r:id="rId143"/>
    <p:sldId id="299" r:id="rId144"/>
    <p:sldId id="300" r:id="rId145"/>
    <p:sldId id="301" r:id="rId146"/>
    <p:sldId id="302" r:id="rId147"/>
    <p:sldId id="303" r:id="rId148"/>
    <p:sldId id="304" r:id="rId149"/>
    <p:sldId id="305" r:id="rId150"/>
    <p:sldId id="306" r:id="rId151"/>
    <p:sldId id="307" r:id="rId152"/>
    <p:sldId id="308" r:id="rId153"/>
    <p:sldId id="309" r:id="rId154"/>
    <p:sldId id="310" r:id="rId155"/>
    <p:sldId id="311" r:id="rId156"/>
    <p:sldId id="312" r:id="rId157"/>
  </p:sldIdLst>
  <p:sldSz cx="12192000" cy="6858000"/>
  <p:notesSz cx="6858000" cy="9144000"/>
  <p:defaultTextStyle>
    <a:lvl1pPr>
      <a:defRPr sz="1500">
        <a:latin typeface="+mn-lt"/>
      </a:defRPr>
    </a:lvl1pPr>
  </p:defaultTextStyle>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4" Type="http://schemas.openxmlformats.org/officeDocument/2006/relationships/slide" Target="slides/slide24.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6" Type="http://schemas.openxmlformats.org/officeDocument/2006/relationships/slide" Target="slides/slide36.xml"/><Relationship Id="rId137" Type="http://schemas.openxmlformats.org/officeDocument/2006/relationships/slide" Target="slides/slide37.xml"/><Relationship Id="rId138" Type="http://schemas.openxmlformats.org/officeDocument/2006/relationships/slide" Target="slides/slide38.xml"/><Relationship Id="rId139" Type="http://schemas.openxmlformats.org/officeDocument/2006/relationships/slide" Target="slides/slide39.xml"/><Relationship Id="rId140" Type="http://schemas.openxmlformats.org/officeDocument/2006/relationships/slide" Target="slides/slide40.xml"/><Relationship Id="rId141" Type="http://schemas.openxmlformats.org/officeDocument/2006/relationships/slide" Target="slides/slide41.xml"/><Relationship Id="rId142" Type="http://schemas.openxmlformats.org/officeDocument/2006/relationships/slide" Target="slides/slide42.xml"/><Relationship Id="rId143" Type="http://schemas.openxmlformats.org/officeDocument/2006/relationships/slide" Target="slides/slide43.xml"/><Relationship Id="rId144" Type="http://schemas.openxmlformats.org/officeDocument/2006/relationships/slide" Target="slides/slide44.xml"/><Relationship Id="rId145" Type="http://schemas.openxmlformats.org/officeDocument/2006/relationships/slide" Target="slides/slide45.xml"/><Relationship Id="rId146" Type="http://schemas.openxmlformats.org/officeDocument/2006/relationships/slide" Target="slides/slide46.xml"/><Relationship Id="rId147" Type="http://schemas.openxmlformats.org/officeDocument/2006/relationships/slide" Target="slides/slide47.xml"/><Relationship Id="rId148" Type="http://schemas.openxmlformats.org/officeDocument/2006/relationships/slide" Target="slides/slide48.xml"/><Relationship Id="rId149" Type="http://schemas.openxmlformats.org/officeDocument/2006/relationships/slide" Target="slides/slide49.xml"/><Relationship Id="rId150" Type="http://schemas.openxmlformats.org/officeDocument/2006/relationships/slide" Target="slides/slide50.xml"/><Relationship Id="rId151" Type="http://schemas.openxmlformats.org/officeDocument/2006/relationships/slide" Target="slides/slide51.xml"/><Relationship Id="rId152" Type="http://schemas.openxmlformats.org/officeDocument/2006/relationships/slide" Target="slides/slide52.xml"/><Relationship Id="rId153" Type="http://schemas.openxmlformats.org/officeDocument/2006/relationships/slide" Target="slides/slide53.xml"/><Relationship Id="rId154" Type="http://schemas.openxmlformats.org/officeDocument/2006/relationships/slide" Target="slides/slide54.xml"/><Relationship Id="rId155" Type="http://schemas.openxmlformats.org/officeDocument/2006/relationships/slide" Target="slides/slide55.xml"/><Relationship Id="rId156" Type="http://schemas.openxmlformats.org/officeDocument/2006/relationships/slide" Target="slides/slide56.xml"/><Relationship Id="rId157" Type="http://schemas.openxmlformats.org/officeDocument/2006/relationships/slide" Target="slides/slide57.xml"/><Relationship Id="rId2" Type="http://schemas.openxmlformats.org/officeDocument/2006/relationships/notesMaster" Target="notesMasters/notesMaster1.xml"/><Relationship Id="rId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9F8F5"/>
        </a:solidFill>
        <a:effectLst/>
      </p:bgPr>
    </p:bg>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lvl1pPr>
              <a:defRPr sz="1200">
                <a:latin typeface="+mn-lt"/>
              </a:defRPr>
            </a:lvl1pPr>
          </a:lstStyle>
          <a:p/>
        </p:txBody>
      </p:sp>
    </p:spTree>
  </p:cSld>
  <p:clrMap bg1="lt1" tx1="dk1" bg2="lt2" tx2="dk2" accent1="accent1" accent2="accent2" accent3="accent3" accent4="accent4" accent5="accent5" accent6="accent6" hlink="hlink" folHlink="folHlink"/>
  <p:notesStyle>
    <a:lvl1pPr>
      <a:defRPr sz="1200">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Open the workshop and set the frame: two days, four sessions, one public repo.</a:t>
            </a:r>
          </a:p>
          <a:p/>
          <a:p>
            <a:r>
              <a:rPr lang="en-GB" dirty="0"/>
              <a:t>Welcome. This is AI Kitcraft, one of five workshops running in parallel at the Symposium. For the next two days we are not adopting a tool — we are writing down how you already work with AI, until someone else, or someone else's assistant, can pick it up and run it without asking you. Three words carry the whole workshop: kit, factory, bridge. Everything we make goes in one public repository, and the link is on the screen.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Introduce the facilitators and where the Institute’s work sits.</a:t>
            </a:r>
          </a:p>
          <a:p/>
          <a:p>
            <a:r>
              <a:rPr lang="en-GB" dirty="0"/>
              <a:t>Two of us are running this. I am Sachin — I write Summer Lightning, and the precommodification argument you will hear in the next half hour is mine. Rafa built the Institute brand kit and the water-rate factory that anyone can bridge to on Tuesday, and the four-quadrant lens we use at the end of every hour is his. Between us we cover the Protocol Institute's research side and Protocols for Business, the SIG where this continues fortnightly after the Symposium. Everything lives in the repo on screen: the glossary is one file, and if a term I use is not in it, tell me and it goes in.</a:t>
            </a:r>
          </a:p>
          <a:p/>
          <a:p>
            <a:r>
              <a:rPr lang="en-GB" dirty="0"/>
              <a:t>Source: Repo github.com/protocolvision/workshop-kitkraft · voice #kafka · text #workshop-kitkraft · glossary at slides/glossary.md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Welcome everyone and explain that this session is about how each person uses AI.</a:t>
            </a:r>
          </a:p>
          <a:p/>
          <a:p>
            <a:r>
              <a:rPr lang="en-GB" dirty="0"/>
              <a:t>Welcome. For the next two days we are not adopting a tool — we are writing down how you already work with AI, until someone else, or someone else's AI assistant, can pick it up and run it without asking you. Four sessions of an hour, with work in between, and one public repository that holds everything we make. That is the one rule I will keep repeating: whatever you make lands in the repo.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the two days: share how you work with AI, then connect with others.</a:t>
            </a:r>
          </a:p>
          <a:p/>
          <a:p>
            <a:r>
              <a:rPr lang="en-GB" dirty="0"/>
              <a:t>Four sessions of an hour, with work in between, and one public repository that holds everything we make. That is the one rule I will keep repeating: whatever you make lands in the repo.</a:t>
            </a:r>
          </a:p>
          <a:p/>
          <a:p>
            <a:r>
              <a:rPr lang="en-GB" dirty="0"/>
              <a:t>Source: Sessions run 60 minutes · async work between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the workshop's recording policy.</a:t>
            </a:r>
          </a:p>
          <a:p/>
          <a:p>
            <a:r>
              <a:rPr lang="en-GB" dirty="0"/>
              <a:t>Before anything else, the consent notice, and I will read it as it is pinned. The short version: the voice channel and the text channel are recorded and transcribed with your names on them, and the transcripts go into the public repo. You can ask either of us to take any line out at any point, and you do not have to give a reason. If you would rather be off the transcript, say so now.</a:t>
            </a:r>
          </a:p>
          <a:p/>
          <a:p>
            <a:r>
              <a:rPr lang="en-GB" dirty="0"/>
              <a:t>Source: Consent notice pinned in #workshop-kitkraft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Get every person to introduce themselves: name, AI usage example, and one recent surprise.</a:t>
            </a:r>
          </a:p>
          <a:p/>
          <a:p>
            <a:r>
              <a:rPr lang="en-GB" dirty="0"/>
              <a:t>Let's go round. Name, where you work and one line about what you do; then the posture you came out as in the survey — Partnership, Hypervigilance, Overreliance or Compliance; then either a recent surprise you had with AI, or one rule you personally follow with it. I will start, and I will keep the clock so everyone gets their turn.</a:t>
            </a:r>
          </a:p>
          <a:p/>
          <a:p>
            <a:r>
              <a:rPr lang="en-GB" dirty="0"/>
              <a:t>Source: Reminder: Set the clock to &lt;2 mins per person!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that AI is still early, like farmers adapting cars before tractors existed.</a:t>
            </a:r>
          </a:p>
          <a:p/>
          <a:p>
            <a:r>
              <a:rPr lang="en-GB" dirty="0"/>
              <a:t>A quick word on what this is not. It is not workflow optimisation, it is not build-a-website, and it is not prompt tricks. Rural Model T owners ran corn shellers off the back axle for years before Ford watched them and built a tractor — real work, done with parts that were never meant for it, which is roughly where all of us are with AI right now. We are in the kit phase, the tractor is not here yet, and the tools that hide the assembly from you are not it.</a:t>
            </a:r>
          </a:p>
          <a:p/>
          <a:p>
            <a:r>
              <a:rPr lang="en-GB" dirty="0"/>
              <a:t>Reference: Sachin, “AI, tractors, and the productivity paradox” — read.technically.dev/p/the-ai-productivity-paradox (kit definition, Boulton &amp; Watt, Kline &amp; Pinch, closure, the invisible kit stage).</a:t>
            </a:r>
          </a:p>
          <a:p/>
          <a:p>
            <a:r>
              <a:rPr lang="en-GB" dirty="0"/>
              <a:t>Source: Kline &amp; Pinch 1996 · Bijker 1995 · read.technically.dev/p/the-ai-productivity-paradox</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Locate the room on the AI Capability Maturity Model, and show that the kit is level two on the cultivated track.</a:t>
            </a:r>
          </a:p>
          <a:p/>
          <a:p>
            <a:r>
              <a:rPr lang="en-GB" dirty="0"/>
              <a:t>This is the ladder the three words come from, and it is worth thirty seconds on why it has two columns. The guide’s argument is that adoption runs on two tracks at once: the governed one, which is the policy and procurement an organization approves in advance, and the cultivated one, which is the practice its people invent on their own. Most organizations only do the left column, and that is why their adoption stalls. Find yourself on the right-hand column: most of you are at Play, some at Kit. A kit is literally level two cultivated — encoding your personal workflow into something reusable and shareable — which is exactly what you are doing in the next hour. The report is linked at the bottom if you want the case studies; we are not going to teach the ladder, just use it to locate ourselves.</a:t>
            </a:r>
          </a:p>
          <a:p/>
          <a:p>
            <a:r>
              <a:rPr lang="en-GB" dirty="0"/>
              <a:t>Source: Durable AI Adoption v0.5 · ai.protocolized.dev · full report (PDF)</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Define a kit: customizing a new general-purpose technology (internal/live?) before it settles into products (external/archive?)</a:t>
            </a:r>
          </a:p>
          <a:p/>
          <a:p>
            <a:r>
              <a:rPr lang="en-GB" dirty="0"/>
              <a:t>So, a kit. A kit is a technology in use before there is a standard product: loose parts you assemble and adapt to your own job, in your own context, while the form is still open. In AI that is the prompts, the files and the steps you have bent around one thing you keep doing. What you write down today is that adaptation, as a folder — a README for people, a SKILL.md for the assistant, which is just a markdown file saying what the job is and when to use it, and one worked example. That folder shape is an open standard now, so a kit you build today still works in whatever assistant you use next month. Rafa, put the template up: that is the whole spec.</a:t>
            </a:r>
          </a:p>
          <a:p/>
          <a:p>
            <a:r>
              <a:rPr lang="en-GB" dirty="0"/>
              <a:t>Source: Agent Skills spec · agentskills.io/specification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where most teams are today and what the next step looks like.</a:t>
            </a:r>
          </a:p>
          <a:p/>
          <a:p>
            <a:r>
              <a:rPr lang="en-GB" dirty="0"/>
              <a:t>One slide with two vocabularies, and then we drop one. The adoption guide has five levels and four gates. Working out what you already do and writing it down is what it calls level two — that is our kit. Proving it, by giving it a way in that someone else can test, is a factory, and the guide's own timeline puts factories at 2026 to 2028. So this room is at kit and the frontier is factory. From here on I will only say kit, factory, bridge.</a:t>
            </a:r>
          </a:p>
          <a:p/>
          <a:p>
            <a:r>
              <a:rPr lang="en-GB" dirty="0"/>
              <a:t>Source: Durable AI Adoption · ai.protocolized.dev</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real examples of a kits.</a:t>
            </a:r>
          </a:p>
          <a:p/>
          <a:p>
            <a:r>
              <a:rPr lang="en-GB" dirty="0"/>
              <a:t>One worked example, then we move on. C3PO is one body of text — the Institute's archive — with one pipeline behind it and three doors onto it: a web page for people, a Discord bot for people in a hurry, and a machine door that any assistant can call directly. Same kit, three doors, and the doors are the part that makes it a factory. We are not going to run it now; the shape is the point.</a:t>
            </a:r>
          </a:p>
          <a:p/>
          <a:p>
            <a:r>
              <a:rPr lang="en-GB" dirty="0"/>
              <a:t>Source: search_corpus is open · ask_c3po needs a key · a bridge target tomorrow</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how things left in a shared space help uncover new products and organizational forms.</a:t>
            </a:r>
          </a:p>
          <a:p/>
          <a:p>
            <a:r>
              <a:rPr lang="en-GB" dirty="0"/>
              <a:t>There is a word for how this repo is going to work, and it is stigmergy. You leave a trace in a shared medium, and the trace itself prompts somebody else's next action — no plan, no message, nobody online at the same time. Two kinds of trace: the work itself, which is your kit, and signs about the work, which is the line your assistant writes into your LOG.md. The repo is the medium, and we get about two days out of it.</a:t>
            </a:r>
          </a:p>
          <a:p/>
          <a:p>
            <a:r>
              <a:rPr lang="en-GB" dirty="0"/>
              <a:t>Source: Heylighen 2016 · Stigmergy as a Universal Coordination Mechanism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the move from private notes to notes written for someone else.</a:t>
            </a:r>
          </a:p>
          <a:p/>
          <a:p>
            <a:r>
              <a:rPr lang="en-GB" dirty="0"/>
              <a:t>The same move, in a different grid. Working alone and keeping it to yourself is a journal, and that is where most AI practice sits today. Working alone but writing it so somebody else can build on it is a field notebook — Humboldt out in the field, recording observations nobody had asked for, in a form other people could use long before anyone coordinated anything. The Institute runs a Humboldt agent that does exactly that, and it is one of the things you could bridge to tomorrow. Today's move is journal to field notebook, and your inventory is the notebook.</a:t>
            </a:r>
          </a:p>
          <a:p/>
          <a:p>
            <a:r>
              <a:rPr lang="en-GB" dirty="0"/>
              <a:t>Source: Learn about The Invention of Nature: Alexander von Humboldt's New World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why a practice shaped entirely around one person stops making sense to anyone else.</a:t>
            </a:r>
          </a:p>
          <a:p/>
          <a:p>
            <a:r>
              <a:rPr lang="en-GB" dirty="0"/>
              <a:t>Rao’s essay is the one to read on this, and the argument is not that AI makes us antisocial — it is that AI is a domestic technology. Three affordances: automation, so you can run a whole intellectual operation with almost nobody in it; bespokification, so everything you build is an n=1 product fitted to you, like a farmer improvising equipment; and pensievification, sharing the raw outputs with a few trusted people, which is trading produce with your neighbours. Lean into all three and the tendency is divergence, not convergence: your setup gets better and better adapted to you, and less and less legible to anyone else. That is the trolley problem in the second paragraph — fine in the shop, useless in someone else’s kitchen. Rao’s own first answer, humans talking through what their agents produce, is exactly the move you make tomorrow.</a:t>
            </a:r>
          </a:p>
          <a:p/>
          <a:p>
            <a:r>
              <a:rPr lang="en-GB" dirty="0"/>
              <a:t>Source: Rao, Cognitive Farmsteading, July 2026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why the record of where work came from is scarcer than the idea itself.</a:t>
            </a:r>
          </a:p>
          <a:p/>
          <a:p>
            <a:r>
              <a:rPr lang="en-GB" dirty="0"/>
              <a:t>Now the other half of the problem, and this one is Sachin’s. Anything worth thinking about is being thought about, right now, by everyone capable of thinking about it, all with AI in the loop — and they are arriving at the same framings, the same metaphors, often the same coinages. There is no gradient left for an idea to travel along. It reaches your questions too: the model is an index fund of present curiosities as much as of past knowledge, so even your unformed hunches converge with other people’s. If being first is no longer the game, what is scarce? Provenance. Where it came from, what you did to it, what you checked it against. That is precisely what a kit records and a chat does not, and it is the reason everything goes in a public repo.</a:t>
            </a:r>
          </a:p>
          <a:p/>
          <a:p>
            <a:r>
              <a:rPr lang="en-GB" dirty="0"/>
              <a:t>Source: Benny, LLMs Pre-Commodify Ideas, June 2026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Introduce the workshop's lens: what's around you (external) or inside you (internal), already there (archive) or happening now (live).</a:t>
            </a:r>
          </a:p>
          <a:p/>
          <a:p>
            <a:r>
              <a:rPr lang="en-GB" dirty="0"/>
              <a:t>Before we name a single tool, let's name what is worth noticing. Two questions: is it outside you or inside you, and is it already fixed or is it happening right now. Outside and fixed: the idea you just had is already in the model, which means novelty is cheap and the record of where something came from is not. Outside and live: the traces other people's assistants leave in shared files. Inside and fixed: what you actually know to be true in your own context. Inside and live: you can play in this space, not just consume from it. At the end of every hour I will ask which of the four that hour expanded.</a:t>
            </a:r>
          </a:p>
          <a:p/>
          <a:p>
            <a:r>
              <a:rPr lang="en-GB" dirty="0"/>
              <a:t>Source: Internal/external axis borrowed from Ashcroft, Expanding Awareness · the quadrant names are ours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Have each person list AI kits they already use, personally or at work. (wallflower exercise)</a:t>
            </a:r>
          </a:p>
          <a:p/>
          <a:p>
            <a:r>
              <a:rPr lang="en-GB" dirty="0"/>
              <a:t>Over to you. Open your harness — the coding assistant you installed — at the top of the clone, paste Block 1, which I am pinning right now, and say “do this”. It will ask you to list the AI kits you already use, one at a time; it will not invent them for you. What counts as a kit? Any AI setup you have tinkered with to do a real job: a saved or reused prompt, a custom GPT or Claude project, a prompt document you copy from, a spreadsheet or document with an AI step, an automation with an AI step, a skill. Small is fine. One to three is plenty. Two things before you start: everything in this repo is public, so keep anything sensitive in a private folder on your own machine, and if a push fails three times, paste the exact error into the channel instead of fighting it.</a:t>
            </a:r>
          </a:p>
          <a:p/>
          <a:p>
            <a:r>
              <a:rPr lang="en-GB" dirty="0"/>
              <a:t>Source: Time calls at 6 and 10 minutes · if a push fails three times, paste the exact error into #workshop-kitkraft · keep anything sensitive off the repo</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Have each AI assistant find kits related to each other.</a:t>
            </a:r>
          </a:p>
          <a:p/>
          <a:p>
            <a:r>
              <a:rPr lang="en-GB" dirty="0"/>
              <a:t>Same file, Block 2 this time. Paste it and say “do this”. It pulls everyone's folders, reads the inventories through your assistant rather than through your browser, and tells you the two people whose kits sit nearest to yours. Note those two names down — that is the seed for the groups you will be working in tomorrow.</a:t>
            </a:r>
          </a:p>
          <a:p/>
          <a:p>
            <a:r>
              <a:rPr lang="en-GB" dirty="0"/>
              <a:t>Source: Your first trace read by someone else's agent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Hear one thing each person noticed, so we can see what the room is learning.</a:t>
            </a:r>
          </a:p>
          <a:p/>
          <a:p>
            <a:r>
              <a:rPr lang="en-GB" dirty="0"/>
              <a:t>Last thing before I let you go. Which of the four did this hour expand for you — precommodification, traces, anchored in reality, or playability? One word each, in the order I am posting now. There is no right answer, and I am not going to correct anybody.</a:t>
            </a:r>
          </a:p>
          <a:p/>
          <a:p>
            <a:r>
              <a:rPr lang="en-GB" dirty="0"/>
              <a:t>Source: Post in #workshop-kitkraft if you would rather not speak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Point people to Tech Support now and to choosing a kit before tonight.</a:t>
            </a:r>
          </a:p>
          <a:p/>
          <a:p>
            <a:r>
              <a:rPr lang="en-GB" dirty="0"/>
              <a:t>Async 1 is three hours, not a whole evening, so it is deliberately small: paste the async block, choose the kit you are going to turn into a factory tonight — your own, or one of ours — and let your assistant draft the first two lines of the README. Push, and stop there. If you are coming to 1A, do it afterwards; 1A starts here in #kafka in a minute, for anything that will not log in, clone or push. We are back at 20:00 UTC, and that is when you build the kit.</a:t>
            </a:r>
          </a:p>
          <a:p/>
          <a:p>
            <a:r>
              <a:rPr lang="en-GB" dirty="0"/>
              <a:t>Source: Reading order after S1: Durable AI Adoption ch.1–3 · Have Your Factory Call My Factory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Welcome people back and frame tonight: making a kit work without its author. (externalized memory / context)</a:t>
            </a:r>
          </a:p>
          <a:p/>
          <a:p>
            <a:r>
              <a:rPr lang="en-GB" dirty="0"/>
              <a:t>Recording is on and the consent is the one we read this afternoon; breakout rooms may be recorded too. Here is the S1 tally exactly as it was counted, and here is what you chose in Async 1. Three hours ago you picked a kit. It works, and it works because you are there to bend it every time you use it. Tonight we take you out of it, so it runs without you, fits whoever picks it up, and hands them something they can build 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that kits running without their author's oversight need hard protocols to stay reliable.</a:t>
            </a:r>
          </a:p>
          <a:p/>
          <a:p>
            <a:r>
              <a:rPr lang="en-GB" dirty="0"/>
              <a:t>Three hours ago you picked a kit. It works, and it works because you are there to bend it every time you use it. Tonight we take you out of it, so it runs without you, fits whoever picks it up, and hands them something they can build on.</a:t>
            </a:r>
          </a:p>
          <a:p/>
          <a:p>
            <a:r>
              <a:rPr lang="en-GB" dirty="0"/>
              <a:t>Source: Springett · Hard Worlds For Little Guys (CC BY-SA 4.0)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Get each person to write in the chat one thing their kit needs them for.</a:t>
            </a:r>
          </a:p>
          <a:p/>
          <a:p>
            <a:r>
              <a:rPr lang="en-GB" dirty="0"/>
              <a:t>Before any theory tonight, one line in the chat, all at once: my kit still needs me to — and finish it. No names, no explanation. If you are stuck, look at the examples on the right: picking which file to start from, knowing which client it is for, noticing when the output is wrong. Don't read anyone else's until you have posted yours. I will read three out, unattributed, and then we start — because whatever you just typed is the thing your SKILL.md does not yet say out loud, and it is what you will fix in twenty minutes.</a:t>
            </a:r>
          </a:p>
          <a:p/>
          <a:p>
            <a:r>
              <a:rPr lang="en-GB" dirty="0"/>
              <a:t>Source: Facilitator reads three aloud, unattributed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that electricity paid off only when factories rearranged around it, and AI too.</a:t>
            </a:r>
          </a:p>
          <a:p/>
          <a:p>
            <a:r>
              <a:rPr lang="en-GB" dirty="0"/>
              <a:t>When factories first got electricity, they took out the steam engine, put in one big electric motor, and kept every belt and shaft exactly where it was. Almost nothing happened for years. The gains came when they put a small motor on each machine, because then you could lay the floor out around the work instead of around the shafts. Most of us have done the first thing with AI: we put it inside the workflow we already had. Turning your kit into a factory is the second thing, at the size of one person's practice. You are re-laying one small floor tonight.</a:t>
            </a:r>
          </a:p>
          <a:p/>
          <a:p>
            <a:r>
              <a:rPr lang="en-GB" dirty="0"/>
              <a:t>Source: Devine 1983, From Shafts to Wires · David 1990, The Dynamo and the Computer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Define a factory: it runs without you, fits its user, and hands off useful work.</a:t>
            </a:r>
          </a:p>
          <a:p/>
          <a:p>
            <a:r>
              <a:rPr lang="en-GB" dirty="0"/>
              <a:t>Here is the definition: a factory is a kit that runs without its author, bends to its user, and hands off something others can build on. That describes what it does, not what it is made of; nothing in it says folder, app or website. Notice that each part comes from someone different. The steps come from you, written down so they give the same result each time. The context comes from the person running it — their data, their constraints. Not needing you comes from the factory itself asking for what it needs, instead of you explaining. And being buildable-on comes from the output. Take one away and look at the table: you have a kit, a widget, a service or a tool. Use it on your own kit tonight.</a:t>
            </a:r>
          </a:p>
          <a:p/>
          <a:p>
            <a:r>
              <a:rPr lang="en-GB" dirty="0"/>
              <a:t>Source: Postponement: Feitzinger &amp; Lee 1997 · a factory is a flexible job shop, not an assembly line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two real examples of work that runs without its author and helps others build.</a:t>
            </a:r>
          </a:p>
          <a:p/>
          <a:p>
            <a:r>
              <a:rPr lang="en-GB" dirty="0"/>
              <a:t>Two factories that already exist, and I want you to read them through four questions. Rao's manuscript factory never made a book. It made drafts with metadata attached and left them in a shared folder, and Jenna Dixon's production factory picked them up from there without Rao having to explain anything. That runs without its author and hands off something to build on, and it connects two factories by agreeing on an output, not by making them alike. Now the brand kit — an assistant reads that one file and has the brand, with nobody in the middle. And Monstrous Times took the kit, copied it, and bent it to its own world, which is the property the book case does not show. One more thing: Rao and Dixon are not coders. What held them up was never machinery; it was agreeing how one practice meets another.</a:t>
            </a:r>
          </a:p>
          <a:p/>
          <a:p>
            <a:r>
              <a:rPr lang="en-GB" dirty="0"/>
              <a:t>Source: Have Your Factory Call My Factory · the brand kit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Walk through the steps to convert a kit into a factory: write it down, break it up, name the output, test it.</a:t>
            </a:r>
          </a:p>
          <a:p/>
          <a:p>
            <a:r>
              <a:rPr lang="en-GB" dirty="0"/>
              <a:t>How do you get from kit to factory? Six moves, and every one has a long history. Write down what you actually do, including the bits you do without thinking. Split it into steps, each one a workstation. Name what leaves at the end — that is the thing someone else builds on. Declare it, which just means saying in public what other people can rely on: what it exports, how to call it, and what it adapts to. Then let someone else's assistant run it without you, and after that, hold that front door still while you keep changing the inside.</a:t>
            </a:r>
          </a:p>
          <a:p/>
          <a:p>
            <a:r>
              <a:rPr lang="en-GB" dirty="0"/>
              <a:t>Source: Full sources: workshop-dev/context-tank/resources.md §3a</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that a factory can be a guide, a script, an app, or a website.</a:t>
            </a:r>
          </a:p>
          <a:p/>
          <a:p>
            <a:r>
              <a:rPr lang="en-GB" dirty="0"/>
              <a:t>The ladder is the forms a factory can take, from a skill to a website running on a machine somewhere. Climbing it buys reach and costs effort; it does not make something more of a factory, because the definition is the same on every rung. Tonight everyone is on rung one, and that is the right rung: standards that close early lock in whatever happened to be there, which is how we all ended up typing on QWERTY. Declare the smallest way in and keep the inside free.</a:t>
            </a:r>
          </a:p>
          <a:p/>
          <a:p>
            <a:r>
              <a:rPr lang="en-GB" dirty="0"/>
              <a:t>Source: Bijker 1995 on closure · David 1985 on QWERTY · agentskills.io/specification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Have each person try to turn one kit into something another assistant can run unaided. (i.e. protocolization)</a:t>
            </a:r>
          </a:p>
          <a:p/>
          <a:p>
            <a:r>
              <a:rPr lang="en-GB" dirty="0"/>
              <a:t>Your turn. Open your harness at the top of the clone, paste the block I am pinning now and say “do this”. It walks the six moves in order, it will ask which kit you chose in Async 1, and it will not invent answers for you. When I call push, four things have to exist: a README with three lines — what this exports, how to call it, and what it adapts to — a SKILL.md whose numbered steps are the workstations and ask for the user's context instead of assuming yours, one example your assistant produced cold from that SKILL.md alone, and all of it inside participants/&lt;you&gt;/s2-factory/. Time calls at five and ten minutes; everything in this repo is public, so keep anything sensitive on your own machine.</a:t>
            </a:r>
          </a:p>
          <a:p/>
          <a:p>
            <a:r>
              <a:rPr lang="en-GB" dirty="0"/>
              <a:t>Source: Template: PARTICIPANT_TEMPLATE/ · sensitive material stays on your machine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Have partners test each other's factories and note where the assistant got stuck.</a:t>
            </a:r>
          </a:p>
          <a:p/>
          <a:p>
            <a:r>
              <a:rPr lang="en-GB" dirty="0"/>
              <a:t>Rooms now. Inside your group you read in a ring, and the pin says who reads whom. Your assistant gets two files, the README and the SKILL.md, and nothing else, and it runs two tests. First: can it run the example without asking the owner a single thing? Second: give it one line about your own situation, through the README's Adapts to: line, and see whether what comes out suits you or still suits the owner. Three lines on each. Read them aloud to the owner, and the owner types nothing back except blocker lines. Reconvene here at 48.</a:t>
            </a:r>
          </a:p>
          <a:p/>
          <a:p>
            <a:r>
              <a:rPr lang="en-GB" dirty="0"/>
              <a:t>Source: Every failure is a line in the kit, not a bug in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Hear one thing each partner's assistant could not do without the author.</a:t>
            </a:r>
          </a:p>
          <a:p/>
          <a:p>
            <a:r>
              <a:rPr lang="en-GB" dirty="0"/>
              <a:t>Recorder is back on. One sentence each, in the order I have pinned, about forty seconds: what did the other agent get wrong about your kit? I will predict most of the answers. Either it stalled at the place where you know something you never wrote down, or it ran fine and produced something that suited you and not the person using it. Both are the next line of your kit, not a bug in it.</a:t>
            </a:r>
          </a:p>
          <a:p/>
          <a:p>
            <a:r>
              <a:rPr lang="en-GB" dirty="0"/>
              <a:t>Source: Polanyi 1966: "we can know more than we can tell"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Hear one thing each person noticed, so we can see what the room is learning.</a:t>
            </a:r>
          </a:p>
          <a:p/>
          <a:p>
            <a:r>
              <a:rPr lang="en-GB" dirty="0"/>
              <a:t>Same question as this afternoon. Which of the four did this hour expand for you — precommodification, traces, anchored in reality, or playability? One word each, in the order I am posting now. There is no right answer and I am not going to correct anybody.</a:t>
            </a:r>
          </a:p>
          <a:p/>
          <a:p>
            <a:r>
              <a:rPr lang="en-GB" dirty="0"/>
              <a:t>Source: No right answer · nobody gets corrected</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Set the overnight task: fix what your partner found and save a new version.</a:t>
            </a:r>
          </a:p>
          <a:p/>
          <a:p>
            <a:r>
              <a:rPr lang="en-GB" dirty="0"/>
              <a:t>Overnight is small and specific: paste the async block and fix what your group's agent found — one fix per blocker line, whether it could not run without you or did not fit the reader — re-run the example cold, and push a v2 with a progress line saying what changed. If you are doing tonight async, push your factory anyway and your assigned reader's agent will test it and post the report in the channel for you. We are back at 15:30 UTC tomorrow for bridges, where you use someone's output unchanged instead of copying it; bring the kit you did not critique in mind.</a:t>
            </a:r>
          </a:p>
          <a:p/>
          <a:p>
            <a:r>
              <a:rPr lang="en-GB" dirty="0"/>
              <a:t>Source: Optional read: Have Your Factory Call My Factory</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Introduce bridges: getting one AI assistant to use several kits together, reliably.</a:t>
            </a:r>
          </a:p>
          <a:p/>
          <a:p>
            <a:r>
              <a:rPr lang="en-GB" dirty="0"/>
              <a:t>Recording has started, same consent as Monday, and breakouts may be recorded too. Monday's hard problem left one question open, and it is the one on the slide: how do two private practices reach each other without a shared app? Today we try it rather than answer it — your agent uses someone else's kit or factory, and by half past you each have a file that ends in a paragraph on what a bridge turned out to be.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that yesterday's factories each work on their own but will eventually be combined in a network.</a:t>
            </a:r>
          </a:p>
          <a:p/>
          <a:p>
            <a:r>
              <a:rPr lang="en-GB" dirty="0"/>
              <a:t>Here is what you built yesterday: one kit per folder, and in every LOG.md the failure the critique found. Look at these two lines — I am not saying whose — because almost all of them are description problems, not code problems. That makes them useful today: a failure is a trace, and it tells the next agent exactly where the knowledge was still in somebody's head.</a:t>
            </a:r>
          </a:p>
          <a:p/>
          <a:p>
            <a:r>
              <a:rPr lang="en-GB" dirty="0"/>
              <a:t>Source: Two LOG.md lines on screen, unattributed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Get each person to name, in the chat, two kits they could combine and why.</a:t>
            </a:r>
          </a:p>
          <a:p/>
          <a:p>
            <a:r>
              <a:rPr lang="en-GB" dirty="0"/>
              <a:t>One line in the chat before the theory: two folder names and one reason — this plus this, so that. Open participants/ if you need a reminder of what exists. One thing to notice while you choose: the useful pairs are uneven. One kit that produces something plus one that needs that thing, not two kits doing the same job. Nothing is assigned on the basis of this — your target is in the pinned post — but if a pairing named here is better than the one you were given, say so and we will swap it.</a:t>
            </a:r>
          </a:p>
          <a:p/>
          <a:p>
            <a:r>
              <a:rPr lang="en-GB" dirty="0"/>
              <a:t>Source: Facilitator reads a few aloud before the theory</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Define a bridge as a kit between kits that runs them as one process.</a:t>
            </a:r>
          </a:p>
          <a:p/>
          <a:p>
            <a:r>
              <a:rPr lang="en-GB" dirty="0"/>
              <a:t>A target is any kit or factory in the repo, and the difference is one line: a factory declared an Interface: in S2, a kit did not. That gives three configurations you might find yourself in, and I want to be clear that this is a list of things to try, not a taxonomy — your harness works out which one you are in and writes it down.</a:t>
            </a:r>
          </a:p>
          <a:p/>
          <a:p>
            <a:r>
              <a:rPr lang="en-GB" dirty="0"/>
              <a:t>Source: A bridge is a small graph over several kits; each node is still one loop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why passing half-finished work between kits often beats passing finished results. (intermedia, stigmergy)</a:t>
            </a:r>
          </a:p>
          <a:p/>
          <a:p>
            <a:r>
              <a:rPr lang="en-GB" dirty="0"/>
              <a:t>Go back to where Monday ended. Bespoke use makes your tooling solipsistic, precommodification means we all arrive at roughly the same ideas, and farmsteading makes each practice private — so sharing has to run on public records and interfaces, not on everybody adopting the same app. That is the problem; bridges are the question it leaves.</a:t>
            </a:r>
          </a:p>
          <a:p/>
          <a:p>
            <a:r>
              <a:rPr lang="en-GB" dirty="0"/>
              <a:t>Source: McIlroy, Pinson &amp; Tague 1978 · Rao 2026 · fork copies and bends; compose consumes unchanged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how Rao and Dixon linked their setups by passing drafts, not finished books.</a:t>
            </a:r>
          </a:p>
          <a:p/>
          <a:p>
            <a:r>
              <a:rPr lang="en-GB" dirty="0"/>
              <a:t>The first piece of evidence is Rao's manuscript factory handing work to Jenna Dixon's production factory: what moved was intermediates, drafts and metadata, not the finished book, and neither of them was a coder.</a:t>
            </a:r>
          </a:p>
          <a:p/>
          <a:p>
            <a:r>
              <a:rPr lang="en-GB" dirty="0"/>
              <a:t>Source: Have Your Factory Call My Factory, Rao &amp; Protocolized, Mar 2026</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one assistant chaining two kits, using the first kit's draft as the second's input.</a:t>
            </a:r>
          </a:p>
          <a:p/>
          <a:p>
            <a:r>
              <a:rPr lang="en-GB" dirty="0"/>
              <a:t>Here is a target that is open to all of you. Rafa's kit takes a utility's rate schedule PDF and produces one CSV row per tier, appended to a registry — and the interface is nothing more exotic than the shape of that row: fixed column order, units copied and never converted, a page reference required. Downstream the registry feeds a public site that never reads a PDF at all. If you want a target today, your agent can ask this one to produce a row from a PDF excerpt in your own domain.</a:t>
            </a:r>
          </a:p>
          <a:p/>
          <a:p>
            <a:r>
              <a:rPr lang="en-GB" dirty="0"/>
              <a:t>Source: Water Data Strategy · npc.here.now/waterdatastrategy · nobody critiqued the facilitator kits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what makes a combined process reliable enough to run again next week.</a:t>
            </a:r>
          </a:p>
          <a:p/>
          <a:p>
            <a:r>
              <a:rPr lang="en-GB" dirty="0"/>
              <a:t>We are not handing you a definition, and that is not modesty — the paragraph you write at the end of the breakout is the data, and tomorrow we read all of them before anyone says anything. While you work, watch for these four things: what your agent needed from the target, what it found on its own, what a person had to supply, and what stayed fixed between the two sides. Everything on the last few slides is evidence to check your own log against, not an answer to match.</a:t>
            </a:r>
          </a:p>
          <a:p/>
          <a:p>
            <a:r>
              <a:rPr lang="en-GB" dirty="0"/>
              <a:t>Source: Springett, Ontological Hardness — how tightly a system binds symbol, action and consequence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Remind everyone that using others' instructions means trusting them, so check them first.</a:t>
            </a:r>
          </a:p>
          <a:p/>
          <a:p>
            <a:r>
              <a:rPr lang="en-GB" dirty="0"/>
              <a:t>Two minutes on something you should know before your agent reads a stranger's folder. When it loads someone's SKILL.md, that file arrives as instructions, not as documentation, and the agent has no reliable way to tell a third party's instructions from yours. One survey this year found a vulnerability in 26.1% of 31,132 public skills. This room runs on trust, so I am not imposing a read-before-load rule — but that is a property of this room, not of the world, which is why identity and trust standards are being built at all.</a:t>
            </a:r>
          </a:p>
          <a:p/>
          <a:p>
            <a:r>
              <a:rPr lang="en-GB" dirty="0"/>
              <a:t>Source: safedep.io/agent-skills-threat-model · OWASP AST10 · ERC-8004</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Have each assistant combine two or more kits into one process that can be repeated.</a:t>
            </a:r>
          </a:p>
          <a:p/>
          <a:p>
            <a:r>
              <a:rPr lang="en-GB" dirty="0"/>
              <a:t>Your group and your target are in the pinned post; the default is the kit you did not critique, and anyone can swap to a facilitator kit, because nobody critiqued those. Open instructions/S3-bridge.md, fill in TARGET and the one thing your kit cannot do alone, paste it and say “do this” — it will refuse to invent the task, so that part is yours. The rule is agent → repo → agent: talk to a human only to unblock, and every unblock becomes one line in your log. At minute 30 stop building and write the two paragraphs; push by 38.</a:t>
            </a:r>
          </a:p>
          <a:p/>
          <a:p>
            <a:r>
              <a:rPr lang="en-GB" dirty="0"/>
              <a:t>Source: Groups and targets in the pinned post · hard mode: no human chat at all</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Hear what broke when kits were combined and what made the process repeatable.</a:t>
            </a:r>
          </a:p>
          <a:p/>
          <a:p>
            <a:r>
              <a:rPr lang="en-GB" dirty="0"/>
              <a:t>Welcome back. One line each, and I am going to hold you to twenty-five seconds, because the long version is already in your log. Fill in the sentence on the screen: my agent needed this from the target, and found this on its own. Order is posted in the channel.</a:t>
            </a:r>
          </a:p>
          <a:p/>
          <a:p>
            <a:r>
              <a:rPr lang="en-GB" dirty="0"/>
              <a:t>Source: Every answer goes into tomorrow's synthesis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Hear one thing each person noticed, so we can see what the room is learning.</a:t>
            </a:r>
          </a:p>
          <a:p/>
          <a:p>
            <a:r>
              <a:rPr lang="en-GB" dirty="0"/>
              <a:t>One word each: which quadrant did this hour expand?</a:t>
            </a:r>
          </a:p>
          <a:p/>
          <a:p>
            <a:r>
              <a:rPr lang="en-GB" dirty="0"/>
              <a:t>Source: Third of four checks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Set tomorrow's open question: what actually makes a combined process reliable?</a:t>
            </a:r>
          </a:p>
          <a:p/>
          <a:p>
            <a:r>
              <a:rPr lang="en-GB" dirty="0"/>
              <a:t>Sachin has one sentence, said once — and note that it is a hypothesis we are going to test against your logs tomorrow, not a definition of the thing you just built. Tomorrow we read your paragraphs first and this second, in that order, and if they disagree your paragraphs win.</a:t>
            </a:r>
          </a:p>
          <a:p/>
          <a:p>
            <a:r>
              <a:rPr lang="en-GB" dirty="0"/>
              <a:t>Source: Candidate answer to test: build the constraints into the handoff, not into the instructions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Make sure everyone saves their bridge notes and prepares a short show-and-tell.</a:t>
            </a:r>
          </a:p>
          <a:p/>
          <a:p>
            <a:r>
              <a:rPr lang="en-GB" dirty="0"/>
              <a:t>Before 20:00, finish the bridge log, then paste instructions/S4-show-and-tell.md so your harness prepares your ninety seconds for S4; the hard-mode rerun is optional and goes in the same file.</a:t>
            </a:r>
          </a:p>
          <a:p/>
          <a:p>
            <a:r>
              <a:rPr lang="en-GB" dirty="0"/>
              <a:t>Source: S4 at 20:00 UTC · nothing tonight is off the record</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Welcome people to the final session, where the slides are the work they made.</a:t>
            </a:r>
          </a:p>
          <a:p/>
          <a:p>
            <a:r>
              <a:rPr lang="en-GB" dirty="0"/>
              <a:t>Recording is on and consent is as pinned — nothing tonight is off the record. Before we start, look at the tree: that is inventories, kits, bridge logs and three transcripts, all of it public. Two days ago every one of these was a task inside somebody's head, and tonight there are no slides of mine to show you, because your files are the slides.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Show how far the room came, from ideas on Monday to shared, working files.</a:t>
            </a:r>
          </a:p>
          <a:p/>
          <a:p>
            <a:r>
              <a:rPr lang="en-GB" dirty="0"/>
              <a:t>Before we start, look at the tree: that is inventories, kits, bridge logs and three transcripts, all of it public. Two days ago every one of these was a task inside somebody's head, and tonight there are no slides of mine to show you, because your files are the slides.</a:t>
            </a:r>
          </a:p>
          <a:p/>
          <a:p>
            <a:r>
              <a:rPr lang="en-GB" dirty="0"/>
              <a:t>Source: Counts read from the repo at 19:45 · live on screen: github.com/protocolvision/workshop-kitkraft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Get each person to describe how their bridge building went.</a:t>
            </a:r>
          </a:p>
          <a:p/>
          <a:p>
            <a:r>
              <a:rPr lang="en-GB" dirty="0"/>
              <a:t>One word each in the chat, and one word only — the nine hundred words are already in your log. Blunt is welcome: broke, surprising, tedious, nearly. I am asking for one word rather than a sentence because we will read these back at the end, next to the definition the room agrees, and the two together say more than either on its own. The bridge that failed is the most useful file in the repo tonight, so if your word is “broke”, that is a result.</a:t>
            </a:r>
          </a:p>
          <a:p/>
          <a:p>
            <a:r>
              <a:rPr lang="en-GB" dirty="0"/>
              <a:t>Source: Read back at the end, next to the definition the room agrees</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Retrace the journey from kit to factory to bridge using an example.</a:t>
            </a:r>
          </a:p>
          <a:p/>
          <a:p>
            <a:r>
              <a:rPr lang="en-GB" dirty="0"/>
              <a:t>Three files, one per term. Here is a SKILL.md on Monday and the same file after the critique — the change is in the description line, which is where nearly all of them were. Here is a README whose Interface: line was the whole interface; every bridge yesterday ran on rung one of the ladder, and that turned out to be enough. And here is one unblock line, which I will read out as written, because it names the thing that was not in the repo.</a:t>
            </a:r>
          </a:p>
          <a:p/>
          <a:p>
            <a:r>
              <a:rPr lang="en-GB" dirty="0"/>
              <a:t>Source: "If it doesn't trigger, it's the description" — Anthropic's skills guide</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Give each person ninety seconds to present their show-and-tell.</a:t>
            </a:r>
          </a:p>
          <a:p/>
          <a:p>
            <a:r>
              <a:rPr lang="en-GB" dirty="0"/>
              <a:t>We go group by group in the pinned order, and I will put your file on screen as your name comes up. Ninety seconds each: your target, the one thing you made your agent do, what a person had to supply, and whether it worked. If someone is not here, their group-mate reads their show-and-tell file in sixty. I will be strict with the timer, because Sachin's agent is capturing every one of these into the synthesis as you speak.</a:t>
            </a:r>
          </a:p>
          <a:p/>
          <a:p>
            <a:r>
              <a:rPr lang="en-GB" dirty="0"/>
              <a:t>Source: Order pinned in #workshop-kitkraft</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Look closely at a bridge that worked and one that did not.</a:t>
            </a:r>
          </a:p>
          <a:p/>
          <a:p>
            <a:r>
              <a:rPr lang="en-GB" dirty="0"/>
              <a:t>Three logs in full now, four minutes each, and the owner talks while I scroll. Two of these worked and one did not, and the one that did not is the most useful file in the repo tonight — it is a precise list of what the next version of that kit has to contain. For each of them, the thing I want you listening for is the split: what the agent worked out on its own, and what a person still had to say out loud.</a:t>
            </a:r>
          </a:p>
          <a:p/>
          <a:p>
            <a:r>
              <a:rPr lang="en-GB" dirty="0"/>
              <a:t>Source: The owner talks while the facilitator scrolls</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Discuss what each person found made their bridge reliable.</a:t>
            </a:r>
          </a:p>
          <a:p/>
          <a:p>
            <a:r>
              <a:rPr lang="en-GB" dirty="0"/>
              <a:t>Nobody has defined a bridge yet — you have, one paragraph each, and this is the first time they have been in one place. First the numbers straight from the logs rather than from memory: bridges by kind, attempted and worked. Then I am going to read your paragraphs as written, without paraphrasing any of them. If I read yours wrong or the count is off, say so now and it goes in under Corrections with your handle.</a:t>
            </a:r>
          </a:p>
          <a:p/>
          <a:p>
            <a:r>
              <a:rPr lang="en-GB" dirty="0"/>
              <a:t>Source: First time all the paragraphs have been in one place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Agree as a room on what makes a bridge reliable, using everyone's notes.</a:t>
            </a:r>
          </a:p>
          <a:p/>
          <a:p>
            <a:r>
              <a:rPr lang="en-GB" dirty="0"/>
              <a:t>Yesterday at 16:28 I said one sentence, once, and called it a hypothesis: a bridge is a protocol between two factories — the smallest thing both sides agree not to change. Before you see any evidence, here is how it gets judged: a paragraph supports it if it names a specific thing both sides held fixed, contradicts it if it says a bridge was something else entirely, and is silent if it does neither. Retained needs two thirds supporting and nothing contradicting; ties go to you. Now the table — and where your paragraphs and this sentence disagree, your definition is the one that goes in the file.</a:t>
            </a:r>
          </a:p>
          <a:p/>
          <a:p>
            <a:r>
              <a:rPr lang="en-GB" dirty="0"/>
              <a:t>Source: Where your paragraphs and this sentence disagree, your definition goes in the file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Ask each person what they notice now about their own work that they missed Monday.</a:t>
            </a:r>
          </a:p>
          <a:p/>
          <a:p>
            <a:r>
              <a:rPr lang="en-GB" dirty="0"/>
              <a:t>Last round, and it is the one the whole frame rests on. Monday morning, before any of this: which of the four was your practice blind to? One word for the quadrant and one clause for why, and I will read the answers from their show-and-tell files, or the channel, for anyone who could not make it. Watch the table fill in — four checks in a row plus tonight is the room's own profile, and we are recording what it actually says, including where it splits.</a:t>
            </a:r>
          </a:p>
          <a:p/>
          <a:p>
            <a:r>
              <a:rPr lang="en-GB" dirty="0"/>
              <a:t>Source: Frame from Ashcroft · quadrant names are the workshop's own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40080" y="914400"/>
            <a:ext cx="5486400" cy="6400800"/>
          </a:xfrm>
          <a:prstGeom prst="rect">
            <a:avLst/>
          </a:prstGeom>
        </p:spPr>
        <p:txBody>
          <a:bodyPr wrap="square"/>
          <a:lstStyle/>
          <a:p>
            <a:r>
              <a:rPr lang="en-GB" dirty="0"/>
              <a:t>Objective: Explain what happens next: the work stays public and continued work at Protocol Vision / Protocols for Business.</a:t>
            </a:r>
          </a:p>
          <a:p/>
          <a:p>
            <a:r>
              <a:rPr lang="en-GB" dirty="0"/>
              <a:t>Four things to take with you. The repo stays public and yours; version two of the synthesis, with tonight's transcript in it, goes into the channel within 48 hours, and the recordings may feed Symposium write-ups and later research — tell either of us if you would rather they did not. Hard mode is still open if you want to rerun your bridge with no human chat at all. And the place this continues is the SIGBIZ fortnightly show-and-tell: bring the kit, not the slides.</a:t>
            </a:r>
          </a:p>
          <a:p/>
          <a:p>
            <a:r>
              <a:rPr lang="en-GB" dirty="0"/>
              <a:t>Source: github.com/protocolvision/workshop-kitkraft · protocol-institute.org · Discord #workshop-kitkraft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p:bg>
      <p:bgPr>
        <a:solidFill>
          <a:srgbClr val="F9F8F5"/>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22960" y="1737360"/>
            <a:ext cx="10332720" cy="2377440"/>
          </a:xfrm>
          <a:prstGeom prst="rect">
            <a:avLst/>
          </a:prstGeom>
        </p:spPr>
        <p:txBody>
          <a:bodyPr lIns="0" tIns="0" rIns="0" bIns="0" wrap="square" anchor="b"/>
          <a:lstStyle>
            <a:lvl1pPr algn="l">
              <a:lnSpc>
                <a:spcPct val="94000"/>
              </a:lnSpc>
              <a:buNone/>
              <a:defRPr sz="4600" b="0">
                <a:solidFill>
                  <a:srgbClr val="2C2C2A"/>
                </a:solidFill>
                <a:latin typeface="+mj-lt"/>
              </a:defRPr>
            </a:lvl1pPr>
          </a:lstStyle>
          <a:p/>
        </p:txBody>
      </p:sp>
      <p:sp>
        <p:nvSpPr>
          <p:cNvPr id="3" name="Subtitle 2"/>
          <p:cNvSpPr>
            <a:spLocks noGrp="1"/>
          </p:cNvSpPr>
          <p:nvPr>
            <p:ph type="subTitle" idx="1"/>
          </p:nvPr>
        </p:nvSpPr>
        <p:spPr>
          <a:xfrm>
            <a:off x="822960" y="4389120"/>
            <a:ext cx="8686800" cy="1280160"/>
          </a:xfrm>
          <a:prstGeom prst="rect">
            <a:avLst/>
          </a:prstGeom>
        </p:spPr>
        <p:txBody>
          <a:bodyPr lIns="0" tIns="0" rIns="0" bIns="0" wrap="square" anchor="t"/>
          <a:lstStyle>
            <a:lvl1pPr marL="0" indent="0" algn="l">
              <a:lnSpc>
                <a:spcPct val="118000"/>
              </a:lnSpc>
              <a:spcBef>
                <a:spcPts val="0"/>
              </a:spcBef>
              <a:buNone/>
              <a:defRPr sz="1800">
                <a:solidFill>
                  <a:srgbClr val="5F5E5A"/>
                </a:solidFill>
                <a:latin typeface="+mn-lt"/>
              </a:defRPr>
            </a:lvl1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p:bg>
      <p:bgPr>
        <a:solidFill>
          <a:srgbClr val="085041"/>
        </a:solidFill>
        <a:effectLst/>
      </p:bgPr>
    </p:bg>
    <p:spTree>
      <p:nvGrpSpPr>
        <p:cNvPr id="1" name=""/>
        <p:cNvGrpSpPr/>
        <p:nvPr/>
      </p:nvGrpSpPr>
      <p:grpSpPr>
        <a:xfrm>
          <a:off x="0" y="0"/>
          <a:ext cx="0" cy="0"/>
          <a:chOff x="0" y="0"/>
          <a:chExt cx="0" cy="0"/>
        </a:xfrm>
      </p:grpSpPr>
      <p:sp>
        <p:nvSpPr>
          <p:cNvPr id="2" name="Session label"/>
          <p:cNvSpPr>
            <a:spLocks noGrp="1"/>
          </p:cNvSpPr>
          <p:nvPr>
            <p:ph type="body" idx="1"/>
          </p:nvPr>
        </p:nvSpPr>
        <p:spPr>
          <a:xfrm>
            <a:off x="822960" y="2103120"/>
            <a:ext cx="7315200" cy="457200"/>
          </a:xfrm>
          <a:prstGeom prst="rect">
            <a:avLst/>
          </a:prstGeom>
        </p:spPr>
        <p:txBody>
          <a:bodyPr lIns="0" tIns="0" rIns="0" bIns="0" wrap="square" anchor="b"/>
          <a:lstStyle>
            <a:lvl1pPr marL="0" indent="0" algn="l">
              <a:buNone/>
              <a:defRPr sz="1200" spc="300" cap="all">
                <a:solidFill>
                  <a:srgbClr val="FFFFFF"/>
                </a:solidFill>
                <a:latin typeface="Outfit"/>
              </a:defRPr>
            </a:lvl1pPr>
          </a:lstStyle>
          <a:p/>
        </p:txBody>
      </p:sp>
      <p:sp>
        <p:nvSpPr>
          <p:cNvPr id="3" name="Title 1"/>
          <p:cNvSpPr>
            <a:spLocks noGrp="1"/>
          </p:cNvSpPr>
          <p:nvPr>
            <p:ph type="title"/>
          </p:nvPr>
        </p:nvSpPr>
        <p:spPr>
          <a:xfrm>
            <a:off x="822960" y="2697480"/>
            <a:ext cx="10332720" cy="1920240"/>
          </a:xfrm>
          <a:prstGeom prst="rect">
            <a:avLst/>
          </a:prstGeom>
        </p:spPr>
        <p:txBody>
          <a:bodyPr lIns="0" tIns="0" rIns="0" bIns="0" wrap="square" anchor="t"/>
          <a:lstStyle>
            <a:lvl1pPr algn="l">
              <a:lnSpc>
                <a:spcPct val="94000"/>
              </a:lnSpc>
              <a:buNone/>
              <a:defRPr sz="5400" b="0">
                <a:solidFill>
                  <a:srgbClr val="FFFFFF"/>
                </a:solidFill>
                <a:latin typeface="+mj-lt"/>
              </a:defRPr>
            </a:lvl1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p:bg>
      <p:bgPr>
        <a:solidFill>
          <a:srgbClr val="F9F8F5"/>
        </a:solidFill>
        <a:effectLst/>
      </p:bgPr>
    </p:bg>
    <p:spTree>
      <p:nvGrpSpPr>
        <p:cNvPr id="1" name=""/>
        <p:cNvGrpSpPr/>
        <p:nvPr/>
      </p:nvGrpSpPr>
      <p:grpSpPr>
        <a:xfrm>
          <a:off x="0" y="0"/>
          <a:ext cx="0" cy="0"/>
          <a:chOff x="0" y="0"/>
          <a:chExt cx="0" cy="0"/>
        </a:xfrm>
      </p:grpSpPr>
      <p:sp>
        <p:nvSpPr>
          <p:cNvPr id="2" name="Slide label"/>
          <p:cNvSpPr>
            <a:spLocks noGrp="1"/>
          </p:cNvSpPr>
          <p:nvPr>
            <p:ph type="body" idx="2"/>
          </p:nvPr>
        </p:nvSpPr>
        <p:spPr>
          <a:xfrm>
            <a:off x="822960" y="457200"/>
            <a:ext cx="9144000" cy="320040"/>
          </a:xfrm>
          <a:prstGeom prst="rect">
            <a:avLst/>
          </a:prstGeom>
        </p:spPr>
        <p:txBody>
          <a:bodyPr lIns="0" tIns="0" rIns="0" bIns="0" wrap="square" anchor="t"/>
          <a:lstStyle>
            <a:lvl1pPr marL="0" indent="0" algn="l">
              <a:buNone/>
              <a:defRPr sz="1200" spc="300" cap="all">
                <a:solidFill>
                  <a:srgbClr val="0064FF"/>
                </a:solidFill>
                <a:latin typeface="Outfit"/>
              </a:defRPr>
            </a:lvl1pPr>
          </a:lstStyle>
          <a:p/>
        </p:txBody>
      </p:sp>
      <p:sp>
        <p:nvSpPr>
          <p:cNvPr id="3" name="Title 1"/>
          <p:cNvSpPr>
            <a:spLocks noGrp="1"/>
          </p:cNvSpPr>
          <p:nvPr>
            <p:ph type="title"/>
          </p:nvPr>
        </p:nvSpPr>
        <p:spPr>
          <a:xfrm>
            <a:off x="822960" y="914400"/>
            <a:ext cx="9692640" cy="1371600"/>
          </a:xfrm>
          <a:prstGeom prst="rect">
            <a:avLst/>
          </a:prstGeom>
        </p:spPr>
        <p:txBody>
          <a:bodyPr lIns="0" tIns="0" rIns="0" bIns="0" wrap="square" anchor="t"/>
          <a:lstStyle>
            <a:lvl1pPr algn="l">
              <a:lnSpc>
                <a:spcPct val="96000"/>
              </a:lnSpc>
              <a:buNone/>
              <a:defRPr sz="2800" b="0">
                <a:solidFill>
                  <a:srgbClr val="2C2C2A"/>
                </a:solidFill>
                <a:latin typeface="+mj-lt"/>
              </a:defRPr>
            </a:lvl1pPr>
          </a:lstStyle>
          <a:p/>
        </p:txBody>
      </p:sp>
      <p:sp>
        <p:nvSpPr>
          <p:cNvPr id="4" name="Body 2"/>
          <p:cNvSpPr>
            <a:spLocks noGrp="1"/>
          </p:cNvSpPr>
          <p:nvPr>
            <p:ph type="body" idx="1"/>
          </p:nvPr>
        </p:nvSpPr>
        <p:spPr>
          <a:xfrm>
            <a:off x="822960" y="2468880"/>
            <a:ext cx="9692640" cy="3017520"/>
          </a:xfrm>
          <a:prstGeom prst="rect">
            <a:avLst/>
          </a:prstGeom>
        </p:spPr>
        <p:txBody>
          <a:bodyPr lIns="0" tIns="0" rIns="0" bIns="0" wrap="square" anchor="t"/>
          <a:lstStyle>
            <a:lvl1pPr marL="0" indent="0" algn="l">
              <a:lnSpc>
                <a:spcPct val="118000"/>
              </a:lnSpc>
              <a:spcBef>
                <a:spcPts val="700"/>
              </a:spcBef>
              <a:buNone/>
              <a:defRPr sz="1400">
                <a:solidFill>
                  <a:srgbClr val="2C2C2A"/>
                </a:solidFill>
                <a:latin typeface="+mn-lt"/>
              </a:defRPr>
            </a:lvl1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p:bg>
      <p:bgPr>
        <a:solidFill>
          <a:srgbClr val="F9F8F5"/>
        </a:solidFill>
        <a:effectLst/>
      </p:bgPr>
    </p:bg>
    <p:spTree>
      <p:nvGrpSpPr>
        <p:cNvPr id="1" name=""/>
        <p:cNvGrpSpPr/>
        <p:nvPr/>
      </p:nvGrpSpPr>
      <p:grpSpPr>
        <a:xfrm>
          <a:off x="0" y="0"/>
          <a:ext cx="0" cy="0"/>
          <a:chOff x="0" y="0"/>
          <a:chExt cx="0" cy="0"/>
        </a:xfrm>
      </p:grpSpPr>
      <p:sp>
        <p:nvSpPr>
          <p:cNvPr id="2" name="Exercise label"/>
          <p:cNvSpPr>
            <a:spLocks noGrp="1"/>
          </p:cNvSpPr>
          <p:nvPr>
            <p:ph type="body" idx="2"/>
          </p:nvPr>
        </p:nvSpPr>
        <p:spPr>
          <a:xfrm>
            <a:off x="822960" y="457200"/>
            <a:ext cx="7315200" cy="320040"/>
          </a:xfrm>
          <a:prstGeom prst="rect">
            <a:avLst/>
          </a:prstGeom>
        </p:spPr>
        <p:txBody>
          <a:bodyPr lIns="0" tIns="0" rIns="0" bIns="0" wrap="square" anchor="t"/>
          <a:lstStyle>
            <a:lvl1pPr marL="0" indent="0" algn="l">
              <a:buNone/>
              <a:defRPr sz="1200" spc="300" cap="all">
                <a:solidFill>
                  <a:srgbClr val="0064FF"/>
                </a:solidFill>
                <a:latin typeface="Outfit"/>
              </a:defRPr>
            </a:lvl1pPr>
          </a:lstStyle>
          <a:p/>
        </p:txBody>
      </p:sp>
      <p:sp>
        <p:nvSpPr>
          <p:cNvPr id="3" name="Title 1"/>
          <p:cNvSpPr>
            <a:spLocks noGrp="1"/>
          </p:cNvSpPr>
          <p:nvPr>
            <p:ph type="title"/>
          </p:nvPr>
        </p:nvSpPr>
        <p:spPr>
          <a:xfrm>
            <a:off x="822960" y="914400"/>
            <a:ext cx="9692640" cy="1371600"/>
          </a:xfrm>
          <a:prstGeom prst="rect">
            <a:avLst/>
          </a:prstGeom>
        </p:spPr>
        <p:txBody>
          <a:bodyPr lIns="0" tIns="0" rIns="0" bIns="0" wrap="square" anchor="t"/>
          <a:lstStyle>
            <a:lvl1pPr algn="l">
              <a:lnSpc>
                <a:spcPct val="96000"/>
              </a:lnSpc>
              <a:buNone/>
              <a:defRPr sz="2800" b="0">
                <a:solidFill>
                  <a:srgbClr val="2C2C2A"/>
                </a:solidFill>
                <a:latin typeface="+mj-lt"/>
              </a:defRPr>
            </a:lvl1pPr>
          </a:lstStyle>
          <a:p/>
        </p:txBody>
      </p:sp>
      <p:sp>
        <p:nvSpPr>
          <p:cNvPr id="4" name="Exercise box"/>
          <p:cNvSpPr>
            <a:spLocks noGrp="1"/>
          </p:cNvSpPr>
          <p:nvPr>
            <p:ph type="body" idx="1"/>
          </p:nvPr>
        </p:nvSpPr>
        <p:spPr>
          <a:xfrm>
            <a:off x="822960" y="2514600"/>
            <a:ext cx="9692640" cy="3108960"/>
          </a:xfrm>
          <a:prstGeom prst="rect">
            <a:avLst/>
          </a:prstGeom>
          <a:solidFill>
            <a:srgbClr val="E1F5EE"/>
          </a:solidFill>
        </p:spPr>
        <p:txBody>
          <a:bodyPr lIns="274320" tIns="228600" rIns="274320" bIns="228600" wrap="square" anchor="t"/>
          <a:lstStyle>
            <a:lvl1pPr marL="0" indent="0" algn="l">
              <a:lnSpc>
                <a:spcPct val="118000"/>
              </a:lnSpc>
              <a:spcBef>
                <a:spcPts val="700"/>
              </a:spcBef>
              <a:buNone/>
              <a:defRPr sz="1400">
                <a:solidFill>
                  <a:srgbClr val="085041"/>
                </a:solidFill>
                <a:latin typeface="+mn-lt"/>
              </a:defRPr>
            </a:lvl1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p:bg>
      <p:bgPr>
        <a:solidFill>
          <a:srgbClr val="F9F8F5"/>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22960" y="1920240"/>
            <a:ext cx="10058400" cy="1828800"/>
          </a:xfrm>
          <a:prstGeom prst="rect">
            <a:avLst/>
          </a:prstGeom>
        </p:spPr>
        <p:txBody>
          <a:bodyPr lIns="0" tIns="0" rIns="0" bIns="0" wrap="square" anchor="b"/>
          <a:lstStyle>
            <a:lvl1pPr algn="l">
              <a:lnSpc>
                <a:spcPct val="96000"/>
              </a:lnSpc>
              <a:buNone/>
              <a:defRPr sz="3600" b="0">
                <a:solidFill>
                  <a:srgbClr val="2C2C2A"/>
                </a:solidFill>
                <a:latin typeface="+mj-lt"/>
              </a:defRPr>
            </a:lvl1pPr>
          </a:lstStyle>
          <a:p/>
        </p:txBody>
      </p:sp>
      <p:sp>
        <p:nvSpPr>
          <p:cNvPr id="3" name="Body 2"/>
          <p:cNvSpPr>
            <a:spLocks noGrp="1"/>
          </p:cNvSpPr>
          <p:nvPr>
            <p:ph type="body" idx="1"/>
          </p:nvPr>
        </p:nvSpPr>
        <p:spPr>
          <a:xfrm>
            <a:off x="822960" y="4023360"/>
            <a:ext cx="9509760" cy="1463040"/>
          </a:xfrm>
          <a:prstGeom prst="rect">
            <a:avLst/>
          </a:prstGeom>
        </p:spPr>
        <p:txBody>
          <a:bodyPr lIns="0" tIns="0" rIns="0" bIns="0" wrap="square" anchor="t"/>
          <a:lstStyle>
            <a:lvl1pPr marL="0" indent="0" algn="l">
              <a:lnSpc>
                <a:spcPct val="118000"/>
              </a:lnSpc>
              <a:spcBef>
                <a:spcPts val="0"/>
              </a:spcBef>
              <a:buNone/>
              <a:defRPr sz="1600">
                <a:solidFill>
                  <a:srgbClr val="5F5E5A"/>
                </a:solidFill>
                <a:latin typeface="+mn-lt"/>
              </a:defRPr>
            </a:lvl1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9F8F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685800"/>
            <a:ext cx="9144000" cy="1463040"/>
          </a:xfrm>
          <a:prstGeom prst="rect">
            <a:avLst/>
          </a:prstGeom>
        </p:spPr>
        <p:txBody>
          <a:bodyPr lIns="0" tIns="0" rIns="0" bIns="0" wrap="square" anchor="t"/>
          <a:lstStyle>
            <a:lvl1pPr algn="l">
              <a:lnSpc>
                <a:spcPct val="96000"/>
              </a:lnSpc>
              <a:buNone/>
              <a:defRPr sz="3000" b="0">
                <a:solidFill>
                  <a:srgbClr val="2C2C2A"/>
                </a:solidFill>
                <a:latin typeface="+mj-lt"/>
              </a:defRPr>
            </a:lvl1pPr>
          </a:lstStyle>
          <a:p/>
        </p:txBody>
      </p:sp>
      <p:sp>
        <p:nvSpPr>
          <p:cNvPr id="3" name="Text Placeholder 2"/>
          <p:cNvSpPr>
            <a:spLocks noGrp="1"/>
          </p:cNvSpPr>
          <p:nvPr>
            <p:ph type="body" idx="1"/>
          </p:nvPr>
        </p:nvSpPr>
        <p:spPr>
          <a:xfrm>
            <a:off x="822960" y="2377440"/>
            <a:ext cx="9144000" cy="3108960"/>
          </a:xfrm>
          <a:prstGeom prst="rect">
            <a:avLst/>
          </a:prstGeom>
        </p:spPr>
        <p:txBody>
          <a:bodyPr lIns="0" tIns="0" rIns="0" bIns="0" wrap="square" anchor="t"/>
          <a:lstStyle>
            <a:lvl1pPr marL="0" indent="0" algn="l">
              <a:lnSpc>
                <a:spcPct val="118000"/>
              </a:lnSpc>
              <a:spcBef>
                <a:spcPts val="700"/>
              </a:spcBef>
              <a:buNone/>
              <a:defRPr sz="1500">
                <a:solidFill>
                  <a:srgbClr val="2C2C2A"/>
                </a:solidFill>
                <a:latin typeface="+mn-lt"/>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a:lnSpc>
          <a:spcPct val="96000"/>
        </a:lnSpc>
        <a:buNone/>
        <a:defRPr sz="3000" b="0">
          <a:solidFill>
            <a:srgbClr val="2C2C2A"/>
          </a:solidFill>
          <a:latin typeface="+mj-lt"/>
        </a:defRPr>
      </a:lvl1pPr>
    </p:titleStyle>
    <p:bodyStyle>
      <a:lvl1pPr marL="0" indent="0" algn="l">
        <a:lnSpc>
          <a:spcPct val="118000"/>
        </a:lnSpc>
        <a:spcBef>
          <a:spcPts val="700"/>
        </a:spcBef>
        <a:buNone/>
        <a:defRPr sz="1500">
          <a:solidFill>
            <a:srgbClr val="2C2C2A"/>
          </a:solidFill>
          <a:latin typeface="+mn-lt"/>
        </a:defRPr>
      </a:lvl1pPr>
    </p:bodyStyle>
    <p:otherStyle>
      <a:lvl1pPr>
        <a:defRPr sz="1500">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lIns="0" tIns="0" rIns="0" bIns="0" wrap="square" anchor="b"/>
          <a:lstStyle/>
          <a:p>
            <a:r>
              <a:rPr lang="en-GB" dirty="0"/>
              <a:t>AI Kitcraft</a:t>
            </a:r>
          </a:p>
        </p:txBody>
      </p:sp>
      <p:sp>
        <p:nvSpPr>
          <p:cNvPr id="3" name="Subtitle 2"/>
          <p:cNvSpPr>
            <a:spLocks noGrp="1"/>
          </p:cNvSpPr>
          <p:nvPr>
            <p:ph type="subTitle" idx="1"/>
          </p:nvPr>
        </p:nvSpPr>
        <p:spPr>
          <a:prstGeom prst="rect">
            <a:avLst/>
          </a:prstGeom>
        </p:spPr>
        <p:txBody>
          <a:bodyPr lIns="0" tIns="0" rIns="0" bIns="0" wrap="square"/>
          <a:lstStyle/>
          <a:p>
            <a:r>
              <a:rPr lang="en-GB" dirty="0"/>
              <a:t>Two-day hands-on workshop</a:t>
            </a:r>
          </a:p>
          <a:p>
            <a:r>
              <a:rPr lang="en-GB" dirty="0"/>
              <a:t>Kit → Factory → Bridge</a:t>
            </a:r>
          </a:p>
          <a:p>
            <a:r>
              <a:rPr lang="en-GB" dirty="0"/>
              <a:t>github.com/protocolvision/workshop-kitkraft · Discord #workshop-kitkraft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Welcome · Introduction</a:t>
            </a:r>
          </a:p>
        </p:txBody>
      </p:sp>
      <p:sp>
        <p:nvSpPr>
          <p:cNvPr id="3" name="Title 1"/>
          <p:cNvSpPr>
            <a:spLocks noGrp="1"/>
          </p:cNvSpPr>
          <p:nvPr>
            <p:ph type="title"/>
          </p:nvPr>
        </p:nvSpPr>
        <p:spPr>
          <a:prstGeom prst="rect">
            <a:avLst/>
          </a:prstGeom>
        </p:spPr>
        <p:txBody>
          <a:bodyPr lIns="0" tIns="0" rIns="0" bIns="0" wrap="square"/>
          <a:lstStyle/>
          <a:p>
            <a:r>
              <a:rPr lang="en-GB" dirty="0"/>
              <a:t>About the Protocol Institute</a:t>
            </a:r>
          </a:p>
        </p:txBody>
      </p:sp>
      <p:sp>
        <p:nvSpPr>
          <p:cNvPr id="4" name="Body 2"/>
          <p:cNvSpPr>
            <a:spLocks noGrp="1"/>
          </p:cNvSpPr>
          <p:nvPr>
            <p:ph type="body" idx="1"/>
          </p:nvPr>
        </p:nvSpPr>
        <p:spPr>
          <a:prstGeom prst="rect">
            <a:avLst/>
          </a:prstGeom>
        </p:spPr>
        <p:txBody>
          <a:bodyPr lIns="0" tIns="0" rIns="0" bIns="0" wrap="square"/>
          <a:lstStyle/>
          <a:p>
            <a:r>
              <a:rPr lang="en-GB" dirty="0"/>
              <a:t>The Protocol Institute</a:t>
            </a:r>
          </a:p>
          <a:p>
            <a:r>
              <a:rPr lang="en-GB" dirty="0"/>
              <a:t>Accelerating Order.</a:t>
            </a:r>
          </a:p>
          <a:p>
            <a:r>
              <a:rPr lang="en-GB" dirty="0"/>
              <a:t>A research, education, media and scene-making organization for protocols — how coordination mechanisms get designed, adopted and maintained.</a:t>
            </a:r>
          </a:p>
          <a:p>
            <a:r>
              <a:rPr lang="en-GB" dirty="0"/>
              <a:t>Publishes Protocolized, the magazine of New Nature · runs the SIGs, including Protocols for Business · hosts the Protocol Symposium, where this workshop is one of five running in parallel.</a:t>
            </a:r>
          </a:p>
          <a:p>
            <a:r>
              <a:rPr lang="en-GB" dirty="0"/>
              <a:t>Sachin Benny</a:t>
            </a:r>
          </a:p>
          <a:p>
            <a:r>
              <a:rPr lang="en-GB" dirty="0"/>
              <a:t>Protocol Institute · writes Summer Lightning</a:t>
            </a:r>
          </a:p>
          <a:p>
            <a:r>
              <a:rPr lang="en-GB" dirty="0"/>
              <a:t>Wrote "LLMs Pre-Commodify Ideas" (June 2026), where precommodification comes from, and the AI-and-tractors piece behind the kit-phase argument in Session 1. His agent captures the Session 4 synthesis.</a:t>
            </a:r>
          </a:p>
          <a:p>
            <a:r>
              <a:rPr lang="en-GB" dirty="0"/>
              <a:t>Rafa</a:t>
            </a:r>
          </a:p>
          <a:p>
            <a:r>
              <a:rPr lang="en-GB" dirty="0"/>
              <a:t>Protocols for Business SIG</a:t>
            </a:r>
          </a:p>
          <a:p>
            <a:r>
              <a:rPr lang="en-GB" dirty="0"/>
              <a:t>Wrote "Hard Worlds for Big Organizations" (April 2026) and named the four quadrants we use as our lens. Runs the rate-schedule factory in facilitator/rafa/ that is a bridge target in Session 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ssion label"/>
          <p:cNvSpPr>
            <a:spLocks noGrp="1"/>
          </p:cNvSpPr>
          <p:nvPr>
            <p:ph type="body" idx="1"/>
          </p:nvPr>
        </p:nvSpPr>
        <p:spPr>
          <a:prstGeom prst="rect">
            <a:avLst/>
          </a:prstGeom>
        </p:spPr>
        <p:txBody>
          <a:bodyPr lIns="0" tIns="0" rIns="0" bIns="0" wrap="square" anchor="b"/>
          <a:lstStyle/>
          <a:p>
            <a:r>
              <a:rPr lang="en-GB" dirty="0"/>
              <a:t>Session 1 — Kits</a:t>
            </a:r>
          </a:p>
        </p:txBody>
      </p:sp>
      <p:sp>
        <p:nvSpPr>
          <p:cNvPr id="3" name="Title 1"/>
          <p:cNvSpPr>
            <a:spLocks noGrp="1"/>
          </p:cNvSpPr>
          <p:nvPr>
            <p:ph type="title"/>
          </p:nvPr>
        </p:nvSpPr>
        <p:spPr>
          <a:prstGeom prst="rect">
            <a:avLst/>
          </a:prstGeom>
        </p:spPr>
        <p:txBody>
          <a:bodyPr lIns="0" tIns="0" rIns="0" bIns="0" wrap="square"/>
          <a:lstStyle/>
          <a:p>
            <a:r>
              <a:rPr lang="en-GB" dirty="0"/>
              <a:t>Kits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Overview</a:t>
            </a:r>
          </a:p>
        </p:txBody>
      </p:sp>
      <p:sp>
        <p:nvSpPr>
          <p:cNvPr id="3" name="Title 1"/>
          <p:cNvSpPr>
            <a:spLocks noGrp="1"/>
          </p:cNvSpPr>
          <p:nvPr>
            <p:ph type="title"/>
          </p:nvPr>
        </p:nvSpPr>
        <p:spPr>
          <a:prstGeom prst="rect">
            <a:avLst/>
          </a:prstGeom>
        </p:spPr>
        <p:txBody>
          <a:bodyPr lIns="0" tIns="0" rIns="0" bIns="0" wrap="square"/>
          <a:lstStyle/>
          <a:p>
            <a:r>
              <a:rPr lang="en-GB" dirty="0"/>
              <a:t>Over two days, we will share how we work with AI and build bridges.</a:t>
            </a:r>
          </a:p>
        </p:txBody>
      </p:sp>
      <p:sp>
        <p:nvSpPr>
          <p:cNvPr id="4" name="Body 2"/>
          <p:cNvSpPr>
            <a:spLocks noGrp="1"/>
          </p:cNvSpPr>
          <p:nvPr>
            <p:ph type="body" idx="1"/>
          </p:nvPr>
        </p:nvSpPr>
        <p:spPr>
          <a:prstGeom prst="rect">
            <a:avLst/>
          </a:prstGeom>
        </p:spPr>
        <p:txBody>
          <a:bodyPr lIns="0" tIns="0" rIns="0" bIns="0" wrap="square"/>
          <a:lstStyle/>
          <a:p>
            <a:r>
              <a:rPr lang="en-GB" dirty="0"/>
              <a:t>Now · S1</a:t>
            </a:r>
          </a:p>
          <a:p>
            <a:r>
              <a:rPr lang="en-GB" dirty="0"/>
              <a:t>Kits</a:t>
            </a:r>
          </a:p>
          <a:p>
            <a:r>
              <a:rPr lang="en-GB" dirty="0"/>
              <a:t>Where you are, what a kit is, your inventory</a:t>
            </a:r>
          </a:p>
          <a:p>
            <a:r>
              <a:rPr lang="en-GB" dirty="0"/>
              <a:t>LATER 20:00</a:t>
            </a:r>
          </a:p>
          <a:p>
            <a:r>
              <a:rPr lang="en-GB" dirty="0"/>
              <a:t>Factories</a:t>
            </a:r>
          </a:p>
          <a:p>
            <a:r>
              <a:rPr lang="en-GB" dirty="0"/>
              <a:t>Your kit runs without you</a:t>
            </a:r>
          </a:p>
          <a:p>
            <a:r>
              <a:rPr lang="en-GB" dirty="0"/>
              <a:t>Tue 15:30</a:t>
            </a:r>
          </a:p>
          <a:p>
            <a:r>
              <a:rPr lang="en-GB" dirty="0"/>
              <a:t>Bridges</a:t>
            </a:r>
          </a:p>
          <a:p>
            <a:r>
              <a:rPr lang="en-GB" dirty="0"/>
              <a:t>Your agent uses someone else's kit</a:t>
            </a:r>
          </a:p>
          <a:p>
            <a:r>
              <a:rPr lang="en-GB" dirty="0"/>
              <a:t>Tue 20:00</a:t>
            </a:r>
          </a:p>
          <a:p>
            <a:r>
              <a:rPr lang="en-GB" dirty="0"/>
              <a:t>Show and tell</a:t>
            </a:r>
          </a:p>
          <a:p>
            <a:r>
              <a:rPr lang="en-GB" dirty="0"/>
              <a:t>The slides are your files</a:t>
            </a:r>
          </a:p>
          <a:p>
            <a:r>
              <a:rPr lang="en-GB" dirty="0"/>
              <a:t>One rule for everyone: save everything (public) in the workshop repo — github.com/protocolvision/workshop-kitkraft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Ground rules</a:t>
            </a:r>
          </a:p>
        </p:txBody>
      </p:sp>
      <p:sp>
        <p:nvSpPr>
          <p:cNvPr id="3" name="Title 1"/>
          <p:cNvSpPr>
            <a:spLocks noGrp="1"/>
          </p:cNvSpPr>
          <p:nvPr>
            <p:ph type="title"/>
          </p:nvPr>
        </p:nvSpPr>
        <p:spPr>
          <a:prstGeom prst="rect">
            <a:avLst/>
          </a:prstGeom>
        </p:spPr>
        <p:txBody>
          <a:bodyPr lIns="0" tIns="0" rIns="0" bIns="0" wrap="square"/>
          <a:lstStyle/>
          <a:p>
            <a:r>
              <a:rPr lang="en-GB" dirty="0"/>
              <a:t>Before we start... testing 1,2,3...</a:t>
            </a:r>
          </a:p>
        </p:txBody>
      </p:sp>
      <p:sp>
        <p:nvSpPr>
          <p:cNvPr id="4" name="Body 2"/>
          <p:cNvSpPr>
            <a:spLocks noGrp="1"/>
          </p:cNvSpPr>
          <p:nvPr>
            <p:ph type="body" idx="1"/>
          </p:nvPr>
        </p:nvSpPr>
        <p:spPr>
          <a:prstGeom prst="rect">
            <a:avLst/>
          </a:prstGeom>
        </p:spPr>
        <p:txBody>
          <a:bodyPr lIns="0" tIns="0" rIns="0" bIns="0" wrap="square"/>
          <a:lstStyle/>
          <a:p>
            <a:r>
              <a:rPr lang="en-GB" dirty="0"/>
              <a:t>What is recorded</a:t>
            </a:r>
          </a:p>
          <a:p>
            <a:r>
              <a:rPr lang="en-GB" dirty="0"/>
              <a:t>Voice in #kafka and text in #workshop-kitkraft, transcribed with names</a:t>
            </a:r>
          </a:p>
          <a:p>
            <a:r>
              <a:rPr lang="en-GB" dirty="0"/>
              <a:t>Transcripts go into the public repo</a:t>
            </a:r>
          </a:p>
          <a:p>
            <a:r>
              <a:rPr lang="en-GB" dirty="0"/>
              <a:t>Breakout rooms may be recorded</a:t>
            </a:r>
          </a:p>
          <a:p>
            <a:r>
              <a:rPr lang="en-GB" dirty="0"/>
              <a:t>BUT...</a:t>
            </a:r>
          </a:p>
          <a:p>
            <a:r>
              <a:rPr lang="en-GB" dirty="0"/>
              <a:t>Ask either of us to remove any line — no reason needed, any time</a:t>
            </a:r>
          </a:p>
          <a:p>
            <a:r>
              <a:rPr lang="en-GB" dirty="0"/>
              <a:t>Say so now if you would rather be off the transcript</a:t>
            </a:r>
          </a:p>
          <a:p>
            <a:r>
              <a:rPr lang="en-GB" dirty="0"/>
              <a:t>Nothing in a public kit you would not put on a public website</a:t>
            </a:r>
          </a:p>
          <a:p>
            <a:r>
              <a:rPr lang="en-GB" dirty="0"/>
              <a:t>Keep sensitive information in your local folder on your own machine. The repo is public from the first commit.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ROUND ROBIN</a:t>
            </a:r>
          </a:p>
        </p:txBody>
      </p:sp>
      <p:sp>
        <p:nvSpPr>
          <p:cNvPr id="3" name="Title 1"/>
          <p:cNvSpPr>
            <a:spLocks noGrp="1"/>
          </p:cNvSpPr>
          <p:nvPr>
            <p:ph type="title"/>
          </p:nvPr>
        </p:nvSpPr>
        <p:spPr>
          <a:prstGeom prst="rect">
            <a:avLst/>
          </a:prstGeom>
        </p:spPr>
        <p:txBody>
          <a:bodyPr lIns="0" tIns="0" rIns="0" bIns="0" wrap="square"/>
          <a:lstStyle/>
          <a:p>
            <a:r>
              <a:rPr lang="en-GB" dirty="0"/>
              <a:t>Share your name, how you use AI, and one recent surprise.</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INTRODUCTIONS</a:t>
            </a:r>
          </a:p>
          <a:p>
            <a:r>
              <a:rPr lang="en-GB" dirty="0"/>
              <a:t>Name, organisation, one line on what you do</a:t>
            </a:r>
          </a:p>
          <a:p>
            <a:r>
              <a:rPr lang="en-GB" dirty="0"/>
              <a:t>Share how you use AI: Style, Prompts, Topics, Tools, Products, Assistant, etc.</a:t>
            </a:r>
          </a:p>
          <a:p>
            <a:r>
              <a:rPr lang="en-GB" dirty="0"/>
              <a:t>One recent surprise with AI, or one rule you personally follow</a:t>
            </a:r>
          </a:p>
          <a:p>
            <a:r>
              <a:rPr lang="en-GB" dirty="0"/>
              <a:t>While you listen</a:t>
            </a:r>
          </a:p>
          <a:p>
            <a:r>
              <a:rPr lang="en-GB" dirty="0"/>
              <a:t>Note the two people whose work sounds nearest yours. You will check that guess against your agent's answer in Exercise 3.Note how people use AI different than you.</a:t>
            </a:r>
          </a:p>
          <a:p>
            <a:r>
              <a:rPr lang="en-GB" dirty="0"/>
              <a:t>TAKE AWAY</a:t>
            </a:r>
          </a:p>
          <a:p>
            <a:r>
              <a:rPr lang="en-GB" dirty="0"/>
              <a:t>How do people use AI similar to you? How do they use it differently?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Concept</a:t>
            </a:r>
          </a:p>
        </p:txBody>
      </p:sp>
      <p:sp>
        <p:nvSpPr>
          <p:cNvPr id="3" name="Title 1"/>
          <p:cNvSpPr>
            <a:spLocks noGrp="1"/>
          </p:cNvSpPr>
          <p:nvPr>
            <p:ph type="title"/>
          </p:nvPr>
        </p:nvSpPr>
        <p:spPr>
          <a:prstGeom prst="rect">
            <a:avLst/>
          </a:prstGeom>
        </p:spPr>
        <p:txBody>
          <a:bodyPr lIns="0" tIns="0" rIns="0" bIns="0" wrap="square"/>
          <a:lstStyle/>
          <a:p>
            <a:r>
              <a:rPr lang="en-GB" dirty="0"/>
              <a:t>AI is still early, like farmers adapting cars before anyone built a tractor.</a:t>
            </a:r>
          </a:p>
        </p:txBody>
      </p:sp>
      <p:sp>
        <p:nvSpPr>
          <p:cNvPr id="4" name="Body 2"/>
          <p:cNvSpPr>
            <a:spLocks noGrp="1"/>
          </p:cNvSpPr>
          <p:nvPr>
            <p:ph type="body" idx="1"/>
          </p:nvPr>
        </p:nvSpPr>
        <p:spPr>
          <a:prstGeom prst="rect">
            <a:avLst/>
          </a:prstGeom>
        </p:spPr>
        <p:txBody>
          <a:bodyPr lIns="0" tIns="0" rIns="0" bIns="0" wrap="square"/>
          <a:lstStyle/>
          <a:p>
            <a:r>
              <a:rPr lang="en-GB" dirty="0"/>
              <a:t>1 · The kit</a:t>
            </a:r>
          </a:p>
          <a:p>
            <a:r>
              <a:rPr lang="en-GB" dirty="0"/>
              <a:t>Iowa, 1915</a:t>
            </a:r>
          </a:p>
          <a:p>
            <a:r>
              <a:rPr lang="en-GB" dirty="0"/>
              <a:t>A farmer jacks up a Model T's rear wheel to run a corn sheller. He wants the corn shelled, not the car.</a:t>
            </a:r>
          </a:p>
          <a:p>
            <a:r>
              <a:rPr lang="en-GB" dirty="0"/>
              <a:t>2 · The pattern</a:t>
            </a:r>
          </a:p>
          <a:p>
            <a:r>
              <a:rPr lang="en-GB" dirty="0"/>
              <a:t>No correct way</a:t>
            </a:r>
          </a:p>
          <a:p>
            <a:r>
              <a:rPr lang="en-GB" dirty="0"/>
              <a:t>Boulton &amp; Watt sold engineering kits and instructions, not finished engines. Components meant to be tinkered with.</a:t>
            </a:r>
          </a:p>
          <a:p>
            <a:r>
              <a:rPr lang="en-GB" dirty="0"/>
              <a:t>3 · The product arrives</a:t>
            </a:r>
          </a:p>
          <a:p>
            <a:r>
              <a:rPr lang="en-GB" dirty="0"/>
              <a:t>Then the tractor</a:t>
            </a:r>
          </a:p>
          <a:p>
            <a:r>
              <a:rPr lang="en-GB" dirty="0"/>
              <a:t>Ford watched those uses and built the product. The kit stage never shows up in the statistics — and that is where AI is now.</a:t>
            </a:r>
          </a:p>
          <a:p>
            <a:r>
              <a:rPr lang="en-GB" dirty="0"/>
              <a:t>This is not workflow optimisation, build-a-website, or prompt tricks. The tools that hide the assembly from you are not it either.</a:t>
            </a:r>
          </a:p>
          <a:p>
            <a:r>
              <a:rPr lang="en-GB" dirty="0"/>
              <a:t>§ Kit phase — The stage of a technology when people are adapting loose parts to their own jobs and nobody has built the standard product yet.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Framework</a:t>
            </a:r>
          </a:p>
        </p:txBody>
      </p:sp>
      <p:sp>
        <p:nvSpPr>
          <p:cNvPr id="3" name="Title 1"/>
          <p:cNvSpPr>
            <a:spLocks noGrp="1"/>
          </p:cNvSpPr>
          <p:nvPr>
            <p:ph type="title"/>
          </p:nvPr>
        </p:nvSpPr>
        <p:spPr>
          <a:prstGeom prst="rect">
            <a:avLst/>
          </a:prstGeom>
        </p:spPr>
        <p:txBody>
          <a:bodyPr lIns="0" tIns="0" rIns="0" bIns="0" wrap="square"/>
          <a:lstStyle/>
          <a:p>
            <a:r>
              <a:rPr lang="en-GB" dirty="0"/>
              <a:t>Five maturity levels run from invisible personal use to civilization scale.</a:t>
            </a:r>
          </a:p>
        </p:txBody>
      </p:sp>
      <p:sp>
        <p:nvSpPr>
          <p:cNvPr id="4" name="Body 2"/>
          <p:cNvSpPr>
            <a:spLocks noGrp="1"/>
          </p:cNvSpPr>
          <p:nvPr>
            <p:ph type="body" idx="1"/>
          </p:nvPr>
        </p:nvSpPr>
        <p:spPr>
          <a:prstGeom prst="rect">
            <a:avLst/>
          </a:prstGeom>
        </p:spPr>
        <p:txBody>
          <a:bodyPr lIns="0" tIns="0" rIns="0" bIns="0" wrap="square"/>
          <a:lstStyle/>
          <a:p>
            <a:r>
              <a:rPr lang="en-GB" dirty="0"/>
              <a:t>Governed — what the organization approves</a:t>
            </a:r>
          </a:p>
          <a:p>
            <a:r>
              <a:rPr lang="en-GB" dirty="0"/>
              <a:t>Cultivated — what its people invent</a:t>
            </a:r>
          </a:p>
          <a:p>
            <a:r>
              <a:rPr lang="en-GB" dirty="0"/>
              <a:t>L·01</a:t>
            </a:r>
          </a:p>
          <a:p>
            <a:r>
              <a:rPr lang="en-GB" dirty="0"/>
              <a:t>Shadow</a:t>
            </a:r>
          </a:p>
          <a:p>
            <a:r>
              <a:rPr lang="en-GB" dirty="0"/>
              <a:t>AI in use through personal accounts; no monitoring and no governing policy.</a:t>
            </a:r>
          </a:p>
          <a:p>
            <a:r>
              <a:rPr lang="en-GB" dirty="0"/>
              <a:t>Play</a:t>
            </a:r>
          </a:p>
          <a:p>
            <a:r>
              <a:rPr lang="en-GB" dirty="0"/>
              <a:t>Curiosity-driven exploration; AI met as a medium for deep play and discovery.</a:t>
            </a:r>
          </a:p>
          <a:p>
            <a:r>
              <a:rPr lang="en-GB" dirty="0"/>
              <a:t>L·02</a:t>
            </a:r>
          </a:p>
          <a:p>
            <a:r>
              <a:rPr lang="en-GB" dirty="0"/>
              <a:t>Sanctioned</a:t>
            </a:r>
          </a:p>
          <a:p>
            <a:r>
              <a:rPr lang="en-GB" dirty="0"/>
              <a:t>Access policy in place; tools approved, use tracked, risk contained.</a:t>
            </a:r>
          </a:p>
          <a:p>
            <a:r>
              <a:rPr lang="en-GB" dirty="0"/>
              <a:t>KIT — WE ARE HERE</a:t>
            </a:r>
          </a:p>
          <a:p>
            <a:r>
              <a:rPr lang="en-GB" dirty="0"/>
              <a:t>Users encoding personal workflows into reusable, shareable protocols of their own design.</a:t>
            </a:r>
          </a:p>
          <a:p>
            <a:r>
              <a:rPr lang="en-GB" dirty="0"/>
              <a:t>L·03</a:t>
            </a:r>
          </a:p>
          <a:p>
            <a:r>
              <a:rPr lang="en-GB" dirty="0"/>
              <a:t>Engine</a:t>
            </a:r>
          </a:p>
          <a:p>
            <a:r>
              <a:rPr lang="en-GB" dirty="0"/>
              <a:t>Workflows built around AI with named owners and quality metrics.</a:t>
            </a:r>
          </a:p>
          <a:p>
            <a:r>
              <a:rPr lang="en-GB" dirty="0"/>
              <a:t>Practice</a:t>
            </a:r>
          </a:p>
          <a:p>
            <a:r>
              <a:rPr lang="en-GB" dirty="0"/>
              <a:t>New forms of work emerge that were not possible before AI; roles are redefined.</a:t>
            </a:r>
          </a:p>
          <a:p>
            <a:r>
              <a:rPr lang="en-GB" dirty="0"/>
              <a:t>L·04</a:t>
            </a:r>
          </a:p>
          <a:p>
            <a:r>
              <a:rPr lang="en-GB" dirty="0"/>
              <a:t>Infrastructure</a:t>
            </a:r>
          </a:p>
          <a:p>
            <a:r>
              <a:rPr lang="en-GB" dirty="0"/>
              <a:t>AI is a sector baseline; the coordination problem crosses organizations.</a:t>
            </a:r>
          </a:p>
          <a:p>
            <a:r>
              <a:rPr lang="en-GB" dirty="0"/>
              <a:t>Vernacular</a:t>
            </a:r>
          </a:p>
          <a:p>
            <a:r>
              <a:rPr lang="en-GB" dirty="0"/>
              <a:t>Practices absorbed into culture; tacit knowledge spreads without mandates.</a:t>
            </a:r>
          </a:p>
          <a:p>
            <a:r>
              <a:rPr lang="en-GB" dirty="0"/>
              <a:t>L·05</a:t>
            </a:r>
          </a:p>
          <a:p>
            <a:r>
              <a:rPr lang="en-GB" dirty="0"/>
              <a:t>Planetary</a:t>
            </a:r>
          </a:p>
          <a:p>
            <a:r>
              <a:rPr lang="en-GB" dirty="0"/>
              <a:t>Civilization-scale AI; coordination and legibility become the governance challenge.</a:t>
            </a:r>
          </a:p>
          <a:p>
            <a:r>
              <a:rPr lang="en-GB" dirty="0"/>
              <a:t>Fluency</a:t>
            </a:r>
          </a:p>
          <a:p>
            <a:r>
              <a:rPr lang="en-GB" dirty="0"/>
              <a:t>AI fully absorbed into how people think and work — second nature, no longer named.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Definition</a:t>
            </a:r>
          </a:p>
        </p:txBody>
      </p:sp>
      <p:sp>
        <p:nvSpPr>
          <p:cNvPr id="3" name="Title 1"/>
          <p:cNvSpPr>
            <a:spLocks noGrp="1"/>
          </p:cNvSpPr>
          <p:nvPr>
            <p:ph type="title"/>
          </p:nvPr>
        </p:nvSpPr>
        <p:spPr>
          <a:prstGeom prst="rect">
            <a:avLst/>
          </a:prstGeom>
        </p:spPr>
        <p:txBody>
          <a:bodyPr lIns="0" tIns="0" rIns="0" bIns="0" wrap="square"/>
          <a:lstStyle/>
          <a:p>
            <a:r>
              <a:rPr lang="en-GB" dirty="0"/>
              <a:t>A kit customizes a new general-purpose technology before it settles into products.</a:t>
            </a:r>
          </a:p>
        </p:txBody>
      </p:sp>
      <p:sp>
        <p:nvSpPr>
          <p:cNvPr id="4" name="Body 2"/>
          <p:cNvSpPr>
            <a:spLocks noGrp="1"/>
          </p:cNvSpPr>
          <p:nvPr>
            <p:ph type="body" idx="1"/>
          </p:nvPr>
        </p:nvSpPr>
        <p:spPr>
          <a:prstGeom prst="rect">
            <a:avLst/>
          </a:prstGeom>
        </p:spPr>
        <p:txBody>
          <a:bodyPr lIns="0" tIns="0" rIns="0" bIns="0" wrap="square"/>
          <a:lstStyle/>
          <a:p>
            <a:r>
              <a:rPr lang="en-GB" dirty="0"/>
              <a:t>Loose parts you assemble and adapt to your own job, while the form is still open. In AI: the prompts, files and steps you bent around one recurring job.</a:t>
            </a:r>
          </a:p>
          <a:p>
            <a:r>
              <a:rPr lang="en-GB" dirty="0"/>
              <a:t>The folder shape is an open standard, so a kit you build today still works in whatever assistant you use next month.</a:t>
            </a:r>
          </a:p>
          <a:p>
            <a:r>
              <a:rPr lang="en-GB" dirty="0"/>
              <a:t>A factory — tonight's topic — runs without you, bends to its user, and hands off work others can build on.</a:t>
            </a:r>
          </a:p>
          <a:p>
            <a:r>
              <a:rPr lang="en-GB" dirty="0"/>
              <a:t>Your kit folder</a:t>
            </a:r>
          </a:p>
          <a:p>
            <a:r>
              <a:rPr lang="en-GB" dirty="0"/>
              <a:t>README.md — for people</a:t>
            </a:r>
          </a:p>
          <a:p>
            <a:r>
              <a:rPr lang="en-GB" dirty="0"/>
              <a:t>SKILL.md — for the assistant: what the job is, when to use it</a:t>
            </a:r>
          </a:p>
          <a:p>
            <a:r>
              <a:rPr lang="en-GB" dirty="0"/>
              <a:t>examples/ — one worked input and output</a:t>
            </a:r>
          </a:p>
          <a:p>
            <a:r>
              <a:rPr lang="en-GB" dirty="0"/>
              <a:t>LOG.md — what changed, and what broke</a:t>
            </a:r>
          </a:p>
          <a:p>
            <a:r>
              <a:rPr lang="en-GB" dirty="0"/>
              <a:t>Template in the repo: PARTICIPANT_TEMPLATE/</a:t>
            </a:r>
          </a:p>
          <a:p>
            <a:r>
              <a:rPr lang="en-GB" dirty="0"/>
              <a:t>§ Kit — Customizing a new general-purpose technology before it settles into products — components meant to be tinkered with, with no single correct way to use them.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Vocabulary</a:t>
            </a:r>
          </a:p>
        </p:txBody>
      </p:sp>
      <p:sp>
        <p:nvSpPr>
          <p:cNvPr id="3" name="Title 1"/>
          <p:cNvSpPr>
            <a:spLocks noGrp="1"/>
          </p:cNvSpPr>
          <p:nvPr>
            <p:ph type="title"/>
          </p:nvPr>
        </p:nvSpPr>
        <p:spPr>
          <a:prstGeom prst="rect">
            <a:avLst/>
          </a:prstGeom>
        </p:spPr>
        <p:txBody>
          <a:bodyPr lIns="0" tIns="0" rIns="0" bIns="0" wrap="square"/>
          <a:lstStyle/>
          <a:p>
            <a:r>
              <a:rPr lang="en-GB" dirty="0"/>
              <a:t>What happens after Kits?</a:t>
            </a:r>
          </a:p>
        </p:txBody>
      </p:sp>
      <p:sp>
        <p:nvSpPr>
          <p:cNvPr id="4" name="Body 2"/>
          <p:cNvSpPr>
            <a:spLocks noGrp="1"/>
          </p:cNvSpPr>
          <p:nvPr>
            <p:ph type="body" idx="1"/>
          </p:nvPr>
        </p:nvSpPr>
        <p:spPr>
          <a:prstGeom prst="rect">
            <a:avLst/>
          </a:prstGeom>
        </p:spPr>
        <p:txBody>
          <a:bodyPr lIns="0" tIns="0" rIns="0" bIns="0" wrap="square"/>
          <a:lstStyle/>
          <a:p>
            <a:r>
              <a:rPr lang="en-GB" dirty="0"/>
              <a:t>DISCOVER → ENCODE</a:t>
            </a:r>
          </a:p>
          <a:p>
            <a:r>
              <a:rPr lang="en-GB" dirty="0"/>
              <a:t>Kit</a:t>
            </a:r>
          </a:p>
          <a:p>
            <a:r>
              <a:rPr lang="en-GB" dirty="0"/>
              <a:t>Custom practice</a:t>
            </a:r>
          </a:p>
          <a:p>
            <a:r>
              <a:rPr lang="en-GB" dirty="0"/>
              <a:t>STANDARDIZE · THE FRONTIER</a:t>
            </a:r>
          </a:p>
          <a:p>
            <a:r>
              <a:rPr lang="en-GB" dirty="0"/>
              <a:t>Factory</a:t>
            </a:r>
          </a:p>
          <a:p>
            <a:r>
              <a:rPr lang="en-GB" dirty="0"/>
              <a:t>Scaled practice</a:t>
            </a:r>
          </a:p>
          <a:p>
            <a:r>
              <a:rPr lang="en-GB" dirty="0"/>
              <a:t>NETWORK</a:t>
            </a:r>
          </a:p>
          <a:p>
            <a:r>
              <a:rPr lang="en-GB" dirty="0"/>
              <a:t>Bridge</a:t>
            </a:r>
          </a:p>
          <a:p>
            <a:r>
              <a:rPr lang="en-GB" dirty="0"/>
              <a:t>Connected practice</a:t>
            </a:r>
          </a:p>
          <a:p>
            <a:r>
              <a:rPr lang="en-GB" dirty="0"/>
              <a:t>§ Maturity model — A ladder of levels describing how far an organization has got with something, used to locate where you are and name the next step.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Example</a:t>
            </a:r>
          </a:p>
        </p:txBody>
      </p:sp>
      <p:sp>
        <p:nvSpPr>
          <p:cNvPr id="3" name="Title 1"/>
          <p:cNvSpPr>
            <a:spLocks noGrp="1"/>
          </p:cNvSpPr>
          <p:nvPr>
            <p:ph type="title"/>
          </p:nvPr>
        </p:nvSpPr>
        <p:spPr>
          <a:prstGeom prst="rect">
            <a:avLst/>
          </a:prstGeom>
        </p:spPr>
        <p:txBody>
          <a:bodyPr lIns="0" tIns="0" rIns="0" bIns="0" wrap="square"/>
          <a:lstStyle/>
          <a:p>
            <a:r>
              <a:rPr lang="en-GB" dirty="0"/>
              <a:t>What interfaces are emerging to access AI-native Kits and Factories?</a:t>
            </a:r>
          </a:p>
        </p:txBody>
      </p:sp>
      <p:sp>
        <p:nvSpPr>
          <p:cNvPr id="4" name="Body 2"/>
          <p:cNvSpPr>
            <a:spLocks noGrp="1"/>
          </p:cNvSpPr>
          <p:nvPr>
            <p:ph type="body" idx="1"/>
          </p:nvPr>
        </p:nvSpPr>
        <p:spPr>
          <a:prstGeom prst="rect">
            <a:avLst/>
          </a:prstGeom>
        </p:spPr>
        <p:txBody>
          <a:bodyPr lIns="0" tIns="0" rIns="0" bIns="0" wrap="square"/>
          <a:lstStyle/>
          <a:p>
            <a:r>
              <a:rPr lang="en-GB" dirty="0"/>
              <a:t>The corpus</a:t>
            </a:r>
          </a:p>
          <a:p>
            <a:r>
              <a:rPr lang="en-GB" dirty="0"/>
              <a:t>The Protocol Institute archive of essays, videos, content, discussions, training, readings, and more...</a:t>
            </a:r>
          </a:p>
          <a:p>
            <a:r>
              <a:rPr lang="en-GB" dirty="0"/>
              <a:t>Door 1 · people</a:t>
            </a:r>
          </a:p>
          <a:p>
            <a:r>
              <a:rPr lang="en-GB" dirty="0"/>
              <a:t>A web page — c3po.protocolized.io</a:t>
            </a:r>
          </a:p>
          <a:p>
            <a:r>
              <a:rPr lang="en-GB" dirty="0"/>
              <a:t>DOOR 2 · COMMUNITY</a:t>
            </a:r>
          </a:p>
          <a:p>
            <a:r>
              <a:rPr lang="en-GB" dirty="0"/>
              <a:t>A Discord bot — @C3PO in the Institute server</a:t>
            </a:r>
          </a:p>
          <a:p>
            <a:r>
              <a:rPr lang="en-GB" dirty="0"/>
              <a:t>Door 3 · machines</a:t>
            </a:r>
          </a:p>
          <a:p>
            <a:r>
              <a:rPr lang="en-GB" dirty="0"/>
              <a:t>Any assistant can call it directly (MCP):</a:t>
            </a:r>
          </a:p>
          <a:p>
            <a:r>
              <a:rPr lang="en-GB" dirty="0"/>
              <a:t>claude mcp add c3po --transport http https://c3po.protocolized.io/mcp</a:t>
            </a:r>
          </a:p>
          <a:p>
            <a:r>
              <a:rPr lang="en-GB" dirty="0"/>
              <a:t>§ MCP — A standard that lets an AI assistant call an outside service directly, with no person copying anything across. Short for Model Context Protocol.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Concept</a:t>
            </a:r>
          </a:p>
        </p:txBody>
      </p:sp>
      <p:sp>
        <p:nvSpPr>
          <p:cNvPr id="3" name="Title 1"/>
          <p:cNvSpPr>
            <a:spLocks noGrp="1"/>
          </p:cNvSpPr>
          <p:nvPr>
            <p:ph type="title"/>
          </p:nvPr>
        </p:nvSpPr>
        <p:spPr>
          <a:prstGeom prst="rect">
            <a:avLst/>
          </a:prstGeom>
        </p:spPr>
        <p:txBody>
          <a:bodyPr lIns="0" tIns="0" rIns="0" bIns="0" wrap="square"/>
          <a:lstStyle/>
          <a:p>
            <a:r>
              <a:rPr lang="en-GB" dirty="0"/>
              <a:t>How can you, and managed AI agents, signal to others?</a:t>
            </a:r>
          </a:p>
        </p:txBody>
      </p:sp>
      <p:sp>
        <p:nvSpPr>
          <p:cNvPr id="4" name="Body 2"/>
          <p:cNvSpPr>
            <a:spLocks noGrp="1"/>
          </p:cNvSpPr>
          <p:nvPr>
            <p:ph type="body" idx="1"/>
          </p:nvPr>
        </p:nvSpPr>
        <p:spPr>
          <a:prstGeom prst="rect">
            <a:avLst/>
          </a:prstGeom>
        </p:spPr>
        <p:txBody>
          <a:bodyPr lIns="0" tIns="0" rIns="0" bIns="0" wrap="square"/>
          <a:lstStyle/>
          <a:p>
            <a:r>
              <a:rPr lang="en-GB" dirty="0"/>
              <a:t>A trace left in a shared medium prompts the next action — no plan, nobody online at the same time.</a:t>
            </a:r>
          </a:p>
          <a:p>
            <a:r>
              <a:rPr lang="en-GB" dirty="0"/>
              <a:t>Sematectonic</a:t>
            </a:r>
          </a:p>
          <a:p>
            <a:r>
              <a:rPr lang="en-GB" dirty="0"/>
              <a:t>The work itself</a:t>
            </a:r>
          </a:p>
          <a:p>
            <a:r>
              <a:rPr lang="en-GB" dirty="0"/>
              <a:t>Your kit</a:t>
            </a:r>
          </a:p>
          <a:p>
            <a:r>
              <a:rPr lang="en-GB" dirty="0"/>
              <a:t>Marker-based</a:t>
            </a:r>
          </a:p>
          <a:p>
            <a:r>
              <a:rPr lang="en-GB" dirty="0"/>
              <a:t>Signs about the work</a:t>
            </a:r>
          </a:p>
          <a:p>
            <a:r>
              <a:rPr lang="en-GB" dirty="0"/>
              <a:t>Your LOG.md</a:t>
            </a:r>
          </a:p>
          <a:p>
            <a:r>
              <a:rPr lang="en-GB" dirty="0"/>
              <a:t>The medium</a:t>
            </a:r>
          </a:p>
          <a:p>
            <a:r>
              <a:rPr lang="en-GB" dirty="0"/>
              <a:t>The production system</a:t>
            </a:r>
          </a:p>
          <a:p>
            <a:r>
              <a:rPr lang="en-GB" dirty="0"/>
              <a:t>The project's infra</a:t>
            </a:r>
          </a:p>
          <a:p>
            <a:r>
              <a:rPr lang="en-GB" dirty="0"/>
              <a:t>§ Traces (stigmergy) — Coordination through what people leave behind rather than what they say: a trace in a shared place prompts the next person’s action, with nobody present at the same time.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Concept</a:t>
            </a:r>
          </a:p>
        </p:txBody>
      </p:sp>
      <p:sp>
        <p:nvSpPr>
          <p:cNvPr id="3" name="Title 1"/>
          <p:cNvSpPr>
            <a:spLocks noGrp="1"/>
          </p:cNvSpPr>
          <p:nvPr>
            <p:ph type="title"/>
          </p:nvPr>
        </p:nvSpPr>
        <p:spPr>
          <a:prstGeom prst="rect">
            <a:avLst/>
          </a:prstGeom>
        </p:spPr>
        <p:txBody>
          <a:bodyPr lIns="0" tIns="0" rIns="0" bIns="0" wrap="square"/>
          <a:lstStyle/>
          <a:p>
            <a:r>
              <a:rPr lang="en-GB" dirty="0"/>
              <a:t>Stigmergic collaboration requires public signalling</a:t>
            </a:r>
          </a:p>
        </p:txBody>
      </p:sp>
      <p:sp>
        <p:nvSpPr>
          <p:cNvPr id="4" name="Body 2"/>
          <p:cNvSpPr>
            <a:spLocks noGrp="1"/>
          </p:cNvSpPr>
          <p:nvPr>
            <p:ph type="body" idx="1"/>
          </p:nvPr>
        </p:nvSpPr>
        <p:spPr>
          <a:prstGeom prst="rect">
            <a:avLst/>
          </a:prstGeom>
        </p:spPr>
        <p:txBody>
          <a:bodyPr lIns="0" tIns="0" rIns="0" bIns="0" wrap="square"/>
          <a:lstStyle/>
          <a:p>
            <a:r>
              <a:rPr lang="en-GB" dirty="0"/>
              <a:t>Where AI practice sits today</a:t>
            </a:r>
          </a:p>
          <a:p>
            <a:r>
              <a:rPr lang="en-GB" dirty="0"/>
              <a:t>Journal</a:t>
            </a:r>
          </a:p>
          <a:p>
            <a:r>
              <a:rPr lang="en-GB" dirty="0"/>
              <a:t>One observer, kept to yourself. It works, and it dies with your laptop or the walled-garden platform</a:t>
            </a:r>
          </a:p>
          <a:p>
            <a:r>
              <a:rPr lang="en-GB" dirty="0"/>
              <a:t>What we are doing today</a:t>
            </a:r>
          </a:p>
          <a:p>
            <a:r>
              <a:rPr lang="en-GB" dirty="0"/>
              <a:t>Field notebook</a:t>
            </a:r>
          </a:p>
          <a:p>
            <a:r>
              <a:rPr lang="en-GB" dirty="0"/>
              <a:t>One observer, exposed for others — Humboldt recording observations nobody asked for, in a form others could use.</a:t>
            </a:r>
          </a:p>
          <a:p>
            <a:r>
              <a:rPr lang="en-GB" dirty="0"/>
              <a:t>Many observers, interior: a novel. Many observers, exterior: stigmergy, which we have just described.</a:t>
            </a:r>
          </a:p>
          <a:p>
            <a:r>
              <a:rPr lang="en-GB" dirty="0"/>
              <a:t>Your inventory is your field notebook.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Concept</a:t>
            </a:r>
          </a:p>
        </p:txBody>
      </p:sp>
      <p:sp>
        <p:nvSpPr>
          <p:cNvPr id="3" name="Title 1"/>
          <p:cNvSpPr>
            <a:spLocks noGrp="1"/>
          </p:cNvSpPr>
          <p:nvPr>
            <p:ph type="title"/>
          </p:nvPr>
        </p:nvSpPr>
        <p:spPr>
          <a:prstGeom prst="rect">
            <a:avLst/>
          </a:prstGeom>
        </p:spPr>
        <p:txBody>
          <a:bodyPr lIns="0" tIns="0" rIns="0" bIns="0" wrap="square"/>
          <a:lstStyle/>
          <a:p>
            <a:r>
              <a:rPr lang="en-GB" dirty="0"/>
              <a:t>AI lets you run your thinking like a smallholding: automated, customised, and local.</a:t>
            </a:r>
          </a:p>
        </p:txBody>
      </p:sp>
      <p:sp>
        <p:nvSpPr>
          <p:cNvPr id="4" name="Body 2"/>
          <p:cNvSpPr>
            <a:spLocks noGrp="1"/>
          </p:cNvSpPr>
          <p:nvPr>
            <p:ph type="body" idx="1"/>
          </p:nvPr>
        </p:nvSpPr>
        <p:spPr>
          <a:prstGeom prst="rect">
            <a:avLst/>
          </a:prstGeom>
        </p:spPr>
        <p:txBody>
          <a:bodyPr lIns="0" tIns="0" rIns="0" bIns="0" wrap="square"/>
          <a:lstStyle/>
          <a:p>
            <a:r>
              <a:rPr lang="en-GB" dirty="0"/>
              <a:t>Rao calls this cognitive farmsteading, and says it rests on three affordances of AI.</a:t>
            </a:r>
          </a:p>
          <a:p>
            <a:r>
              <a:rPr lang="en-GB" dirty="0"/>
              <a:t>Affordance 1</a:t>
            </a:r>
          </a:p>
          <a:p>
            <a:r>
              <a:rPr lang="en-GB" dirty="0"/>
              <a:t>Automation</a:t>
            </a:r>
          </a:p>
          <a:p>
            <a:r>
              <a:rPr lang="en-GB" dirty="0"/>
              <a:t>You set up a whole intellectual farmstead — a dizzying variety of automations and scaled operations, run by very few people.</a:t>
            </a:r>
          </a:p>
          <a:p>
            <a:r>
              <a:rPr lang="en-GB" dirty="0"/>
              <a:t>Affordance 2</a:t>
            </a:r>
          </a:p>
          <a:p>
            <a:r>
              <a:rPr lang="en-GB" dirty="0"/>
              <a:t>Bespokification</a:t>
            </a:r>
          </a:p>
          <a:p>
            <a:r>
              <a:rPr lang="en-GB" dirty="0"/>
              <a:t>You create n=1 products fitted to your own needs, like a farmer improvising equipment. Your thinking gets more idiosyncratic and better adapted.</a:t>
            </a:r>
          </a:p>
          <a:p>
            <a:r>
              <a:rPr lang="en-GB" dirty="0"/>
              <a:t>Affordance 3</a:t>
            </a:r>
          </a:p>
          <a:p>
            <a:r>
              <a:rPr lang="en-GB" dirty="0"/>
              <a:t>Pensievification</a:t>
            </a:r>
          </a:p>
          <a:p>
            <a:r>
              <a:rPr lang="en-GB" dirty="0"/>
              <a:t>You share the raw outputs with a few trusted people — like trading excess produce with neighbours. It asks for high trust and it builds it.</a:t>
            </a:r>
          </a:p>
          <a:p>
            <a:r>
              <a:rPr lang="en-GB" dirty="0"/>
              <a:t>Lean into all three and the tendency is divergence, not convergence. Your practice becomes better adapted to you — and stops making sense to anyone else.</a:t>
            </a:r>
          </a:p>
          <a:p>
            <a:r>
              <a:rPr lang="en-GB" dirty="0"/>
              <a:t>A shopping trolley is fine in the shop and useless in someone else’s kitchen. Rao’s own early answer is the one we will use tomorrow: humans talking through what their agents produce and consume.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The problem</a:t>
            </a:r>
          </a:p>
        </p:txBody>
      </p:sp>
      <p:sp>
        <p:nvSpPr>
          <p:cNvPr id="3" name="Title 1"/>
          <p:cNvSpPr>
            <a:spLocks noGrp="1"/>
          </p:cNvSpPr>
          <p:nvPr>
            <p:ph type="title"/>
          </p:nvPr>
        </p:nvSpPr>
        <p:spPr>
          <a:prstGeom prst="rect">
            <a:avLst/>
          </a:prstGeom>
        </p:spPr>
        <p:txBody>
          <a:bodyPr lIns="0" tIns="0" rIns="0" bIns="0" wrap="square"/>
          <a:lstStyle/>
          <a:p>
            <a:r>
              <a:rPr lang="en-GB" dirty="0"/>
              <a:t>AI is a shared substrate ("the model"). This means everyone arrives at the same idea, often at similar times</a:t>
            </a:r>
          </a:p>
        </p:txBody>
      </p:sp>
      <p:sp>
        <p:nvSpPr>
          <p:cNvPr id="4" name="Body 2"/>
          <p:cNvSpPr>
            <a:spLocks noGrp="1"/>
          </p:cNvSpPr>
          <p:nvPr>
            <p:ph type="body" idx="1"/>
          </p:nvPr>
        </p:nvSpPr>
        <p:spPr>
          <a:prstGeom prst="rect">
            <a:avLst/>
          </a:prstGeom>
        </p:spPr>
        <p:txBody>
          <a:bodyPr lIns="0" tIns="0" rIns="0" bIns="0" wrap="square"/>
          <a:lstStyle/>
          <a:p>
            <a:r>
              <a:rPr lang="en-GB" dirty="0"/>
              <a:t>The effect</a:t>
            </a:r>
          </a:p>
          <a:p>
            <a:r>
              <a:rPr lang="en-GB" dirty="0"/>
              <a:t>Anything worth thinking about is being thought about by everyone capable of it, with AI in the loop — down to similar metaphors and names. There is no gradient left for a new idea to flow along.</a:t>
            </a:r>
          </a:p>
          <a:p>
            <a:r>
              <a:rPr lang="en-GB" dirty="0"/>
              <a:t>Rao: a great many thoughts are now "common knowledge at birth".</a:t>
            </a:r>
          </a:p>
          <a:p>
            <a:r>
              <a:rPr lang="en-GB" dirty="0"/>
              <a:t>It reaches questions too</a:t>
            </a:r>
          </a:p>
          <a:p>
            <a:r>
              <a:rPr lang="en-GB" dirty="0"/>
              <a:t>Models behave like index funds not only of past knowledge but of present curiosities. Explore an unformed question and others converge on the same framing.</a:t>
            </a:r>
          </a:p>
          <a:p>
            <a:r>
              <a:rPr lang="en-GB" dirty="0"/>
              <a:t>So being first to an idea has stopped being the game.</a:t>
            </a:r>
          </a:p>
          <a:p>
            <a:r>
              <a:rPr lang="en-GB" dirty="0"/>
              <a:t>key question: What is scarce instead?</a:t>
            </a:r>
          </a:p>
          <a:p>
            <a:r>
              <a:rPr lang="en-GB" dirty="0"/>
              <a:t>§ Precommodification — Sachin Benny’s term: the model has already absorbed the archive, so having the idea is not the scarce part. What is scarce is the record of where it came from.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1 · Kits · Framework</a:t>
            </a:r>
          </a:p>
        </p:txBody>
      </p:sp>
      <p:sp>
        <p:nvSpPr>
          <p:cNvPr id="3" name="Title 1"/>
          <p:cNvSpPr>
            <a:spLocks noGrp="1"/>
          </p:cNvSpPr>
          <p:nvPr>
            <p:ph type="title"/>
          </p:nvPr>
        </p:nvSpPr>
        <p:spPr>
          <a:prstGeom prst="rect">
            <a:avLst/>
          </a:prstGeom>
        </p:spPr>
        <p:txBody>
          <a:bodyPr lIns="0" tIns="0" rIns="0" bIns="0" wrap="square"/>
          <a:lstStyle/>
          <a:p>
            <a:r>
              <a:rPr lang="en-GB" dirty="0"/>
              <a:t>TBD</a:t>
            </a:r>
          </a:p>
        </p:txBody>
      </p:sp>
      <p:sp>
        <p:nvSpPr>
          <p:cNvPr id="4" name="Body 2"/>
          <p:cNvSpPr>
            <a:spLocks noGrp="1"/>
          </p:cNvSpPr>
          <p:nvPr>
            <p:ph type="body" idx="1"/>
          </p:nvPr>
        </p:nvSpPr>
        <p:spPr>
          <a:prstGeom prst="rect">
            <a:avLst/>
          </a:prstGeom>
        </p:spPr>
        <p:txBody>
          <a:bodyPr lIns="0" tIns="0" rIns="0" bIns="0" wrap="square"/>
          <a:lstStyle/>
          <a:p>
            <a:r>
              <a:rPr lang="en-GB" dirty="0"/>
              <a:t>PENDINGPENDING</a:t>
            </a:r>
          </a:p>
          <a:p>
            <a:r>
              <a:rPr lang="en-GB" dirty="0"/>
              <a:t>Archive — what is already there</a:t>
            </a:r>
          </a:p>
          <a:p>
            <a:r>
              <a:rPr lang="en-GB" dirty="0"/>
              <a:t>Live — what is happening now</a:t>
            </a:r>
          </a:p>
          <a:p>
            <a:r>
              <a:rPr lang="en-GB" dirty="0"/>
              <a:t>External— the environment</a:t>
            </a:r>
          </a:p>
          <a:p>
            <a:r>
              <a:rPr lang="en-GB" dirty="0"/>
              <a:t>Precommodification patterns</a:t>
            </a:r>
          </a:p>
          <a:p>
            <a:r>
              <a:rPr lang="en-GB" dirty="0"/>
              <a:t>Provenance is scarce, not novelty — the idea is already in the model</a:t>
            </a:r>
          </a:p>
          <a:p>
            <a:r>
              <a:rPr lang="en-GB" dirty="0"/>
              <a:t>Traces / pheromones</a:t>
            </a:r>
          </a:p>
          <a:p>
            <a:r>
              <a:rPr lang="en-GB" dirty="0"/>
              <a:t>What other people's assistants are leaving in shared files, repos and channels</a:t>
            </a:r>
          </a:p>
          <a:p>
            <a:r>
              <a:rPr lang="en-GB" dirty="0"/>
              <a:t>Internal— you</a:t>
            </a:r>
          </a:p>
          <a:p>
            <a:r>
              <a:rPr lang="en-GB" dirty="0"/>
              <a:t>Anchored in reality</a:t>
            </a:r>
          </a:p>
          <a:p>
            <a:r>
              <a:rPr lang="en-GB" dirty="0"/>
              <a:t>Your data, your constraints, your domain knowledge — the check against confident fiction</a:t>
            </a:r>
          </a:p>
          <a:p>
            <a:r>
              <a:rPr lang="en-GB" dirty="0"/>
              <a:t>Playability</a:t>
            </a:r>
          </a:p>
          <a:p>
            <a:r>
              <a:rPr lang="en-GB" dirty="0"/>
              <a:t>You can act in the space, not only take things out of it</a:t>
            </a:r>
          </a:p>
          <a:p>
            <a:r>
              <a:rPr lang="en-GB" dirty="0"/>
              <a:t>We come back to this grid at the end of every session: which quadrant did the last hour expand?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12 minutes · solo, with your agent</a:t>
            </a:r>
          </a:p>
        </p:txBody>
      </p:sp>
      <p:sp>
        <p:nvSpPr>
          <p:cNvPr id="3" name="Title 1"/>
          <p:cNvSpPr>
            <a:spLocks noGrp="1"/>
          </p:cNvSpPr>
          <p:nvPr>
            <p:ph type="title"/>
          </p:nvPr>
        </p:nvSpPr>
        <p:spPr>
          <a:prstGeom prst="rect">
            <a:avLst/>
          </a:prstGeom>
        </p:spPr>
        <p:txBody>
          <a:bodyPr lIns="0" tIns="0" rIns="0" bIns="0" wrap="square"/>
          <a:lstStyle/>
          <a:p>
            <a:r>
              <a:rPr lang="en-GB" dirty="0"/>
              <a:t>Ask your AI assistant to list the AI kits you already use at work.</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Steps</a:t>
            </a:r>
          </a:p>
          <a:p>
            <a:r>
              <a:rPr lang="en-GB" dirty="0"/>
              <a:t>Open your harness at the top of the clone</a:t>
            </a:r>
          </a:p>
          <a:p>
            <a:r>
              <a:rPr lang="en-GB" dirty="0"/>
              <a:t>Paste the prompt on the right and say "do this"</a:t>
            </a:r>
          </a:p>
          <a:p>
            <a:r>
              <a:rPr lang="en-GB" dirty="0"/>
              <a:t>Answer its questions — it will not invent kits for you</a:t>
            </a:r>
          </a:p>
          <a:p>
            <a:r>
              <a:rPr lang="en-GB" dirty="0"/>
              <a:t>Let it commit and push, then check the file on GitHub</a:t>
            </a:r>
          </a:p>
          <a:p>
            <a:r>
              <a:rPr lang="en-GB" dirty="0"/>
              <a:t>Counts as a kit: a saved prompt, a custom GPT or project, a doc you copy from, a sheet with an AI step, an automation, a skill. One to three is plenty.</a:t>
            </a:r>
          </a:p>
          <a:p>
            <a:r>
              <a:rPr lang="en-GB" dirty="0"/>
              <a:t>Paste this to your assistant</a:t>
            </a:r>
          </a:p>
          <a:p>
            <a:r>
              <a:rPr lang="en-GB" dirty="0"/>
              <a:t>Read instructions/S1-inventory.md in this repo and do this. Interview me one question at a time about the AI kits I already use at work. Do not invent any. Write the result to participants/&lt;my-handle&gt;/s1-inventory/inventory.md, then commit and push.</a:t>
            </a:r>
          </a:p>
          <a:p>
            <a:r>
              <a:rPr lang="en-GB" dirty="0"/>
              <a:t>Done when</a:t>
            </a:r>
          </a:p>
          <a:p>
            <a:r>
              <a:rPr lang="en-GB" dirty="0"/>
              <a:t>participants/&lt;you&gt;/s1-inventory/inventory.md is on main and you can open it in a browser.</a:t>
            </a:r>
          </a:p>
          <a:p>
            <a:r>
              <a:rPr lang="en-GB" dirty="0"/>
              <a:t>§ AI assistant (harness) — The program you talk to, which runs the model and reads, writes and runs things on your computer. Claude Code and Codex are the two this workshop uses.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5 minutes · same file</a:t>
            </a:r>
          </a:p>
        </p:txBody>
      </p:sp>
      <p:sp>
        <p:nvSpPr>
          <p:cNvPr id="3" name="Title 1"/>
          <p:cNvSpPr>
            <a:spLocks noGrp="1"/>
          </p:cNvSpPr>
          <p:nvPr>
            <p:ph type="title"/>
          </p:nvPr>
        </p:nvSpPr>
        <p:spPr>
          <a:prstGeom prst="rect">
            <a:avLst/>
          </a:prstGeom>
        </p:spPr>
        <p:txBody>
          <a:bodyPr lIns="0" tIns="0" rIns="0" bIns="0" wrap="square"/>
          <a:lstStyle/>
          <a:p>
            <a:r>
              <a:rPr lang="en-GB" dirty="0"/>
              <a:t>Ask it to find the two people whose kits sit closest to yours.</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Steps</a:t>
            </a:r>
          </a:p>
          <a:p>
            <a:r>
              <a:rPr lang="en-GB" dirty="0"/>
              <a:t>Pull, so you have everyone's inventories</a:t>
            </a:r>
          </a:p>
          <a:p>
            <a:r>
              <a:rPr lang="en-GB" dirty="0"/>
              <a:t>Paste the prompt and say "do this"</a:t>
            </a:r>
          </a:p>
          <a:p>
            <a:r>
              <a:rPr lang="en-GB" dirty="0"/>
              <a:t>Write the two names down — they seed tomorrow's groups</a:t>
            </a:r>
          </a:p>
          <a:p>
            <a:r>
              <a:rPr lang="en-GB" dirty="0"/>
              <a:t>Read through your agent, not your browser. That is the habit the whole of tomorrow depends on.</a:t>
            </a:r>
          </a:p>
          <a:p>
            <a:r>
              <a:rPr lang="en-GB" dirty="0"/>
              <a:t>Paste this to your assistant</a:t>
            </a:r>
          </a:p>
          <a:p>
            <a:r>
              <a:rPr lang="en-GB" dirty="0"/>
              <a:t>git pull, then read every participants/*/s1-inventory/inventory.md. Name the two whose kits are closest to mine and say in one line why for each. Append the answer to my inventory.md under "Nearest", then commit and push.</a:t>
            </a:r>
          </a:p>
          <a:p>
            <a:r>
              <a:rPr lang="en-GB" dirty="0"/>
              <a:t>Done when</a:t>
            </a:r>
          </a:p>
          <a:p>
            <a:r>
              <a:rPr lang="en-GB" dirty="0"/>
              <a:t>You have two names, with a reason each, pushed to your own folder.</a:t>
            </a:r>
          </a:p>
          <a:p>
            <a:r>
              <a:rPr lang="en-GB" dirty="0"/>
              <a:t>§ Inventory — Your own list of the AI kits you already use, one to three of them. It is the first thing you put in the repo.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One word each · 3 minutes</a:t>
            </a:r>
          </a:p>
        </p:txBody>
      </p:sp>
      <p:sp>
        <p:nvSpPr>
          <p:cNvPr id="3" name="Title 1"/>
          <p:cNvSpPr>
            <a:spLocks noGrp="1"/>
          </p:cNvSpPr>
          <p:nvPr>
            <p:ph type="title"/>
          </p:nvPr>
        </p:nvSpPr>
        <p:spPr>
          <a:prstGeom prst="rect">
            <a:avLst/>
          </a:prstGeom>
        </p:spPr>
        <p:txBody>
          <a:bodyPr lIns="0" tIns="0" rIns="0" bIns="0" wrap="square"/>
          <a:lstStyle/>
          <a:p>
            <a:r>
              <a:rPr lang="en-GB" dirty="0"/>
              <a:t>Share one thing you noticed this hour, and together they show what we are learning.</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Which of the four did this hour expand for you? There is no right answer, and nobody will be corrected.</a:t>
            </a:r>
          </a:p>
          <a:p>
            <a:r>
              <a:rPr lang="en-GB" dirty="0"/>
              <a:t>External · archive</a:t>
            </a:r>
          </a:p>
          <a:p>
            <a:r>
              <a:rPr lang="en-GB" dirty="0"/>
              <a:t>Precommodification patterns</a:t>
            </a:r>
          </a:p>
          <a:p>
            <a:r>
              <a:rPr lang="en-GB" dirty="0"/>
              <a:t>External · live</a:t>
            </a:r>
          </a:p>
          <a:p>
            <a:r>
              <a:rPr lang="en-GB" dirty="0"/>
              <a:t>Traces</a:t>
            </a:r>
          </a:p>
          <a:p>
            <a:r>
              <a:rPr lang="en-GB" dirty="0"/>
              <a:t>Internal · archive</a:t>
            </a:r>
          </a:p>
          <a:p>
            <a:r>
              <a:rPr lang="en-GB" dirty="0"/>
              <a:t>Anchored in reality</a:t>
            </a:r>
          </a:p>
          <a:p>
            <a:r>
              <a:rPr lang="en-GB" dirty="0"/>
              <a:t>Internal · live</a:t>
            </a:r>
          </a:p>
          <a:p>
            <a:r>
              <a:rPr lang="en-GB" dirty="0"/>
              <a:t>Playability</a:t>
            </a:r>
          </a:p>
          <a:p>
            <a:r>
              <a:rPr lang="en-GB" dirty="0"/>
              <a:t>Answers are tallied across all four sessions into the room's own awareness profile, read back in S4.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lIns="0" tIns="0" rIns="0" bIns="0" wrap="square" anchor="b"/>
          <a:lstStyle/>
          <a:p>
            <a:r>
              <a:rPr lang="en-GB" dirty="0"/>
              <a:t>Stuck? Let's troubleshoot it together</a:t>
            </a:r>
          </a:p>
        </p:txBody>
      </p:sp>
      <p:sp>
        <p:nvSpPr>
          <p:cNvPr id="3" name="Body 2"/>
          <p:cNvSpPr>
            <a:spLocks noGrp="1"/>
          </p:cNvSpPr>
          <p:nvPr>
            <p:ph type="body" idx="1"/>
          </p:nvPr>
        </p:nvSpPr>
        <p:spPr>
          <a:prstGeom prst="rect">
            <a:avLst/>
          </a:prstGeom>
        </p:spPr>
        <p:txBody>
          <a:bodyPr lIns="0" tIns="0" rIns="0" bIns="0" wrap="square"/>
          <a:lstStyle/>
          <a:p>
            <a:r>
              <a:rPr lang="en-GB" dirty="0"/>
              <a:t>Async 1 — deliberately small</a:t>
            </a:r>
          </a:p>
          <a:p>
            <a:r>
              <a:rPr lang="en-GB" dirty="0"/>
              <a:t>Choose the kit you will turn into a factory tonight — yours, or one of ours</a:t>
            </a:r>
          </a:p>
          <a:p>
            <a:r>
              <a:rPr lang="en-GB" dirty="0"/>
              <a:t>Let your assistant draft the README's Job and Interface lines</a:t>
            </a:r>
          </a:p>
          <a:p>
            <a:r>
              <a:rPr lang="en-GB" dirty="0"/>
              <a:t>Push, and stop there</a:t>
            </a:r>
          </a:p>
          <a:p>
            <a:r>
              <a:rPr lang="en-GB" dirty="0"/>
              <a:t>Paste this to your assistant</a:t>
            </a:r>
          </a:p>
          <a:p>
            <a:r>
              <a:rPr lang="en-GB" dirty="0"/>
              <a:t>Read instructions/async-1.md and do this. Ask me which kit from my inventory to convert, then draft only the Job and Interface lines of participants/&lt;my-handle&gt;/s2-factory/README.md. Commit and push. Stop there.</a:t>
            </a:r>
          </a:p>
          <a:p>
            <a:r>
              <a:rPr lang="en-GB" dirty="0"/>
              <a:t>Tonight</a:t>
            </a:r>
          </a:p>
          <a:p>
            <a:r>
              <a:rPr lang="en-GB" dirty="0"/>
              <a:t>Tech Support 16:30–17:00 UTC in #kafka — anything that will not log in, clone or push. S2 at 20:00 UTC, and that is when you build the kit.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ssion label"/>
          <p:cNvSpPr>
            <a:spLocks noGrp="1"/>
          </p:cNvSpPr>
          <p:nvPr>
            <p:ph type="body" idx="1"/>
          </p:nvPr>
        </p:nvSpPr>
        <p:spPr>
          <a:prstGeom prst="rect">
            <a:avLst/>
          </a:prstGeom>
        </p:spPr>
        <p:txBody>
          <a:bodyPr lIns="0" tIns="0" rIns="0" bIns="0" wrap="square" anchor="b"/>
          <a:lstStyle/>
          <a:p>
            <a:r>
              <a:rPr lang="en-GB" dirty="0"/>
              <a:t>Session 2 — Factories</a:t>
            </a:r>
          </a:p>
        </p:txBody>
      </p:sp>
      <p:sp>
        <p:nvSpPr>
          <p:cNvPr id="3" name="Title 1"/>
          <p:cNvSpPr>
            <a:spLocks noGrp="1"/>
          </p:cNvSpPr>
          <p:nvPr>
            <p:ph type="title"/>
          </p:nvPr>
        </p:nvSpPr>
        <p:spPr>
          <a:prstGeom prst="rect">
            <a:avLst/>
          </a:prstGeom>
        </p:spPr>
        <p:txBody>
          <a:bodyPr lIns="0" tIns="0" rIns="0" bIns="0" wrap="square"/>
          <a:lstStyle/>
          <a:p>
            <a:r>
              <a:rPr lang="en-GB" dirty="0"/>
              <a:t>Factories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2 · Factories · Concept</a:t>
            </a:r>
          </a:p>
        </p:txBody>
      </p:sp>
      <p:sp>
        <p:nvSpPr>
          <p:cNvPr id="3" name="Title 1"/>
          <p:cNvSpPr>
            <a:spLocks noGrp="1"/>
          </p:cNvSpPr>
          <p:nvPr>
            <p:ph type="title"/>
          </p:nvPr>
        </p:nvSpPr>
        <p:spPr>
          <a:prstGeom prst="rect">
            <a:avLst/>
          </a:prstGeom>
        </p:spPr>
        <p:txBody>
          <a:bodyPr lIns="0" tIns="0" rIns="0" bIns="0" wrap="square"/>
          <a:lstStyle/>
          <a:p>
            <a:r>
              <a:rPr lang="en-GB" dirty="0"/>
              <a:t>Kits running without their author's oversight need hard protocols to stay reliable.</a:t>
            </a:r>
          </a:p>
        </p:txBody>
      </p:sp>
      <p:sp>
        <p:nvSpPr>
          <p:cNvPr id="4" name="Body 2"/>
          <p:cNvSpPr>
            <a:spLocks noGrp="1"/>
          </p:cNvSpPr>
          <p:nvPr>
            <p:ph type="body" idx="1"/>
          </p:nvPr>
        </p:nvSpPr>
        <p:spPr>
          <a:prstGeom prst="rect">
            <a:avLst/>
          </a:prstGeom>
        </p:spPr>
        <p:txBody>
          <a:bodyPr lIns="0" tIns="0" rIns="0" bIns="0" wrap="square"/>
          <a:lstStyle/>
          <a:p>
            <a:r>
              <a:rPr lang="en-GB" dirty="0"/>
              <a:t>Rules written as advice</a:t>
            </a:r>
          </a:p>
          <a:p>
            <a:r>
              <a:rPr lang="en-GB" dirty="0"/>
              <a:t>Rules that exist only as written advice. A kit works because its author re-bends it every single time.</a:t>
            </a:r>
          </a:p>
          <a:p>
            <a:r>
              <a:rPr lang="en-GB" dirty="0"/>
              <a:t>Rules built into the process</a:t>
            </a:r>
          </a:p>
          <a:p>
            <a:r>
              <a:rPr lang="en-GB" dirty="0"/>
              <a:t>Constraints promoted from advice into physics: a fixed output shape, a worked example, checks it runs on itself.</a:t>
            </a:r>
          </a:p>
          <a:p>
            <a:r>
              <a:rPr lang="en-GB" dirty="0"/>
              <a:t>Tonight you remove yourself as something the kit requires. Letting a kit run more independently is only safe when its rules are built into the process rather than written as advice.</a:t>
            </a:r>
          </a:p>
          <a:p>
            <a:r>
              <a:rPr lang="en-GB" dirty="0"/>
              <a:t>Housekeeping: recording on, consent as pinned, breakouts may be recorded · the S1 awareness check is read back exactly as it was counted · and the kits chosen in Async 1 are counted from the repo before we start</a:t>
            </a:r>
          </a:p>
          <a:p>
            <a:r>
              <a:rPr lang="en-GB" dirty="0"/>
              <a:t>§ Hard world / hardness — Jay Springett’s sense: rules built into the surroundings themselves, rather than left as written advice an assistant may or may not follow. Hard does not mean difficult.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2 minutes · everyone types at once</a:t>
            </a:r>
          </a:p>
        </p:txBody>
      </p:sp>
      <p:sp>
        <p:nvSpPr>
          <p:cNvPr id="3" name="Title 1"/>
          <p:cNvSpPr>
            <a:spLocks noGrp="1"/>
          </p:cNvSpPr>
          <p:nvPr>
            <p:ph type="title"/>
          </p:nvPr>
        </p:nvSpPr>
        <p:spPr>
          <a:prstGeom prst="rect">
            <a:avLst/>
          </a:prstGeom>
        </p:spPr>
        <p:txBody>
          <a:bodyPr lIns="0" tIns="0" rIns="0" bIns="0" wrap="square"/>
          <a:lstStyle/>
          <a:p>
            <a:r>
              <a:rPr lang="en-GB" dirty="0"/>
              <a:t>In the chat, write one thing your kit still needs you to do.</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Post in #workshop-kitkraft</a:t>
            </a:r>
          </a:p>
          <a:p>
            <a:r>
              <a:rPr lang="en-GB" dirty="0"/>
              <a:t>"My kit still needs me to ___"</a:t>
            </a:r>
          </a:p>
          <a:p>
            <a:r>
              <a:rPr lang="en-GB" dirty="0"/>
              <a:t>One line, no names, no explanation. Don't read the others until you have posted yours.</a:t>
            </a:r>
          </a:p>
          <a:p>
            <a:r>
              <a:rPr lang="en-GB" dirty="0"/>
              <a:t>Examples, to unstick you</a:t>
            </a:r>
          </a:p>
          <a:p>
            <a:r>
              <a:rPr lang="en-GB" dirty="0"/>
              <a:t>…pick which file to start from · …know which client this is for · …notice when the output is wrong · …remember the exception we agreed in March</a:t>
            </a:r>
          </a:p>
          <a:p>
            <a:r>
              <a:rPr lang="en-GB" dirty="0"/>
              <a:t>Why we start here: whatever you type is the thing your SKILL.md does not say out loud yet. Keep the line — you will use it in Exercise 6.</a:t>
            </a:r>
          </a:p>
          <a:p>
            <a:r>
              <a:rPr lang="en-GB" dirty="0"/>
              <a:t>Done when</a:t>
            </a:r>
          </a:p>
          <a:p>
            <a:r>
              <a:rPr lang="en-GB" dirty="0"/>
              <a:t>Your line is posted in the channel before you read anyone else’s.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2 · Factories · Example</a:t>
            </a:r>
          </a:p>
        </p:txBody>
      </p:sp>
      <p:sp>
        <p:nvSpPr>
          <p:cNvPr id="3" name="Title 1"/>
          <p:cNvSpPr>
            <a:spLocks noGrp="1"/>
          </p:cNvSpPr>
          <p:nvPr>
            <p:ph type="title"/>
          </p:nvPr>
        </p:nvSpPr>
        <p:spPr>
          <a:prstGeom prst="rect">
            <a:avLst/>
          </a:prstGeom>
        </p:spPr>
        <p:txBody>
          <a:bodyPr lIns="0" tIns="0" rIns="0" bIns="0" wrap="square"/>
          <a:lstStyle/>
          <a:p>
            <a:r>
              <a:rPr lang="en-GB" dirty="0"/>
              <a:t>Electricity paid off only when factories rearranged around it, and AI is the same.</a:t>
            </a:r>
          </a:p>
        </p:txBody>
      </p:sp>
      <p:sp>
        <p:nvSpPr>
          <p:cNvPr id="4" name="Body 2"/>
          <p:cNvSpPr>
            <a:spLocks noGrp="1"/>
          </p:cNvSpPr>
          <p:nvPr>
            <p:ph type="body" idx="1"/>
          </p:nvPr>
        </p:nvSpPr>
        <p:spPr>
          <a:prstGeom prst="rect">
            <a:avLst/>
          </a:prstGeom>
        </p:spPr>
        <p:txBody>
          <a:bodyPr lIns="0" tIns="0" rIns="0" bIns="0" wrap="square"/>
          <a:lstStyle/>
          <a:p>
            <a:r>
              <a:rPr lang="en-GB" dirty="0"/>
              <a:t>Group drive · 1890s</a:t>
            </a:r>
          </a:p>
          <a:p>
            <a:r>
              <a:rPr lang="en-GB" dirty="0"/>
              <a:t>One big motor on the old line shafts</a:t>
            </a:r>
          </a:p>
          <a:p>
            <a:r>
              <a:rPr lang="en-GB" dirty="0"/>
              <a:t>Steam engine out, electric motor in, every belt and shaft exactly where it was. Almost nothing happened for years.</a:t>
            </a:r>
          </a:p>
          <a:p>
            <a:r>
              <a:rPr lang="en-GB" dirty="0"/>
              <a:t>Unit drive · the payoff</a:t>
            </a:r>
          </a:p>
          <a:p>
            <a:r>
              <a:rPr lang="en-GB" dirty="0"/>
              <a:t>A motor on every machine</a:t>
            </a:r>
          </a:p>
          <a:p>
            <a:r>
              <a:rPr lang="en-GB" dirty="0"/>
              <a:t>Now the floor can be laid out by the work instead of by the shafts. The gains arrived with the rearrangement.</a:t>
            </a:r>
          </a:p>
          <a:p>
            <a:r>
              <a:rPr lang="en-GB" dirty="0"/>
              <a:t>Most of us have done the first thing: put AI inside the workflow we already had. Tonight you re-lay one small floor — at the size of one person's practice.</a:t>
            </a:r>
          </a:p>
          <a:p>
            <a:r>
              <a:rPr lang="en-GB" dirty="0"/>
              <a:t>§ Workflow — The ordered steps by which a piece of work actually gets done. Dropping AI into an unchanged workflow is the common move, and the one that changes least.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2 · Factories · Definition</a:t>
            </a:r>
          </a:p>
        </p:txBody>
      </p:sp>
      <p:sp>
        <p:nvSpPr>
          <p:cNvPr id="3" name="Title 1"/>
          <p:cNvSpPr>
            <a:spLocks noGrp="1"/>
          </p:cNvSpPr>
          <p:nvPr>
            <p:ph type="title"/>
          </p:nvPr>
        </p:nvSpPr>
        <p:spPr>
          <a:prstGeom prst="rect">
            <a:avLst/>
          </a:prstGeom>
        </p:spPr>
        <p:txBody>
          <a:bodyPr lIns="0" tIns="0" rIns="0" bIns="0" wrap="square"/>
          <a:lstStyle/>
          <a:p>
            <a:r>
              <a:rPr lang="en-GB" dirty="0"/>
              <a:t>A factory runs without you, fits whoever uses it, and hands off useful work.</a:t>
            </a:r>
          </a:p>
        </p:txBody>
      </p:sp>
      <p:sp>
        <p:nvSpPr>
          <p:cNvPr id="4" name="Body 2"/>
          <p:cNvSpPr>
            <a:spLocks noGrp="1"/>
          </p:cNvSpPr>
          <p:nvPr>
            <p:ph type="body" idx="1"/>
          </p:nvPr>
        </p:nvSpPr>
        <p:spPr>
          <a:prstGeom prst="rect">
            <a:avLst/>
          </a:prstGeom>
        </p:spPr>
        <p:txBody>
          <a:bodyPr lIns="0" tIns="0" rIns="0" bIns="0" wrap="square"/>
          <a:lstStyle/>
          <a:p>
            <a:r>
              <a:rPr lang="en-GB" dirty="0"/>
              <a:t>Four properties — and each one comes from somebody different. Nothing here says folder, app or website.</a:t>
            </a:r>
          </a:p>
          <a:p>
            <a:r>
              <a:rPr lang="en-GB" dirty="0"/>
              <a:t>From the author</a:t>
            </a:r>
          </a:p>
          <a:p>
            <a:r>
              <a:rPr lang="en-GB" dirty="0"/>
              <a:t>Reproduction</a:t>
            </a:r>
          </a:p>
          <a:p>
            <a:r>
              <a:rPr lang="en-GB" dirty="0"/>
              <a:t>The steps, written down, so it gives the same result each time</a:t>
            </a:r>
          </a:p>
          <a:p>
            <a:r>
              <a:rPr lang="en-GB" dirty="0"/>
              <a:t>From the user</a:t>
            </a:r>
          </a:p>
          <a:p>
            <a:r>
              <a:rPr lang="en-GB" dirty="0"/>
              <a:t>Personalization</a:t>
            </a:r>
          </a:p>
          <a:p>
            <a:r>
              <a:rPr lang="en-GB" dirty="0"/>
              <a:t>Their data, constraints and context, supplied when they run it</a:t>
            </a:r>
          </a:p>
          <a:p>
            <a:r>
              <a:rPr lang="en-GB" dirty="0"/>
              <a:t>From the factory</a:t>
            </a:r>
          </a:p>
          <a:p>
            <a:r>
              <a:rPr lang="en-GB" dirty="0"/>
              <a:t>Independence</a:t>
            </a:r>
          </a:p>
          <a:p>
            <a:r>
              <a:rPr lang="en-GB" dirty="0"/>
              <a:t>It asks for what it needs, instead of you explaining</a:t>
            </a:r>
          </a:p>
          <a:p>
            <a:r>
              <a:rPr lang="en-GB" dirty="0"/>
              <a:t>From the output</a:t>
            </a:r>
          </a:p>
          <a:p>
            <a:r>
              <a:rPr lang="en-GB" dirty="0"/>
              <a:t>Composability</a:t>
            </a:r>
          </a:p>
          <a:p>
            <a:r>
              <a:rPr lang="en-GB" dirty="0"/>
              <a:t>Shaped so another factory can use it unchanged</a:t>
            </a:r>
          </a:p>
          <a:p>
            <a:r>
              <a:rPr lang="en-GB" dirty="0"/>
              <a:t>If any one of the four is missing you have a kit, a widget, a service, or a tool. Use the four on your own kit tonight.</a:t>
            </a:r>
          </a:p>
          <a:p>
            <a:r>
              <a:rPr lang="en-GB" dirty="0"/>
              <a:t>§ Factory — A kit that runs without its author, bends to its user, and hands off something others can build on. Defined by what it does, not what it is made of.</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2 · Factories · Examples</a:t>
            </a:r>
          </a:p>
        </p:txBody>
      </p:sp>
      <p:sp>
        <p:nvSpPr>
          <p:cNvPr id="3" name="Title 1"/>
          <p:cNvSpPr>
            <a:spLocks noGrp="1"/>
          </p:cNvSpPr>
          <p:nvPr>
            <p:ph type="title"/>
          </p:nvPr>
        </p:nvSpPr>
        <p:spPr>
          <a:prstGeom prst="rect">
            <a:avLst/>
          </a:prstGeom>
        </p:spPr>
        <p:txBody>
          <a:bodyPr lIns="0" tIns="0" rIns="0" bIns="0" wrap="square"/>
          <a:lstStyle/>
          <a:p>
            <a:r>
              <a:rPr lang="en-GB" dirty="0"/>
              <a:t>Two real examples show work that runs without its author and helps others build.</a:t>
            </a:r>
          </a:p>
        </p:txBody>
      </p:sp>
      <p:sp>
        <p:nvSpPr>
          <p:cNvPr id="4" name="Body 2"/>
          <p:cNvSpPr>
            <a:spLocks noGrp="1"/>
          </p:cNvSpPr>
          <p:nvPr>
            <p:ph type="body" idx="1"/>
          </p:nvPr>
        </p:nvSpPr>
        <p:spPr>
          <a:prstGeom prst="rect">
            <a:avLst/>
          </a:prstGeom>
        </p:spPr>
        <p:txBody>
          <a:bodyPr lIns="0" tIns="0" rIns="0" bIns="0" wrap="square"/>
          <a:lstStyle/>
          <a:p>
            <a:r>
              <a:rPr lang="en-GB" dirty="0"/>
              <a:t>Rao → Dixon</a:t>
            </a:r>
          </a:p>
          <a:p>
            <a:r>
              <a:rPr lang="en-GB" dirty="0"/>
              <a:t>The manuscript factory never made a book. It made drafts with metadata and left them in a shared folder; Jenna Dixon's production factory picked them up with no explaining.</a:t>
            </a:r>
          </a:p>
          <a:p>
            <a:r>
              <a:rPr lang="en-GB" dirty="0"/>
              <a:t>Connects two factories by agreeing on an output — not by making them alike. Neither is a coder.</a:t>
            </a:r>
          </a:p>
          <a:p>
            <a:r>
              <a:rPr lang="en-GB" dirty="0"/>
              <a:t>The PI brand kit</a:t>
            </a:r>
          </a:p>
          <a:p>
            <a:r>
              <a:rPr lang="en-GB" dirty="0"/>
              <a:t>An assistant reads brand.json through llms.txt and has the brand, with nobody in the middle.</a:t>
            </a:r>
          </a:p>
          <a:p>
            <a:r>
              <a:rPr lang="en-GB" dirty="0"/>
              <a:t>Monstrous Times copied it and bent it to its own world — that is forking, the property the book case does not show.</a:t>
            </a:r>
          </a:p>
          <a:p>
            <a:r>
              <a:rPr lang="en-GB" dirty="0"/>
              <a:t>Read both against four questions</a:t>
            </a:r>
          </a:p>
          <a:p>
            <a:r>
              <a:rPr lang="en-GB" dirty="0"/>
              <a:t>Same result each time? · Bends to its user? · Runs without its author? · Hands off something to build on?</a:t>
            </a:r>
          </a:p>
          <a:p>
            <a:r>
              <a:rPr lang="en-GB" dirty="0"/>
              <a:t>What held Rao and Dixon up was never machinery. It was agreeing how one practice meets another.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2 · Factories · Method</a:t>
            </a:r>
          </a:p>
        </p:txBody>
      </p:sp>
      <p:sp>
        <p:nvSpPr>
          <p:cNvPr id="3" name="Title 1"/>
          <p:cNvSpPr>
            <a:spLocks noGrp="1"/>
          </p:cNvSpPr>
          <p:nvPr>
            <p:ph type="title"/>
          </p:nvPr>
        </p:nvSpPr>
        <p:spPr>
          <a:prstGeom prst="rect">
            <a:avLst/>
          </a:prstGeom>
        </p:spPr>
        <p:txBody>
          <a:bodyPr lIns="0" tIns="0" rIns="0" bIns="0" wrap="square"/>
          <a:lstStyle/>
          <a:p>
            <a:r>
              <a:rPr lang="en-GB" dirty="0"/>
              <a:t>Write it down, break it into steps, name what it produces, and let others test.</a:t>
            </a:r>
          </a:p>
        </p:txBody>
      </p:sp>
      <p:sp>
        <p:nvSpPr>
          <p:cNvPr id="4" name="Body 2"/>
          <p:cNvSpPr>
            <a:spLocks noGrp="1"/>
          </p:cNvSpPr>
          <p:nvPr>
            <p:ph type="body" idx="1"/>
          </p:nvPr>
        </p:nvSpPr>
        <p:spPr>
          <a:prstGeom prst="rect">
            <a:avLst/>
          </a:prstGeom>
        </p:spPr>
        <p:txBody>
          <a:bodyPr lIns="0" tIns="0" rIns="0" bIns="0" wrap="square"/>
          <a:lstStyle/>
          <a:p>
            <a:r>
              <a:rPr lang="en-GB" dirty="0"/>
              <a:t>1 · Write down what you do</a:t>
            </a:r>
          </a:p>
          <a:p>
            <a:r>
              <a:rPr lang="en-GB" dirty="0"/>
              <a:t>Write down what you actually do, including what you do without thinking</a:t>
            </a:r>
          </a:p>
          <a:p>
            <a:r>
              <a:rPr lang="en-GB" dirty="0"/>
              <a:t>Taylor 1911 · Polanyi 1966</a:t>
            </a:r>
          </a:p>
          <a:p>
            <a:r>
              <a:rPr lang="en-GB" dirty="0"/>
              <a:t>2 · Break it into steps</a:t>
            </a:r>
          </a:p>
          <a:p>
            <a:r>
              <a:rPr lang="en-GB" dirty="0"/>
              <a:t>Each step becomes a workstation — the numbered steps of SKILL.md</a:t>
            </a:r>
          </a:p>
          <a:p>
            <a:r>
              <a:rPr lang="en-GB" dirty="0"/>
              <a:t>Smith 1776, the pin factory</a:t>
            </a:r>
          </a:p>
          <a:p>
            <a:r>
              <a:rPr lang="en-GB" dirty="0"/>
              <a:t>3 · Name what it produces</a:t>
            </a:r>
          </a:p>
          <a:p>
            <a:r>
              <a:rPr lang="en-GB" dirty="0"/>
              <a:t>The intermediate that leaves is the thing someone else builds on</a:t>
            </a:r>
          </a:p>
          <a:p>
            <a:r>
              <a:rPr lang="en-GB" dirty="0"/>
              <a:t>Chandler 1977</a:t>
            </a:r>
          </a:p>
          <a:p>
            <a:r>
              <a:rPr lang="en-GB" dirty="0"/>
              <a:t>4 · Publish what others can rely on</a:t>
            </a:r>
          </a:p>
          <a:p>
            <a:r>
              <a:rPr lang="en-GB" dirty="0"/>
              <a:t>Say in public what others may rely on: Exports: Interface: Adapts to:</a:t>
            </a:r>
          </a:p>
          <a:p>
            <a:r>
              <a:rPr lang="en-GB" dirty="0"/>
              <a:t>Hounshell 1984 · Baldwin &amp; Clark 2000</a:t>
            </a:r>
          </a:p>
          <a:p>
            <a:r>
              <a:rPr lang="en-GB" dirty="0"/>
              <a:t>5 · Let someone else test it</a:t>
            </a:r>
          </a:p>
          <a:p>
            <a:r>
              <a:rPr lang="en-GB" dirty="0"/>
              <a:t>Someone else's assistant runs it without you in the room</a:t>
            </a:r>
          </a:p>
          <a:p>
            <a:r>
              <a:rPr lang="en-GB" dirty="0"/>
              <a:t>Exercise 7, in 25 minutes</a:t>
            </a:r>
          </a:p>
          <a:p>
            <a:r>
              <a:rPr lang="en-GB" dirty="0"/>
              <a:t>6 · Keep the entry point stable</a:t>
            </a:r>
          </a:p>
          <a:p>
            <a:r>
              <a:rPr lang="en-GB" dirty="0"/>
              <a:t>Keep the entry point unchanged while you change what is behind it</a:t>
            </a:r>
          </a:p>
          <a:p>
            <a:r>
              <a:rPr lang="en-GB" dirty="0"/>
              <a:t>Parnas 1972</a:t>
            </a:r>
          </a:p>
          <a:p>
            <a:r>
              <a:rPr lang="en-GB" dirty="0"/>
              <a:t>§ Tacit knowledge — What you know how to do but have never put into words. It is why someone else’s assistant stalls at the step that seemed too obvious to write down.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2 · Factories · Concept</a:t>
            </a:r>
          </a:p>
        </p:txBody>
      </p:sp>
      <p:sp>
        <p:nvSpPr>
          <p:cNvPr id="3" name="Title 1"/>
          <p:cNvSpPr>
            <a:spLocks noGrp="1"/>
          </p:cNvSpPr>
          <p:nvPr>
            <p:ph type="title"/>
          </p:nvPr>
        </p:nvSpPr>
        <p:spPr>
          <a:prstGeom prst="rect">
            <a:avLst/>
          </a:prstGeom>
        </p:spPr>
        <p:txBody>
          <a:bodyPr lIns="0" tIns="0" rIns="0" bIns="0" wrap="square"/>
          <a:lstStyle/>
          <a:p>
            <a:r>
              <a:rPr lang="en-GB" dirty="0"/>
              <a:t>A factory can be a written guide, a script, an app, or a website.</a:t>
            </a:r>
          </a:p>
        </p:txBody>
      </p:sp>
      <p:sp>
        <p:nvSpPr>
          <p:cNvPr id="4" name="Body 2"/>
          <p:cNvSpPr>
            <a:spLocks noGrp="1"/>
          </p:cNvSpPr>
          <p:nvPr>
            <p:ph type="body" idx="1"/>
          </p:nvPr>
        </p:nvSpPr>
        <p:spPr>
          <a:prstGeom prst="rect">
            <a:avLst/>
          </a:prstGeom>
        </p:spPr>
        <p:txBody>
          <a:bodyPr lIns="0" tIns="0" rIns="0" bIns="0" wrap="square"/>
          <a:lstStyle/>
          <a:p>
            <a:r>
              <a:rPr lang="en-GB" dirty="0"/>
              <a:t>A skill — a README and SKILL.md an assistant runs, plus one example</a:t>
            </a:r>
          </a:p>
          <a:p>
            <a:r>
              <a:rPr lang="en-GB" dirty="0"/>
              <a:t>Standard: SKILL.md / Agent Skills · tonight, everyone is here</a:t>
            </a:r>
          </a:p>
          <a:p>
            <a:r>
              <a:rPr lang="en-GB" dirty="0"/>
              <a:t>A single file that calls a model through MCP or an API</a:t>
            </a:r>
          </a:p>
          <a:p>
            <a:r>
              <a:rPr lang="en-GB" dirty="0"/>
              <a:t>Standard: MCP · modelcontextprotocol.io</a:t>
            </a:r>
          </a:p>
          <a:p>
            <a:r>
              <a:rPr lang="en-GB" dirty="0"/>
              <a:t>An app someone installs</a:t>
            </a:r>
          </a:p>
          <a:p>
            <a:r>
              <a:rPr lang="en-GB" dirty="0"/>
              <a:t>More reach, more effort — not more of a factory</a:t>
            </a:r>
          </a:p>
          <a:p>
            <a:r>
              <a:rPr lang="en-GB" dirty="0"/>
              <a:t>A website running on a machine somewhere</a:t>
            </a:r>
          </a:p>
          <a:p>
            <a:r>
              <a:rPr lang="en-GB" dirty="0"/>
              <a:t>Standard: A2A, agent to agent</a:t>
            </a:r>
          </a:p>
          <a:p>
            <a:r>
              <a:rPr lang="en-GB" dirty="0"/>
              <a:t>The definition is the same on every rung. Standards that close early lock in whatever happened to be there — which is how we all ended up typing on QWERTY. Publish the smallest possible entry point, and keep everything behind it free to change.</a:t>
            </a:r>
          </a:p>
          <a:p>
            <a:r>
              <a:rPr lang="en-GB" dirty="0"/>
              <a:t>§ Standard — A protocol written down and published so anyone can build against it. The ones named here get named, not taught.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20 min build · 30:00 comms · 33:00 push</a:t>
            </a:r>
          </a:p>
        </p:txBody>
      </p:sp>
      <p:sp>
        <p:nvSpPr>
          <p:cNvPr id="3" name="Title 1"/>
          <p:cNvSpPr>
            <a:spLocks noGrp="1"/>
          </p:cNvSpPr>
          <p:nvPr>
            <p:ph type="title"/>
          </p:nvPr>
        </p:nvSpPr>
        <p:spPr>
          <a:prstGeom prst="rect">
            <a:avLst/>
          </a:prstGeom>
        </p:spPr>
        <p:txBody>
          <a:bodyPr lIns="0" tIns="0" rIns="0" bIns="0" wrap="square"/>
          <a:lstStyle/>
          <a:p>
            <a:r>
              <a:rPr lang="en-GB" dirty="0"/>
              <a:t>Turn your kit into a factory someone else's AI assistant can run without asking you.</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Paste this to your assistant</a:t>
            </a:r>
          </a:p>
          <a:p>
            <a:r>
              <a:rPr lang="en-GB" dirty="0"/>
              <a:t>Read instructions/S2-factory.md and do this. Walk me through the six steps in order for the kit I chose in Async 1. Ask me for anything you need — do not invent answers. Write everything to participants/&lt;my-handle&gt;/s2-factory/ and push.</a:t>
            </a:r>
          </a:p>
          <a:p>
            <a:r>
              <a:rPr lang="en-GB" dirty="0"/>
              <a:t>Four things must exist when I call push</a:t>
            </a:r>
          </a:p>
          <a:p>
            <a:r>
              <a:rPr lang="en-GB" dirty="0"/>
              <a:t>README.md — three lines: Exports, Interface, Adapts to</a:t>
            </a:r>
          </a:p>
          <a:p>
            <a:r>
              <a:rPr lang="en-GB" dirty="0"/>
              <a:t>SKILL.md — numbered workstations that ask for the user's context, not yours</a:t>
            </a:r>
          </a:p>
          <a:p>
            <a:r>
              <a:rPr lang="en-GB" dirty="0"/>
              <a:t>examples/ — one output your assistant produced cold from SKILL.md alone</a:t>
            </a:r>
          </a:p>
          <a:p>
            <a:r>
              <a:rPr lang="en-GB" dirty="0"/>
              <a:t>All of it inside participants/&lt;you&gt;/s2-factory/</a:t>
            </a:r>
          </a:p>
          <a:p>
            <a:r>
              <a:rPr lang="en-GB" dirty="0"/>
              <a:t>Done when</a:t>
            </a:r>
          </a:p>
          <a:p>
            <a:r>
              <a:rPr lang="en-GB" dirty="0"/>
              <a:t>A stranger's agent could open the folder and produce the example without messaging you.</a:t>
            </a:r>
          </a:p>
          <a:p>
            <a:r>
              <a:rPr lang="en-GB" dirty="0"/>
              <a:t>A practical tip</a:t>
            </a:r>
          </a:p>
          <a:p>
            <a:r>
              <a:rPr lang="en-GB" dirty="0"/>
              <a:t>Fix the output shape, not just the intent: column order, units copied never converted, a required reference.</a:t>
            </a:r>
          </a:p>
          <a:p>
            <a:r>
              <a:rPr lang="en-GB" dirty="0"/>
              <a:t>§ Skill — A folder holding a SKILL.md file that tells an assistant how to do one job, plus anything it needs. Its shape is a published standard, so it works in another assistant.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13 minutes · breakouts · back at :48</a:t>
            </a:r>
          </a:p>
        </p:txBody>
      </p:sp>
      <p:sp>
        <p:nvSpPr>
          <p:cNvPr id="3" name="Title 1"/>
          <p:cNvSpPr>
            <a:spLocks noGrp="1"/>
          </p:cNvSpPr>
          <p:nvPr>
            <p:ph type="title"/>
          </p:nvPr>
        </p:nvSpPr>
        <p:spPr>
          <a:prstGeom prst="rect">
            <a:avLst/>
          </a:prstGeom>
        </p:spPr>
        <p:txBody>
          <a:bodyPr lIns="0" tIns="0" rIns="0" bIns="0" wrap="square"/>
          <a:lstStyle/>
          <a:p>
            <a:r>
              <a:rPr lang="en-GB" dirty="0"/>
              <a:t>Swap with a partner and see where their assistant gets stuck or gets it wrong.</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Test 1 · runs without its author</a:t>
            </a:r>
          </a:p>
          <a:p>
            <a:r>
              <a:rPr lang="en-GB" dirty="0"/>
              <a:t>Your assistant gets the README and SKILL.md and nothing else. Can it produce the example without asking the owner a single question?</a:t>
            </a:r>
          </a:p>
          <a:p>
            <a:r>
              <a:rPr lang="en-GB" dirty="0"/>
              <a:t>Test 2 · fits its user</a:t>
            </a:r>
          </a:p>
          <a:p>
            <a:r>
              <a:rPr lang="en-GB" dirty="0"/>
              <a:t>Give it one line about your own situation through Adapts to: — does the output suit you, or still suit the owner?</a:t>
            </a:r>
          </a:p>
          <a:p>
            <a:r>
              <a:rPr lang="en-GB" dirty="0"/>
              <a:t>Paste this to your assistant</a:t>
            </a:r>
          </a:p>
          <a:p>
            <a:r>
              <a:rPr lang="en-GB" dirty="0"/>
              <a:t>Read only participants/&lt;THEIR-HANDLE&gt;/s2-factory/README.md and SKILL.md. Run the example using nothing else. Then run it again with this about me: "&lt;one line of my context&gt;". Report in three lines per test what you could not do.</a:t>
            </a:r>
          </a:p>
          <a:p>
            <a:r>
              <a:rPr lang="en-GB" dirty="0"/>
              <a:t>How to run it</a:t>
            </a:r>
          </a:p>
          <a:p>
            <a:r>
              <a:rPr lang="en-GB" dirty="0"/>
              <a:t>Read in a ring — the pin says who reads whom</a:t>
            </a:r>
          </a:p>
          <a:p>
            <a:r>
              <a:rPr lang="en-GB" dirty="0"/>
              <a:t>Read your three lines aloud to the owner</a:t>
            </a:r>
          </a:p>
          <a:p>
            <a:r>
              <a:rPr lang="en-GB" dirty="0"/>
              <a:t>The owner types nothing back except blocker lines in their LOG.md</a:t>
            </a:r>
          </a:p>
          <a:p>
            <a:r>
              <a:rPr lang="en-GB" dirty="0"/>
              <a:t>Done when</a:t>
            </a:r>
          </a:p>
          <a:p>
            <a:r>
              <a:rPr lang="en-GB" dirty="0"/>
              <a:t>Your partner has three lines per test, and every failure is a blocker line in their LOG.md.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40 seconds each · pinned order</a:t>
            </a:r>
          </a:p>
        </p:txBody>
      </p:sp>
      <p:sp>
        <p:nvSpPr>
          <p:cNvPr id="3" name="Title 1"/>
          <p:cNvSpPr>
            <a:spLocks noGrp="1"/>
          </p:cNvSpPr>
          <p:nvPr>
            <p:ph type="title"/>
          </p:nvPr>
        </p:nvSpPr>
        <p:spPr>
          <a:prstGeom prst="rect">
            <a:avLst/>
          </a:prstGeom>
        </p:spPr>
        <p:txBody>
          <a:bodyPr lIns="0" tIns="0" rIns="0" bIns="0" wrap="square"/>
          <a:lstStyle/>
          <a:p>
            <a:r>
              <a:rPr lang="en-GB" dirty="0"/>
              <a:t>Share one thing your partner's assistant could not do without you.</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Finish this sentence</a:t>
            </a:r>
          </a:p>
          <a:p>
            <a:r>
              <a:rPr lang="en-GB" dirty="0"/>
              <a:t>"The other agent got ___ wrong about my kit"</a:t>
            </a:r>
          </a:p>
          <a:p>
            <a:r>
              <a:rPr lang="en-GB" dirty="0"/>
              <a:t>Most answers will be one of these two. Both are the next line of your kit:</a:t>
            </a:r>
          </a:p>
          <a:p>
            <a:r>
              <a:rPr lang="en-GB" dirty="0"/>
              <a:t>Unwritten knowledge</a:t>
            </a:r>
          </a:p>
          <a:p>
            <a:r>
              <a:rPr lang="en-GB" dirty="0"/>
              <a:t>It stalled where you know something you never wrote down</a:t>
            </a:r>
          </a:p>
          <a:p>
            <a:r>
              <a:rPr lang="en-GB" dirty="0"/>
              <a:t>Fitted the wrong person</a:t>
            </a:r>
          </a:p>
          <a:p>
            <a:r>
              <a:rPr lang="en-GB" dirty="0"/>
              <a:t>It ran fine and produced something that suited you, not the person using it</a:t>
            </a:r>
          </a:p>
          <a:p>
            <a:r>
              <a:rPr lang="en-GB" dirty="0"/>
              <a:t>Done when</a:t>
            </a:r>
          </a:p>
          <a:p>
            <a:r>
              <a:rPr lang="en-GB" dirty="0"/>
              <a:t>Every person has named one thing, and each owner has it written down as their next line.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One word each · 3 minutes</a:t>
            </a:r>
          </a:p>
        </p:txBody>
      </p:sp>
      <p:sp>
        <p:nvSpPr>
          <p:cNvPr id="3" name="Title 1"/>
          <p:cNvSpPr>
            <a:spLocks noGrp="1"/>
          </p:cNvSpPr>
          <p:nvPr>
            <p:ph type="title"/>
          </p:nvPr>
        </p:nvSpPr>
        <p:spPr>
          <a:prstGeom prst="rect">
            <a:avLst/>
          </a:prstGeom>
        </p:spPr>
        <p:txBody>
          <a:bodyPr lIns="0" tIns="0" rIns="0" bIns="0" wrap="square"/>
          <a:lstStyle/>
          <a:p>
            <a:r>
              <a:rPr lang="en-GB" dirty="0"/>
              <a:t>Share one thing you noticed this hour, and together they show what we are learning.</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Same question as this afternoon — which of the four did this hour expand?</a:t>
            </a:r>
          </a:p>
          <a:p>
            <a:r>
              <a:rPr lang="en-GB" dirty="0"/>
              <a:t>External · archive</a:t>
            </a:r>
          </a:p>
          <a:p>
            <a:r>
              <a:rPr lang="en-GB" dirty="0"/>
              <a:t>Precommodification</a:t>
            </a:r>
          </a:p>
          <a:p>
            <a:r>
              <a:rPr lang="en-GB" dirty="0"/>
              <a:t>External · live</a:t>
            </a:r>
          </a:p>
          <a:p>
            <a:r>
              <a:rPr lang="en-GB" dirty="0"/>
              <a:t>Traces</a:t>
            </a:r>
          </a:p>
          <a:p>
            <a:r>
              <a:rPr lang="en-GB" dirty="0"/>
              <a:t>Internal · archive</a:t>
            </a:r>
          </a:p>
          <a:p>
            <a:r>
              <a:rPr lang="en-GB" dirty="0"/>
              <a:t>Anchored in reality</a:t>
            </a:r>
          </a:p>
          <a:p>
            <a:r>
              <a:rPr lang="en-GB" dirty="0"/>
              <a:t>Internal · live</a:t>
            </a:r>
          </a:p>
          <a:p>
            <a:r>
              <a:rPr lang="en-GB" dirty="0"/>
              <a:t>Playability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lIns="0" tIns="0" rIns="0" bIns="0" wrap="square" anchor="b"/>
          <a:lstStyle/>
          <a:p>
            <a:r>
              <a:rPr lang="en-GB" dirty="0"/>
              <a:t>Overnight, fix what your partner found and save the new version.</a:t>
            </a:r>
          </a:p>
        </p:txBody>
      </p:sp>
      <p:sp>
        <p:nvSpPr>
          <p:cNvPr id="3" name="Body 2"/>
          <p:cNvSpPr>
            <a:spLocks noGrp="1"/>
          </p:cNvSpPr>
          <p:nvPr>
            <p:ph type="body" idx="1"/>
          </p:nvPr>
        </p:nvSpPr>
        <p:spPr>
          <a:prstGeom prst="rect">
            <a:avLst/>
          </a:prstGeom>
        </p:spPr>
        <p:txBody>
          <a:bodyPr lIns="0" tIns="0" rIns="0" bIns="0" wrap="square"/>
          <a:lstStyle/>
          <a:p>
            <a:r>
              <a:rPr lang="en-GB" dirty="0"/>
              <a:t>What to do</a:t>
            </a:r>
          </a:p>
          <a:p>
            <a:r>
              <a:rPr lang="en-GB" dirty="0"/>
              <a:t>One fix per blocker line — could not run without you, or did not fit the reader</a:t>
            </a:r>
          </a:p>
          <a:p>
            <a:r>
              <a:rPr lang="en-GB" dirty="0"/>
              <a:t>Re-run the example cold</a:t>
            </a:r>
          </a:p>
          <a:p>
            <a:r>
              <a:rPr lang="en-GB" dirty="0"/>
              <a:t>Push v2 with one progress line saying what changed</a:t>
            </a:r>
          </a:p>
          <a:p>
            <a:r>
              <a:rPr lang="en-GB" dirty="0"/>
              <a:t>Paste this to your assistant</a:t>
            </a:r>
          </a:p>
          <a:p>
            <a:r>
              <a:rPr lang="en-GB" dirty="0"/>
              <a:t>Read instructions/async-2.md and do this. For each blocker line in my LOG.md make exactly one fix, re-run the example cold, then push v2 with a one-line progress note.</a:t>
            </a:r>
          </a:p>
          <a:p>
            <a:r>
              <a:rPr lang="en-GB" dirty="0"/>
              <a:t>Doing tonight async?</a:t>
            </a:r>
          </a:p>
          <a:p>
            <a:r>
              <a:rPr lang="en-GB" dirty="0"/>
              <a:t>Push your factory anyway — your assigned reader's agent will test it and post the report in the channel for you.</a:t>
            </a:r>
          </a:p>
          <a:p>
            <a:r>
              <a:rPr lang="en-GB" dirty="0"/>
              <a:t>S3 tomorrow 15:30 UTC — bridges. You will use someone's output unchanged instead of copying it. Bring the kit you did not critique in mind.</a:t>
            </a:r>
          </a:p>
          <a:p>
            <a:r>
              <a:rPr lang="en-GB" dirty="0"/>
              <a:t>§ Push — Sending your commits up to GitHub, where everyone else can see them. Until you push, your work exists only on your machine.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ssion label"/>
          <p:cNvSpPr>
            <a:spLocks noGrp="1"/>
          </p:cNvSpPr>
          <p:nvPr>
            <p:ph type="body" idx="1"/>
          </p:nvPr>
        </p:nvSpPr>
        <p:spPr>
          <a:prstGeom prst="rect">
            <a:avLst/>
          </a:prstGeom>
        </p:spPr>
        <p:txBody>
          <a:bodyPr lIns="0" tIns="0" rIns="0" bIns="0" wrap="square" anchor="b"/>
          <a:lstStyle/>
          <a:p>
            <a:r>
              <a:rPr lang="en-GB" dirty="0"/>
              <a:t>Session 3 — Bridges</a:t>
            </a:r>
          </a:p>
        </p:txBody>
      </p:sp>
      <p:sp>
        <p:nvSpPr>
          <p:cNvPr id="3" name="Title 1"/>
          <p:cNvSpPr>
            <a:spLocks noGrp="1"/>
          </p:cNvSpPr>
          <p:nvPr>
            <p:ph type="title"/>
          </p:nvPr>
        </p:nvSpPr>
        <p:spPr>
          <a:prstGeom prst="rect">
            <a:avLst/>
          </a:prstGeom>
        </p:spPr>
        <p:txBody>
          <a:bodyPr lIns="0" tIns="0" rIns="0" bIns="0" wrap="square"/>
          <a:lstStyle/>
          <a:p>
            <a:r>
              <a:rPr lang="en-GB" dirty="0"/>
              <a:t>Bridges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3 · Bridges · Where we are</a:t>
            </a:r>
          </a:p>
        </p:txBody>
      </p:sp>
      <p:sp>
        <p:nvSpPr>
          <p:cNvPr id="3" name="Title 1"/>
          <p:cNvSpPr>
            <a:spLocks noGrp="1"/>
          </p:cNvSpPr>
          <p:nvPr>
            <p:ph type="title"/>
          </p:nvPr>
        </p:nvSpPr>
        <p:spPr>
          <a:prstGeom prst="rect">
            <a:avLst/>
          </a:prstGeom>
        </p:spPr>
        <p:txBody>
          <a:bodyPr lIns="0" tIns="0" rIns="0" bIns="0" wrap="square"/>
          <a:lstStyle/>
          <a:p>
            <a:r>
              <a:rPr lang="en-GB" dirty="0"/>
              <a:t>Yesterday's factories each work alone, but none of them has been combined yet.</a:t>
            </a:r>
          </a:p>
        </p:txBody>
      </p:sp>
      <p:sp>
        <p:nvSpPr>
          <p:cNvPr id="4" name="Body 2"/>
          <p:cNvSpPr>
            <a:spLocks noGrp="1"/>
          </p:cNvSpPr>
          <p:nvPr>
            <p:ph type="body" idx="1"/>
          </p:nvPr>
        </p:nvSpPr>
        <p:spPr>
          <a:prstGeom prst="rect">
            <a:avLst/>
          </a:prstGeom>
        </p:spPr>
        <p:txBody>
          <a:bodyPr lIns="0" tIns="0" rIns="0" bIns="0" wrap="square"/>
          <a:lstStyle/>
          <a:p>
            <a:r>
              <a:rPr lang="en-GB" dirty="0"/>
              <a:t>In the repo now</a:t>
            </a:r>
          </a:p>
          <a:p>
            <a:r>
              <a:rPr lang="en-GB" dirty="0"/>
              <a:t>Every kit has a failure logged</a:t>
            </a:r>
          </a:p>
          <a:p>
            <a:r>
              <a:rPr lang="en-GB" dirty="0"/>
              <a:t>And almost all of them are description problems, not code problems.</a:t>
            </a:r>
          </a:p>
          <a:p>
            <a:r>
              <a:rPr lang="en-GB" dirty="0"/>
              <a:t>Which makes them useful today</a:t>
            </a:r>
          </a:p>
          <a:p>
            <a:r>
              <a:rPr lang="en-GB" dirty="0"/>
              <a:t>A failure is a trace: it tells the next agent exactly where the knowledge was still in somebody's head.</a:t>
            </a:r>
          </a:p>
          <a:p>
            <a:r>
              <a:rPr lang="en-GB" dirty="0"/>
              <a:t>Kits that landed async overnight count — their bridger is the first cold reader.</a:t>
            </a:r>
          </a:p>
          <a:p>
            <a:r>
              <a:rPr lang="en-GB" dirty="0"/>
              <a:t>§ Log — The running list of one-line notes your assistant writes in LOG.md as it works. It only ever grows: earlier lines are never rewritten or deleted.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3 minutes · everyone types at once</a:t>
            </a:r>
          </a:p>
        </p:txBody>
      </p:sp>
      <p:sp>
        <p:nvSpPr>
          <p:cNvPr id="3" name="Title 1"/>
          <p:cNvSpPr>
            <a:spLocks noGrp="1"/>
          </p:cNvSpPr>
          <p:nvPr>
            <p:ph type="title"/>
          </p:nvPr>
        </p:nvSpPr>
        <p:spPr>
          <a:prstGeom prst="rect">
            <a:avLst/>
          </a:prstGeom>
        </p:spPr>
        <p:txBody>
          <a:bodyPr lIns="0" tIns="0" rIns="0" bIns="0" wrap="square"/>
          <a:lstStyle/>
          <a:p>
            <a:r>
              <a:rPr lang="en-GB" dirty="0"/>
              <a:t>In the chat, name two kits in the room you would like to combine.</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Post in #workshop-kitkraft</a:t>
            </a:r>
          </a:p>
          <a:p>
            <a:r>
              <a:rPr lang="en-GB" dirty="0"/>
              <a:t>"___ plus ___, so that ___"</a:t>
            </a:r>
          </a:p>
          <a:p>
            <a:r>
              <a:rPr lang="en-GB" dirty="0"/>
              <a:t>Two folder names and one reason. Browse participants/ if you need a reminder of what exists.</a:t>
            </a:r>
          </a:p>
          <a:p>
            <a:r>
              <a:rPr lang="en-GB" dirty="0"/>
              <a:t>Useful pairs are usually uneven</a:t>
            </a:r>
          </a:p>
          <a:p>
            <a:r>
              <a:rPr lang="en-GB" dirty="0"/>
              <a:t>One kit that produces something plus one that needs that thing — not two kits that do the same job.</a:t>
            </a:r>
          </a:p>
          <a:p>
            <a:r>
              <a:rPr lang="en-GB" dirty="0"/>
              <a:t>Nothing is assigned on the basis of this. Your target is in the pinned post — but a pairing named here can be swapped in.</a:t>
            </a:r>
          </a:p>
          <a:p>
            <a:r>
              <a:rPr lang="en-GB" dirty="0"/>
              <a:t>Done when</a:t>
            </a:r>
          </a:p>
          <a:p>
            <a:r>
              <a:rPr lang="en-GB" dirty="0"/>
              <a:t>Your pairing is posted, naming two folders and one reason.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3 · Bridges · Definition</a:t>
            </a:r>
          </a:p>
        </p:txBody>
      </p:sp>
      <p:sp>
        <p:nvSpPr>
          <p:cNvPr id="3" name="Title 1"/>
          <p:cNvSpPr>
            <a:spLocks noGrp="1"/>
          </p:cNvSpPr>
          <p:nvPr>
            <p:ph type="title"/>
          </p:nvPr>
        </p:nvSpPr>
        <p:spPr>
          <a:prstGeom prst="rect">
            <a:avLst/>
          </a:prstGeom>
        </p:spPr>
        <p:txBody>
          <a:bodyPr lIns="0" tIns="0" rIns="0" bIns="0" wrap="square"/>
          <a:lstStyle/>
          <a:p>
            <a:r>
              <a:rPr lang="en-GB" dirty="0"/>
              <a:t>A bridge is a kit between kits, running several of them as one process.</a:t>
            </a:r>
          </a:p>
        </p:txBody>
      </p:sp>
      <p:sp>
        <p:nvSpPr>
          <p:cNvPr id="4" name="Body 2"/>
          <p:cNvSpPr>
            <a:spLocks noGrp="1"/>
          </p:cNvSpPr>
          <p:nvPr>
            <p:ph type="body" idx="1"/>
          </p:nvPr>
        </p:nvSpPr>
        <p:spPr>
          <a:prstGeom prst="rect">
            <a:avLst/>
          </a:prstGeom>
        </p:spPr>
        <p:txBody>
          <a:bodyPr lIns="0" tIns="0" rIns="0" bIns="0" wrap="square"/>
          <a:lstStyle/>
          <a:p>
            <a:r>
              <a:rPr lang="en-GB" dirty="0"/>
              <a:t>A target is any kit or factory in the repo. The difference is one line: a factory declared an Interface: in S2, a kit did not.</a:t>
            </a:r>
          </a:p>
          <a:p>
            <a:r>
              <a:rPr lang="en-GB" dirty="0"/>
              <a:t>Factory → factory</a:t>
            </a:r>
          </a:p>
          <a:p>
            <a:r>
              <a:rPr lang="en-GB" dirty="0"/>
              <a:t>Your agent uses the target strictly through its declared interface</a:t>
            </a:r>
          </a:p>
          <a:p>
            <a:r>
              <a:rPr lang="en-GB" dirty="0"/>
              <a:t>Kit → kit</a:t>
            </a:r>
          </a:p>
          <a:p>
            <a:r>
              <a:rPr lang="en-GB" dirty="0"/>
              <a:t>The interface is the README a person hands to their agent</a:t>
            </a:r>
          </a:p>
          <a:p>
            <a:r>
              <a:rPr lang="en-GB" dirty="0"/>
              <a:t>Kit ↔ factory</a:t>
            </a:r>
          </a:p>
          <a:p>
            <a:r>
              <a:rPr lang="en-GB" dirty="0"/>
              <a:t>One side declared; the log records whether that way in was enough</a:t>
            </a:r>
          </a:p>
          <a:p>
            <a:r>
              <a:rPr lang="en-GB" dirty="0"/>
              <a:t>Three configurations to try, not a taxonomy — your harness works out which one you are in and writes it down.</a:t>
            </a:r>
          </a:p>
          <a:p>
            <a:r>
              <a:rPr lang="en-GB" dirty="0"/>
              <a:t>§ Bridge — One AI assistant using several kits or factories together and making that a reliable process; a kit between kits. What crosses is usually half-finished work.</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3 · Bridges · Concept</a:t>
            </a:r>
          </a:p>
        </p:txBody>
      </p:sp>
      <p:sp>
        <p:nvSpPr>
          <p:cNvPr id="3" name="Title 1"/>
          <p:cNvSpPr>
            <a:spLocks noGrp="1"/>
          </p:cNvSpPr>
          <p:nvPr>
            <p:ph type="title"/>
          </p:nvPr>
        </p:nvSpPr>
        <p:spPr>
          <a:prstGeom prst="rect">
            <a:avLst/>
          </a:prstGeom>
        </p:spPr>
        <p:txBody>
          <a:bodyPr lIns="0" tIns="0" rIns="0" bIns="0" wrap="square"/>
          <a:lstStyle/>
          <a:p>
            <a:r>
              <a:rPr lang="en-GB" dirty="0"/>
              <a:t>Passing half-finished work between kits often works better than passing finished results.</a:t>
            </a:r>
          </a:p>
        </p:txBody>
      </p:sp>
      <p:sp>
        <p:nvSpPr>
          <p:cNvPr id="4" name="Body 2"/>
          <p:cNvSpPr>
            <a:spLocks noGrp="1"/>
          </p:cNvSpPr>
          <p:nvPr>
            <p:ph type="body" idx="1"/>
          </p:nvPr>
        </p:nvSpPr>
        <p:spPr>
          <a:prstGeom prst="rect">
            <a:avLst/>
          </a:prstGeom>
        </p:spPr>
        <p:txBody>
          <a:bodyPr lIns="0" tIns="0" rIns="0" bIns="0" wrap="square"/>
          <a:lstStyle/>
          <a:p>
            <a:r>
              <a:rPr lang="en-GB" dirty="0"/>
              <a:t>The problem, restated</a:t>
            </a:r>
          </a:p>
          <a:p>
            <a:r>
              <a:rPr lang="en-GB" dirty="0"/>
              <a:t>Bespoke use makes tooling private; precommodification means we all reach the same ideas; farmsteading keeps each practice closed.</a:t>
            </a:r>
          </a:p>
          <a:p>
            <a:r>
              <a:rPr lang="en-GB" dirty="0"/>
              <a:t>So sharing runs on</a:t>
            </a:r>
          </a:p>
          <a:p>
            <a:r>
              <a:rPr lang="en-GB" dirty="0"/>
              <a:t>Public records and interfaces — not on everybody adopting the same app.</a:t>
            </a:r>
          </a:p>
          <a:p>
            <a:r>
              <a:rPr lang="en-GB" dirty="0"/>
              <a:t>Rao’s “invisible 90%”</a:t>
            </a:r>
          </a:p>
          <a:p>
            <a:r>
              <a:rPr lang="en-GB" dirty="0"/>
              <a:t>High-trust links passing intermediates between bespoke setups. Skills are industrial intermediates — the kit you wrote last night is one.</a:t>
            </a:r>
          </a:p>
          <a:p>
            <a:r>
              <a:rPr lang="en-GB" dirty="0"/>
              <a:t>Unix made this its whole design: expect the output of every program to become the input to another, as yet unknown, program.</a:t>
            </a:r>
          </a:p>
          <a:p>
            <a:r>
              <a:rPr lang="en-GB" dirty="0"/>
              <a:t>§ Intermediate — The half-finished thing one kit hands to the next: a draft, a set of rows, a file with notes attached, rather than a finished product.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3 · Bridges · Example</a:t>
            </a:r>
          </a:p>
        </p:txBody>
      </p:sp>
      <p:sp>
        <p:nvSpPr>
          <p:cNvPr id="3" name="Title 1"/>
          <p:cNvSpPr>
            <a:spLocks noGrp="1"/>
          </p:cNvSpPr>
          <p:nvPr>
            <p:ph type="title"/>
          </p:nvPr>
        </p:nvSpPr>
        <p:spPr>
          <a:prstGeom prst="rect">
            <a:avLst/>
          </a:prstGeom>
        </p:spPr>
        <p:txBody>
          <a:bodyPr lIns="0" tIns="0" rIns="0" bIns="0" wrap="square"/>
          <a:lstStyle/>
          <a:p>
            <a:r>
              <a:rPr lang="en-GB" dirty="0"/>
              <a:t>Rao and Dixon linked their setups by passing drafts, not finished books.</a:t>
            </a:r>
          </a:p>
        </p:txBody>
      </p:sp>
      <p:sp>
        <p:nvSpPr>
          <p:cNvPr id="4" name="Body 2"/>
          <p:cNvSpPr>
            <a:spLocks noGrp="1"/>
          </p:cNvSpPr>
          <p:nvPr>
            <p:ph type="body" idx="1"/>
          </p:nvPr>
        </p:nvSpPr>
        <p:spPr>
          <a:prstGeom prst="rect">
            <a:avLst/>
          </a:prstGeom>
        </p:spPr>
        <p:txBody>
          <a:bodyPr lIns="0" tIns="0" rIns="0" bIns="0" wrap="square"/>
          <a:lstStyle/>
          <a:p>
            <a:r>
              <a:rPr lang="en-GB" dirty="0"/>
              <a:t>Upstream</a:t>
            </a:r>
          </a:p>
          <a:p>
            <a:r>
              <a:rPr lang="en-GB" dirty="0"/>
              <a:t>Rao's manuscript factory</a:t>
            </a:r>
          </a:p>
          <a:p>
            <a:r>
              <a:rPr lang="en-GB" dirty="0"/>
              <a:t>Never made a book</a:t>
            </a:r>
          </a:p>
          <a:p>
            <a:r>
              <a:rPr lang="en-GB" dirty="0"/>
              <a:t>What moved · the interface</a:t>
            </a:r>
          </a:p>
          <a:p>
            <a:r>
              <a:rPr lang="en-GB" dirty="0"/>
              <a:t>Drafts + metadata</a:t>
            </a:r>
          </a:p>
          <a:p>
            <a:r>
              <a:rPr lang="en-GB" dirty="0"/>
              <a:t>A shared folder and a metadata server. Intermediates, not the finished thing.</a:t>
            </a:r>
          </a:p>
          <a:p>
            <a:r>
              <a:rPr lang="en-GB" dirty="0"/>
              <a:t>Downstream</a:t>
            </a:r>
          </a:p>
          <a:p>
            <a:r>
              <a:rPr lang="en-GB" dirty="0"/>
              <a:t>Dixon's production factory</a:t>
            </a:r>
          </a:p>
          <a:p>
            <a:r>
              <a:rPr lang="en-GB" dirty="0"/>
              <a:t>Picked them up with no explaining</a:t>
            </a:r>
          </a:p>
          <a:p>
            <a:r>
              <a:rPr lang="en-GB" dirty="0"/>
              <a:t>Two non-coders. Domain knowledge beat coding knowledge, because the hard part was never machinery — it was agreeing what crosses the gap.</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3 · Bridges · Example</a:t>
            </a:r>
          </a:p>
        </p:txBody>
      </p:sp>
      <p:sp>
        <p:nvSpPr>
          <p:cNvPr id="3" name="Title 1"/>
          <p:cNvSpPr>
            <a:spLocks noGrp="1"/>
          </p:cNvSpPr>
          <p:nvPr>
            <p:ph type="title"/>
          </p:nvPr>
        </p:nvSpPr>
        <p:spPr>
          <a:prstGeom prst="rect">
            <a:avLst/>
          </a:prstGeom>
        </p:spPr>
        <p:txBody>
          <a:bodyPr lIns="0" tIns="0" rIns="0" bIns="0" wrap="square"/>
          <a:lstStyle/>
          <a:p>
            <a:r>
              <a:rPr lang="en-GB" dirty="0"/>
              <a:t>One assistant can chain two kits, feeding the first kit's draft into the second.</a:t>
            </a:r>
          </a:p>
        </p:txBody>
      </p:sp>
      <p:sp>
        <p:nvSpPr>
          <p:cNvPr id="4" name="Body 2"/>
          <p:cNvSpPr>
            <a:spLocks noGrp="1"/>
          </p:cNvSpPr>
          <p:nvPr>
            <p:ph type="body" idx="1"/>
          </p:nvPr>
        </p:nvSpPr>
        <p:spPr>
          <a:prstGeom prst="rect">
            <a:avLst/>
          </a:prstGeom>
        </p:spPr>
        <p:txBody>
          <a:bodyPr lIns="0" tIns="0" rIns="0" bIns="0" wrap="square"/>
          <a:lstStyle/>
          <a:p>
            <a:r>
              <a:rPr lang="en-GB" dirty="0"/>
              <a:t>In</a:t>
            </a:r>
          </a:p>
          <a:p>
            <a:r>
              <a:rPr lang="en-GB" dirty="0"/>
              <a:t>A utility's rate schedule PDF</a:t>
            </a:r>
          </a:p>
          <a:p>
            <a:r>
              <a:rPr lang="en-GB" dirty="0"/>
              <a:t>The interface is the row shape</a:t>
            </a:r>
          </a:p>
          <a:p>
            <a:r>
              <a:rPr lang="en-GB" dirty="0"/>
              <a:t>Fixed column order · units copied, never converted · page reference required</a:t>
            </a:r>
          </a:p>
          <a:p>
            <a:r>
              <a:rPr lang="en-GB" dirty="0"/>
              <a:t>Out</a:t>
            </a:r>
          </a:p>
          <a:p>
            <a:r>
              <a:rPr lang="en-GB" dirty="0"/>
              <a:t>One CSV row per tier, appended to a registry</a:t>
            </a:r>
          </a:p>
          <a:p>
            <a:r>
              <a:rPr lang="en-GB" dirty="0"/>
              <a:t>Downstream</a:t>
            </a:r>
          </a:p>
          <a:p>
            <a:r>
              <a:rPr lang="en-GB" dirty="0"/>
              <a:t>The registry feeds a public site that never reads a PDF at all. That is what composability means in practice.</a:t>
            </a:r>
          </a:p>
          <a:p>
            <a:r>
              <a:rPr lang="en-GB" dirty="0"/>
              <a:t>Try it in your own domain</a:t>
            </a:r>
          </a:p>
          <a:p>
            <a:r>
              <a:rPr lang="en-GB" dirty="0"/>
              <a:t>Use facilitator/rafa/s2-factory/ through its README only. Give it a PDF excerpt from my field and produce one registry row.</a:t>
            </a:r>
          </a:p>
          <a:p>
            <a:r>
              <a:rPr lang="en-GB" dirty="0"/>
              <a:t>§ Interface — The way in: what someone else needs to know to use your kit without asking you anything. It can be as plain as the column order of a row.</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3 · Bridges · Method</a:t>
            </a:r>
          </a:p>
        </p:txBody>
      </p:sp>
      <p:sp>
        <p:nvSpPr>
          <p:cNvPr id="3" name="Title 1"/>
          <p:cNvSpPr>
            <a:spLocks noGrp="1"/>
          </p:cNvSpPr>
          <p:nvPr>
            <p:ph type="title"/>
          </p:nvPr>
        </p:nvSpPr>
        <p:spPr>
          <a:prstGeom prst="rect">
            <a:avLst/>
          </a:prstGeom>
        </p:spPr>
        <p:txBody>
          <a:bodyPr lIns="0" tIns="0" rIns="0" bIns="0" wrap="square"/>
          <a:lstStyle/>
          <a:p>
            <a:r>
              <a:rPr lang="en-GB" dirty="0"/>
              <a:t>A combined process is only useful if it runs the same way next week.</a:t>
            </a:r>
          </a:p>
        </p:txBody>
      </p:sp>
      <p:sp>
        <p:nvSpPr>
          <p:cNvPr id="4" name="Body 2"/>
          <p:cNvSpPr>
            <a:spLocks noGrp="1"/>
          </p:cNvSpPr>
          <p:nvPr>
            <p:ph type="body" idx="1"/>
          </p:nvPr>
        </p:nvSpPr>
        <p:spPr>
          <a:prstGeom prst="rect">
            <a:avLst/>
          </a:prstGeom>
        </p:spPr>
        <p:txBody>
          <a:bodyPr lIns="0" tIns="0" rIns="0" bIns="0" wrap="square"/>
          <a:lstStyle/>
          <a:p>
            <a:r>
              <a:rPr lang="en-GB" dirty="0"/>
              <a:t>The paragraph you write at the end of the breakout is the data. Tomorrow we read all of them before anyone says anything. While you work, watch for four things:</a:t>
            </a:r>
          </a:p>
          <a:p>
            <a:r>
              <a:rPr lang="en-GB" dirty="0"/>
              <a:t>1</a:t>
            </a:r>
          </a:p>
          <a:p>
            <a:r>
              <a:rPr lang="en-GB" dirty="0"/>
              <a:t>What did your agent need from the target?</a:t>
            </a:r>
          </a:p>
          <a:p>
            <a:r>
              <a:rPr lang="en-GB" dirty="0"/>
              <a:t>2</a:t>
            </a:r>
          </a:p>
          <a:p>
            <a:r>
              <a:rPr lang="en-GB" dirty="0"/>
              <a:t>What did it find on its own?</a:t>
            </a:r>
          </a:p>
          <a:p>
            <a:r>
              <a:rPr lang="en-GB" dirty="0"/>
              <a:t>3</a:t>
            </a:r>
          </a:p>
          <a:p>
            <a:r>
              <a:rPr lang="en-GB" dirty="0"/>
              <a:t>What did a human have to supply?</a:t>
            </a:r>
          </a:p>
          <a:p>
            <a:r>
              <a:rPr lang="en-GB" dirty="0"/>
              <a:t>4</a:t>
            </a:r>
          </a:p>
          <a:p>
            <a:r>
              <a:rPr lang="en-GB" dirty="0"/>
              <a:t>What stayed fixed between the two sides?</a:t>
            </a:r>
          </a:p>
          <a:p>
            <a:r>
              <a:rPr lang="en-GB" dirty="0"/>
              <a:t>Everything on the last few slides is evidence to check your own log against — not an answer to match.</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3 · Bridges · Caution</a:t>
            </a:r>
          </a:p>
        </p:txBody>
      </p:sp>
      <p:sp>
        <p:nvSpPr>
          <p:cNvPr id="3" name="Title 1"/>
          <p:cNvSpPr>
            <a:spLocks noGrp="1"/>
          </p:cNvSpPr>
          <p:nvPr>
            <p:ph type="title"/>
          </p:nvPr>
        </p:nvSpPr>
        <p:spPr>
          <a:prstGeom prst="rect">
            <a:avLst/>
          </a:prstGeom>
        </p:spPr>
        <p:txBody>
          <a:bodyPr lIns="0" tIns="0" rIns="0" bIns="0" wrap="square"/>
          <a:lstStyle/>
          <a:p>
            <a:r>
              <a:rPr lang="en-GB" dirty="0"/>
              <a:t>Using someone's instructions means trusting them, so check them before you rely on them.</a:t>
            </a:r>
          </a:p>
        </p:txBody>
      </p:sp>
      <p:sp>
        <p:nvSpPr>
          <p:cNvPr id="4" name="Body 2"/>
          <p:cNvSpPr>
            <a:spLocks noGrp="1"/>
          </p:cNvSpPr>
          <p:nvPr>
            <p:ph type="body" idx="1"/>
          </p:nvPr>
        </p:nvSpPr>
        <p:spPr>
          <a:prstGeom prst="rect">
            <a:avLst/>
          </a:prstGeom>
        </p:spPr>
        <p:txBody>
          <a:bodyPr lIns="0" tIns="0" rIns="0" bIns="0" wrap="square"/>
          <a:lstStyle/>
          <a:p>
            <a:r>
              <a:rPr lang="en-GB" dirty="0"/>
              <a:t>Why this happens</a:t>
            </a:r>
          </a:p>
          <a:p>
            <a:r>
              <a:rPr lang="en-GB" dirty="0"/>
              <a:t>A loaded SKILL.md arrives as instructions, not documentation — and the agent cannot reliably tell a third party's instructions from yours.</a:t>
            </a:r>
          </a:p>
          <a:p>
            <a:r>
              <a:rPr lang="en-GB" dirty="0"/>
              <a:t>What the research now says</a:t>
            </a:r>
          </a:p>
          <a:p>
            <a:r>
              <a:rPr lang="en-GB" dirty="0"/>
              <a:t>Skills are dependencies; treat them as untrusted by default. That is the formal statement of why bridges are high-trust.</a:t>
            </a:r>
          </a:p>
          <a:p>
            <a:r>
              <a:rPr lang="en-GB" dirty="0"/>
              <a:t>26.1%</a:t>
            </a:r>
          </a:p>
          <a:p>
            <a:r>
              <a:rPr lang="en-GB" dirty="0"/>
              <a:t>of 31,132 public skills analysed carried at least one vulnerability.</a:t>
            </a:r>
          </a:p>
          <a:p>
            <a:r>
              <a:rPr lang="en-GB" dirty="0"/>
              <a:t>Agent Skills in the Wild, 2026 · CSA research note, May 2026</a:t>
            </a:r>
          </a:p>
          <a:p>
            <a:r>
              <a:rPr lang="en-GB" dirty="0"/>
              <a:t>This room runs on trust, so no read-before-load rule is imposed today. That is a property of this room, not of the world — which is why identity and trust standards are being built at all.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40 min · write-up at :30 · push by :38</a:t>
            </a:r>
          </a:p>
        </p:txBody>
      </p:sp>
      <p:sp>
        <p:nvSpPr>
          <p:cNvPr id="3" name="Title 1"/>
          <p:cNvSpPr>
            <a:spLocks noGrp="1"/>
          </p:cNvSpPr>
          <p:nvPr>
            <p:ph type="title"/>
          </p:nvPr>
        </p:nvSpPr>
        <p:spPr>
          <a:prstGeom prst="rect">
            <a:avLst/>
          </a:prstGeom>
        </p:spPr>
        <p:txBody>
          <a:bodyPr lIns="0" tIns="0" rIns="0" bIns="0" wrap="square"/>
          <a:lstStyle/>
          <a:p>
            <a:r>
              <a:rPr lang="en-GB" dirty="0"/>
              <a:t>Ask your assistant to combine two or more kits into one repeatable process.</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Paste this to your assistant</a:t>
            </a:r>
          </a:p>
          <a:p>
            <a:r>
              <a:rPr lang="en-GB" dirty="0"/>
              <a:t>Read instructions/S3-bridge.md and do this.TARGET: participants/&lt;their-handle&gt;/s2-factory/MY KIT CANNOT: &lt;the one thing&gt;Use the target only through its declared interface. Log every human unblock as one line.</a:t>
            </a:r>
          </a:p>
          <a:p>
            <a:r>
              <a:rPr lang="en-GB" dirty="0"/>
              <a:t>How to work during this exercise</a:t>
            </a:r>
          </a:p>
          <a:p>
            <a:r>
              <a:rPr lang="en-GB" dirty="0"/>
              <a:t>agent → repo → agent</a:t>
            </a:r>
          </a:p>
          <a:p>
            <a:r>
              <a:rPr lang="en-GB" dirty="0"/>
              <a:t>Talk to a human only to unblock, and every unblock becomes one line in your log. The block refuses to invent the task — that part is yours.</a:t>
            </a:r>
          </a:p>
          <a:p>
            <a:r>
              <a:rPr lang="en-GB" dirty="0"/>
              <a:t>Your target</a:t>
            </a:r>
          </a:p>
          <a:p>
            <a:r>
              <a:rPr lang="en-GB" dirty="0"/>
              <a:t>The kit you did not critique — or swap to a facilitator kit</a:t>
            </a:r>
          </a:p>
          <a:p>
            <a:r>
              <a:rPr lang="en-GB" dirty="0"/>
              <a:t>At minute 30</a:t>
            </a:r>
          </a:p>
          <a:p>
            <a:r>
              <a:rPr lang="en-GB" dirty="0"/>
              <a:t>Stop building. Write the two paragraphs, even if it half-worked</a:t>
            </a:r>
          </a:p>
          <a:p>
            <a:r>
              <a:rPr lang="en-GB" dirty="0"/>
              <a:t>Done when</a:t>
            </a:r>
          </a:p>
          <a:p>
            <a:r>
              <a:rPr lang="en-GB" dirty="0"/>
              <a:t>A bridge log is pushed, ending with "what a bridge turned out to be"</a:t>
            </a:r>
          </a:p>
          <a:p>
            <a:r>
              <a:rPr lang="en-GB" dirty="0"/>
              <a:t>§ Graph — Several steps laid out in a fixed order, saying which runs next and what it hands on. A bridge is a small graph; a loop walks each step of it.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25 seconds each · strictly</a:t>
            </a:r>
          </a:p>
        </p:txBody>
      </p:sp>
      <p:sp>
        <p:nvSpPr>
          <p:cNvPr id="3" name="Title 1"/>
          <p:cNvSpPr>
            <a:spLocks noGrp="1"/>
          </p:cNvSpPr>
          <p:nvPr>
            <p:ph type="title"/>
          </p:nvPr>
        </p:nvSpPr>
        <p:spPr>
          <a:prstGeom prst="rect">
            <a:avLst/>
          </a:prstGeom>
        </p:spPr>
        <p:txBody>
          <a:bodyPr lIns="0" tIns="0" rIns="0" bIns="0" wrap="square"/>
          <a:lstStyle/>
          <a:p>
            <a:r>
              <a:rPr lang="en-GB" dirty="0"/>
              <a:t>Share what broke when kits were combined and what made the process repeatable.</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Fill in the sentence</a:t>
            </a:r>
          </a:p>
          <a:p>
            <a:r>
              <a:rPr lang="en-GB" dirty="0"/>
              <a:t>"My agent needed ___ from the target and found ___ on its own"</a:t>
            </a:r>
          </a:p>
          <a:p>
            <a:r>
              <a:rPr lang="en-GB" dirty="0"/>
              <a:t>The long version is already in your log — this is the headline only.</a:t>
            </a:r>
          </a:p>
          <a:p>
            <a:r>
              <a:rPr lang="en-GB" dirty="0"/>
              <a:t>Order is posted in #workshop-kitkraft. A half-worked bridge is a real answer.</a:t>
            </a:r>
          </a:p>
          <a:p>
            <a:r>
              <a:rPr lang="en-GB" dirty="0"/>
              <a:t>Done when</a:t>
            </a:r>
          </a:p>
          <a:p>
            <a:r>
              <a:rPr lang="en-GB" dirty="0"/>
              <a:t>Every person has given one line, and the sentence is filled 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One word each · 3 minutes</a:t>
            </a:r>
          </a:p>
        </p:txBody>
      </p:sp>
      <p:sp>
        <p:nvSpPr>
          <p:cNvPr id="3" name="Title 1"/>
          <p:cNvSpPr>
            <a:spLocks noGrp="1"/>
          </p:cNvSpPr>
          <p:nvPr>
            <p:ph type="title"/>
          </p:nvPr>
        </p:nvSpPr>
        <p:spPr>
          <a:prstGeom prst="rect">
            <a:avLst/>
          </a:prstGeom>
        </p:spPr>
        <p:txBody>
          <a:bodyPr lIns="0" tIns="0" rIns="0" bIns="0" wrap="square"/>
          <a:lstStyle/>
          <a:p>
            <a:r>
              <a:rPr lang="en-GB" dirty="0"/>
              <a:t>Share one thing you noticed this hour, and together they show what we are learning.</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Which quadrant did this hour expand?</a:t>
            </a:r>
          </a:p>
          <a:p>
            <a:r>
              <a:rPr lang="en-GB" dirty="0"/>
              <a:t>External · archive</a:t>
            </a:r>
          </a:p>
          <a:p>
            <a:r>
              <a:rPr lang="en-GB" dirty="0"/>
              <a:t>Precommodification</a:t>
            </a:r>
          </a:p>
          <a:p>
            <a:r>
              <a:rPr lang="en-GB" dirty="0"/>
              <a:t>External · live</a:t>
            </a:r>
          </a:p>
          <a:p>
            <a:r>
              <a:rPr lang="en-GB" dirty="0"/>
              <a:t>Traces</a:t>
            </a:r>
          </a:p>
          <a:p>
            <a:r>
              <a:rPr lang="en-GB" dirty="0"/>
              <a:t>Internal · archive</a:t>
            </a:r>
          </a:p>
          <a:p>
            <a:r>
              <a:rPr lang="en-GB" dirty="0"/>
              <a:t>Anchored in reality</a:t>
            </a:r>
          </a:p>
          <a:p>
            <a:r>
              <a:rPr lang="en-GB" dirty="0"/>
              <a:t>Internal · live</a:t>
            </a:r>
          </a:p>
          <a:p>
            <a:r>
              <a:rPr lang="en-GB" dirty="0"/>
              <a:t>Playability</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lIns="0" tIns="0" rIns="0" bIns="0" wrap="square" anchor="b"/>
          <a:lstStyle/>
          <a:p>
            <a:r>
              <a:rPr lang="en-GB" dirty="0"/>
              <a:t>Tomorrow's open question: what actually makes a combined process reliable?</a:t>
            </a:r>
          </a:p>
        </p:txBody>
      </p:sp>
      <p:sp>
        <p:nvSpPr>
          <p:cNvPr id="3" name="Body 2"/>
          <p:cNvSpPr>
            <a:spLocks noGrp="1"/>
          </p:cNvSpPr>
          <p:nvPr>
            <p:ph type="body" idx="1"/>
          </p:nvPr>
        </p:nvSpPr>
        <p:spPr>
          <a:prstGeom prst="rect">
            <a:avLst/>
          </a:prstGeom>
        </p:spPr>
        <p:txBody>
          <a:bodyPr lIns="0" tIns="0" rIns="0" bIns="0" wrap="square"/>
          <a:lstStyle/>
          <a:p>
            <a:r>
              <a:rPr lang="en-GB" dirty="0"/>
              <a:t>Hypothesis · said once, to be tested against your logs</a:t>
            </a:r>
          </a:p>
          <a:p>
            <a:r>
              <a:rPr lang="en-GB" dirty="0"/>
              <a:t>A bridge is a protocol between two factories — the smallest thing both sides agree not to change.</a:t>
            </a:r>
          </a:p>
          <a:p>
            <a:r>
              <a:rPr lang="en-GB" dirty="0"/>
              <a:t>Tomorrow we read your paragraphs first and this second, in that order. If they disagree, your paragraphs win.</a:t>
            </a:r>
          </a:p>
          <a:p>
            <a:r>
              <a:rPr lang="en-GB" dirty="0"/>
              <a:t>§ Protocol — An agreed, reusable way of coordinating that people or programs can rely on without renegotiating it each time. It can be technical, like a file format, or social.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lIns="0" tIns="0" rIns="0" bIns="0" wrap="square" anchor="b"/>
          <a:lstStyle/>
          <a:p>
            <a:r>
              <a:rPr lang="en-GB" dirty="0"/>
              <a:t>Before tonight, save your bridge notes and prepare your short show-and-tell.</a:t>
            </a:r>
          </a:p>
        </p:txBody>
      </p:sp>
      <p:sp>
        <p:nvSpPr>
          <p:cNvPr id="3" name="Body 2"/>
          <p:cNvSpPr>
            <a:spLocks noGrp="1"/>
          </p:cNvSpPr>
          <p:nvPr>
            <p:ph type="body" idx="1"/>
          </p:nvPr>
        </p:nvSpPr>
        <p:spPr>
          <a:prstGeom prst="rect">
            <a:avLst/>
          </a:prstGeom>
        </p:spPr>
        <p:txBody>
          <a:bodyPr lIns="0" tIns="0" rIns="0" bIns="0" wrap="square"/>
          <a:lstStyle/>
          <a:p>
            <a:r>
              <a:rPr lang="en-GB" dirty="0"/>
              <a:t>Two things, in order</a:t>
            </a:r>
          </a:p>
          <a:p>
            <a:r>
              <a:rPr lang="en-GB" dirty="0"/>
              <a:t>Finish the bridge log — including the "what a bridge turned out to be" paragraph</a:t>
            </a:r>
          </a:p>
          <a:p>
            <a:r>
              <a:rPr lang="en-GB" dirty="0"/>
              <a:t>Have your harness prepare your ninety seconds for S4</a:t>
            </a:r>
          </a:p>
          <a:p>
            <a:r>
              <a:rPr lang="en-GB" dirty="0"/>
              <a:t>The hard-mode rerun is optional and goes in the same file.</a:t>
            </a:r>
          </a:p>
          <a:p>
            <a:r>
              <a:rPr lang="en-GB" dirty="0"/>
              <a:t>Paste this to your assistant</a:t>
            </a:r>
          </a:p>
          <a:p>
            <a:r>
              <a:rPr lang="en-GB" dirty="0"/>
              <a:t>Read instructions/S4-show-and-tell.md and do this. From my bridge log, draft show-and-tell.md: target, the one thing, what a human supplied, whether it worked. Ninety seconds spoken. Push it.</a:t>
            </a:r>
          </a:p>
          <a:p>
            <a:r>
              <a:rPr lang="en-GB" dirty="0"/>
              <a:t>Can't make S4?</a:t>
            </a:r>
          </a:p>
          <a:p>
            <a:r>
              <a:rPr lang="en-GB" dirty="0"/>
              <a:t>Push the file anyway — a group-mate reads it aloud in sixty seconds, and your awareness answer is read from it too.</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ssion label"/>
          <p:cNvSpPr>
            <a:spLocks noGrp="1"/>
          </p:cNvSpPr>
          <p:nvPr>
            <p:ph type="body" idx="1"/>
          </p:nvPr>
        </p:nvSpPr>
        <p:spPr>
          <a:prstGeom prst="rect">
            <a:avLst/>
          </a:prstGeom>
        </p:spPr>
        <p:txBody>
          <a:bodyPr lIns="0" tIns="0" rIns="0" bIns="0" wrap="square" anchor="b"/>
          <a:lstStyle/>
          <a:p>
            <a:r>
              <a:rPr lang="en-GB" dirty="0"/>
              <a:t>Session 4 — Show and tell</a:t>
            </a:r>
          </a:p>
        </p:txBody>
      </p:sp>
      <p:sp>
        <p:nvSpPr>
          <p:cNvPr id="3" name="Title 1"/>
          <p:cNvSpPr>
            <a:spLocks noGrp="1"/>
          </p:cNvSpPr>
          <p:nvPr>
            <p:ph type="title"/>
          </p:nvPr>
        </p:nvSpPr>
        <p:spPr>
          <a:prstGeom prst="rect">
            <a:avLst/>
          </a:prstGeom>
        </p:spPr>
        <p:txBody>
          <a:bodyPr lIns="0" tIns="0" rIns="0" bIns="0" wrap="square"/>
          <a:lstStyle/>
          <a:p>
            <a:r>
              <a:rPr lang="en-GB" dirty="0"/>
              <a:t>Show and tell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4 · Show and tell · Where we are</a:t>
            </a:r>
          </a:p>
        </p:txBody>
      </p:sp>
      <p:sp>
        <p:nvSpPr>
          <p:cNvPr id="3" name="Title 1"/>
          <p:cNvSpPr>
            <a:spLocks noGrp="1"/>
          </p:cNvSpPr>
          <p:nvPr>
            <p:ph type="title"/>
          </p:nvPr>
        </p:nvSpPr>
        <p:spPr>
          <a:prstGeom prst="rect">
            <a:avLst/>
          </a:prstGeom>
        </p:spPr>
        <p:txBody>
          <a:bodyPr lIns="0" tIns="0" rIns="0" bIns="0" wrap="square"/>
          <a:lstStyle/>
          <a:p>
            <a:r>
              <a:rPr lang="en-GB" dirty="0"/>
              <a:t>Two days ago these were ideas, and now they are files anyone can open.</a:t>
            </a:r>
          </a:p>
        </p:txBody>
      </p:sp>
      <p:sp>
        <p:nvSpPr>
          <p:cNvPr id="4" name="Body 2"/>
          <p:cNvSpPr>
            <a:spLocks noGrp="1"/>
          </p:cNvSpPr>
          <p:nvPr>
            <p:ph type="body" idx="1"/>
          </p:nvPr>
        </p:nvSpPr>
        <p:spPr>
          <a:prstGeom prst="rect">
            <a:avLst/>
          </a:prstGeom>
        </p:spPr>
        <p:txBody>
          <a:bodyPr lIns="0" tIns="0" rIns="0" bIns="0" wrap="square"/>
          <a:lstStyle/>
          <a:p>
            <a:r>
              <a:rPr lang="en-GB" dirty="0"/>
              <a:t>—</a:t>
            </a:r>
          </a:p>
          <a:p>
            <a:r>
              <a:rPr lang="en-GB" dirty="0"/>
              <a:t>inventories</a:t>
            </a:r>
          </a:p>
          <a:p>
            <a:r>
              <a:rPr lang="en-GB" dirty="0"/>
              <a:t>kits turned factory</a:t>
            </a:r>
          </a:p>
          <a:p>
            <a:r>
              <a:rPr lang="en-GB" dirty="0"/>
              <a:t>bridge logs</a:t>
            </a:r>
          </a:p>
          <a:p>
            <a:r>
              <a:rPr lang="en-GB" dirty="0"/>
              <a:t>3</a:t>
            </a:r>
          </a:p>
          <a:p>
            <a:r>
              <a:rPr lang="en-GB" dirty="0"/>
              <a:t>public transcripts</a:t>
            </a:r>
          </a:p>
          <a:p>
            <a:r>
              <a:rPr lang="en-GB" dirty="0"/>
              <a:t>Two days ago every one of these was a task inside somebody's head.</a:t>
            </a:r>
          </a:p>
          <a:p>
            <a:r>
              <a:rPr lang="en-GB" dirty="0"/>
              <a:t>Tonight there are no slides of mine to show you, because your files are the slides.</a:t>
            </a:r>
          </a:p>
          <a:p>
            <a:r>
              <a:rPr lang="en-GB" dirty="0"/>
              <a:t>Recording on · consent as pinned · nothing tonight is off the record</a:t>
            </a:r>
          </a:p>
          <a:p>
            <a:r>
              <a:rPr lang="en-GB" dirty="0"/>
              <a:t>§ Repository (repo) — A folder of files whose whole history is tracked, with a shared copy on GitHub. Ours is public, and everything made in the workshop lands there.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60 seconds · one word only</a:t>
            </a:r>
          </a:p>
        </p:txBody>
      </p:sp>
      <p:sp>
        <p:nvSpPr>
          <p:cNvPr id="3" name="Title 1"/>
          <p:cNvSpPr>
            <a:spLocks noGrp="1"/>
          </p:cNvSpPr>
          <p:nvPr>
            <p:ph type="title"/>
          </p:nvPr>
        </p:nvSpPr>
        <p:spPr>
          <a:prstGeom prst="rect">
            <a:avLst/>
          </a:prstGeom>
        </p:spPr>
        <p:txBody>
          <a:bodyPr lIns="0" tIns="0" rIns="0" bIns="0" wrap="square"/>
          <a:lstStyle/>
          <a:p>
            <a:r>
              <a:rPr lang="en-GB" dirty="0"/>
              <a:t>In the chat, describe how your bridge went in one word.</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One word in #workshop-kitkraft</a:t>
            </a:r>
          </a:p>
          <a:p>
            <a:r>
              <a:rPr lang="en-GB" dirty="0"/>
              <a:t>No sentence, no caveat, no explanation. The nine hundred words are already in your log — this is a quick sense of how it went.</a:t>
            </a:r>
          </a:p>
          <a:p>
            <a:r>
              <a:rPr lang="en-GB" dirty="0"/>
              <a:t>Direct answers are welcome</a:t>
            </a:r>
          </a:p>
          <a:p>
            <a:r>
              <a:rPr lang="en-GB" dirty="0"/>
              <a:t>"Broke", "surprising", "tedious", "nearly" are all useful answers. The bridge that failed is the most useful file in the repo tonight.</a:t>
            </a:r>
          </a:p>
          <a:p>
            <a:r>
              <a:rPr lang="en-GB" dirty="0"/>
              <a:t>Done when</a:t>
            </a:r>
          </a:p>
          <a:p>
            <a:r>
              <a:rPr lang="en-GB" dirty="0"/>
              <a:t>One word from every person is in the channel.</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4 · Show and tell · Examples</a:t>
            </a:r>
          </a:p>
        </p:txBody>
      </p:sp>
      <p:sp>
        <p:nvSpPr>
          <p:cNvPr id="3" name="Title 1"/>
          <p:cNvSpPr>
            <a:spLocks noGrp="1"/>
          </p:cNvSpPr>
          <p:nvPr>
            <p:ph type="title"/>
          </p:nvPr>
        </p:nvSpPr>
        <p:spPr>
          <a:prstGeom prst="rect">
            <a:avLst/>
          </a:prstGeom>
        </p:spPr>
        <p:txBody>
          <a:bodyPr lIns="0" tIns="0" rIns="0" bIns="0" wrap="square"/>
          <a:lstStyle/>
          <a:p>
            <a:r>
              <a:rPr lang="en-GB" dirty="0"/>
              <a:t>Three real files show the journey from a kit to a factory to a bridge.</a:t>
            </a:r>
          </a:p>
        </p:txBody>
      </p:sp>
      <p:sp>
        <p:nvSpPr>
          <p:cNvPr id="4" name="Body 2"/>
          <p:cNvSpPr>
            <a:spLocks noGrp="1"/>
          </p:cNvSpPr>
          <p:nvPr>
            <p:ph type="body" idx="1"/>
          </p:nvPr>
        </p:nvSpPr>
        <p:spPr>
          <a:prstGeom prst="rect">
            <a:avLst/>
          </a:prstGeom>
        </p:spPr>
        <p:txBody>
          <a:bodyPr lIns="0" tIns="0" rIns="0" bIns="0" wrap="square"/>
          <a:lstStyle/>
          <a:p>
            <a:r>
              <a:rPr lang="en-GB" dirty="0"/>
              <a:t>Kit</a:t>
            </a:r>
          </a:p>
          <a:p>
            <a:r>
              <a:rPr lang="en-GB" dirty="0"/>
              <a:t>SKILL.md v1 → v2</a:t>
            </a:r>
          </a:p>
          <a:p>
            <a:r>
              <a:rPr lang="en-GB" dirty="0"/>
              <a:t>Monday's file beside the same file after the critique. The change is in the description line — where nearly all of them were.</a:t>
            </a:r>
          </a:p>
          <a:p>
            <a:r>
              <a:rPr lang="en-GB" dirty="0"/>
              <a:t>Factory</a:t>
            </a:r>
          </a:p>
          <a:p>
            <a:r>
              <a:rPr lang="en-GB" dirty="0"/>
              <a:t>README.md · Interface:</a:t>
            </a:r>
          </a:p>
          <a:p>
            <a:r>
              <a:rPr lang="en-GB" dirty="0"/>
              <a:t>One line was the whole interface. Every bridge ran on rung one of the ladder — and that turned out to be enough.</a:t>
            </a:r>
          </a:p>
          <a:p>
            <a:r>
              <a:rPr lang="en-GB" dirty="0"/>
              <a:t>Bridge</a:t>
            </a:r>
          </a:p>
          <a:p>
            <a:r>
              <a:rPr lang="en-GB" dirty="0"/>
              <a:t>LOG.md · one unblock line</a:t>
            </a:r>
          </a:p>
          <a:p>
            <a:r>
              <a:rPr lang="en-GB" dirty="0"/>
              <a:t>Read aloud as written, because it names the thing that was not in the repo.</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90 seconds each · group by group</a:t>
            </a:r>
          </a:p>
        </p:txBody>
      </p:sp>
      <p:sp>
        <p:nvSpPr>
          <p:cNvPr id="3" name="Title 1"/>
          <p:cNvSpPr>
            <a:spLocks noGrp="1"/>
          </p:cNvSpPr>
          <p:nvPr>
            <p:ph type="title"/>
          </p:nvPr>
        </p:nvSpPr>
        <p:spPr>
          <a:prstGeom prst="rect">
            <a:avLst/>
          </a:prstGeom>
        </p:spPr>
        <p:txBody>
          <a:bodyPr lIns="0" tIns="0" rIns="0" bIns="0" wrap="square"/>
          <a:lstStyle/>
          <a:p>
            <a:r>
              <a:rPr lang="en-GB" dirty="0"/>
              <a:t>Each person gets ninety seconds to share their show-and-tell.</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Say four things, in this order</a:t>
            </a:r>
          </a:p>
          <a:p>
            <a:r>
              <a:rPr lang="en-GB" dirty="0"/>
              <a:t>Your target</a:t>
            </a:r>
          </a:p>
          <a:p>
            <a:r>
              <a:rPr lang="en-GB" dirty="0"/>
              <a:t>The one thing you made your agent do</a:t>
            </a:r>
          </a:p>
          <a:p>
            <a:r>
              <a:rPr lang="en-GB" dirty="0"/>
              <a:t>What a human had to supply</a:t>
            </a:r>
          </a:p>
          <a:p>
            <a:r>
              <a:rPr lang="en-GB" dirty="0"/>
              <a:t>Did it work</a:t>
            </a:r>
          </a:p>
          <a:p>
            <a:r>
              <a:rPr lang="en-GB" dirty="0"/>
              <a:t>On screen</a:t>
            </a:r>
          </a:p>
          <a:p>
            <a:r>
              <a:rPr lang="en-GB" dirty="0"/>
              <a:t>Your file goes up as your name comes round — you talk about your own file, not about slides</a:t>
            </a:r>
          </a:p>
          <a:p>
            <a:r>
              <a:rPr lang="en-GB" dirty="0"/>
              <a:t>If someone is away</a:t>
            </a:r>
          </a:p>
          <a:p>
            <a:r>
              <a:rPr lang="en-GB" dirty="0"/>
              <a:t>A group-mate reads their show-and-tell.md in 60 seconds</a:t>
            </a:r>
          </a:p>
          <a:p>
            <a:r>
              <a:rPr lang="en-GB" dirty="0"/>
              <a:t>Timing</a:t>
            </a:r>
          </a:p>
          <a:p>
            <a:r>
              <a:rPr lang="en-GB" dirty="0"/>
              <a:t>An agent captures every report into the synthesis as you speak</a:t>
            </a:r>
          </a:p>
          <a:p>
            <a:r>
              <a:rPr lang="en-GB" dirty="0"/>
              <a:t>Done when</a:t>
            </a:r>
          </a:p>
          <a:p>
            <a:r>
              <a:rPr lang="en-GB" dirty="0"/>
              <a:t>Every person in every group has been heard — present or read aloud by a group-mate — and each report is in the synthesis.</a:t>
            </a:r>
          </a:p>
          <a:p>
            <a:r>
              <a:rPr lang="en-GB" dirty="0"/>
              <a:t>§ Show and tell — The closing round in Session 4, where each person gets about ninety seconds on their own work with their own file on screen.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4 · Show and tell · Case studies</a:t>
            </a:r>
          </a:p>
        </p:txBody>
      </p:sp>
      <p:sp>
        <p:nvSpPr>
          <p:cNvPr id="3" name="Title 1"/>
          <p:cNvSpPr>
            <a:spLocks noGrp="1"/>
          </p:cNvSpPr>
          <p:nvPr>
            <p:ph type="title"/>
          </p:nvPr>
        </p:nvSpPr>
        <p:spPr>
          <a:prstGeom prst="rect">
            <a:avLst/>
          </a:prstGeom>
        </p:spPr>
        <p:txBody>
          <a:bodyPr lIns="0" tIns="0" rIns="0" bIns="0" wrap="square"/>
          <a:lstStyle/>
          <a:p>
            <a:r>
              <a:rPr lang="en-GB" dirty="0"/>
              <a:t>Two bridges that worked and one that did not teach us the most.</a:t>
            </a:r>
          </a:p>
        </p:txBody>
      </p:sp>
      <p:sp>
        <p:nvSpPr>
          <p:cNvPr id="4" name="Body 2"/>
          <p:cNvSpPr>
            <a:spLocks noGrp="1"/>
          </p:cNvSpPr>
          <p:nvPr>
            <p:ph type="body" idx="1"/>
          </p:nvPr>
        </p:nvSpPr>
        <p:spPr>
          <a:prstGeom prst="rect">
            <a:avLst/>
          </a:prstGeom>
        </p:spPr>
        <p:txBody>
          <a:bodyPr lIns="0" tIns="0" rIns="0" bIns="0" wrap="square"/>
          <a:lstStyle/>
          <a:p>
            <a:r>
              <a:rPr lang="en-GB" dirty="0"/>
              <a:t>Chosen at 19:45</a:t>
            </a:r>
          </a:p>
          <a:p>
            <a:r>
              <a:rPr lang="en-GB" dirty="0"/>
              <a:t>The cleanest file handoff</a:t>
            </a:r>
          </a:p>
          <a:p>
            <a:r>
              <a:rPr lang="en-GB" dirty="0"/>
              <a:t>A kit → kit bridge</a:t>
            </a:r>
          </a:p>
          <a:p>
            <a:r>
              <a:rPr lang="en-GB" dirty="0"/>
              <a:t>The one with the most unblock lines</a:t>
            </a:r>
          </a:p>
          <a:p>
            <a:r>
              <a:rPr lang="en-GB" dirty="0"/>
              <a:t>The one that did not work is the most useful file in the repo tonight — it is a precise list of what the next version of that kit has to contain.</a:t>
            </a:r>
          </a:p>
          <a:p>
            <a:r>
              <a:rPr lang="en-GB" dirty="0"/>
              <a:t>Listen for the split: what the agent worked out on its own, and what a person still had to say out loud.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4 · Show and tell · Process</a:t>
            </a:r>
          </a:p>
        </p:txBody>
      </p:sp>
      <p:sp>
        <p:nvSpPr>
          <p:cNvPr id="3" name="Title 1"/>
          <p:cNvSpPr>
            <a:spLocks noGrp="1"/>
          </p:cNvSpPr>
          <p:nvPr>
            <p:ph type="title"/>
          </p:nvPr>
        </p:nvSpPr>
        <p:spPr>
          <a:prstGeom prst="rect">
            <a:avLst/>
          </a:prstGeom>
        </p:spPr>
        <p:txBody>
          <a:bodyPr lIns="0" tIns="0" rIns="0" bIns="0" wrap="square"/>
          <a:lstStyle/>
          <a:p>
            <a:r>
              <a:rPr lang="en-GB" dirty="0"/>
              <a:t>Your own words on what made your bridge reliable come first, read out verbatim.</a:t>
            </a:r>
          </a:p>
        </p:txBody>
      </p:sp>
      <p:sp>
        <p:nvSpPr>
          <p:cNvPr id="4" name="Body 2"/>
          <p:cNvSpPr>
            <a:spLocks noGrp="1"/>
          </p:cNvSpPr>
          <p:nvPr>
            <p:ph type="body" idx="1"/>
          </p:nvPr>
        </p:nvSpPr>
        <p:spPr>
          <a:prstGeom prst="rect">
            <a:avLst/>
          </a:prstGeom>
        </p:spPr>
        <p:txBody>
          <a:bodyPr lIns="0" tIns="0" rIns="0" bIns="0" wrap="square"/>
          <a:lstStyle/>
          <a:p>
            <a:r>
              <a:rPr lang="en-GB" dirty="0"/>
              <a:t>The numbers, straight from the logs rather than from memory: bridges by kind, attempted and worked.</a:t>
            </a:r>
          </a:p>
          <a:p>
            <a:r>
              <a:rPr lang="en-GB" dirty="0"/>
              <a:t>The "what a bridge turned out to be" paragraphs, read as written, without paraphrasing any of them.</a:t>
            </a:r>
          </a:p>
          <a:p>
            <a:r>
              <a:rPr lang="en-GB" dirty="0"/>
              <a:t>If a paragraph is read wrong or a count is off, say so — it goes in under Corrections with your handle.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label"/>
          <p:cNvSpPr>
            <a:spLocks noGrp="1"/>
          </p:cNvSpPr>
          <p:nvPr>
            <p:ph type="body" idx="2"/>
          </p:nvPr>
        </p:nvSpPr>
        <p:spPr>
          <a:prstGeom prst="rect">
            <a:avLst/>
          </a:prstGeom>
        </p:spPr>
        <p:txBody>
          <a:bodyPr lIns="0" tIns="0" rIns="0" bIns="0" wrap="square"/>
          <a:lstStyle/>
          <a:p>
            <a:r>
              <a:rPr lang="en-GB" dirty="0"/>
              <a:t>Session 4 · Show and tell · Decision</a:t>
            </a:r>
          </a:p>
        </p:txBody>
      </p:sp>
      <p:sp>
        <p:nvSpPr>
          <p:cNvPr id="3" name="Title 1"/>
          <p:cNvSpPr>
            <a:spLocks noGrp="1"/>
          </p:cNvSpPr>
          <p:nvPr>
            <p:ph type="title"/>
          </p:nvPr>
        </p:nvSpPr>
        <p:spPr>
          <a:prstGeom prst="rect">
            <a:avLst/>
          </a:prstGeom>
        </p:spPr>
        <p:txBody>
          <a:bodyPr lIns="0" tIns="0" rIns="0" bIns="0" wrap="square"/>
          <a:lstStyle/>
          <a:p>
            <a:r>
              <a:rPr lang="en-GB" dirty="0"/>
              <a:t>We agree as a room on what makes a bridge reliable, using your notes.</a:t>
            </a:r>
          </a:p>
        </p:txBody>
      </p:sp>
      <p:sp>
        <p:nvSpPr>
          <p:cNvPr id="4" name="Body 2"/>
          <p:cNvSpPr>
            <a:spLocks noGrp="1"/>
          </p:cNvSpPr>
          <p:nvPr>
            <p:ph type="body" idx="1"/>
          </p:nvPr>
        </p:nvSpPr>
        <p:spPr>
          <a:prstGeom prst="rect">
            <a:avLst/>
          </a:prstGeom>
        </p:spPr>
        <p:txBody>
          <a:bodyPr lIns="0" tIns="0" rIns="0" bIns="0" wrap="square"/>
          <a:lstStyle/>
          <a:p>
            <a:r>
              <a:rPr lang="en-GB" dirty="0"/>
              <a:t>Stated once, Tuesday 16:28</a:t>
            </a:r>
          </a:p>
          <a:p>
            <a:r>
              <a:rPr lang="en-GB" dirty="0"/>
              <a:t>A bridge is a protocol between two factories — the smallest thing both sides agree not to change.</a:t>
            </a:r>
          </a:p>
          <a:p>
            <a:r>
              <a:rPr lang="en-GB" dirty="0"/>
              <a:t>Supports</a:t>
            </a:r>
          </a:p>
          <a:p>
            <a:r>
              <a:rPr lang="en-GB" dirty="0"/>
              <a:t>Names a specific thing both sides held fixed</a:t>
            </a:r>
          </a:p>
          <a:p>
            <a:r>
              <a:rPr lang="en-GB" dirty="0"/>
              <a:t>Contradicts</a:t>
            </a:r>
          </a:p>
          <a:p>
            <a:r>
              <a:rPr lang="en-GB" dirty="0"/>
              <a:t>Says a bridge was something else entirely</a:t>
            </a:r>
          </a:p>
          <a:p>
            <a:r>
              <a:rPr lang="en-GB" dirty="0"/>
              <a:t>Silent</a:t>
            </a:r>
          </a:p>
          <a:p>
            <a:r>
              <a:rPr lang="en-GB" dirty="0"/>
              <a:t>Does neither</a:t>
            </a:r>
          </a:p>
          <a:p>
            <a:r>
              <a:rPr lang="en-GB" dirty="0"/>
              <a:t>Every unblock line is something not yet agreed. What stayed fixed is the candidate smallest thing.</a:t>
            </a:r>
          </a:p>
          <a:p>
            <a:r>
              <a:rPr lang="en-GB" dirty="0"/>
              <a:t>Verdict: retained, amended or rejected. Two thirds supporting and nothing contradicting to retain — ties go to the room.</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ercise label"/>
          <p:cNvSpPr>
            <a:spLocks noGrp="1"/>
          </p:cNvSpPr>
          <p:nvPr>
            <p:ph type="body" idx="2"/>
          </p:nvPr>
        </p:nvSpPr>
        <p:spPr>
          <a:prstGeom prst="rect">
            <a:avLst/>
          </a:prstGeom>
        </p:spPr>
        <p:txBody>
          <a:bodyPr lIns="0" tIns="0" rIns="0" bIns="0" wrap="square"/>
          <a:lstStyle/>
          <a:p>
            <a:r>
              <a:rPr lang="en-GB" dirty="0"/>
              <a:t>One word and one clause each · 4 minutes</a:t>
            </a:r>
          </a:p>
        </p:txBody>
      </p:sp>
      <p:sp>
        <p:nvSpPr>
          <p:cNvPr id="3" name="Title 1"/>
          <p:cNvSpPr>
            <a:spLocks noGrp="1"/>
          </p:cNvSpPr>
          <p:nvPr>
            <p:ph type="title"/>
          </p:nvPr>
        </p:nvSpPr>
        <p:spPr>
          <a:prstGeom prst="rect">
            <a:avLst/>
          </a:prstGeom>
        </p:spPr>
        <p:txBody>
          <a:bodyPr lIns="0" tIns="0" rIns="0" bIns="0" wrap="square"/>
          <a:lstStyle/>
          <a:p>
            <a:r>
              <a:rPr lang="en-GB" dirty="0"/>
              <a:t>Name what you now notice about your own work that you missed on Monday.</a:t>
            </a:r>
          </a:p>
        </p:txBody>
      </p:sp>
      <p:sp>
        <p:nvSpPr>
          <p:cNvPr id="4" name="Exercise box"/>
          <p:cNvSpPr>
            <a:spLocks noGrp="1"/>
          </p:cNvSpPr>
          <p:nvPr>
            <p:ph type="body" idx="1"/>
          </p:nvPr>
        </p:nvSpPr>
        <p:spPr>
          <a:prstGeom prst="rect">
            <a:avLst/>
          </a:prstGeom>
        </p:spPr>
        <p:txBody>
          <a:bodyPr lIns="274320" tIns="228600" rIns="274320" bIns="228600" wrap="square"/>
          <a:lstStyle/>
          <a:p>
            <a:r>
              <a:rPr lang="en-GB" dirty="0"/>
              <a:t>The question this way of paying attention depends on</a:t>
            </a:r>
          </a:p>
          <a:p>
            <a:r>
              <a:rPr lang="en-GB" dirty="0"/>
              <a:t>Monday morning, before any of this — which quadrant was your practice blind to?</a:t>
            </a:r>
          </a:p>
          <a:p>
            <a:r>
              <a:rPr lang="en-GB" dirty="0"/>
              <a:t>Precommodification</a:t>
            </a:r>
          </a:p>
          <a:p>
            <a:r>
              <a:rPr lang="en-GB" dirty="0"/>
              <a:t>Traces</a:t>
            </a:r>
          </a:p>
          <a:p>
            <a:r>
              <a:rPr lang="en-GB" dirty="0"/>
              <a:t>Anchored in reality</a:t>
            </a:r>
          </a:p>
          <a:p>
            <a:r>
              <a:rPr lang="en-GB" dirty="0"/>
              <a:t>Playability</a:t>
            </a:r>
          </a:p>
          <a:p>
            <a:r>
              <a:rPr lang="en-GB" dirty="0"/>
              <a:t>Four checks in a row plus tonight is the room's own awareness profile. We record what it actually says — including where it splits. Absent answers are read from their show-and-tell files.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lIns="0" tIns="0" rIns="0" bIns="0" wrap="square" anchor="b"/>
          <a:lstStyle/>
          <a:p>
            <a:r>
              <a:rPr lang="en-GB" dirty="0"/>
              <a:t>The work stays public, and a summary arrives here within 48 hours.</a:t>
            </a:r>
          </a:p>
        </p:txBody>
      </p:sp>
      <p:sp>
        <p:nvSpPr>
          <p:cNvPr id="3" name="Body 2"/>
          <p:cNvSpPr>
            <a:spLocks noGrp="1"/>
          </p:cNvSpPr>
          <p:nvPr>
            <p:ph type="body" idx="1"/>
          </p:nvPr>
        </p:nvSpPr>
        <p:spPr>
          <a:prstGeom prst="rect">
            <a:avLst/>
          </a:prstGeom>
        </p:spPr>
        <p:txBody>
          <a:bodyPr lIns="0" tIns="0" rIns="0" bIns="0" wrap="square"/>
          <a:lstStyle/>
          <a:p>
            <a:r>
              <a:rPr lang="en-GB" dirty="0"/>
              <a:t>What happens next</a:t>
            </a:r>
          </a:p>
          <a:p>
            <a:r>
              <a:rPr lang="en-GB" dirty="0"/>
              <a:t>The repository</a:t>
            </a:r>
          </a:p>
          <a:p>
            <a:r>
              <a:rPr lang="en-GB" dirty="0"/>
              <a:t>The repo stays public and yours</a:t>
            </a:r>
          </a:p>
          <a:p>
            <a:r>
              <a:rPr lang="en-GB" dirty="0"/>
              <a:t>Within 48 hours</a:t>
            </a:r>
          </a:p>
          <a:p>
            <a:r>
              <a:rPr lang="en-GB" dirty="0"/>
              <a:t>SYNTHESIS.md v2, with tonight's transcript</a:t>
            </a:r>
          </a:p>
          <a:p>
            <a:r>
              <a:rPr lang="en-GB" dirty="0"/>
              <a:t>Optional</a:t>
            </a:r>
          </a:p>
          <a:p>
            <a:r>
              <a:rPr lang="en-GB" dirty="0"/>
              <a:t>Hard mode: rerun your bridge with no human chat at all</a:t>
            </a:r>
          </a:p>
          <a:p>
            <a:r>
              <a:rPr lang="en-GB" dirty="0"/>
              <a:t>Continuing afterwards</a:t>
            </a:r>
          </a:p>
          <a:p>
            <a:r>
              <a:rPr lang="en-GB" dirty="0"/>
              <a:t>SIGBIZ fortnightly show-and-tell — bring the kit, not the slides</a:t>
            </a:r>
          </a:p>
          <a:p>
            <a:r>
              <a:rPr lang="en-GB" dirty="0"/>
              <a:t>Recordings may feed Symposium write-ups and later research — tell either of us if you would rather they did not.</a:t>
            </a:r>
          </a:p>
        </p:txBody>
      </p:sp>
    </p:spTree>
  </p:cSld>
  <p:clrMapOvr>
    <a:masterClrMapping/>
  </p:clrMapOvr>
</p:sld>
</file>

<file path=ppt/theme/theme1.xml><?xml version="1.0" encoding="utf-8"?>
<a:theme xmlns:a="http://schemas.openxmlformats.org/drawingml/2006/main" name="Protocol Institute">
  <a:themeElements>
    <a:clrScheme name="Protocol Institute">
      <a:dk1>
        <a:srgbClr val="2C2C2A"/>
      </a:dk1>
      <a:lt1>
        <a:srgbClr val="F9F8F5"/>
      </a:lt1>
      <a:dk2>
        <a:srgbClr val="085041"/>
      </a:dk2>
      <a:lt2>
        <a:srgbClr val="E1F5EE"/>
      </a:lt2>
      <a:accent1>
        <a:srgbClr val="0064FF"/>
      </a:accent1>
      <a:accent2>
        <a:srgbClr val="085041"/>
      </a:accent2>
      <a:accent3>
        <a:srgbClr val="5F5E5A"/>
      </a:accent3>
      <a:accent4>
        <a:srgbClr val="E1F5EE"/>
      </a:accent4>
      <a:accent5>
        <a:srgbClr val="2C2C2A"/>
      </a:accent5>
      <a:accent6>
        <a:srgbClr val="FFFFFF"/>
      </a:accent6>
      <a:hlink>
        <a:srgbClr val="0064FF"/>
      </a:hlink>
      <a:folHlink>
        <a:srgbClr val="5F5E5A"/>
      </a:folHlink>
    </a:clrScheme>
    <a:fontScheme name="Kitcraft">
      <a:majorFont>
        <a:latin typeface="Instrument Serif"/>
        <a:ea typeface=""/>
        <a:cs typeface=""/>
      </a:majorFont>
      <a:minorFont>
        <a:latin typeface="Lora"/>
        <a:ea typeface=""/>
        <a:cs typeface=""/>
      </a:minorFont>
    </a:fontScheme>
    <a:fmtScheme name="Flat">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Protocol Institute">
  <a:themeElements>
    <a:clrScheme name="Protocol Institute">
      <a:dk1>
        <a:srgbClr val="2C2C2A"/>
      </a:dk1>
      <a:lt1>
        <a:srgbClr val="F9F8F5"/>
      </a:lt1>
      <a:dk2>
        <a:srgbClr val="085041"/>
      </a:dk2>
      <a:lt2>
        <a:srgbClr val="E1F5EE"/>
      </a:lt2>
      <a:accent1>
        <a:srgbClr val="0064FF"/>
      </a:accent1>
      <a:accent2>
        <a:srgbClr val="085041"/>
      </a:accent2>
      <a:accent3>
        <a:srgbClr val="5F5E5A"/>
      </a:accent3>
      <a:accent4>
        <a:srgbClr val="E1F5EE"/>
      </a:accent4>
      <a:accent5>
        <a:srgbClr val="2C2C2A"/>
      </a:accent5>
      <a:accent6>
        <a:srgbClr val="FFFFFF"/>
      </a:accent6>
      <a:hlink>
        <a:srgbClr val="0064FF"/>
      </a:hlink>
      <a:folHlink>
        <a:srgbClr val="5F5E5A"/>
      </a:folHlink>
    </a:clrScheme>
    <a:fontScheme name="Kitcraft">
      <a:majorFont>
        <a:latin typeface="Instrument Serif"/>
        <a:ea typeface=""/>
        <a:cs typeface=""/>
      </a:majorFont>
      <a:minorFont>
        <a:latin typeface="Lora"/>
        <a:ea typeface=""/>
        <a:cs typeface=""/>
      </a:minorFont>
    </a:fontScheme>
    <a:fmtScheme name="Flat">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Microsoft Office PowerPoint</Application>
  <Slides>57</Slides>
</Properties>
</file>

<file path=docProps/core.xml><?xml version="1.0" encoding="utf-8"?>
<cp:coreProperties xmlns:cp="http://schemas.openxmlformats.org/package/2006/metadata/core-properties" xmlns:dc="http://purl.org/dc/elements/1.1/" xmlns:dcterms="http://purl.org/dc/terms/" xmlns:xsi="http://www.w3.org/2001/XMLSchema-instance">
  <dc:title>AI Kitcraft — Kit, Factory, Bridge</dc:title>
  <dc:creator>Protocol Institute</dc:creator>
  <cp:lastModifiedBy>Protocol Institute</cp:lastModifiedBy>
  <dcterms:created xsi:type="dcterms:W3CDTF">2026-09-17T00:00:00Z</dcterms:created>
  <dcterms:modified xsi:type="dcterms:W3CDTF">2026-09-17T00:00:00Z</dcterms:modified>
</cp:coreProperties>
</file>